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Model Context Protocol (MCP) Essentials</a:t>
            </a:r>
          </a:p>
          <a:p>
            <a:r>
              <a:rPr sz="2200">
                <a:solidFill>
                  <a:srgbClr val="00B4D8"/>
                </a:solidFill>
              </a:rPr>
              <a:t>for AI-Driven Network Operations — Workshop Edition v2</a:t>
            </a:r>
          </a:p>
          <a:p>
            <a:r>
              <a:rPr sz="1400">
                <a:solidFill>
                  <a:srgbClr val="F0F4F8"/>
                </a:solidFill>
              </a:rPr>
              <a:t>Aligned to MCP specification revision 2025-11-25</a:t>
            </a:r>
          </a:p>
          <a:p>
            <a:r>
              <a:rPr sz="1400">
                <a:solidFill>
                  <a:srgbClr val="F0F4F8"/>
                </a:solidFill>
              </a:rPr>
              <a:t>Lecture module M1 (40 min) · pairs with hands-on Labs 1–5</a:t>
            </a:r>
          </a:p>
          <a:p>
            <a:r>
              <a:rPr sz="1400">
                <a:solidFill>
                  <a:srgbClr val="F0F4F8"/>
                </a:solidFill>
              </a:rPr>
              <a:t>Criterion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Agenda (40 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1. LLMs, agents, and why integration is the bottleneck  (8 min)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2. The MxN problem and MCP's answer  (7 min)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3. Protocol architecture: messages, transports, lifecycle  (10 min)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4. The six primitives — with the code you will run today  (12 min)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5. Client reality, security, and your lab map  (3 min)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Everything in sections 3–4 is observable on the wire in Lab 1 — this lecture has a lab behind every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B4D8"/>
                </a:solidFill>
              </a:rPr>
              <a:t>Section 1 of 5</a:t>
            </a:r>
          </a:p>
          <a:p>
            <a:r>
              <a:rPr sz="3600" b="1">
                <a:solidFill>
                  <a:srgbClr val="FFFFFF"/>
                </a:solidFill>
              </a:rPr>
              <a:t>LLMs, agents, and the integration bottleneck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LLMs in two minutes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1 · LLMs &amp;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A large language model predicts text from context — everything it 'does' is emitting tokens.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Tool use changed the game: models can emit a STRUCTURED REQUEST to run a function, then read the result.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The model never executes anything. It asks; your systems act; it interprets.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That separation — model asks, server decides — is the entire security story of today's lab.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Context window = working memory: what you place there (tool results, configs, docs) is what it reasons 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AI agent vs. agentic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1 · LLMs &amp;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AI agent: a model in a loop — decide → act (tool call) → observe result → decide again.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Agentic workflow: multiple steps/roles orchestrated around models, with checkpoints and human gates.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Both are only as capable as the ACTIONS they can take and the CONTEXT they can reach.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Capability and context arrive through integrations — which is exactly where teams stall.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Why network operations should 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1 · LLMs &amp;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Everything in ops has an API or a CLI — routers, controllers, monitoring, ticketing.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An assistant that can query interface state, check routing, and draft config touches real revenue-hours.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But network gear is where 'the model did something unexpected' is unacceptable.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Today you build the guardrail stack, not just the demo: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read-only vs destructive tool annotations · command allowlists · confirmation gates · pre-change snapshots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B4D8"/>
                </a:solidFill>
              </a:rPr>
              <a:t>Section 2 of 5</a:t>
            </a:r>
          </a:p>
          <a:p>
            <a:r>
              <a:rPr sz="3600" b="1">
                <a:solidFill>
                  <a:srgbClr val="FFFFFF"/>
                </a:solidFill>
              </a:rPr>
              <a:t>The MxN problem — and MCP's answer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How AI applications integrated before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2 · MxN → M+N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Every AI application hand-wires every system it talks to: bespoke schemas, auth, retries, prompts.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M applications × N systems = M×N custom integrations — each one built, tested, and maintained separately.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Change a backend API → revisit every AI app that touches it.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Integration effort dominates AI feature development. (Ask your own platform team.)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MCP: one protocol between AI apps and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2 · MxN → M+N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Model Context Protocol — open standard, open spec: modelcontextprotocol.io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Each system exposes ONE MCP server; each AI application implements ONE MCP client.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M×N bespoke integrations become M+N standard endpoints.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The 'USB-C for AI' analogy: one connector shape, any device combination.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What MCP is NOT: not an agent framework, not a model, not an orchestrator — just the connection standard.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that means for this 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2 · MxN → M+N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You will write ONE Python file exposing Cisco router operations as an MCP server.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It will be consumed — unchanged — by three different clients this week: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LibreChat (a chat product) · MCP Inspector (a protocol tool) · Claude Code (a coding agent)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Same server, three clients, zero client-specific code. That is M+N working.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B4D8"/>
                </a:solidFill>
              </a:rPr>
              <a:t>Section 3 of 5</a:t>
            </a:r>
          </a:p>
          <a:p>
            <a:r>
              <a:rPr sz="3600" b="1">
                <a:solidFill>
                  <a:srgbClr val="FFFFFF"/>
                </a:solidFill>
              </a:rPr>
              <a:t>Protocol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Host, client,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HOST — the AI application the user sees (LibreChat, an IDE, your custom agent).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CLIENT — the protocol connector inside the host; one client per server connection.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SERVER — the program exposing capabilities (your Python file).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Two layers: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Data layer: JSON-RPC 2.0 messages — what is said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Transport layer: how bytes move — stdio (local) or Streamable HTTP (remote)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JSON-RPC 2.0 — the whole message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Three message kinds. You will label all three yourself in Lab 1: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1152144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{"jsonrpc":"2.0","id":1,"method":"tools/call","params":{...}}   ← request (has id)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{"jsonrpc":"2.0","id":1,"result":{...}}                          ← response (matches id)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{"jsonrpc":"2.0","method":"notifications/progress","params":{...}} ← notification (NO id, no reply)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9544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Requests expect exactly one response. Notifications are fire-and-forget, both directions.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Transports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3840480"/>
                <a:gridCol w="22860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Transport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 this lab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stdio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local process, client launches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bridge trick (mcp-remote) in the take-home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Streamable 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remote server, one endpoint, sessions + 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★ /mcp on the workshop server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HTTP+SSE (two endpoints)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DEPRECATED (2025-03-26)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legacy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what v1 of this workshop used — retired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Protocol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1. initialize — client sends protocolVersion + its capabilities; server replies with ITS capabilities + instructions.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2. notifications/initialized — sent by the CLIENT to confirm readiness. (One-way; no id.)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Capability negotiation happens here: each side may only use what the other declared.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3. Operation — discovery (tools/list, resources/list, prompts/list) and execution (tools/call, resources/read, ...).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4. Termination — transport-level: close the connection, or HTTP DELETE of the Streamable HTTP session.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(There are no 'shutdown'/'exit' methods in MCP — that's a different protocol.)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B4D8"/>
                </a:solidFill>
              </a:rPr>
              <a:t>Section 4 of 5</a:t>
            </a:r>
          </a:p>
          <a:p>
            <a:r>
              <a:rPr sz="3600" b="1">
                <a:solidFill>
                  <a:srgbClr val="FFFFFF"/>
                </a:solidFill>
              </a:rPr>
              <a:t>The six primitives — with today's code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Six primitives, three control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448056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Primitive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Controlled by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Today's example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the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get_interfaces, configure_interface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1–3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the application /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router://running-config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the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/troubleshoot_interface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the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tools/list_changed, resources/updated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Elicitation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server asks, user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confirm-before-config-change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server asks, model answers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(lecture only — see client matrix)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Tools — model-controlled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A FastMCP tool from the server you run today. The docstring IS the prompt engineering: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@mcp.tool(annotations=types.ToolAnnotations(readOnlyHint=True))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async def get_interfaces(ctx: Context) -&gt; str: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"""Get all router interfaces and their status (show ip interface brief)."""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await ctx.report_progress(0, 1, "Connecting to Router1 over SSH...")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947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Function name → tool name · docstring → description the LLM reads · type hints → JSON Schema (generated).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Annotations declare intent: readOnlyHint / destructiveHint — on network gear, this distinction is everything.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Errors return as text results, never exceptions — so the model can read them and retry (Lab 1, C3).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Tools — the 2025 spec additions you'll 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Structured output: a tool can declare an outputSchema and return validated JSON, not just prose.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(get_router_info returns {hostname, version, uptime} — see it in Inspector.)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Tool annotations are machine-readable safety hints — clients can gate destructive tools differently.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Progress notifications stream during long calls; clients use them to extend timeouts (slow SSH ≠ dead call).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Resources — context on 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URI-addressed data the CLIENT chooses to read: router://interfaces, router://running-config.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Templates parameterize: router://interfaces/{name}.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Tools = the model decides to act. Resources = the application/user decides to load context.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Today's sharp edge: 'show running-config' is REJECTED as a tool command but SERVED as a resource —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the model can't pull full config on its own initiative; a human deliberately loading it is a different trust decision.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Prompts — reusable expertise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Named, parameterized templates the USER invokes from the client UI.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Today: troubleshoot_interface(interface), audit_router_config() — your team runbooks, encoded once, versioned with the server.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In Claude Code they appear as slash commands: /mcp__cisco-router__troubleshoot_interface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Naming trap: LibreChat's built-in 'Prompts' feature is its own local library — NOT MCP prompts.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Notifications &amp; subscriptions — the push half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notifications/tools/list_changed — the server's toolset changed at runtime.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Today: enable_config_tools toggles the destructive tools; watch the list shrink live in Inspector.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resources/subscribe + notifications/resources/updated — 'tell me when this changes.'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Today: subscribe to router://running-config, run create_loopback, watch the update arrive.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notifications/progress — long-running call heartbeat.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Everything else you've seen is request/response; this is how servers speak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Elicitation — the server asks the user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Method: elicitation/create. Server sends a message + a flat JSON Schema (requestedSchema);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the client renders a dialog; result is {action: accept | decline | cancel, content: {...}}.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1247120" cy="2029967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09728"/>
          <a:lstStyle/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result = await ctx.elicit(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message=f"About to configure {interface} with {ip}/24 on Router1. Proceed?",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schema=ConfirmChange,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)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if result.action != "accept":</a:t>
            </a:r>
          </a:p>
          <a:p>
            <a:pPr algn="l"/>
            <a:r>
              <a:rPr sz="1400">
                <a:solidFill>
                  <a:srgbClr val="D8F0D8"/>
                </a:solidFill>
                <a:latin typeface="Consolas"/>
              </a:rPr>
              <a:t>    return "Change cancelled by user."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87367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02020"/>
                </a:solidFill>
              </a:rPr>
              <a:t>★ Servers MUST NOT elicit secrets or credentials — confirmations and parameters only.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Lab 5: Inspector pops this exact dialog. LibreChat declares no elicitation capability →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02020"/>
                </a:solidFill>
              </a:rPr>
              <a:t>the server degrades gracefully (applies with a warning). Capability negotiation, visible.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Sampling — the server asks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sampling/createMessage: a server requests an LLM completion THROUGH the client — server needs no API key.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modelPreferences: hints plus costPriority / speedPriority / intelligencePriority (client maps to an actual model).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Human-in-the-loop review is a SHOULD (strong design principle) — clients typically show the user what's asked.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Rare in the wild today (see client matrix) — lecture-only in this lab.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Security — where each guardrail lives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4 ·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Transport auth: MCP uses plain HTTP auth for remote servers — today a bearer token; OAuth 2.1 for products.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Input validation: LLM-supplied arguments are untrusted input. Always.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202020"/>
                </a:solidFill>
              </a:rPr>
              <a:t>Today: exact-command allowlist (not prefix match — 'show run | redirect tftp://…' is why), IPv4 regex in Lab 3.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Intent classification: readOnlyHint / destructiveHint annotations.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Human gates: elicitation confirm-before-change.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Recovery: pre-change snapshots (snapshot_config) + reset-to-baseline procedure.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The server is the security boundary. The model is a user.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B4D8"/>
                </a:solidFill>
              </a:rPr>
              <a:t>Section 5 of 5</a:t>
            </a:r>
          </a:p>
          <a:p>
            <a:r>
              <a:rPr sz="3600" b="1">
                <a:solidFill>
                  <a:srgbClr val="FFFFFF"/>
                </a:solidFill>
              </a:rPr>
              <a:t>Client reality &amp; your lab map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clients actually consume (verified)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5 · Reality &amp;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1920240"/>
                <a:gridCol w="2286000"/>
                <a:gridCol w="17373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LibreChat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Inspector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Claude Code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VS Code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Tools +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Server instructions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 @-mention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 slash cmd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list_changed / subscribe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partial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Elicitation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</a:rP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Design consequence (memorize this one)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5 · Reality &amp;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02020"/>
                </a:solidFill>
              </a:rPr>
              <a:t>★ 'Supports MCP' is a spectrum, not a checkbox.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Build tools-first — the universal baseline every client consumes.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Layer resources, prompts, notifications, elicitation as progressive enhancement.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Degrade gracefully when a capability is missing (you'll watch our server do exactly that in Lab 5).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Check the client's declared capabilities — they're in the initialize exchange, and you know how to read it now.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The ecosystem, current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5 · Reality &amp;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Spec revision 2025-11-25 — brought structured output, tool annotations, tasks; HTTP+SSE long deprecated.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First-party SDKs: Python, TypeScript, Java, Kotlin, C#, Go, Swift, Ruby, PHP, Rust.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MCP Registry: public discovery of published servers.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Deep-primitive clients today are IDE-class (Claude Code, VS Code, Cursor) and custom agents built on the SDKs;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chat products mostly consume tools — precisely the two-client story of this workshop.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What you build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5 · Reality &amp;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Lab 1 (25m) — Protocol on the wire: label initialize / tools/list / tools/call in Inspector.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Lab 2 (30m) — LibreChat end-to-end: bearer auth (you'll fix a broken token), chat drives the router.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Lab 3 (45m) — Build your own tool: ping_from_router with input validation and annotations.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Lab 4 (35m) — Resources &amp; prompts in Inspector.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Lab 5 (30m) — Notifications, subscriptions, and the elicitation gate.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Take-home — consume prompts &amp; resources from Claude Code, a production client.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Criterion Networks · MCP Workshop · 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A6A6A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MCP turns M×N integrations into M+N standard endpoints — you'll prove it with one server, three clients.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The protocol is small: three message kinds, one handshake, six primitives.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Control points differ by primitive: model → tools, application → resources, user → prompts.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Capability negotiation is the load-bearing feature — servers must degrade gracefully.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On network infrastructure, the guardrail stack is not optional: validate, annotate, confirm, snapshot, reset.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202020"/>
                </a:solidFill>
              </a:rPr>
              <a:t>Spec &amp; docs: modelcontextprotocol.io · SDKs: github.com/modelcontextprotocol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