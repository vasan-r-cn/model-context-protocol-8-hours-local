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304" r:id="rId77"/>
    <p:sldId id="270" r:id="rId20"/>
    <p:sldId id="271" r:id="rId21"/>
    <p:sldId id="272" r:id="rId22"/>
    <p:sldId id="305" r:id="rId78"/>
    <p:sldId id="273" r:id="rId23"/>
    <p:sldId id="274" r:id="rId24"/>
    <p:sldId id="306" r:id="rId79"/>
    <p:sldId id="307" r:id="rId80"/>
    <p:sldId id="275" r:id="rId25"/>
    <p:sldId id="308" r:id="rId81"/>
    <p:sldId id="276" r:id="rId26"/>
    <p:sldId id="277" r:id="rId27"/>
    <p:sldId id="278" r:id="rId28"/>
    <p:sldId id="309" r:id="rId82"/>
    <p:sldId id="279" r:id="rId29"/>
    <p:sldId id="326" r:id="rId99"/>
    <p:sldId id="280" r:id="rId30"/>
    <p:sldId id="281" r:id="rId31"/>
    <p:sldId id="310" r:id="rId83"/>
    <p:sldId id="282" r:id="rId32"/>
    <p:sldId id="311" r:id="rId84"/>
    <p:sldId id="283" r:id="rId33"/>
    <p:sldId id="284" r:id="rId34"/>
    <p:sldId id="312" r:id="rId85"/>
    <p:sldId id="285" r:id="rId35"/>
    <p:sldId id="286" r:id="rId36"/>
    <p:sldId id="313" r:id="rId86"/>
    <p:sldId id="287" r:id="rId37"/>
    <p:sldId id="288" r:id="rId38"/>
    <p:sldId id="314" r:id="rId87"/>
    <p:sldId id="289" r:id="rId39"/>
    <p:sldId id="315" r:id="rId88"/>
    <p:sldId id="290" r:id="rId40"/>
    <p:sldId id="291" r:id="rId41"/>
    <p:sldId id="316" r:id="rId89"/>
    <p:sldId id="292" r:id="rId42"/>
    <p:sldId id="293" r:id="rId43"/>
    <p:sldId id="317" r:id="rId90"/>
    <p:sldId id="294" r:id="rId44"/>
    <p:sldId id="318" r:id="rId91"/>
    <p:sldId id="295" r:id="rId45"/>
    <p:sldId id="319" r:id="rId92"/>
    <p:sldId id="320" r:id="rId93"/>
    <p:sldId id="296" r:id="rId46"/>
    <p:sldId id="297" r:id="rId47"/>
    <p:sldId id="298" r:id="rId48"/>
    <p:sldId id="299" r:id="rId49"/>
    <p:sldId id="300" r:id="rId50"/>
    <p:sldId id="325" r:id="rId98"/>
    <p:sldId id="321" r:id="rId94"/>
    <p:sldId id="322" r:id="rId95"/>
    <p:sldId id="323" r:id="rId96"/>
    <p:sldId id="324" r:id="rId97"/>
    <p:sldId id="301" r:id="rId51"/>
    <p:sldId id="302" r:id="rId52"/>
    <p:sldId id="303" r:id="rId53"/>
  </p:sldIdLst>
  <p:sldSz cy="10287000" cx="18288000"/>
  <p:notesSz cx="6858000" cy="9144000"/>
  <p:embeddedFontLst>
    <p:embeddedFont>
      <p:font typeface="Roboto"/>
      <p:bold r:id="rId54"/>
      <p:boldItalic r:id="rId55"/>
    </p:embeddedFont>
    <p:embeddedFont>
      <p:font typeface="Noto Sans ExtraBold"/>
      <p:bold r:id="rId56"/>
      <p:boldItalic r:id="rId57"/>
    </p:embeddedFont>
    <p:embeddedFont>
      <p:font typeface="Noto Sans Medium"/>
      <p:regular r:id="rId58"/>
      <p:bold r:id="rId59"/>
      <p:italic r:id="rId60"/>
      <p:boldItalic r:id="rId61"/>
    </p:embeddedFont>
    <p:embeddedFont>
      <p:font typeface="Roboto Medium"/>
      <p:regular r:id="rId62"/>
      <p:bold r:id="rId63"/>
      <p:italic r:id="rId64"/>
      <p:boldItalic r:id="rId65"/>
    </p:embeddedFont>
    <p:embeddedFont>
      <p:font typeface="Arimo"/>
      <p:regular r:id="rId66"/>
      <p:bold r:id="rId67"/>
      <p:italic r:id="rId68"/>
      <p:boldItalic r:id="rId69"/>
    </p:embeddedFont>
    <p:embeddedFont>
      <p:font typeface="Noto Sans"/>
      <p:bold r:id="rId70"/>
      <p:boldItalic r:id="rId71"/>
    </p:embeddedFont>
    <p:embeddedFont>
      <p:font typeface="Noto Sans SemiBold"/>
      <p:regular r:id="rId72"/>
      <p:bold r:id="rId73"/>
      <p:italic r:id="rId74"/>
      <p:boldItalic r:id="rId7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76" roundtripDataSignature="AMtx7mj2erFOvCxisjTPaOVv/iAYKJf3l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4.xml"/><Relationship Id="rId26" Type="http://schemas.openxmlformats.org/officeDocument/2006/relationships/slide" Target="slides/slide26.xml"/><Relationship Id="rId27" Type="http://schemas.openxmlformats.org/officeDocument/2006/relationships/slide" Target="slides/slide27.xml"/><Relationship Id="rId28" Type="http://schemas.openxmlformats.org/officeDocument/2006/relationships/slide" Target="slides/slide28.xml"/><Relationship Id="rId29" Type="http://schemas.openxmlformats.org/officeDocument/2006/relationships/slide" Target="slides/slide30.xml"/><Relationship Id="rId30" Type="http://schemas.openxmlformats.org/officeDocument/2006/relationships/slide" Target="slides/slide31.xml"/><Relationship Id="rId31" Type="http://schemas.openxmlformats.org/officeDocument/2006/relationships/slide" Target="slides/slide32.xml"/><Relationship Id="rId32" Type="http://schemas.openxmlformats.org/officeDocument/2006/relationships/slide" Target="slides/slide34.xml"/><Relationship Id="rId33" Type="http://schemas.openxmlformats.org/officeDocument/2006/relationships/slide" Target="slides/slide36.xml"/><Relationship Id="rId34" Type="http://schemas.openxmlformats.org/officeDocument/2006/relationships/slide" Target="slides/slide37.xml"/><Relationship Id="rId35" Type="http://schemas.openxmlformats.org/officeDocument/2006/relationships/slide" Target="slides/slide39.xml"/><Relationship Id="rId36" Type="http://schemas.openxmlformats.org/officeDocument/2006/relationships/slide" Target="slides/slide40.xml"/><Relationship Id="rId37" Type="http://schemas.openxmlformats.org/officeDocument/2006/relationships/slide" Target="slides/slide42.xml"/><Relationship Id="rId38" Type="http://schemas.openxmlformats.org/officeDocument/2006/relationships/slide" Target="slides/slide43.xml"/><Relationship Id="rId39" Type="http://schemas.openxmlformats.org/officeDocument/2006/relationships/slide" Target="slides/slide45.xml"/><Relationship Id="rId40" Type="http://schemas.openxmlformats.org/officeDocument/2006/relationships/slide" Target="slides/slide47.xml"/><Relationship Id="rId41" Type="http://schemas.openxmlformats.org/officeDocument/2006/relationships/slide" Target="slides/slide48.xml"/><Relationship Id="rId42" Type="http://schemas.openxmlformats.org/officeDocument/2006/relationships/slide" Target="slides/slide50.xml"/><Relationship Id="rId43" Type="http://schemas.openxmlformats.org/officeDocument/2006/relationships/slide" Target="slides/slide51.xml"/><Relationship Id="rId44" Type="http://schemas.openxmlformats.org/officeDocument/2006/relationships/slide" Target="slides/slide53.xml"/><Relationship Id="rId45" Type="http://schemas.openxmlformats.org/officeDocument/2006/relationships/slide" Target="slides/slide55.xml"/><Relationship Id="rId46" Type="http://schemas.openxmlformats.org/officeDocument/2006/relationships/slide" Target="slides/slide58.xml"/><Relationship Id="rId47" Type="http://schemas.openxmlformats.org/officeDocument/2006/relationships/slide" Target="slides/slide59.xml"/><Relationship Id="rId48" Type="http://schemas.openxmlformats.org/officeDocument/2006/relationships/slide" Target="slides/slide60.xml"/><Relationship Id="rId49" Type="http://schemas.openxmlformats.org/officeDocument/2006/relationships/slide" Target="slides/slide61.xml"/><Relationship Id="rId50" Type="http://schemas.openxmlformats.org/officeDocument/2006/relationships/slide" Target="slides/slide62.xml"/><Relationship Id="rId51" Type="http://schemas.openxmlformats.org/officeDocument/2006/relationships/slide" Target="slides/slide68.xml"/><Relationship Id="rId52" Type="http://schemas.openxmlformats.org/officeDocument/2006/relationships/slide" Target="slides/slide69.xml"/><Relationship Id="rId53" Type="http://schemas.openxmlformats.org/officeDocument/2006/relationships/slide" Target="slides/slide70.xml"/><Relationship Id="rId54" Type="http://schemas.openxmlformats.org/officeDocument/2006/relationships/font" Target="fonts/Roboto-bold.fntdata"/><Relationship Id="rId55" Type="http://schemas.openxmlformats.org/officeDocument/2006/relationships/font" Target="fonts/Roboto-boldItalic.fntdata"/><Relationship Id="rId56" Type="http://schemas.openxmlformats.org/officeDocument/2006/relationships/font" Target="fonts/NotoSansExtraBold-bold.fntdata"/><Relationship Id="rId57" Type="http://schemas.openxmlformats.org/officeDocument/2006/relationships/font" Target="fonts/NotoSansExtraBold-boldItalic.fntdata"/><Relationship Id="rId58" Type="http://schemas.openxmlformats.org/officeDocument/2006/relationships/font" Target="fonts/NotoSansMedium-regular.fntdata"/><Relationship Id="rId59" Type="http://schemas.openxmlformats.org/officeDocument/2006/relationships/font" Target="fonts/NotoSansMedium-bold.fntdata"/><Relationship Id="rId60" Type="http://schemas.openxmlformats.org/officeDocument/2006/relationships/font" Target="fonts/NotoSansMedium-italic.fntdata"/><Relationship Id="rId61" Type="http://schemas.openxmlformats.org/officeDocument/2006/relationships/font" Target="fonts/NotoSansMedium-boldItalic.fntdata"/><Relationship Id="rId62" Type="http://schemas.openxmlformats.org/officeDocument/2006/relationships/font" Target="fonts/RobotoMedium-regular.fntdata"/><Relationship Id="rId63" Type="http://schemas.openxmlformats.org/officeDocument/2006/relationships/font" Target="fonts/RobotoMedium-bold.fntdata"/><Relationship Id="rId64" Type="http://schemas.openxmlformats.org/officeDocument/2006/relationships/font" Target="fonts/RobotoMedium-italic.fntdata"/><Relationship Id="rId65" Type="http://schemas.openxmlformats.org/officeDocument/2006/relationships/font" Target="fonts/RobotoMedium-boldItalic.fntdata"/><Relationship Id="rId66" Type="http://schemas.openxmlformats.org/officeDocument/2006/relationships/font" Target="fonts/Arimo-regular.fntdata"/><Relationship Id="rId67" Type="http://schemas.openxmlformats.org/officeDocument/2006/relationships/font" Target="fonts/Arimo-bold.fntdata"/><Relationship Id="rId68" Type="http://schemas.openxmlformats.org/officeDocument/2006/relationships/font" Target="fonts/Arimo-italic.fntdata"/><Relationship Id="rId69" Type="http://schemas.openxmlformats.org/officeDocument/2006/relationships/font" Target="fonts/Arimo-boldItalic.fntdata"/><Relationship Id="rId70" Type="http://schemas.openxmlformats.org/officeDocument/2006/relationships/font" Target="fonts/NotoSans-bold.fntdata"/><Relationship Id="rId71" Type="http://schemas.openxmlformats.org/officeDocument/2006/relationships/font" Target="fonts/NotoSans-boldItalic.fntdata"/><Relationship Id="rId72" Type="http://schemas.openxmlformats.org/officeDocument/2006/relationships/font" Target="fonts/NotoSansSemiBold-regular.fntdata"/><Relationship Id="rId73" Type="http://schemas.openxmlformats.org/officeDocument/2006/relationships/font" Target="fonts/NotoSansSemiBold-bold.fntdata"/><Relationship Id="rId74" Type="http://schemas.openxmlformats.org/officeDocument/2006/relationships/font" Target="fonts/NotoSansSemiBold-italic.fntdata"/><Relationship Id="rId75" Type="http://schemas.openxmlformats.org/officeDocument/2006/relationships/font" Target="fonts/NotoSansSemiBold-boldItalic.fntdata"/><Relationship Id="rId76" Type="http://customschemas.google.com/relationships/presentationmetadata" Target="metadata"/><Relationship Id="rId77" Type="http://schemas.openxmlformats.org/officeDocument/2006/relationships/slide" Target="slides/slide15.xml"/><Relationship Id="rId78" Type="http://schemas.openxmlformats.org/officeDocument/2006/relationships/slide" Target="slides/slide19.xml"/><Relationship Id="rId79" Type="http://schemas.openxmlformats.org/officeDocument/2006/relationships/slide" Target="slides/slide22.xml"/><Relationship Id="rId80" Type="http://schemas.openxmlformats.org/officeDocument/2006/relationships/slide" Target="slides/slide23.xml"/><Relationship Id="rId81" Type="http://schemas.openxmlformats.org/officeDocument/2006/relationships/slide" Target="slides/slide25.xml"/><Relationship Id="rId82" Type="http://schemas.openxmlformats.org/officeDocument/2006/relationships/slide" Target="slides/slide29.xml"/><Relationship Id="rId83" Type="http://schemas.openxmlformats.org/officeDocument/2006/relationships/slide" Target="slides/slide33.xml"/><Relationship Id="rId84" Type="http://schemas.openxmlformats.org/officeDocument/2006/relationships/slide" Target="slides/slide35.xml"/><Relationship Id="rId85" Type="http://schemas.openxmlformats.org/officeDocument/2006/relationships/slide" Target="slides/slide38.xml"/><Relationship Id="rId86" Type="http://schemas.openxmlformats.org/officeDocument/2006/relationships/slide" Target="slides/slide41.xml"/><Relationship Id="rId87" Type="http://schemas.openxmlformats.org/officeDocument/2006/relationships/slide" Target="slides/slide44.xml"/><Relationship Id="rId88" Type="http://schemas.openxmlformats.org/officeDocument/2006/relationships/slide" Target="slides/slide46.xml"/><Relationship Id="rId89" Type="http://schemas.openxmlformats.org/officeDocument/2006/relationships/slide" Target="slides/slide49.xml"/><Relationship Id="rId90" Type="http://schemas.openxmlformats.org/officeDocument/2006/relationships/slide" Target="slides/slide52.xml"/><Relationship Id="rId91" Type="http://schemas.openxmlformats.org/officeDocument/2006/relationships/slide" Target="slides/slide54.xml"/><Relationship Id="rId92" Type="http://schemas.openxmlformats.org/officeDocument/2006/relationships/slide" Target="slides/slide56.xml"/><Relationship Id="rId93" Type="http://schemas.openxmlformats.org/officeDocument/2006/relationships/slide" Target="slides/slide57.xml"/><Relationship Id="rId94" Type="http://schemas.openxmlformats.org/officeDocument/2006/relationships/slide" Target="slides/slide64.xml"/><Relationship Id="rId95" Type="http://schemas.openxmlformats.org/officeDocument/2006/relationships/slide" Target="slides/slide65.xml"/><Relationship Id="rId96" Type="http://schemas.openxmlformats.org/officeDocument/2006/relationships/slide" Target="slides/slide66.xml"/><Relationship Id="rId97" Type="http://schemas.openxmlformats.org/officeDocument/2006/relationships/slide" Target="slides/slide67.xml"/><Relationship Id="rId98" Type="http://schemas.openxmlformats.org/officeDocument/2006/relationships/slide" Target="slides/slide63.xml"/><Relationship Id="rId99" Type="http://schemas.openxmlformats.org/officeDocument/2006/relationships/slide" Target="slides/slide7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fbf35cb889_9_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3fbf35cb889_9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fbf35cb889_9_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3fbf35cb889_9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fbf35cb889_9_2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" name="Google Shape;262;g3fbf35cb889_9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fbf35cb889_9_2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Google Shape;267;g3fbf35cb889_9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3fbf35cb889_9_3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" name="Google Shape;273;g3fbf35cb889_9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3fbf35cb889_9_3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" name="Google Shape;278;g3fbf35cb889_9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3fbf35cb889_9_4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g3fbf35cb889_9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g3fbf35cb889_9_4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9" name="Google Shape;409;g3fbf35cb889_9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g3fbf35cb889_9_4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4" name="Google Shape;414;g3fbf35cb889_9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1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g3fbf35cb889_9_5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4" name="Google Shape;614;g3fbf35cb889_9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9" name="Google Shape;619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7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9" name="Google Shape;689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5" name="Shape 8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6" name="Google Shape;816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7" name="Google Shape;817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9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Google Shape;840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1" name="Google Shape;841;p2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4" name="Shape 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5" name="Google Shape;875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6" name="Google Shape;876;p1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6" name="Shape 8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7" name="Google Shape;897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8" name="Google Shape;898;p2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3" name="Shape 9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4" name="Google Shape;934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5" name="Google Shape;935;p2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2" name="Shape 9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3" name="Google Shape;963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4" name="Google Shape;964;p2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3" name="Shape 9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4" name="Google Shape;994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5" name="Google Shape;995;p2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3" name="Shape 10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" name="Google Shape;1024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5" name="Google Shape;1025;p2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3" name="Shape 10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" name="Google Shape;1054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5" name="Google Shape;1055;p2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9" name="Shape 10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0" name="Google Shape;1060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1" name="Google Shape;1061;p2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5" name="Shape 10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6" name="Google Shape;1066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7" name="Google Shape;1067;p2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6" name="Shape 10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7" name="Google Shape;1087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8" name="Google Shape;1088;p3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7" name="Shape 1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8" name="Google Shape;1108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9" name="Google Shape;1109;p3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7" name="Shape 1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8" name="Google Shape;1128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9" name="Google Shape;1129;p3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9" name="Shape 1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0" name="Google Shape;1160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1" name="Google Shape;1161;p3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6" name="Shape 1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" name="Google Shape;1187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8" name="Google Shape;1188;p3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8" name="Shape 1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9" name="Google Shape;1219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0" name="Google Shape;1220;p3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9" name="Shape 1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0" name="Google Shape;1240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1" name="Google Shape;1241;p3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7" name="Shape 1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8" name="Google Shape;1278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9" name="Google Shape;1279;p3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3" name="Shape 1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4" name="Google Shape;1314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5" name="Google Shape;1315;p3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5" name="Shape 1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6" name="Google Shape;1356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7" name="Google Shape;1357;p3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7" name="Shape 1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8" name="Google Shape;1388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9" name="Google Shape;1389;p4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1" name="Shape 1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2" name="Google Shape;1432;p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3" name="Google Shape;1433;p4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5" name="Shape 1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6" name="Google Shape;1476;p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7" name="Google Shape;1477;p4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0" name="Shape 1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1" name="Google Shape;1521;p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2" name="Google Shape;1522;p4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1" name="Shape 1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2" name="Google Shape;1592;p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3" name="Google Shape;1593;p4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4" name="Shape 1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5" name="Google Shape;1635;p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6" name="Google Shape;1636;p4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4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4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4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8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48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4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4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0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0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1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51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5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5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5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2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52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52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52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5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5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5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5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5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5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5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54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54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54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5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5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5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55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55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55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5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5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5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5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56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5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5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5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57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57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5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5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5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4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4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4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4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jpg"/><Relationship Id="rId4" Type="http://schemas.openxmlformats.org/officeDocument/2006/relationships/image" Target="../media/image37.png"/><Relationship Id="rId5" Type="http://schemas.openxmlformats.org/officeDocument/2006/relationships/image" Target="../media/image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png"/><Relationship Id="rId4" Type="http://schemas.openxmlformats.org/officeDocument/2006/relationships/image" Target="../media/image4.jpg"/><Relationship Id="rId5" Type="http://schemas.openxmlformats.org/officeDocument/2006/relationships/image" Target="../media/image3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image" Target="../media/image4.jpg"/><Relationship Id="rId6" Type="http://schemas.openxmlformats.org/officeDocument/2006/relationships/image" Target="../media/image37.png"/><Relationship Id="rId7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33.png"/><Relationship Id="rId5" Type="http://schemas.openxmlformats.org/officeDocument/2006/relationships/image" Target="../media/image16.png"/><Relationship Id="rId6" Type="http://schemas.openxmlformats.org/officeDocument/2006/relationships/image" Target="../media/image4.jpg"/><Relationship Id="rId7" Type="http://schemas.openxmlformats.org/officeDocument/2006/relationships/image" Target="../media/image3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image" Target="../media/image12.png"/><Relationship Id="rId5" Type="http://schemas.openxmlformats.org/officeDocument/2006/relationships/image" Target="../media/image7.png"/><Relationship Id="rId6" Type="http://schemas.openxmlformats.org/officeDocument/2006/relationships/image" Target="../media/image15.png"/><Relationship Id="rId7" Type="http://schemas.openxmlformats.org/officeDocument/2006/relationships/image" Target="../media/image8.png"/><Relationship Id="rId8" Type="http://schemas.openxmlformats.org/officeDocument/2006/relationships/image" Target="../media/image4.jpg"/><Relationship Id="rId9" Type="http://schemas.openxmlformats.org/officeDocument/2006/relationships/image" Target="../media/image3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image" Target="../media/image4.jpg"/><Relationship Id="rId6" Type="http://schemas.openxmlformats.org/officeDocument/2006/relationships/image" Target="../media/image3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8.png"/><Relationship Id="rId4" Type="http://schemas.openxmlformats.org/officeDocument/2006/relationships/image" Target="../media/image30.png"/><Relationship Id="rId5" Type="http://schemas.openxmlformats.org/officeDocument/2006/relationships/image" Target="../media/image19.png"/><Relationship Id="rId6" Type="http://schemas.openxmlformats.org/officeDocument/2006/relationships/image" Target="../media/image4.jpg"/><Relationship Id="rId7" Type="http://schemas.openxmlformats.org/officeDocument/2006/relationships/image" Target="../media/image3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3.png"/><Relationship Id="rId4" Type="http://schemas.openxmlformats.org/officeDocument/2006/relationships/image" Target="../media/image25.png"/><Relationship Id="rId5" Type="http://schemas.openxmlformats.org/officeDocument/2006/relationships/image" Target="../media/image20.png"/><Relationship Id="rId6" Type="http://schemas.openxmlformats.org/officeDocument/2006/relationships/image" Target="../media/image4.jpg"/><Relationship Id="rId7" Type="http://schemas.openxmlformats.org/officeDocument/2006/relationships/image" Target="../media/image3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2.png"/><Relationship Id="rId4" Type="http://schemas.openxmlformats.org/officeDocument/2006/relationships/image" Target="../media/image7.png"/><Relationship Id="rId5" Type="http://schemas.openxmlformats.org/officeDocument/2006/relationships/image" Target="../media/image15.png"/><Relationship Id="rId6" Type="http://schemas.openxmlformats.org/officeDocument/2006/relationships/image" Target="../media/image8.png"/><Relationship Id="rId7" Type="http://schemas.openxmlformats.org/officeDocument/2006/relationships/image" Target="../media/image4.jpg"/><Relationship Id="rId8" Type="http://schemas.openxmlformats.org/officeDocument/2006/relationships/image" Target="../media/image3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6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.jpg"/><Relationship Id="rId4" Type="http://schemas.openxmlformats.org/officeDocument/2006/relationships/image" Target="../media/image35.png"/><Relationship Id="rId5" Type="http://schemas.openxmlformats.org/officeDocument/2006/relationships/image" Target="../media/image37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9.png"/><Relationship Id="rId4" Type="http://schemas.openxmlformats.org/officeDocument/2006/relationships/image" Target="../media/image18.png"/><Relationship Id="rId5" Type="http://schemas.openxmlformats.org/officeDocument/2006/relationships/image" Target="../media/image27.png"/><Relationship Id="rId6" Type="http://schemas.openxmlformats.org/officeDocument/2006/relationships/image" Target="../media/image28.png"/><Relationship Id="rId7" Type="http://schemas.openxmlformats.org/officeDocument/2006/relationships/image" Target="../media/image4.jpg"/><Relationship Id="rId8" Type="http://schemas.openxmlformats.org/officeDocument/2006/relationships/image" Target="../media/image37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image" Target="../media/image4.jpg"/><Relationship Id="rId6" Type="http://schemas.openxmlformats.org/officeDocument/2006/relationships/image" Target="../media/image31.png"/><Relationship Id="rId7" Type="http://schemas.openxmlformats.org/officeDocument/2006/relationships/image" Target="../media/image37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2.png"/><Relationship Id="rId4" Type="http://schemas.openxmlformats.org/officeDocument/2006/relationships/image" Target="../media/image9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2.png"/><Relationship Id="rId3" Type="http://schemas.openxmlformats.org/officeDocument/2006/relationships/image" Target="../media/image88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2.png"/><Relationship Id="rId4" Type="http://schemas.openxmlformats.org/officeDocument/2006/relationships/image" Target="../media/image40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8.png"/><Relationship Id="rId4" Type="http://schemas.openxmlformats.org/officeDocument/2006/relationships/image" Target="../media/image12.png"/><Relationship Id="rId5" Type="http://schemas.openxmlformats.org/officeDocument/2006/relationships/image" Target="../media/image41.png"/><Relationship Id="rId6" Type="http://schemas.openxmlformats.org/officeDocument/2006/relationships/image" Target="../media/image62.png"/><Relationship Id="rId7" Type="http://schemas.openxmlformats.org/officeDocument/2006/relationships/image" Target="../media/image42.png"/><Relationship Id="rId8" Type="http://schemas.openxmlformats.org/officeDocument/2006/relationships/image" Target="../media/image43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9.png"/><Relationship Id="rId4" Type="http://schemas.openxmlformats.org/officeDocument/2006/relationships/image" Target="../media/image12.png"/><Relationship Id="rId5" Type="http://schemas.openxmlformats.org/officeDocument/2006/relationships/image" Target="../media/image7.png"/><Relationship Id="rId6" Type="http://schemas.openxmlformats.org/officeDocument/2006/relationships/image" Target="../media/image15.png"/><Relationship Id="rId7" Type="http://schemas.openxmlformats.org/officeDocument/2006/relationships/image" Target="../media/image8.png"/><Relationship Id="rId8" Type="http://schemas.openxmlformats.org/officeDocument/2006/relationships/image" Target="../media/image40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3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2.png"/><Relationship Id="rId4" Type="http://schemas.openxmlformats.org/officeDocument/2006/relationships/image" Target="../media/image47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4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69.png"/><Relationship Id="rId4" Type="http://schemas.openxmlformats.org/officeDocument/2006/relationships/image" Target="../media/image40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46.png"/><Relationship Id="rId4" Type="http://schemas.openxmlformats.org/officeDocument/2006/relationships/image" Target="../media/image50.png"/><Relationship Id="rId5" Type="http://schemas.openxmlformats.org/officeDocument/2006/relationships/image" Target="../media/image40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5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49.png"/><Relationship Id="rId4" Type="http://schemas.openxmlformats.org/officeDocument/2006/relationships/image" Target="../media/image45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6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57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48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7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57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8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60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56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9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55.png"/><Relationship Id="rId4" Type="http://schemas.openxmlformats.org/officeDocument/2006/relationships/image" Target="../media/image12.png"/><Relationship Id="rId5" Type="http://schemas.openxmlformats.org/officeDocument/2006/relationships/image" Target="../media/image53.png"/><Relationship Id="rId6" Type="http://schemas.openxmlformats.org/officeDocument/2006/relationships/image" Target="../media/image59.png"/><Relationship Id="rId7" Type="http://schemas.openxmlformats.org/officeDocument/2006/relationships/image" Target="../media/image42.png"/><Relationship Id="rId8" Type="http://schemas.openxmlformats.org/officeDocument/2006/relationships/image" Target="../media/image61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32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0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1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2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3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4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5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6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7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70.png"/><Relationship Id="rId4" Type="http://schemas.openxmlformats.org/officeDocument/2006/relationships/image" Target="../media/image63.png"/><Relationship Id="rId5" Type="http://schemas.openxmlformats.org/officeDocument/2006/relationships/image" Target="../media/image66.png"/><Relationship Id="rId6" Type="http://schemas.openxmlformats.org/officeDocument/2006/relationships/image" Target="../media/image15.png"/><Relationship Id="rId7" Type="http://schemas.openxmlformats.org/officeDocument/2006/relationships/image" Target="../media/image64.png"/><Relationship Id="rId8" Type="http://schemas.openxmlformats.org/officeDocument/2006/relationships/image" Target="../media/image65.png"/><Relationship Id="rId9" Type="http://schemas.openxmlformats.org/officeDocument/2006/relationships/image" Target="../media/image4.jpg"/><Relationship Id="rId10" Type="http://schemas.openxmlformats.org/officeDocument/2006/relationships/image" Target="../media/image40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67.png"/><Relationship Id="rId4" Type="http://schemas.openxmlformats.org/officeDocument/2006/relationships/image" Target="../media/image68.png"/><Relationship Id="rId5" Type="http://schemas.openxmlformats.org/officeDocument/2006/relationships/image" Target="../media/image66.png"/><Relationship Id="rId6" Type="http://schemas.openxmlformats.org/officeDocument/2006/relationships/image" Target="../media/image15.png"/><Relationship Id="rId7" Type="http://schemas.openxmlformats.org/officeDocument/2006/relationships/image" Target="../media/image64.png"/><Relationship Id="rId8" Type="http://schemas.openxmlformats.org/officeDocument/2006/relationships/image" Target="../media/image65.png"/><Relationship Id="rId9" Type="http://schemas.openxmlformats.org/officeDocument/2006/relationships/image" Target="../media/image4.jpg"/><Relationship Id="rId10" Type="http://schemas.openxmlformats.org/officeDocument/2006/relationships/image" Target="../media/image40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"/>
          <p:cNvSpPr/>
          <p:nvPr/>
        </p:nvSpPr>
        <p:spPr>
          <a:xfrm>
            <a:off x="0" y="0"/>
            <a:ext cx="9144000" cy="10287000"/>
          </a:xfrm>
          <a:custGeom>
            <a:rect b="b" l="l" r="r" t="t"/>
            <a:pathLst>
              <a:path extrusionOk="0" h="13716000" w="12192000">
                <a:moveTo>
                  <a:pt x="0" y="0"/>
                </a:moveTo>
                <a:lnTo>
                  <a:pt x="12192000" y="0"/>
                </a:lnTo>
                <a:lnTo>
                  <a:pt x="12192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0F1B2C"/>
          </a:solidFill>
          <a:ln>
            <a:noFill/>
          </a:ln>
        </p:spPr>
      </p:sp>
      <p:sp>
        <p:nvSpPr>
          <p:cNvPr id="85" name="Google Shape;85;p2"/>
          <p:cNvSpPr txBox="1"/>
          <p:nvPr/>
        </p:nvSpPr>
        <p:spPr>
          <a:xfrm>
            <a:off x="1005840" y="3693795"/>
            <a:ext cx="3443754" cy="12569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0" u="none" cap="none" strike="noStrike">
                <a:solidFill>
                  <a:srgbClr val="00AEEF"/>
                </a:solidFill>
                <a:latin typeface="Roboto"/>
                <a:ea typeface="Roboto"/>
                <a:cs typeface="Roboto"/>
                <a:sym typeface="Roboto"/>
              </a:rPr>
              <a:t>Agenda</a:t>
            </a:r>
            <a:endParaRPr/>
          </a:p>
        </p:txBody>
      </p:sp>
      <p:sp>
        <p:nvSpPr>
          <p:cNvPr id="86" name="Google Shape;86;p2"/>
          <p:cNvSpPr/>
          <p:nvPr/>
        </p:nvSpPr>
        <p:spPr>
          <a:xfrm>
            <a:off x="9715500" y="1714500"/>
            <a:ext cx="571500" cy="571500"/>
          </a:xfrm>
          <a:custGeom>
            <a:rect b="b" l="l" r="r" t="t"/>
            <a:pathLst>
              <a:path extrusionOk="0" h="762000" w="762000">
                <a:moveTo>
                  <a:pt x="0" y="381000"/>
                </a:moveTo>
                <a:cubicBezTo>
                  <a:pt x="0" y="170561"/>
                  <a:pt x="170561" y="0"/>
                  <a:pt x="381000" y="0"/>
                </a:cubicBezTo>
                <a:cubicBezTo>
                  <a:pt x="591439" y="0"/>
                  <a:pt x="762000" y="170561"/>
                  <a:pt x="762000" y="381000"/>
                </a:cubicBezTo>
                <a:cubicBezTo>
                  <a:pt x="762000" y="591439"/>
                  <a:pt x="591439" y="762000"/>
                  <a:pt x="381000" y="762000"/>
                </a:cubicBezTo>
                <a:cubicBezTo>
                  <a:pt x="170561" y="762000"/>
                  <a:pt x="0" y="591439"/>
                  <a:pt x="0" y="381000"/>
                </a:cubicBezTo>
                <a:close/>
              </a:path>
            </a:pathLst>
          </a:custGeom>
          <a:solidFill>
            <a:srgbClr val="00AE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7" name="Google Shape;87;p2"/>
          <p:cNvGrpSpPr/>
          <p:nvPr/>
        </p:nvGrpSpPr>
        <p:grpSpPr>
          <a:xfrm>
            <a:off x="9725216" y="1715557"/>
            <a:ext cx="552079" cy="569385"/>
            <a:chOff x="0" y="0"/>
            <a:chExt cx="736105" cy="759181"/>
          </a:xfrm>
        </p:grpSpPr>
        <p:sp>
          <p:nvSpPr>
            <p:cNvPr id="88" name="Google Shape;88;p2"/>
            <p:cNvSpPr/>
            <p:nvPr/>
          </p:nvSpPr>
          <p:spPr>
            <a:xfrm>
              <a:off x="0" y="0"/>
              <a:ext cx="736101" cy="759181"/>
            </a:xfrm>
            <a:custGeom>
              <a:rect b="b" l="l" r="r" t="t"/>
              <a:pathLst>
                <a:path extrusionOk="0" h="759181" w="736101">
                  <a:moveTo>
                    <a:pt x="0" y="0"/>
                  </a:moveTo>
                  <a:lnTo>
                    <a:pt x="736101" y="0"/>
                  </a:lnTo>
                  <a:lnTo>
                    <a:pt x="736101" y="759181"/>
                  </a:lnTo>
                  <a:lnTo>
                    <a:pt x="0" y="759181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0" l="-82324" r="-82324" t="0"/>
              </a:stretch>
            </a:blipFill>
            <a:ln>
              <a:noFill/>
            </a:ln>
          </p:spPr>
        </p:sp>
        <p:sp>
          <p:nvSpPr>
            <p:cNvPr id="89" name="Google Shape;89;p2"/>
            <p:cNvSpPr txBox="1"/>
            <p:nvPr/>
          </p:nvSpPr>
          <p:spPr>
            <a:xfrm>
              <a:off x="0" y="0"/>
              <a:ext cx="736105" cy="75918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499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1</a:t>
              </a:r>
              <a:endParaRPr/>
            </a:p>
          </p:txBody>
        </p:sp>
      </p:grpSp>
      <p:sp>
        <p:nvSpPr>
          <p:cNvPr id="90" name="Google Shape;90;p2"/>
          <p:cNvSpPr txBox="1"/>
          <p:nvPr/>
        </p:nvSpPr>
        <p:spPr>
          <a:xfrm>
            <a:off x="10607040" y="1741170"/>
            <a:ext cx="6903720" cy="53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50" u="none" cap="none" strike="noStrike">
                <a:solidFill>
                  <a:srgbClr val="0F1B2C"/>
                </a:solidFill>
                <a:latin typeface="Roboto"/>
                <a:ea typeface="Roboto"/>
                <a:cs typeface="Roboto"/>
                <a:sym typeface="Roboto"/>
              </a:rPr>
              <a:t>Understanding LLMs &amp; AI Applications</a:t>
            </a:r>
            <a:endParaRPr/>
          </a:p>
        </p:txBody>
      </p:sp>
      <p:sp>
        <p:nvSpPr>
          <p:cNvPr id="91" name="Google Shape;91;p2"/>
          <p:cNvSpPr txBox="1"/>
          <p:nvPr/>
        </p:nvSpPr>
        <p:spPr>
          <a:xfrm>
            <a:off x="10607040" y="2141220"/>
            <a:ext cx="6903720" cy="7278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Large Language Models, AI-powered applications, and agentic workflows</a:t>
            </a:r>
            <a:endParaRPr/>
          </a:p>
        </p:txBody>
      </p:sp>
      <p:sp>
        <p:nvSpPr>
          <p:cNvPr id="92" name="Google Shape;92;p2"/>
          <p:cNvSpPr/>
          <p:nvPr/>
        </p:nvSpPr>
        <p:spPr>
          <a:xfrm>
            <a:off x="9715500" y="3200400"/>
            <a:ext cx="571500" cy="571500"/>
          </a:xfrm>
          <a:custGeom>
            <a:rect b="b" l="l" r="r" t="t"/>
            <a:pathLst>
              <a:path extrusionOk="0" h="762000" w="762000">
                <a:moveTo>
                  <a:pt x="0" y="381000"/>
                </a:moveTo>
                <a:cubicBezTo>
                  <a:pt x="0" y="170561"/>
                  <a:pt x="170561" y="0"/>
                  <a:pt x="381000" y="0"/>
                </a:cubicBezTo>
                <a:cubicBezTo>
                  <a:pt x="591439" y="0"/>
                  <a:pt x="762000" y="170561"/>
                  <a:pt x="762000" y="381000"/>
                </a:cubicBezTo>
                <a:cubicBezTo>
                  <a:pt x="762000" y="591439"/>
                  <a:pt x="591439" y="762000"/>
                  <a:pt x="381000" y="762000"/>
                </a:cubicBezTo>
                <a:cubicBezTo>
                  <a:pt x="170561" y="762000"/>
                  <a:pt x="0" y="591439"/>
                  <a:pt x="0" y="381000"/>
                </a:cubicBezTo>
                <a:close/>
              </a:path>
            </a:pathLst>
          </a:custGeom>
          <a:solidFill>
            <a:srgbClr val="00AE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3" name="Google Shape;93;p2"/>
          <p:cNvGrpSpPr/>
          <p:nvPr/>
        </p:nvGrpSpPr>
        <p:grpSpPr>
          <a:xfrm>
            <a:off x="9725216" y="3201457"/>
            <a:ext cx="552079" cy="569385"/>
            <a:chOff x="0" y="0"/>
            <a:chExt cx="736105" cy="759181"/>
          </a:xfrm>
        </p:grpSpPr>
        <p:sp>
          <p:nvSpPr>
            <p:cNvPr id="94" name="Google Shape;94;p2"/>
            <p:cNvSpPr/>
            <p:nvPr/>
          </p:nvSpPr>
          <p:spPr>
            <a:xfrm>
              <a:off x="0" y="0"/>
              <a:ext cx="736101" cy="759181"/>
            </a:xfrm>
            <a:custGeom>
              <a:rect b="b" l="l" r="r" t="t"/>
              <a:pathLst>
                <a:path extrusionOk="0" h="759181" w="736101">
                  <a:moveTo>
                    <a:pt x="0" y="0"/>
                  </a:moveTo>
                  <a:lnTo>
                    <a:pt x="736101" y="0"/>
                  </a:lnTo>
                  <a:lnTo>
                    <a:pt x="736101" y="759181"/>
                  </a:lnTo>
                  <a:lnTo>
                    <a:pt x="0" y="759181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0" l="-82324" r="-82324" t="0"/>
              </a:stretch>
            </a:blipFill>
            <a:ln>
              <a:noFill/>
            </a:ln>
          </p:spPr>
        </p:sp>
        <p:sp>
          <p:nvSpPr>
            <p:cNvPr id="95" name="Google Shape;95;p2"/>
            <p:cNvSpPr txBox="1"/>
            <p:nvPr/>
          </p:nvSpPr>
          <p:spPr>
            <a:xfrm>
              <a:off x="0" y="0"/>
              <a:ext cx="736105" cy="75918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499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2</a:t>
              </a:r>
              <a:endParaRPr/>
            </a:p>
          </p:txBody>
        </p:sp>
      </p:grpSp>
      <p:sp>
        <p:nvSpPr>
          <p:cNvPr id="96" name="Google Shape;96;p2"/>
          <p:cNvSpPr txBox="1"/>
          <p:nvPr/>
        </p:nvSpPr>
        <p:spPr>
          <a:xfrm>
            <a:off x="10607040" y="3227070"/>
            <a:ext cx="6903720" cy="53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50" u="none" cap="none" strike="noStrike">
                <a:solidFill>
                  <a:srgbClr val="0F1B2C"/>
                </a:solidFill>
                <a:latin typeface="Roboto"/>
                <a:ea typeface="Roboto"/>
                <a:cs typeface="Roboto"/>
                <a:sym typeface="Roboto"/>
              </a:rPr>
              <a:t>The Integration Challenge</a:t>
            </a:r>
            <a:endParaRPr/>
          </a:p>
        </p:txBody>
      </p:sp>
      <p:sp>
        <p:nvSpPr>
          <p:cNvPr id="97" name="Google Shape;97;p2"/>
          <p:cNvSpPr txBox="1"/>
          <p:nvPr/>
        </p:nvSpPr>
        <p:spPr>
          <a:xfrm>
            <a:off x="10607040" y="3627120"/>
            <a:ext cx="6903720" cy="4200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API architecture, the MxN problem, and current limitations</a:t>
            </a:r>
            <a:endParaRPr/>
          </a:p>
        </p:txBody>
      </p:sp>
      <p:sp>
        <p:nvSpPr>
          <p:cNvPr id="98" name="Google Shape;98;p2"/>
          <p:cNvSpPr/>
          <p:nvPr/>
        </p:nvSpPr>
        <p:spPr>
          <a:xfrm>
            <a:off x="9715500" y="4686300"/>
            <a:ext cx="571500" cy="571500"/>
          </a:xfrm>
          <a:custGeom>
            <a:rect b="b" l="l" r="r" t="t"/>
            <a:pathLst>
              <a:path extrusionOk="0" h="762000" w="762000">
                <a:moveTo>
                  <a:pt x="0" y="381000"/>
                </a:moveTo>
                <a:cubicBezTo>
                  <a:pt x="0" y="170561"/>
                  <a:pt x="170561" y="0"/>
                  <a:pt x="381000" y="0"/>
                </a:cubicBezTo>
                <a:cubicBezTo>
                  <a:pt x="591439" y="0"/>
                  <a:pt x="762000" y="170561"/>
                  <a:pt x="762000" y="381000"/>
                </a:cubicBezTo>
                <a:cubicBezTo>
                  <a:pt x="762000" y="591439"/>
                  <a:pt x="591439" y="762000"/>
                  <a:pt x="381000" y="762000"/>
                </a:cubicBezTo>
                <a:cubicBezTo>
                  <a:pt x="170561" y="762000"/>
                  <a:pt x="0" y="591439"/>
                  <a:pt x="0" y="381000"/>
                </a:cubicBezTo>
                <a:close/>
              </a:path>
            </a:pathLst>
          </a:custGeom>
          <a:solidFill>
            <a:srgbClr val="00AE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9" name="Google Shape;99;p2"/>
          <p:cNvGrpSpPr/>
          <p:nvPr/>
        </p:nvGrpSpPr>
        <p:grpSpPr>
          <a:xfrm>
            <a:off x="9725216" y="4687357"/>
            <a:ext cx="552079" cy="569385"/>
            <a:chOff x="0" y="0"/>
            <a:chExt cx="736105" cy="759181"/>
          </a:xfrm>
        </p:grpSpPr>
        <p:sp>
          <p:nvSpPr>
            <p:cNvPr id="100" name="Google Shape;100;p2"/>
            <p:cNvSpPr/>
            <p:nvPr/>
          </p:nvSpPr>
          <p:spPr>
            <a:xfrm>
              <a:off x="0" y="0"/>
              <a:ext cx="736101" cy="759181"/>
            </a:xfrm>
            <a:custGeom>
              <a:rect b="b" l="l" r="r" t="t"/>
              <a:pathLst>
                <a:path extrusionOk="0" h="759181" w="736101">
                  <a:moveTo>
                    <a:pt x="0" y="0"/>
                  </a:moveTo>
                  <a:lnTo>
                    <a:pt x="736101" y="0"/>
                  </a:lnTo>
                  <a:lnTo>
                    <a:pt x="736101" y="759181"/>
                  </a:lnTo>
                  <a:lnTo>
                    <a:pt x="0" y="759181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0" l="-82324" r="-82324" t="0"/>
              </a:stretch>
            </a:blipFill>
            <a:ln>
              <a:noFill/>
            </a:ln>
          </p:spPr>
        </p:sp>
        <p:sp>
          <p:nvSpPr>
            <p:cNvPr id="101" name="Google Shape;101;p2"/>
            <p:cNvSpPr txBox="1"/>
            <p:nvPr/>
          </p:nvSpPr>
          <p:spPr>
            <a:xfrm>
              <a:off x="0" y="0"/>
              <a:ext cx="736105" cy="75918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499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3</a:t>
              </a:r>
              <a:endParaRPr/>
            </a:p>
          </p:txBody>
        </p:sp>
      </p:grpSp>
      <p:sp>
        <p:nvSpPr>
          <p:cNvPr id="102" name="Google Shape;102;p2"/>
          <p:cNvSpPr txBox="1"/>
          <p:nvPr/>
        </p:nvSpPr>
        <p:spPr>
          <a:xfrm>
            <a:off x="10607040" y="4712970"/>
            <a:ext cx="6903720" cy="53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50" u="none" cap="none" strike="noStrike">
                <a:solidFill>
                  <a:srgbClr val="0F1B2C"/>
                </a:solidFill>
                <a:latin typeface="Roboto"/>
                <a:ea typeface="Roboto"/>
                <a:cs typeface="Roboto"/>
                <a:sym typeface="Roboto"/>
              </a:rPr>
              <a:t>Introducing Model Context Protocol</a:t>
            </a:r>
            <a:endParaRPr/>
          </a:p>
        </p:txBody>
      </p:sp>
      <p:sp>
        <p:nvSpPr>
          <p:cNvPr id="103" name="Google Shape;103;p2"/>
          <p:cNvSpPr txBox="1"/>
          <p:nvPr/>
        </p:nvSpPr>
        <p:spPr>
          <a:xfrm>
            <a:off x="10607040" y="5113020"/>
            <a:ext cx="6903720" cy="4200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MCP architecture, capabilities, and the paradigm shift</a:t>
            </a:r>
            <a:endParaRPr/>
          </a:p>
        </p:txBody>
      </p:sp>
      <p:sp>
        <p:nvSpPr>
          <p:cNvPr id="104" name="Google Shape;104;p2"/>
          <p:cNvSpPr/>
          <p:nvPr/>
        </p:nvSpPr>
        <p:spPr>
          <a:xfrm>
            <a:off x="9715500" y="6172200"/>
            <a:ext cx="571500" cy="571500"/>
          </a:xfrm>
          <a:custGeom>
            <a:rect b="b" l="l" r="r" t="t"/>
            <a:pathLst>
              <a:path extrusionOk="0" h="762000" w="762000">
                <a:moveTo>
                  <a:pt x="0" y="381000"/>
                </a:moveTo>
                <a:cubicBezTo>
                  <a:pt x="0" y="170561"/>
                  <a:pt x="170561" y="0"/>
                  <a:pt x="381000" y="0"/>
                </a:cubicBezTo>
                <a:cubicBezTo>
                  <a:pt x="591439" y="0"/>
                  <a:pt x="762000" y="170561"/>
                  <a:pt x="762000" y="381000"/>
                </a:cubicBezTo>
                <a:cubicBezTo>
                  <a:pt x="762000" y="591439"/>
                  <a:pt x="591439" y="762000"/>
                  <a:pt x="381000" y="762000"/>
                </a:cubicBezTo>
                <a:cubicBezTo>
                  <a:pt x="170561" y="762000"/>
                  <a:pt x="0" y="591439"/>
                  <a:pt x="0" y="381000"/>
                </a:cubicBezTo>
                <a:close/>
              </a:path>
            </a:pathLst>
          </a:custGeom>
          <a:solidFill>
            <a:srgbClr val="00AE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5" name="Google Shape;105;p2"/>
          <p:cNvGrpSpPr/>
          <p:nvPr/>
        </p:nvGrpSpPr>
        <p:grpSpPr>
          <a:xfrm>
            <a:off x="9725216" y="6173257"/>
            <a:ext cx="552079" cy="569385"/>
            <a:chOff x="0" y="0"/>
            <a:chExt cx="736105" cy="759181"/>
          </a:xfrm>
        </p:grpSpPr>
        <p:sp>
          <p:nvSpPr>
            <p:cNvPr id="106" name="Google Shape;106;p2"/>
            <p:cNvSpPr/>
            <p:nvPr/>
          </p:nvSpPr>
          <p:spPr>
            <a:xfrm>
              <a:off x="0" y="0"/>
              <a:ext cx="736101" cy="759181"/>
            </a:xfrm>
            <a:custGeom>
              <a:rect b="b" l="l" r="r" t="t"/>
              <a:pathLst>
                <a:path extrusionOk="0" h="759181" w="736101">
                  <a:moveTo>
                    <a:pt x="0" y="0"/>
                  </a:moveTo>
                  <a:lnTo>
                    <a:pt x="736101" y="0"/>
                  </a:lnTo>
                  <a:lnTo>
                    <a:pt x="736101" y="759181"/>
                  </a:lnTo>
                  <a:lnTo>
                    <a:pt x="0" y="759181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0" l="-82324" r="-82324" t="0"/>
              </a:stretch>
            </a:blipFill>
            <a:ln>
              <a:noFill/>
            </a:ln>
          </p:spPr>
        </p:sp>
        <p:sp>
          <p:nvSpPr>
            <p:cNvPr id="107" name="Google Shape;107;p2"/>
            <p:cNvSpPr txBox="1"/>
            <p:nvPr/>
          </p:nvSpPr>
          <p:spPr>
            <a:xfrm>
              <a:off x="0" y="0"/>
              <a:ext cx="736105" cy="75918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499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4</a:t>
              </a:r>
              <a:endParaRPr/>
            </a:p>
          </p:txBody>
        </p:sp>
      </p:grpSp>
      <p:sp>
        <p:nvSpPr>
          <p:cNvPr id="108" name="Google Shape;108;p2"/>
          <p:cNvSpPr txBox="1"/>
          <p:nvPr/>
        </p:nvSpPr>
        <p:spPr>
          <a:xfrm>
            <a:off x="10607040" y="6198870"/>
            <a:ext cx="6903720" cy="53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50" u="none" cap="none" strike="noStrike">
                <a:solidFill>
                  <a:srgbClr val="0F1B2C"/>
                </a:solidFill>
                <a:latin typeface="Roboto"/>
                <a:ea typeface="Roboto"/>
                <a:cs typeface="Roboto"/>
                <a:sym typeface="Roboto"/>
              </a:rPr>
              <a:t>Technical Implementation</a:t>
            </a:r>
            <a:endParaRPr/>
          </a:p>
        </p:txBody>
      </p:sp>
      <p:sp>
        <p:nvSpPr>
          <p:cNvPr id="109" name="Google Shape;109;p2"/>
          <p:cNvSpPr txBox="1"/>
          <p:nvPr/>
        </p:nvSpPr>
        <p:spPr>
          <a:xfrm>
            <a:off x="10607040" y="6598920"/>
            <a:ext cx="6903720" cy="4200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Core capabilities, security, SDKs, and protocol extensions</a:t>
            </a:r>
            <a:endParaRPr/>
          </a:p>
        </p:txBody>
      </p:sp>
      <p:sp>
        <p:nvSpPr>
          <p:cNvPr id="110" name="Google Shape;110;p2"/>
          <p:cNvSpPr/>
          <p:nvPr/>
        </p:nvSpPr>
        <p:spPr>
          <a:xfrm>
            <a:off x="9715500" y="7658100"/>
            <a:ext cx="571500" cy="571500"/>
          </a:xfrm>
          <a:custGeom>
            <a:rect b="b" l="l" r="r" t="t"/>
            <a:pathLst>
              <a:path extrusionOk="0" h="762000" w="762000">
                <a:moveTo>
                  <a:pt x="0" y="381000"/>
                </a:moveTo>
                <a:cubicBezTo>
                  <a:pt x="0" y="170561"/>
                  <a:pt x="170561" y="0"/>
                  <a:pt x="381000" y="0"/>
                </a:cubicBezTo>
                <a:cubicBezTo>
                  <a:pt x="591439" y="0"/>
                  <a:pt x="762000" y="170561"/>
                  <a:pt x="762000" y="381000"/>
                </a:cubicBezTo>
                <a:cubicBezTo>
                  <a:pt x="762000" y="591439"/>
                  <a:pt x="591439" y="762000"/>
                  <a:pt x="381000" y="762000"/>
                </a:cubicBezTo>
                <a:cubicBezTo>
                  <a:pt x="170561" y="762000"/>
                  <a:pt x="0" y="591439"/>
                  <a:pt x="0" y="381000"/>
                </a:cubicBezTo>
                <a:close/>
              </a:path>
            </a:pathLst>
          </a:custGeom>
          <a:solidFill>
            <a:srgbClr val="00AE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1" name="Google Shape;111;p2"/>
          <p:cNvGrpSpPr/>
          <p:nvPr/>
        </p:nvGrpSpPr>
        <p:grpSpPr>
          <a:xfrm>
            <a:off x="9725216" y="7659157"/>
            <a:ext cx="552079" cy="569385"/>
            <a:chOff x="0" y="0"/>
            <a:chExt cx="736105" cy="759181"/>
          </a:xfrm>
        </p:grpSpPr>
        <p:sp>
          <p:nvSpPr>
            <p:cNvPr id="112" name="Google Shape;112;p2"/>
            <p:cNvSpPr/>
            <p:nvPr/>
          </p:nvSpPr>
          <p:spPr>
            <a:xfrm>
              <a:off x="0" y="0"/>
              <a:ext cx="736101" cy="759181"/>
            </a:xfrm>
            <a:custGeom>
              <a:rect b="b" l="l" r="r" t="t"/>
              <a:pathLst>
                <a:path extrusionOk="0" h="759181" w="736101">
                  <a:moveTo>
                    <a:pt x="0" y="0"/>
                  </a:moveTo>
                  <a:lnTo>
                    <a:pt x="736101" y="0"/>
                  </a:lnTo>
                  <a:lnTo>
                    <a:pt x="736101" y="759181"/>
                  </a:lnTo>
                  <a:lnTo>
                    <a:pt x="0" y="759181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0" l="-82324" r="-82324" t="0"/>
              </a:stretch>
            </a:blipFill>
            <a:ln>
              <a:noFill/>
            </a:ln>
          </p:spPr>
        </p:sp>
        <p:sp>
          <p:nvSpPr>
            <p:cNvPr id="113" name="Google Shape;113;p2"/>
            <p:cNvSpPr txBox="1"/>
            <p:nvPr/>
          </p:nvSpPr>
          <p:spPr>
            <a:xfrm>
              <a:off x="0" y="0"/>
              <a:ext cx="736105" cy="75918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499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5</a:t>
              </a:r>
              <a:endParaRPr/>
            </a:p>
          </p:txBody>
        </p:sp>
      </p:grpSp>
      <p:sp>
        <p:nvSpPr>
          <p:cNvPr id="114" name="Google Shape;114;p2"/>
          <p:cNvSpPr txBox="1"/>
          <p:nvPr/>
        </p:nvSpPr>
        <p:spPr>
          <a:xfrm>
            <a:off x="10607040" y="7684770"/>
            <a:ext cx="6903720" cy="53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50" u="none" cap="none" strike="noStrike">
                <a:solidFill>
                  <a:srgbClr val="0F1B2C"/>
                </a:solidFill>
                <a:latin typeface="Roboto"/>
                <a:ea typeface="Roboto"/>
                <a:cs typeface="Roboto"/>
                <a:sym typeface="Roboto"/>
              </a:rPr>
              <a:t>Getting Started &amp; Future Vision</a:t>
            </a:r>
            <a:endParaRPr/>
          </a:p>
        </p:txBody>
      </p:sp>
      <p:sp>
        <p:nvSpPr>
          <p:cNvPr id="115" name="Google Shape;115;p2"/>
          <p:cNvSpPr txBox="1"/>
          <p:nvPr/>
        </p:nvSpPr>
        <p:spPr>
          <a:xfrm>
            <a:off x="10607040" y="8084820"/>
            <a:ext cx="6903720" cy="7278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Handson Implementation guide, resources, and the future path</a:t>
            </a:r>
            <a:endParaRPr/>
          </a:p>
        </p:txBody>
      </p:sp>
      <p:grpSp>
        <p:nvGrpSpPr>
          <p:cNvPr id="116" name="Google Shape;116;p2"/>
          <p:cNvGrpSpPr/>
          <p:nvPr/>
        </p:nvGrpSpPr>
        <p:grpSpPr>
          <a:xfrm>
            <a:off x="13902080" y="9352153"/>
            <a:ext cx="4385920" cy="934847"/>
            <a:chOff x="0" y="0"/>
            <a:chExt cx="5847893" cy="1246463"/>
          </a:xfrm>
        </p:grpSpPr>
        <p:sp>
          <p:nvSpPr>
            <p:cNvPr id="117" name="Google Shape;117;p2"/>
            <p:cNvSpPr/>
            <p:nvPr/>
          </p:nvSpPr>
          <p:spPr>
            <a:xfrm>
              <a:off x="0" y="0"/>
              <a:ext cx="5847893" cy="1246463"/>
            </a:xfrm>
            <a:custGeom>
              <a:rect b="b" l="l" r="r" t="t"/>
              <a:pathLst>
                <a:path extrusionOk="0" h="1250575" w="5867187">
                  <a:moveTo>
                    <a:pt x="0" y="0"/>
                  </a:moveTo>
                  <a:lnTo>
                    <a:pt x="5867187" y="0"/>
                  </a:lnTo>
                  <a:lnTo>
                    <a:pt x="5867187" y="1250575"/>
                  </a:lnTo>
                  <a:lnTo>
                    <a:pt x="0" y="125057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descr="preencoded.png" id="118" name="Google Shape;118;p2"/>
            <p:cNvSpPr/>
            <p:nvPr/>
          </p:nvSpPr>
          <p:spPr>
            <a:xfrm>
              <a:off x="304849" y="194606"/>
              <a:ext cx="5238169" cy="857250"/>
            </a:xfrm>
            <a:custGeom>
              <a:rect b="b" l="l" r="r" t="t"/>
              <a:pathLst>
                <a:path extrusionOk="0" h="857250" w="5238169">
                  <a:moveTo>
                    <a:pt x="0" y="0"/>
                  </a:moveTo>
                  <a:lnTo>
                    <a:pt x="5238169" y="0"/>
                  </a:lnTo>
                  <a:lnTo>
                    <a:pt x="5238169" y="857250"/>
                  </a:lnTo>
                  <a:lnTo>
                    <a:pt x="0" y="85725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-2834" l="0" r="0" t="-2835"/>
              </a:stretch>
            </a:blipFill>
            <a:ln>
              <a:noFill/>
            </a:ln>
          </p:spPr>
        </p:sp>
      </p:grpSp>
      <p:pic>
        <p:nvPicPr>
          <p:cNvPr id="119" name="Google Shape;119;p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preencoded.png" id="124" name="Google Shape;124;p3"/>
          <p:cNvSpPr/>
          <p:nvPr/>
        </p:nvSpPr>
        <p:spPr>
          <a:xfrm>
            <a:off x="0" y="7472362"/>
            <a:ext cx="4743450" cy="2814638"/>
          </a:xfrm>
          <a:custGeom>
            <a:rect b="b" l="l" r="r" t="t"/>
            <a:pathLst>
              <a:path extrusionOk="0" h="3752850" w="6324600">
                <a:moveTo>
                  <a:pt x="0" y="0"/>
                </a:moveTo>
                <a:lnTo>
                  <a:pt x="6324600" y="0"/>
                </a:lnTo>
                <a:lnTo>
                  <a:pt x="6324600" y="3752850"/>
                </a:lnTo>
                <a:lnTo>
                  <a:pt x="0" y="37528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25" name="Google Shape;125;p3"/>
          <p:cNvGrpSpPr/>
          <p:nvPr/>
        </p:nvGrpSpPr>
        <p:grpSpPr>
          <a:xfrm>
            <a:off x="2571750" y="3007300"/>
            <a:ext cx="4857750" cy="1309078"/>
            <a:chOff x="0" y="0"/>
            <a:chExt cx="6477000" cy="1745437"/>
          </a:xfrm>
        </p:grpSpPr>
        <p:sp>
          <p:nvSpPr>
            <p:cNvPr id="126" name="Google Shape;126;p3"/>
            <p:cNvSpPr/>
            <p:nvPr/>
          </p:nvSpPr>
          <p:spPr>
            <a:xfrm>
              <a:off x="0" y="0"/>
              <a:ext cx="6477000" cy="1745435"/>
            </a:xfrm>
            <a:custGeom>
              <a:rect b="b" l="l" r="r" t="t"/>
              <a:pathLst>
                <a:path extrusionOk="0" h="1745435" w="6477000">
                  <a:moveTo>
                    <a:pt x="0" y="0"/>
                  </a:moveTo>
                  <a:lnTo>
                    <a:pt x="6477000" y="0"/>
                  </a:lnTo>
                  <a:lnTo>
                    <a:pt x="6477000" y="1745435"/>
                  </a:lnTo>
                  <a:lnTo>
                    <a:pt x="0" y="1745435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22304" l="0" r="0" t="-22304"/>
              </a:stretch>
            </a:blipFill>
            <a:ln>
              <a:noFill/>
            </a:ln>
          </p:spPr>
        </p:sp>
        <p:sp>
          <p:nvSpPr>
            <p:cNvPr id="127" name="Google Shape;127;p3"/>
            <p:cNvSpPr txBox="1"/>
            <p:nvPr/>
          </p:nvSpPr>
          <p:spPr>
            <a:xfrm>
              <a:off x="0" y="0"/>
              <a:ext cx="6477000" cy="17454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6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150" u="none" cap="none" strike="noStrike">
                  <a:solidFill>
                    <a:srgbClr val="FFFFFF"/>
                  </a:solidFill>
                  <a:latin typeface="Noto Sans"/>
                  <a:ea typeface="Noto Sans"/>
                  <a:cs typeface="Noto Sans"/>
                  <a:sym typeface="Noto Sans"/>
                </a:rPr>
                <a:t>1. </a:t>
              </a:r>
              <a:endParaRPr/>
            </a:p>
          </p:txBody>
        </p:sp>
      </p:grpSp>
      <p:grpSp>
        <p:nvGrpSpPr>
          <p:cNvPr id="128" name="Google Shape;128;p3"/>
          <p:cNvGrpSpPr/>
          <p:nvPr/>
        </p:nvGrpSpPr>
        <p:grpSpPr>
          <a:xfrm>
            <a:off x="2571750" y="5783532"/>
            <a:ext cx="4857750" cy="1185862"/>
            <a:chOff x="0" y="0"/>
            <a:chExt cx="6477000" cy="1581150"/>
          </a:xfrm>
        </p:grpSpPr>
        <p:sp>
          <p:nvSpPr>
            <p:cNvPr id="129" name="Google Shape;129;p3"/>
            <p:cNvSpPr/>
            <p:nvPr/>
          </p:nvSpPr>
          <p:spPr>
            <a:xfrm>
              <a:off x="0" y="0"/>
              <a:ext cx="6477000" cy="1581149"/>
            </a:xfrm>
            <a:custGeom>
              <a:rect b="b" l="l" r="r" t="t"/>
              <a:pathLst>
                <a:path extrusionOk="0" h="1581149" w="6477000">
                  <a:moveTo>
                    <a:pt x="0" y="0"/>
                  </a:moveTo>
                  <a:lnTo>
                    <a:pt x="6477000" y="0"/>
                  </a:lnTo>
                  <a:lnTo>
                    <a:pt x="6477000" y="1581149"/>
                  </a:lnTo>
                  <a:lnTo>
                    <a:pt x="0" y="1581149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29819" l="0" r="0" t="-29819"/>
              </a:stretch>
            </a:blipFill>
            <a:ln>
              <a:noFill/>
            </a:ln>
          </p:spPr>
        </p:sp>
        <p:sp>
          <p:nvSpPr>
            <p:cNvPr id="130" name="Google Shape;130;p3"/>
            <p:cNvSpPr txBox="1"/>
            <p:nvPr/>
          </p:nvSpPr>
          <p:spPr>
            <a:xfrm>
              <a:off x="0" y="0"/>
              <a:ext cx="6477000" cy="15811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6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150" u="none" cap="none" strike="noStrike">
                  <a:solidFill>
                    <a:srgbClr val="FFFFFF"/>
                  </a:solidFill>
                  <a:latin typeface="Noto Sans"/>
                  <a:ea typeface="Noto Sans"/>
                  <a:cs typeface="Noto Sans"/>
                  <a:sym typeface="Noto Sans"/>
                </a:rPr>
                <a:t>2. Discovery</a:t>
              </a:r>
              <a:endParaRPr/>
            </a:p>
          </p:txBody>
        </p:sp>
      </p:grpSp>
      <p:grpSp>
        <p:nvGrpSpPr>
          <p:cNvPr id="131" name="Google Shape;131;p3"/>
          <p:cNvGrpSpPr/>
          <p:nvPr/>
        </p:nvGrpSpPr>
        <p:grpSpPr>
          <a:xfrm>
            <a:off x="342900" y="9726215"/>
            <a:ext cx="212527" cy="285750"/>
            <a:chOff x="0" y="-9525"/>
            <a:chExt cx="283368" cy="381000"/>
          </a:xfrm>
        </p:grpSpPr>
        <p:sp>
          <p:nvSpPr>
            <p:cNvPr id="132" name="Google Shape;132;p3"/>
            <p:cNvSpPr/>
            <p:nvPr/>
          </p:nvSpPr>
          <p:spPr>
            <a:xfrm>
              <a:off x="0" y="0"/>
              <a:ext cx="283368" cy="371475"/>
            </a:xfrm>
            <a:custGeom>
              <a:rect b="b" l="l" r="r" t="t"/>
              <a:pathLst>
                <a:path extrusionOk="0" h="371475" w="283368">
                  <a:moveTo>
                    <a:pt x="0" y="0"/>
                  </a:moveTo>
                  <a:lnTo>
                    <a:pt x="283368" y="0"/>
                  </a:lnTo>
                  <a:lnTo>
                    <a:pt x="283368" y="371475"/>
                  </a:lnTo>
                  <a:lnTo>
                    <a:pt x="0" y="371475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0" l="-118199" r="-118196" t="0"/>
              </a:stretch>
            </a:blipFill>
            <a:ln>
              <a:noFill/>
            </a:ln>
          </p:spPr>
        </p:sp>
        <p:sp>
          <p:nvSpPr>
            <p:cNvPr id="133" name="Google Shape;133;p3"/>
            <p:cNvSpPr txBox="1"/>
            <p:nvPr/>
          </p:nvSpPr>
          <p:spPr>
            <a:xfrm>
              <a:off x="0" y="-9525"/>
              <a:ext cx="283362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1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359" u="none" cap="none" strike="noStrike">
                  <a:solidFill>
                    <a:srgbClr val="4B5563"/>
                  </a:solidFill>
                  <a:latin typeface="Noto Sans"/>
                  <a:ea typeface="Noto Sans"/>
                  <a:cs typeface="Noto Sans"/>
                  <a:sym typeface="Noto Sans"/>
                </a:rPr>
                <a:t>24</a:t>
              </a:r>
              <a:endParaRPr/>
            </a:p>
          </p:txBody>
        </p:sp>
      </p:grpSp>
      <p:grpSp>
        <p:nvGrpSpPr>
          <p:cNvPr id="134" name="Google Shape;134;p3"/>
          <p:cNvGrpSpPr/>
          <p:nvPr/>
        </p:nvGrpSpPr>
        <p:grpSpPr>
          <a:xfrm>
            <a:off x="4127354" y="9726215"/>
            <a:ext cx="3087719" cy="285750"/>
            <a:chOff x="0" y="-9525"/>
            <a:chExt cx="4116959" cy="381000"/>
          </a:xfrm>
        </p:grpSpPr>
        <p:sp>
          <p:nvSpPr>
            <p:cNvPr id="135" name="Google Shape;135;p3"/>
            <p:cNvSpPr/>
            <p:nvPr/>
          </p:nvSpPr>
          <p:spPr>
            <a:xfrm>
              <a:off x="0" y="0"/>
              <a:ext cx="4116957" cy="371475"/>
            </a:xfrm>
            <a:custGeom>
              <a:rect b="b" l="l" r="r" t="t"/>
              <a:pathLst>
                <a:path extrusionOk="0" h="371475" w="4116957">
                  <a:moveTo>
                    <a:pt x="0" y="0"/>
                  </a:moveTo>
                  <a:lnTo>
                    <a:pt x="4116957" y="0"/>
                  </a:lnTo>
                  <a:lnTo>
                    <a:pt x="4116957" y="371475"/>
                  </a:lnTo>
                  <a:lnTo>
                    <a:pt x="0" y="371475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165945" l="0" r="0" t="-165945"/>
              </a:stretch>
            </a:blipFill>
            <a:ln>
              <a:noFill/>
            </a:ln>
          </p:spPr>
        </p:sp>
        <p:sp>
          <p:nvSpPr>
            <p:cNvPr id="136" name="Google Shape;136;p3"/>
            <p:cNvSpPr txBox="1"/>
            <p:nvPr/>
          </p:nvSpPr>
          <p:spPr>
            <a:xfrm>
              <a:off x="0" y="-9525"/>
              <a:ext cx="4116959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1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359" u="none" cap="none" strike="noStrike">
                  <a:solidFill>
                    <a:srgbClr val="4B5563"/>
                  </a:solidFill>
                  <a:latin typeface="Noto Sans"/>
                  <a:ea typeface="Noto Sans"/>
                  <a:cs typeface="Noto Sans"/>
                  <a:sym typeface="Noto Sans"/>
                </a:rPr>
                <a:t>Criterion Proprietary &amp; Confidential</a:t>
              </a:r>
              <a:endParaRPr/>
            </a:p>
          </p:txBody>
        </p:sp>
      </p:grpSp>
      <p:grpSp>
        <p:nvGrpSpPr>
          <p:cNvPr id="137" name="Google Shape;137;p3"/>
          <p:cNvGrpSpPr/>
          <p:nvPr/>
        </p:nvGrpSpPr>
        <p:grpSpPr>
          <a:xfrm>
            <a:off x="0" y="8505825"/>
            <a:ext cx="4276726" cy="407195"/>
            <a:chOff x="0" y="-19050"/>
            <a:chExt cx="5702301" cy="542927"/>
          </a:xfrm>
        </p:grpSpPr>
        <p:sp>
          <p:nvSpPr>
            <p:cNvPr id="138" name="Google Shape;138;p3"/>
            <p:cNvSpPr/>
            <p:nvPr/>
          </p:nvSpPr>
          <p:spPr>
            <a:xfrm>
              <a:off x="0" y="0"/>
              <a:ext cx="5702301" cy="523877"/>
            </a:xfrm>
            <a:custGeom>
              <a:rect b="b" l="l" r="r" t="t"/>
              <a:pathLst>
                <a:path extrusionOk="0" h="523877" w="5702301">
                  <a:moveTo>
                    <a:pt x="0" y="0"/>
                  </a:moveTo>
                  <a:lnTo>
                    <a:pt x="5702301" y="0"/>
                  </a:lnTo>
                  <a:lnTo>
                    <a:pt x="5702301" y="523877"/>
                  </a:lnTo>
                  <a:lnTo>
                    <a:pt x="0" y="523877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162098" l="0" r="0" t="-162098"/>
              </a:stretch>
            </a:blipFill>
            <a:ln>
              <a:noFill/>
            </a:ln>
          </p:spPr>
        </p:sp>
        <p:sp>
          <p:nvSpPr>
            <p:cNvPr id="139" name="Google Shape;139;p3"/>
            <p:cNvSpPr txBox="1"/>
            <p:nvPr/>
          </p:nvSpPr>
          <p:spPr>
            <a:xfrm>
              <a:off x="0" y="-19050"/>
              <a:ext cx="5702300" cy="5429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1996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608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4</a:t>
              </a:r>
              <a:endParaRPr/>
            </a:p>
          </p:txBody>
        </p:sp>
      </p:grpSp>
      <p:sp>
        <p:nvSpPr>
          <p:cNvPr id="140" name="Google Shape;140;p3"/>
          <p:cNvSpPr txBox="1"/>
          <p:nvPr/>
        </p:nvSpPr>
        <p:spPr>
          <a:xfrm>
            <a:off x="9727349" y="1322708"/>
            <a:ext cx="7562383" cy="605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99" u="none" cap="none" strike="noStrike">
                <a:solidFill>
                  <a:srgbClr val="00AEEF"/>
                </a:solidFill>
                <a:latin typeface="Roboto"/>
                <a:ea typeface="Roboto"/>
                <a:cs typeface="Roboto"/>
                <a:sym typeface="Roboto"/>
              </a:rPr>
              <a:t>Please share the following:</a:t>
            </a:r>
            <a:endParaRPr/>
          </a:p>
          <a:p>
            <a:pPr indent="-563474" lvl="2" marL="1690422" marR="0" rtl="0" algn="l">
              <a:lnSpc>
                <a:spcPct val="11999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16"/>
              <a:buFont typeface="Arial"/>
              <a:buChar char="⚬"/>
            </a:pPr>
            <a:r>
              <a:rPr b="0" i="0" lang="en-US" sz="3216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Your Name and Job Profile</a:t>
            </a:r>
            <a:endParaRPr/>
          </a:p>
          <a:p>
            <a:pPr indent="-563474" lvl="2" marL="1690422" marR="0" rtl="0" algn="l">
              <a:lnSpc>
                <a:spcPct val="11999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16"/>
              <a:buFont typeface="Arial"/>
              <a:buChar char="⚬"/>
            </a:pPr>
            <a:r>
              <a:rPr b="0" i="0" lang="en-US" sz="3216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AI/ML/MCP exposure so far – Rate yourself (1-5, 1 is a Beginner and 5 an Expert)</a:t>
            </a:r>
            <a:endParaRPr/>
          </a:p>
          <a:p>
            <a:pPr indent="-563474" lvl="2" marL="1690422" marR="0" rtl="0" algn="l">
              <a:lnSpc>
                <a:spcPct val="11999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16"/>
              <a:buFont typeface="Arial"/>
              <a:buChar char="⚬"/>
            </a:pPr>
            <a:r>
              <a:rPr b="0" i="0" lang="en-US" sz="3216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Happy with Agenda? </a:t>
            </a:r>
            <a:endParaRPr/>
          </a:p>
          <a:p>
            <a:pPr indent="-563474" lvl="2" marL="1690422" marR="0" rtl="0" algn="l">
              <a:lnSpc>
                <a:spcPct val="1199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216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99" u="none" cap="none" strike="noStrike">
                <a:solidFill>
                  <a:srgbClr val="00AEEF"/>
                </a:solidFill>
                <a:latin typeface="Roboto"/>
                <a:ea typeface="Roboto"/>
                <a:cs typeface="Roboto"/>
                <a:sym typeface="Roboto"/>
              </a:rPr>
              <a:t>Logistics</a:t>
            </a:r>
            <a:endParaRPr/>
          </a:p>
          <a:p>
            <a:pPr indent="-563474" lvl="2" marL="1690422" marR="0" rtl="0" algn="l">
              <a:lnSpc>
                <a:spcPct val="11999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16"/>
              <a:buFont typeface="Arial"/>
              <a:buChar char="⚬"/>
            </a:pPr>
            <a:r>
              <a:rPr b="0" i="0" lang="en-US" sz="3216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Coffee breaks &amp; Lunch (bits and bites) !!</a:t>
            </a:r>
            <a:endParaRPr/>
          </a:p>
          <a:p>
            <a:pPr indent="-563474" lvl="2" marL="1690422" marR="0" rtl="0" algn="l">
              <a:lnSpc>
                <a:spcPct val="11999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16"/>
              <a:buFont typeface="Arial"/>
              <a:buChar char="⚬"/>
            </a:pPr>
            <a:r>
              <a:rPr b="0" i="0" lang="en-US" sz="3216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Criterion Network’s SDCloud portal account – is the Sandbox visible ?</a:t>
            </a:r>
            <a:endParaRPr/>
          </a:p>
        </p:txBody>
      </p:sp>
      <p:sp>
        <p:nvSpPr>
          <p:cNvPr id="141" name="Google Shape;141;p3"/>
          <p:cNvSpPr/>
          <p:nvPr/>
        </p:nvSpPr>
        <p:spPr>
          <a:xfrm>
            <a:off x="0" y="0"/>
            <a:ext cx="9144000" cy="10287000"/>
          </a:xfrm>
          <a:custGeom>
            <a:rect b="b" l="l" r="r" t="t"/>
            <a:pathLst>
              <a:path extrusionOk="0" h="13716000" w="12192000">
                <a:moveTo>
                  <a:pt x="0" y="0"/>
                </a:moveTo>
                <a:lnTo>
                  <a:pt x="12192000" y="0"/>
                </a:lnTo>
                <a:lnTo>
                  <a:pt x="12192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0F1B2C"/>
          </a:solidFill>
          <a:ln>
            <a:noFill/>
          </a:ln>
        </p:spPr>
      </p:sp>
      <p:sp>
        <p:nvSpPr>
          <p:cNvPr id="142" name="Google Shape;142;p3"/>
          <p:cNvSpPr txBox="1"/>
          <p:nvPr/>
        </p:nvSpPr>
        <p:spPr>
          <a:xfrm>
            <a:off x="1248194" y="3652314"/>
            <a:ext cx="5966879" cy="12569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0" u="none" cap="none" strike="noStrike">
                <a:solidFill>
                  <a:srgbClr val="00AEEF"/>
                </a:solidFill>
                <a:latin typeface="Roboto"/>
                <a:ea typeface="Roboto"/>
                <a:cs typeface="Roboto"/>
                <a:sym typeface="Roboto"/>
              </a:rPr>
              <a:t>Introductions</a:t>
            </a:r>
            <a:endParaRPr/>
          </a:p>
        </p:txBody>
      </p:sp>
      <p:grpSp>
        <p:nvGrpSpPr>
          <p:cNvPr id="143" name="Google Shape;143;p3"/>
          <p:cNvGrpSpPr/>
          <p:nvPr/>
        </p:nvGrpSpPr>
        <p:grpSpPr>
          <a:xfrm>
            <a:off x="13902080" y="9352153"/>
            <a:ext cx="4385920" cy="934847"/>
            <a:chOff x="0" y="0"/>
            <a:chExt cx="5847893" cy="1246463"/>
          </a:xfrm>
        </p:grpSpPr>
        <p:sp>
          <p:nvSpPr>
            <p:cNvPr id="144" name="Google Shape;144;p3"/>
            <p:cNvSpPr/>
            <p:nvPr/>
          </p:nvSpPr>
          <p:spPr>
            <a:xfrm>
              <a:off x="0" y="0"/>
              <a:ext cx="5847893" cy="1246463"/>
            </a:xfrm>
            <a:custGeom>
              <a:rect b="b" l="l" r="r" t="t"/>
              <a:pathLst>
                <a:path extrusionOk="0" h="1250575" w="5867187">
                  <a:moveTo>
                    <a:pt x="0" y="0"/>
                  </a:moveTo>
                  <a:lnTo>
                    <a:pt x="5867187" y="0"/>
                  </a:lnTo>
                  <a:lnTo>
                    <a:pt x="5867187" y="1250575"/>
                  </a:lnTo>
                  <a:lnTo>
                    <a:pt x="0" y="125057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descr="preencoded.png" id="145" name="Google Shape;145;p3"/>
            <p:cNvSpPr/>
            <p:nvPr/>
          </p:nvSpPr>
          <p:spPr>
            <a:xfrm>
              <a:off x="304849" y="194606"/>
              <a:ext cx="5238169" cy="857250"/>
            </a:xfrm>
            <a:custGeom>
              <a:rect b="b" l="l" r="r" t="t"/>
              <a:pathLst>
                <a:path extrusionOk="0" h="857250" w="5238169">
                  <a:moveTo>
                    <a:pt x="0" y="0"/>
                  </a:moveTo>
                  <a:lnTo>
                    <a:pt x="5238169" y="0"/>
                  </a:lnTo>
                  <a:lnTo>
                    <a:pt x="5238169" y="857250"/>
                  </a:lnTo>
                  <a:lnTo>
                    <a:pt x="0" y="85725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-2834" l="0" r="0" t="-2835"/>
              </a:stretch>
            </a:blipFill>
            <a:ln>
              <a:noFill/>
            </a:ln>
          </p:spPr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preencoded.png" id="150" name="Google Shape;150;p4"/>
          <p:cNvSpPr/>
          <p:nvPr/>
        </p:nvSpPr>
        <p:spPr>
          <a:xfrm>
            <a:off x="0" y="0"/>
            <a:ext cx="18288000" cy="10292923"/>
          </a:xfrm>
          <a:custGeom>
            <a:rect b="b" l="l" r="r" t="t"/>
            <a:pathLst>
              <a:path extrusionOk="0" h="14917279" w="24384000">
                <a:moveTo>
                  <a:pt x="0" y="0"/>
                </a:moveTo>
                <a:lnTo>
                  <a:pt x="24384000" y="0"/>
                </a:lnTo>
                <a:lnTo>
                  <a:pt x="24384000" y="14917279"/>
                </a:lnTo>
                <a:lnTo>
                  <a:pt x="0" y="1491727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4379" r="-4379" t="0"/>
            </a:stretch>
          </a:blipFill>
          <a:ln>
            <a:noFill/>
          </a:ln>
        </p:spPr>
      </p:sp>
      <p:sp>
        <p:nvSpPr>
          <p:cNvPr descr="preencoded.png" id="151" name="Google Shape;151;p4"/>
          <p:cNvSpPr/>
          <p:nvPr/>
        </p:nvSpPr>
        <p:spPr>
          <a:xfrm>
            <a:off x="4643438" y="0"/>
            <a:ext cx="13644562" cy="7615238"/>
          </a:xfrm>
          <a:custGeom>
            <a:rect b="b" l="l" r="r" t="t"/>
            <a:pathLst>
              <a:path extrusionOk="0" h="10153650" w="18192750">
                <a:moveTo>
                  <a:pt x="0" y="0"/>
                </a:moveTo>
                <a:lnTo>
                  <a:pt x="18192750" y="0"/>
                </a:lnTo>
                <a:lnTo>
                  <a:pt x="18192750" y="10153650"/>
                </a:lnTo>
                <a:lnTo>
                  <a:pt x="0" y="101536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40000"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52" name="Google Shape;152;p4"/>
          <p:cNvGrpSpPr/>
          <p:nvPr/>
        </p:nvGrpSpPr>
        <p:grpSpPr>
          <a:xfrm>
            <a:off x="1508646" y="3298984"/>
            <a:ext cx="14311610" cy="2215992"/>
            <a:chOff x="0" y="0"/>
            <a:chExt cx="19082147" cy="2954656"/>
          </a:xfrm>
        </p:grpSpPr>
        <p:sp>
          <p:nvSpPr>
            <p:cNvPr id="153" name="Google Shape;153;p4"/>
            <p:cNvSpPr/>
            <p:nvPr/>
          </p:nvSpPr>
          <p:spPr>
            <a:xfrm>
              <a:off x="0" y="0"/>
              <a:ext cx="19082147" cy="2954656"/>
            </a:xfrm>
            <a:custGeom>
              <a:rect b="b" l="l" r="r" t="t"/>
              <a:pathLst>
                <a:path extrusionOk="0" h="2954656" w="19082147">
                  <a:moveTo>
                    <a:pt x="0" y="0"/>
                  </a:moveTo>
                  <a:lnTo>
                    <a:pt x="19082147" y="0"/>
                  </a:lnTo>
                  <a:lnTo>
                    <a:pt x="19082147" y="2954656"/>
                  </a:lnTo>
                  <a:lnTo>
                    <a:pt x="0" y="2954656"/>
                  </a:lnTo>
                  <a:close/>
                </a:path>
              </a:pathLst>
            </a:custGeom>
            <a:blipFill rotWithShape="1">
              <a:blip r:embed="rId5">
                <a:alphaModFix amt="0"/>
              </a:blip>
              <a:stretch>
                <a:fillRect b="-75843" l="0" r="0" t="-75843"/>
              </a:stretch>
            </a:blipFill>
            <a:ln>
              <a:noFill/>
            </a:ln>
          </p:spPr>
        </p:sp>
        <p:sp>
          <p:nvSpPr>
            <p:cNvPr id="154" name="Google Shape;154;p4"/>
            <p:cNvSpPr txBox="1"/>
            <p:nvPr/>
          </p:nvSpPr>
          <p:spPr>
            <a:xfrm>
              <a:off x="0" y="0"/>
              <a:ext cx="19082144" cy="295465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7200" u="none" cap="none" strike="noStrike">
                  <a:solidFill>
                    <a:srgbClr val="00AEEF"/>
                  </a:solidFill>
                  <a:latin typeface="Noto Sans"/>
                  <a:ea typeface="Noto Sans"/>
                  <a:cs typeface="Noto Sans"/>
                  <a:sym typeface="Noto Sans"/>
                </a:rPr>
                <a:t>Understanding </a:t>
              </a:r>
              <a:endParaRPr/>
            </a:p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7200" u="none" cap="none" strike="noStrike">
                  <a:solidFill>
                    <a:srgbClr val="00AEEF"/>
                  </a:solidFill>
                  <a:latin typeface="Noto Sans"/>
                  <a:ea typeface="Noto Sans"/>
                  <a:cs typeface="Noto Sans"/>
                  <a:sym typeface="Noto Sans"/>
                </a:rPr>
                <a:t>Large Language Models (LLMs)</a:t>
              </a:r>
              <a:endParaRPr/>
            </a:p>
          </p:txBody>
        </p:sp>
      </p:grpSp>
      <p:sp>
        <p:nvSpPr>
          <p:cNvPr id="155" name="Google Shape;155;p4"/>
          <p:cNvSpPr/>
          <p:nvPr/>
        </p:nvSpPr>
        <p:spPr>
          <a:xfrm>
            <a:off x="13902080" y="9352153"/>
            <a:ext cx="4385722" cy="934805"/>
          </a:xfrm>
          <a:custGeom>
            <a:rect b="b" l="l" r="r" t="t"/>
            <a:pathLst>
              <a:path extrusionOk="0" h="1250575" w="5867187">
                <a:moveTo>
                  <a:pt x="0" y="0"/>
                </a:moveTo>
                <a:lnTo>
                  <a:pt x="5867187" y="0"/>
                </a:lnTo>
                <a:lnTo>
                  <a:pt x="5867187" y="1250575"/>
                </a:lnTo>
                <a:lnTo>
                  <a:pt x="0" y="125057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descr="preencoded.png" id="156" name="Google Shape;156;p4"/>
          <p:cNvSpPr/>
          <p:nvPr/>
        </p:nvSpPr>
        <p:spPr>
          <a:xfrm>
            <a:off x="14130717" y="9498108"/>
            <a:ext cx="3928627" cy="642938"/>
          </a:xfrm>
          <a:custGeom>
            <a:rect b="b" l="l" r="r" t="t"/>
            <a:pathLst>
              <a:path extrusionOk="0" h="857250" w="5238169">
                <a:moveTo>
                  <a:pt x="0" y="0"/>
                </a:moveTo>
                <a:lnTo>
                  <a:pt x="5238169" y="0"/>
                </a:lnTo>
                <a:lnTo>
                  <a:pt x="5238169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-2834" l="0" r="0" t="-2835"/>
            </a:stretch>
          </a:blipFill>
          <a:ln>
            <a:noFill/>
          </a:ln>
        </p:spPr>
      </p:sp>
      <p:pic>
        <p:nvPicPr>
          <p:cNvPr id="157" name="Google Shape;157;p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preencoded.png" id="162" name="Google Shape;162;p5"/>
          <p:cNvSpPr/>
          <p:nvPr/>
        </p:nvSpPr>
        <p:spPr>
          <a:xfrm>
            <a:off x="0" y="714375"/>
            <a:ext cx="18288000" cy="10372725"/>
          </a:xfrm>
          <a:custGeom>
            <a:rect b="b" l="l" r="r" t="t"/>
            <a:pathLst>
              <a:path extrusionOk="0" h="13830300" w="24384000">
                <a:moveTo>
                  <a:pt x="0" y="0"/>
                </a:moveTo>
                <a:lnTo>
                  <a:pt x="24384000" y="0"/>
                </a:lnTo>
                <a:lnTo>
                  <a:pt x="24384000" y="13830300"/>
                </a:lnTo>
                <a:lnTo>
                  <a:pt x="0" y="138303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416" r="-416" t="0"/>
            </a:stretch>
          </a:blipFill>
          <a:ln>
            <a:noFill/>
          </a:ln>
        </p:spPr>
      </p:sp>
      <p:sp>
        <p:nvSpPr>
          <p:cNvPr descr="preencoded.png" id="163" name="Google Shape;163;p5"/>
          <p:cNvSpPr/>
          <p:nvPr/>
        </p:nvSpPr>
        <p:spPr>
          <a:xfrm>
            <a:off x="14859000" y="342900"/>
            <a:ext cx="2743200" cy="1828800"/>
          </a:xfrm>
          <a:custGeom>
            <a:rect b="b" l="l" r="r" t="t"/>
            <a:pathLst>
              <a:path extrusionOk="0" h="2438400" w="3657600">
                <a:moveTo>
                  <a:pt x="0" y="0"/>
                </a:moveTo>
                <a:lnTo>
                  <a:pt x="3657600" y="0"/>
                </a:lnTo>
                <a:lnTo>
                  <a:pt x="3657600" y="2438400"/>
                </a:lnTo>
                <a:lnTo>
                  <a:pt x="0" y="24384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30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4" name="Google Shape;164;p5"/>
          <p:cNvSpPr/>
          <p:nvPr/>
        </p:nvSpPr>
        <p:spPr>
          <a:xfrm>
            <a:off x="0" y="0"/>
            <a:ext cx="7786688" cy="10287000"/>
          </a:xfrm>
          <a:custGeom>
            <a:rect b="b" l="l" r="r" t="t"/>
            <a:pathLst>
              <a:path extrusionOk="0" h="13716000" w="10382250">
                <a:moveTo>
                  <a:pt x="0" y="0"/>
                </a:moveTo>
                <a:lnTo>
                  <a:pt x="10382250" y="0"/>
                </a:lnTo>
                <a:lnTo>
                  <a:pt x="1038225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0F1A2B"/>
          </a:solidFill>
          <a:ln>
            <a:noFill/>
          </a:ln>
        </p:spPr>
      </p:sp>
      <p:sp>
        <p:nvSpPr>
          <p:cNvPr descr="preencoded.png" id="165" name="Google Shape;165;p5"/>
          <p:cNvSpPr/>
          <p:nvPr/>
        </p:nvSpPr>
        <p:spPr>
          <a:xfrm>
            <a:off x="0" y="7829550"/>
            <a:ext cx="7786688" cy="2457450"/>
          </a:xfrm>
          <a:custGeom>
            <a:rect b="b" l="l" r="r" t="t"/>
            <a:pathLst>
              <a:path extrusionOk="0" h="3276600" w="10382250">
                <a:moveTo>
                  <a:pt x="0" y="0"/>
                </a:moveTo>
                <a:lnTo>
                  <a:pt x="10382250" y="0"/>
                </a:lnTo>
                <a:lnTo>
                  <a:pt x="10382250" y="3276600"/>
                </a:lnTo>
                <a:lnTo>
                  <a:pt x="0" y="3276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 amt="19999"/>
            </a:blip>
            <a:stretch>
              <a:fillRect b="0" l="-17186" r="-17186" t="0"/>
            </a:stretch>
          </a:blipFill>
          <a:ln>
            <a:noFill/>
          </a:ln>
        </p:spPr>
      </p:sp>
      <p:grpSp>
        <p:nvGrpSpPr>
          <p:cNvPr id="166" name="Google Shape;166;p5"/>
          <p:cNvGrpSpPr/>
          <p:nvPr/>
        </p:nvGrpSpPr>
        <p:grpSpPr>
          <a:xfrm>
            <a:off x="620559" y="2907014"/>
            <a:ext cx="3588214" cy="2015522"/>
            <a:chOff x="0" y="0"/>
            <a:chExt cx="4477868" cy="2515246"/>
          </a:xfrm>
        </p:grpSpPr>
        <p:sp>
          <p:nvSpPr>
            <p:cNvPr id="167" name="Google Shape;167;p5"/>
            <p:cNvSpPr/>
            <p:nvPr/>
          </p:nvSpPr>
          <p:spPr>
            <a:xfrm>
              <a:off x="0" y="0"/>
              <a:ext cx="4477867" cy="2515246"/>
            </a:xfrm>
            <a:custGeom>
              <a:rect b="b" l="l" r="r" t="t"/>
              <a:pathLst>
                <a:path extrusionOk="0" h="2515246" w="4477867">
                  <a:moveTo>
                    <a:pt x="0" y="0"/>
                  </a:moveTo>
                  <a:lnTo>
                    <a:pt x="4477867" y="0"/>
                  </a:lnTo>
                  <a:lnTo>
                    <a:pt x="4477867" y="2515246"/>
                  </a:lnTo>
                  <a:lnTo>
                    <a:pt x="0" y="2515246"/>
                  </a:lnTo>
                  <a:close/>
                </a:path>
              </a:pathLst>
            </a:custGeom>
            <a:blipFill rotWithShape="1">
              <a:blip r:embed="rId6">
                <a:alphaModFix amt="0"/>
              </a:blip>
              <a:stretch>
                <a:fillRect b="40601" l="0" r="0" t="-9979"/>
              </a:stretch>
            </a:blipFill>
            <a:ln>
              <a:noFill/>
            </a:ln>
          </p:spPr>
        </p:sp>
        <p:sp>
          <p:nvSpPr>
            <p:cNvPr id="168" name="Google Shape;168;p5"/>
            <p:cNvSpPr txBox="1"/>
            <p:nvPr/>
          </p:nvSpPr>
          <p:spPr>
            <a:xfrm>
              <a:off x="0" y="0"/>
              <a:ext cx="4477868" cy="251524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5400" u="none" cap="none" strike="noStrike">
                  <a:solidFill>
                    <a:srgbClr val="FFFFFF"/>
                  </a:solidFill>
                  <a:latin typeface="Noto Sans"/>
                  <a:ea typeface="Noto Sans"/>
                  <a:cs typeface="Noto Sans"/>
                  <a:sym typeface="Noto Sans"/>
                </a:rPr>
                <a:t> What Are </a:t>
              </a:r>
              <a:endParaRPr/>
            </a:p>
          </p:txBody>
        </p:sp>
      </p:grpSp>
      <p:grpSp>
        <p:nvGrpSpPr>
          <p:cNvPr id="169" name="Google Shape;169;p5"/>
          <p:cNvGrpSpPr/>
          <p:nvPr/>
        </p:nvGrpSpPr>
        <p:grpSpPr>
          <a:xfrm>
            <a:off x="669617" y="4295533"/>
            <a:ext cx="5813519" cy="1067285"/>
            <a:chOff x="0" y="0"/>
            <a:chExt cx="7751358" cy="1423046"/>
          </a:xfrm>
        </p:grpSpPr>
        <p:sp>
          <p:nvSpPr>
            <p:cNvPr id="170" name="Google Shape;170;p5"/>
            <p:cNvSpPr/>
            <p:nvPr/>
          </p:nvSpPr>
          <p:spPr>
            <a:xfrm>
              <a:off x="0" y="0"/>
              <a:ext cx="7751352" cy="1423046"/>
            </a:xfrm>
            <a:custGeom>
              <a:rect b="b" l="l" r="r" t="t"/>
              <a:pathLst>
                <a:path extrusionOk="0" h="1423046" w="7751352">
                  <a:moveTo>
                    <a:pt x="0" y="0"/>
                  </a:moveTo>
                  <a:lnTo>
                    <a:pt x="7751352" y="0"/>
                  </a:lnTo>
                  <a:lnTo>
                    <a:pt x="7751352" y="1423046"/>
                  </a:lnTo>
                  <a:lnTo>
                    <a:pt x="0" y="1423046"/>
                  </a:lnTo>
                  <a:close/>
                </a:path>
              </a:pathLst>
            </a:custGeom>
            <a:blipFill rotWithShape="1">
              <a:blip r:embed="rId6">
                <a:alphaModFix amt="0"/>
              </a:blip>
              <a:stretch>
                <a:fillRect b="-5575" l="0" r="41677" t="-18226"/>
              </a:stretch>
            </a:blipFill>
            <a:ln>
              <a:noFill/>
            </a:ln>
          </p:spPr>
        </p:sp>
        <p:sp>
          <p:nvSpPr>
            <p:cNvPr id="171" name="Google Shape;171;p5"/>
            <p:cNvSpPr txBox="1"/>
            <p:nvPr/>
          </p:nvSpPr>
          <p:spPr>
            <a:xfrm>
              <a:off x="0" y="0"/>
              <a:ext cx="7751358" cy="142304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5400" u="none" cap="none" strike="noStrike">
                  <a:solidFill>
                    <a:srgbClr val="00AEEF"/>
                  </a:solidFill>
                  <a:latin typeface="Noto Sans"/>
                  <a:ea typeface="Noto Sans"/>
                  <a:cs typeface="Noto Sans"/>
                  <a:sym typeface="Noto Sans"/>
                </a:rPr>
                <a:t>Large Language</a:t>
              </a:r>
              <a:endParaRPr/>
            </a:p>
          </p:txBody>
        </p:sp>
      </p:grpSp>
      <p:grpSp>
        <p:nvGrpSpPr>
          <p:cNvPr id="172" name="Google Shape;172;p5"/>
          <p:cNvGrpSpPr/>
          <p:nvPr/>
        </p:nvGrpSpPr>
        <p:grpSpPr>
          <a:xfrm>
            <a:off x="669617" y="5434600"/>
            <a:ext cx="3588310" cy="932268"/>
            <a:chOff x="0" y="-11"/>
            <a:chExt cx="4784413" cy="1243024"/>
          </a:xfrm>
        </p:grpSpPr>
        <p:sp>
          <p:nvSpPr>
            <p:cNvPr id="173" name="Google Shape;173;p5"/>
            <p:cNvSpPr/>
            <p:nvPr/>
          </p:nvSpPr>
          <p:spPr>
            <a:xfrm>
              <a:off x="0" y="0"/>
              <a:ext cx="3954811" cy="1243013"/>
            </a:xfrm>
            <a:custGeom>
              <a:rect b="b" l="l" r="r" t="t"/>
              <a:pathLst>
                <a:path extrusionOk="0" h="1243013" w="3954811">
                  <a:moveTo>
                    <a:pt x="0" y="0"/>
                  </a:moveTo>
                  <a:lnTo>
                    <a:pt x="3954811" y="0"/>
                  </a:lnTo>
                  <a:lnTo>
                    <a:pt x="3954811" y="1243013"/>
                  </a:lnTo>
                  <a:lnTo>
                    <a:pt x="0" y="1243013"/>
                  </a:lnTo>
                  <a:close/>
                </a:path>
              </a:pathLst>
            </a:custGeom>
            <a:blipFill rotWithShape="1">
              <a:blip r:embed="rId6">
                <a:alphaModFix amt="0"/>
              </a:blip>
              <a:stretch>
                <a:fillRect b="-11995" l="0" r="0" t="-11995"/>
              </a:stretch>
            </a:blipFill>
            <a:ln>
              <a:noFill/>
            </a:ln>
          </p:spPr>
        </p:sp>
        <p:sp>
          <p:nvSpPr>
            <p:cNvPr id="174" name="Google Shape;174;p5"/>
            <p:cNvSpPr txBox="1"/>
            <p:nvPr/>
          </p:nvSpPr>
          <p:spPr>
            <a:xfrm>
              <a:off x="13" y="-11"/>
              <a:ext cx="4784400" cy="12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5400" u="none" cap="none" strike="noStrike">
                  <a:solidFill>
                    <a:srgbClr val="FFFFFF"/>
                  </a:solidFill>
                  <a:latin typeface="Noto Sans"/>
                  <a:ea typeface="Noto Sans"/>
                  <a:cs typeface="Noto Sans"/>
                  <a:sym typeface="Noto Sans"/>
                </a:rPr>
                <a:t> </a:t>
              </a:r>
              <a:r>
                <a:rPr b="1" lang="en-US" sz="5400">
                  <a:solidFill>
                    <a:srgbClr val="FFFFFF"/>
                  </a:solidFill>
                  <a:latin typeface="Noto Sans"/>
                  <a:ea typeface="Noto Sans"/>
                  <a:cs typeface="Noto Sans"/>
                  <a:sym typeface="Noto Sans"/>
                </a:rPr>
                <a:t>M</a:t>
              </a:r>
              <a:r>
                <a:rPr b="1" i="0" lang="en-US" sz="5400" u="none" cap="none" strike="noStrike">
                  <a:solidFill>
                    <a:srgbClr val="FFFFFF"/>
                  </a:solidFill>
                  <a:latin typeface="Noto Sans"/>
                  <a:ea typeface="Noto Sans"/>
                  <a:cs typeface="Noto Sans"/>
                  <a:sym typeface="Noto Sans"/>
                </a:rPr>
                <a:t>odels? </a:t>
              </a:r>
              <a:endParaRPr/>
            </a:p>
          </p:txBody>
        </p:sp>
      </p:grpSp>
      <p:sp>
        <p:nvSpPr>
          <p:cNvPr id="175" name="Google Shape;175;p5"/>
          <p:cNvSpPr/>
          <p:nvPr/>
        </p:nvSpPr>
        <p:spPr>
          <a:xfrm>
            <a:off x="8472488" y="685800"/>
            <a:ext cx="1767173" cy="571500"/>
          </a:xfrm>
          <a:custGeom>
            <a:rect b="b" l="l" r="r" t="t"/>
            <a:pathLst>
              <a:path extrusionOk="0" h="762000" w="2356231">
                <a:moveTo>
                  <a:pt x="0" y="127000"/>
                </a:moveTo>
                <a:cubicBezTo>
                  <a:pt x="0" y="56896"/>
                  <a:pt x="56896" y="0"/>
                  <a:pt x="127000" y="0"/>
                </a:cubicBezTo>
                <a:lnTo>
                  <a:pt x="2229231" y="0"/>
                </a:lnTo>
                <a:cubicBezTo>
                  <a:pt x="2299335" y="0"/>
                  <a:pt x="2356231" y="56896"/>
                  <a:pt x="2356231" y="127000"/>
                </a:cubicBezTo>
                <a:lnTo>
                  <a:pt x="2356231" y="635000"/>
                </a:lnTo>
                <a:cubicBezTo>
                  <a:pt x="2356231" y="705104"/>
                  <a:pt x="2299335" y="762000"/>
                  <a:pt x="2229231" y="762000"/>
                </a:cubicBezTo>
                <a:lnTo>
                  <a:pt x="127000" y="762000"/>
                </a:lnTo>
                <a:cubicBezTo>
                  <a:pt x="56896" y="762000"/>
                  <a:pt x="0" y="705104"/>
                  <a:pt x="0" y="635000"/>
                </a:cubicBezTo>
                <a:close/>
              </a:path>
            </a:pathLst>
          </a:custGeom>
          <a:solidFill>
            <a:srgbClr val="2B7FD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76" name="Google Shape;176;p5"/>
          <p:cNvGrpSpPr/>
          <p:nvPr/>
        </p:nvGrpSpPr>
        <p:grpSpPr>
          <a:xfrm>
            <a:off x="8472488" y="698116"/>
            <a:ext cx="1767128" cy="539727"/>
            <a:chOff x="0" y="-9525"/>
            <a:chExt cx="2356171" cy="719636"/>
          </a:xfrm>
        </p:grpSpPr>
        <p:sp>
          <p:nvSpPr>
            <p:cNvPr id="177" name="Google Shape;177;p5"/>
            <p:cNvSpPr/>
            <p:nvPr/>
          </p:nvSpPr>
          <p:spPr>
            <a:xfrm>
              <a:off x="0" y="0"/>
              <a:ext cx="2356171" cy="710111"/>
            </a:xfrm>
            <a:custGeom>
              <a:rect b="b" l="l" r="r" t="t"/>
              <a:pathLst>
                <a:path extrusionOk="0" h="710111" w="2356171">
                  <a:moveTo>
                    <a:pt x="0" y="0"/>
                  </a:moveTo>
                  <a:lnTo>
                    <a:pt x="2356171" y="0"/>
                  </a:lnTo>
                  <a:lnTo>
                    <a:pt x="2356171" y="710111"/>
                  </a:lnTo>
                  <a:lnTo>
                    <a:pt x="0" y="710111"/>
                  </a:lnTo>
                  <a:close/>
                </a:path>
              </a:pathLst>
            </a:custGeom>
            <a:blipFill rotWithShape="1">
              <a:blip r:embed="rId6">
                <a:alphaModFix amt="0"/>
              </a:blip>
              <a:stretch>
                <a:fillRect b="-24226" l="0" r="-14809" t="-24226"/>
              </a:stretch>
            </a:blipFill>
            <a:ln>
              <a:noFill/>
            </a:ln>
          </p:spPr>
        </p:sp>
        <p:sp>
          <p:nvSpPr>
            <p:cNvPr id="178" name="Google Shape;178;p5"/>
            <p:cNvSpPr txBox="1"/>
            <p:nvPr/>
          </p:nvSpPr>
          <p:spPr>
            <a:xfrm>
              <a:off x="0" y="-9525"/>
              <a:ext cx="2356168" cy="71963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1995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674" u="none" cap="none" strike="noStrike">
                  <a:solidFill>
                    <a:srgbClr val="FFFFFF"/>
                  </a:solidFill>
                  <a:latin typeface="Noto Sans"/>
                  <a:ea typeface="Noto Sans"/>
                  <a:cs typeface="Noto Sans"/>
                  <a:sym typeface="Noto Sans"/>
                </a:rPr>
                <a:t>Definition</a:t>
              </a:r>
              <a:endParaRPr/>
            </a:p>
          </p:txBody>
        </p:sp>
      </p:grpSp>
      <p:sp>
        <p:nvSpPr>
          <p:cNvPr id="179" name="Google Shape;179;p5"/>
          <p:cNvSpPr/>
          <p:nvPr/>
        </p:nvSpPr>
        <p:spPr>
          <a:xfrm>
            <a:off x="8472287" y="1485700"/>
            <a:ext cx="9130094" cy="1857756"/>
          </a:xfrm>
          <a:custGeom>
            <a:rect b="b" l="l" r="r" t="t"/>
            <a:pathLst>
              <a:path extrusionOk="0" h="2477008" w="12173458">
                <a:moveTo>
                  <a:pt x="0" y="0"/>
                </a:moveTo>
                <a:lnTo>
                  <a:pt x="12173458" y="0"/>
                </a:lnTo>
                <a:lnTo>
                  <a:pt x="12173458" y="2477008"/>
                </a:lnTo>
                <a:lnTo>
                  <a:pt x="0" y="2477008"/>
                </a:lnTo>
                <a:close/>
              </a:path>
            </a:pathLst>
          </a:custGeom>
          <a:solidFill>
            <a:srgbClr val="FFFFFF"/>
          </a:solidFill>
          <a:ln cap="sq" cmpd="sng" w="9525">
            <a:solidFill>
              <a:srgbClr val="2B7FDB"/>
            </a:solidFill>
            <a:prstDash val="solid"/>
            <a:miter lim="8000"/>
            <a:headEnd len="sm" w="sm" type="none"/>
            <a:tailEnd len="sm" w="sm" type="none"/>
          </a:ln>
        </p:spPr>
      </p:sp>
      <p:grpSp>
        <p:nvGrpSpPr>
          <p:cNvPr id="180" name="Google Shape;180;p5"/>
          <p:cNvGrpSpPr/>
          <p:nvPr/>
        </p:nvGrpSpPr>
        <p:grpSpPr>
          <a:xfrm>
            <a:off x="8815388" y="1821656"/>
            <a:ext cx="8443912" cy="1121570"/>
            <a:chOff x="0" y="-9525"/>
            <a:chExt cx="11258550" cy="1495426"/>
          </a:xfrm>
        </p:grpSpPr>
        <p:sp>
          <p:nvSpPr>
            <p:cNvPr id="181" name="Google Shape;181;p5"/>
            <p:cNvSpPr/>
            <p:nvPr/>
          </p:nvSpPr>
          <p:spPr>
            <a:xfrm>
              <a:off x="0" y="0"/>
              <a:ext cx="11258549" cy="1485901"/>
            </a:xfrm>
            <a:custGeom>
              <a:rect b="b" l="l" r="r" t="t"/>
              <a:pathLst>
                <a:path extrusionOk="0" h="1485901" w="11258549">
                  <a:moveTo>
                    <a:pt x="0" y="0"/>
                  </a:moveTo>
                  <a:lnTo>
                    <a:pt x="11258549" y="0"/>
                  </a:lnTo>
                  <a:lnTo>
                    <a:pt x="11258549" y="1485901"/>
                  </a:lnTo>
                  <a:lnTo>
                    <a:pt x="0" y="1485901"/>
                  </a:lnTo>
                  <a:close/>
                </a:path>
              </a:pathLst>
            </a:custGeom>
            <a:blipFill rotWithShape="1">
              <a:blip r:embed="rId6">
                <a:alphaModFix amt="0"/>
              </a:blip>
              <a:stretch>
                <a:fillRect b="-97632" l="0" r="0" t="-97632"/>
              </a:stretch>
            </a:blipFill>
            <a:ln>
              <a:noFill/>
            </a:ln>
          </p:spPr>
        </p:sp>
        <p:sp>
          <p:nvSpPr>
            <p:cNvPr id="182" name="Google Shape;182;p5"/>
            <p:cNvSpPr txBox="1"/>
            <p:nvPr/>
          </p:nvSpPr>
          <p:spPr>
            <a:xfrm>
              <a:off x="0" y="-9525"/>
              <a:ext cx="11258550" cy="14954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5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674" u="none" cap="none" strike="noStrike">
                  <a:solidFill>
                    <a:srgbClr val="2D3748"/>
                  </a:solidFill>
                  <a:latin typeface="Noto Sans"/>
                  <a:ea typeface="Noto Sans"/>
                  <a:cs typeface="Noto Sans"/>
                  <a:sym typeface="Noto Sans"/>
                </a:rPr>
                <a:t>Large language models (LLMs) are deep learning models trained on immense amounts of data, capable of understanding and generating natural language to perform a wide range of tasks.</a:t>
              </a:r>
              <a:endParaRPr/>
            </a:p>
          </p:txBody>
        </p:sp>
      </p:grpSp>
      <p:sp>
        <p:nvSpPr>
          <p:cNvPr id="183" name="Google Shape;183;p5"/>
          <p:cNvSpPr/>
          <p:nvPr/>
        </p:nvSpPr>
        <p:spPr>
          <a:xfrm>
            <a:off x="8472488" y="3629025"/>
            <a:ext cx="2514124" cy="571500"/>
          </a:xfrm>
          <a:custGeom>
            <a:rect b="b" l="l" r="r" t="t"/>
            <a:pathLst>
              <a:path extrusionOk="0" h="762000" w="3352165">
                <a:moveTo>
                  <a:pt x="0" y="127000"/>
                </a:moveTo>
                <a:cubicBezTo>
                  <a:pt x="0" y="56896"/>
                  <a:pt x="56896" y="0"/>
                  <a:pt x="127000" y="0"/>
                </a:cubicBezTo>
                <a:lnTo>
                  <a:pt x="3225165" y="0"/>
                </a:lnTo>
                <a:cubicBezTo>
                  <a:pt x="3295269" y="0"/>
                  <a:pt x="3352165" y="56896"/>
                  <a:pt x="3352165" y="127000"/>
                </a:cubicBezTo>
                <a:lnTo>
                  <a:pt x="3352165" y="635000"/>
                </a:lnTo>
                <a:cubicBezTo>
                  <a:pt x="3352165" y="705104"/>
                  <a:pt x="3295269" y="762000"/>
                  <a:pt x="3225165" y="762000"/>
                </a:cubicBezTo>
                <a:lnTo>
                  <a:pt x="127000" y="762000"/>
                </a:lnTo>
                <a:cubicBezTo>
                  <a:pt x="56896" y="762000"/>
                  <a:pt x="0" y="705104"/>
                  <a:pt x="0" y="635000"/>
                </a:cubicBezTo>
                <a:close/>
              </a:path>
            </a:pathLst>
          </a:custGeom>
          <a:solidFill>
            <a:srgbClr val="2B7FD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84" name="Google Shape;184;p5"/>
          <p:cNvGrpSpPr/>
          <p:nvPr/>
        </p:nvGrpSpPr>
        <p:grpSpPr>
          <a:xfrm>
            <a:off x="8472488" y="3621881"/>
            <a:ext cx="2514153" cy="578644"/>
            <a:chOff x="0" y="-9525"/>
            <a:chExt cx="3352205" cy="771525"/>
          </a:xfrm>
        </p:grpSpPr>
        <p:sp>
          <p:nvSpPr>
            <p:cNvPr id="185" name="Google Shape;185;p5"/>
            <p:cNvSpPr/>
            <p:nvPr/>
          </p:nvSpPr>
          <p:spPr>
            <a:xfrm>
              <a:off x="0" y="0"/>
              <a:ext cx="3352205" cy="762000"/>
            </a:xfrm>
            <a:custGeom>
              <a:rect b="b" l="l" r="r" t="t"/>
              <a:pathLst>
                <a:path extrusionOk="0" h="762000" w="3352205">
                  <a:moveTo>
                    <a:pt x="0" y="0"/>
                  </a:moveTo>
                  <a:lnTo>
                    <a:pt x="3352205" y="0"/>
                  </a:lnTo>
                  <a:lnTo>
                    <a:pt x="3352205" y="762000"/>
                  </a:lnTo>
                  <a:lnTo>
                    <a:pt x="0" y="762000"/>
                  </a:lnTo>
                  <a:close/>
                </a:path>
              </a:pathLst>
            </a:custGeom>
            <a:blipFill rotWithShape="1">
              <a:blip r:embed="rId6">
                <a:alphaModFix amt="0"/>
              </a:blip>
              <a:stretch>
                <a:fillRect b="-35719" l="0" r="0" t="-35719"/>
              </a:stretch>
            </a:blipFill>
            <a:ln>
              <a:noFill/>
            </a:ln>
          </p:spPr>
        </p:sp>
        <p:sp>
          <p:nvSpPr>
            <p:cNvPr id="186" name="Google Shape;186;p5"/>
            <p:cNvSpPr txBox="1"/>
            <p:nvPr/>
          </p:nvSpPr>
          <p:spPr>
            <a:xfrm>
              <a:off x="0" y="-9525"/>
              <a:ext cx="3352203" cy="7715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1995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674" u="none" cap="none" strike="noStrike">
                  <a:solidFill>
                    <a:srgbClr val="FFFFFF"/>
                  </a:solidFill>
                  <a:latin typeface="Noto Sans"/>
                  <a:ea typeface="Noto Sans"/>
                  <a:cs typeface="Noto Sans"/>
                  <a:sym typeface="Noto Sans"/>
                </a:rPr>
                <a:t>Core Mechanism</a:t>
              </a:r>
              <a:endParaRPr/>
            </a:p>
          </p:txBody>
        </p:sp>
      </p:grpSp>
      <p:sp>
        <p:nvSpPr>
          <p:cNvPr id="187" name="Google Shape;187;p5"/>
          <p:cNvSpPr/>
          <p:nvPr/>
        </p:nvSpPr>
        <p:spPr>
          <a:xfrm>
            <a:off x="8472287" y="4428925"/>
            <a:ext cx="9130094" cy="1857756"/>
          </a:xfrm>
          <a:custGeom>
            <a:rect b="b" l="l" r="r" t="t"/>
            <a:pathLst>
              <a:path extrusionOk="0" h="2477008" w="12173458">
                <a:moveTo>
                  <a:pt x="0" y="0"/>
                </a:moveTo>
                <a:lnTo>
                  <a:pt x="12173458" y="0"/>
                </a:lnTo>
                <a:lnTo>
                  <a:pt x="12173458" y="2477008"/>
                </a:lnTo>
                <a:lnTo>
                  <a:pt x="0" y="2477008"/>
                </a:lnTo>
                <a:close/>
              </a:path>
            </a:pathLst>
          </a:custGeom>
          <a:solidFill>
            <a:srgbClr val="FFFFFF"/>
          </a:solidFill>
          <a:ln cap="sq" cmpd="sng" w="9525">
            <a:solidFill>
              <a:srgbClr val="2B7FDB"/>
            </a:solidFill>
            <a:prstDash val="solid"/>
            <a:miter lim="8000"/>
            <a:headEnd len="sm" w="sm" type="none"/>
            <a:tailEnd len="sm" w="sm" type="none"/>
          </a:ln>
        </p:spPr>
      </p:sp>
      <p:grpSp>
        <p:nvGrpSpPr>
          <p:cNvPr id="188" name="Google Shape;188;p5"/>
          <p:cNvGrpSpPr/>
          <p:nvPr/>
        </p:nvGrpSpPr>
        <p:grpSpPr>
          <a:xfrm>
            <a:off x="8815388" y="4779168"/>
            <a:ext cx="8443912" cy="1121570"/>
            <a:chOff x="0" y="-9525"/>
            <a:chExt cx="11258550" cy="1495426"/>
          </a:xfrm>
        </p:grpSpPr>
        <p:sp>
          <p:nvSpPr>
            <p:cNvPr id="189" name="Google Shape;189;p5"/>
            <p:cNvSpPr/>
            <p:nvPr/>
          </p:nvSpPr>
          <p:spPr>
            <a:xfrm>
              <a:off x="0" y="0"/>
              <a:ext cx="11258549" cy="1485901"/>
            </a:xfrm>
            <a:custGeom>
              <a:rect b="b" l="l" r="r" t="t"/>
              <a:pathLst>
                <a:path extrusionOk="0" h="1485901" w="11258549">
                  <a:moveTo>
                    <a:pt x="0" y="0"/>
                  </a:moveTo>
                  <a:lnTo>
                    <a:pt x="11258549" y="0"/>
                  </a:lnTo>
                  <a:lnTo>
                    <a:pt x="11258549" y="1485901"/>
                  </a:lnTo>
                  <a:lnTo>
                    <a:pt x="0" y="1485901"/>
                  </a:lnTo>
                  <a:close/>
                </a:path>
              </a:pathLst>
            </a:custGeom>
            <a:blipFill rotWithShape="1">
              <a:blip r:embed="rId6">
                <a:alphaModFix amt="0"/>
              </a:blip>
              <a:stretch>
                <a:fillRect b="-97632" l="0" r="0" t="-97632"/>
              </a:stretch>
            </a:blipFill>
            <a:ln>
              <a:noFill/>
            </a:ln>
          </p:spPr>
        </p:sp>
        <p:sp>
          <p:nvSpPr>
            <p:cNvPr id="190" name="Google Shape;190;p5"/>
            <p:cNvSpPr txBox="1"/>
            <p:nvPr/>
          </p:nvSpPr>
          <p:spPr>
            <a:xfrm>
              <a:off x="0" y="-9525"/>
              <a:ext cx="11258550" cy="14954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5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674" u="none" cap="none" strike="noStrike">
                  <a:solidFill>
                    <a:srgbClr val="2D3748"/>
                  </a:solidFill>
                  <a:latin typeface="Noto Sans"/>
                  <a:ea typeface="Noto Sans"/>
                  <a:cs typeface="Noto Sans"/>
                  <a:sym typeface="Noto Sans"/>
                </a:rPr>
                <a:t>LLMs work as giant statistical prediction machines that repeatedly predict the next word in a sequence. They learn patterns in text and generate language that follows those patterns.</a:t>
              </a:r>
              <a:endParaRPr/>
            </a:p>
          </p:txBody>
        </p:sp>
      </p:grpSp>
      <p:sp>
        <p:nvSpPr>
          <p:cNvPr id="191" name="Google Shape;191;p5"/>
          <p:cNvSpPr/>
          <p:nvPr/>
        </p:nvSpPr>
        <p:spPr>
          <a:xfrm>
            <a:off x="8472488" y="6586538"/>
            <a:ext cx="3517011" cy="571500"/>
          </a:xfrm>
          <a:custGeom>
            <a:rect b="b" l="l" r="r" t="t"/>
            <a:pathLst>
              <a:path extrusionOk="0" h="762000" w="4689348">
                <a:moveTo>
                  <a:pt x="0" y="127000"/>
                </a:moveTo>
                <a:cubicBezTo>
                  <a:pt x="0" y="56896"/>
                  <a:pt x="56896" y="0"/>
                  <a:pt x="127000" y="0"/>
                </a:cubicBezTo>
                <a:lnTo>
                  <a:pt x="4562348" y="0"/>
                </a:lnTo>
                <a:cubicBezTo>
                  <a:pt x="4632452" y="0"/>
                  <a:pt x="4689348" y="56896"/>
                  <a:pt x="4689348" y="127000"/>
                </a:cubicBezTo>
                <a:lnTo>
                  <a:pt x="4689348" y="635000"/>
                </a:lnTo>
                <a:cubicBezTo>
                  <a:pt x="4689348" y="705104"/>
                  <a:pt x="4632452" y="762000"/>
                  <a:pt x="4562348" y="762000"/>
                </a:cubicBezTo>
                <a:lnTo>
                  <a:pt x="127000" y="762000"/>
                </a:lnTo>
                <a:cubicBezTo>
                  <a:pt x="56896" y="762000"/>
                  <a:pt x="0" y="705104"/>
                  <a:pt x="0" y="635000"/>
                </a:cubicBezTo>
                <a:close/>
              </a:path>
            </a:pathLst>
          </a:custGeom>
          <a:solidFill>
            <a:srgbClr val="2B7FD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92" name="Google Shape;192;p5"/>
          <p:cNvGrpSpPr/>
          <p:nvPr/>
        </p:nvGrpSpPr>
        <p:grpSpPr>
          <a:xfrm>
            <a:off x="8472487" y="6579394"/>
            <a:ext cx="3517014" cy="578644"/>
            <a:chOff x="0" y="-9525"/>
            <a:chExt cx="4689352" cy="771525"/>
          </a:xfrm>
        </p:grpSpPr>
        <p:sp>
          <p:nvSpPr>
            <p:cNvPr id="193" name="Google Shape;193;p5"/>
            <p:cNvSpPr/>
            <p:nvPr/>
          </p:nvSpPr>
          <p:spPr>
            <a:xfrm>
              <a:off x="0" y="0"/>
              <a:ext cx="4689352" cy="762000"/>
            </a:xfrm>
            <a:custGeom>
              <a:rect b="b" l="l" r="r" t="t"/>
              <a:pathLst>
                <a:path extrusionOk="0" h="762000" w="4689352">
                  <a:moveTo>
                    <a:pt x="0" y="0"/>
                  </a:moveTo>
                  <a:lnTo>
                    <a:pt x="4689352" y="0"/>
                  </a:lnTo>
                  <a:lnTo>
                    <a:pt x="4689352" y="762000"/>
                  </a:lnTo>
                  <a:lnTo>
                    <a:pt x="0" y="762000"/>
                  </a:lnTo>
                  <a:close/>
                </a:path>
              </a:pathLst>
            </a:custGeom>
            <a:blipFill rotWithShape="1">
              <a:blip r:embed="rId6">
                <a:alphaModFix amt="0"/>
              </a:blip>
              <a:stretch>
                <a:fillRect b="-69910" l="0" r="0" t="-69910"/>
              </a:stretch>
            </a:blipFill>
            <a:ln>
              <a:noFill/>
            </a:ln>
          </p:spPr>
        </p:sp>
        <p:sp>
          <p:nvSpPr>
            <p:cNvPr id="194" name="Google Shape;194;p5"/>
            <p:cNvSpPr txBox="1"/>
            <p:nvPr/>
          </p:nvSpPr>
          <p:spPr>
            <a:xfrm>
              <a:off x="0" y="-9525"/>
              <a:ext cx="4689348" cy="7715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1995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674" u="none" cap="none" strike="noStrike">
                  <a:solidFill>
                    <a:srgbClr val="FFFFFF"/>
                  </a:solidFill>
                  <a:latin typeface="Noto Sans"/>
                  <a:ea typeface="Noto Sans"/>
                  <a:cs typeface="Noto Sans"/>
                  <a:sym typeface="Noto Sans"/>
                </a:rPr>
                <a:t>Breakthrough Technology</a:t>
              </a:r>
              <a:endParaRPr/>
            </a:p>
          </p:txBody>
        </p:sp>
      </p:grpSp>
      <p:sp>
        <p:nvSpPr>
          <p:cNvPr id="195" name="Google Shape;195;p5"/>
          <p:cNvSpPr/>
          <p:nvPr/>
        </p:nvSpPr>
        <p:spPr>
          <a:xfrm>
            <a:off x="8472287" y="7386437"/>
            <a:ext cx="9130094" cy="1486281"/>
          </a:xfrm>
          <a:custGeom>
            <a:rect b="b" l="l" r="r" t="t"/>
            <a:pathLst>
              <a:path extrusionOk="0" h="1981708" w="12173458">
                <a:moveTo>
                  <a:pt x="0" y="0"/>
                </a:moveTo>
                <a:lnTo>
                  <a:pt x="12173458" y="0"/>
                </a:lnTo>
                <a:lnTo>
                  <a:pt x="12173458" y="1981708"/>
                </a:lnTo>
                <a:lnTo>
                  <a:pt x="0" y="1981708"/>
                </a:lnTo>
                <a:close/>
              </a:path>
            </a:pathLst>
          </a:custGeom>
          <a:solidFill>
            <a:srgbClr val="FFFFFF"/>
          </a:solidFill>
          <a:ln cap="sq" cmpd="sng" w="9525">
            <a:solidFill>
              <a:srgbClr val="2B7FDB"/>
            </a:solidFill>
            <a:prstDash val="solid"/>
            <a:miter lim="8000"/>
            <a:headEnd len="sm" w="sm" type="none"/>
            <a:tailEnd len="sm" w="sm" type="none"/>
          </a:ln>
        </p:spPr>
      </p:sp>
      <p:grpSp>
        <p:nvGrpSpPr>
          <p:cNvPr id="196" name="Google Shape;196;p5"/>
          <p:cNvGrpSpPr/>
          <p:nvPr/>
        </p:nvGrpSpPr>
        <p:grpSpPr>
          <a:xfrm>
            <a:off x="8815388" y="7750968"/>
            <a:ext cx="8443912" cy="750094"/>
            <a:chOff x="0" y="-9525"/>
            <a:chExt cx="11258550" cy="1000125"/>
          </a:xfrm>
        </p:grpSpPr>
        <p:sp>
          <p:nvSpPr>
            <p:cNvPr id="197" name="Google Shape;197;p5"/>
            <p:cNvSpPr/>
            <p:nvPr/>
          </p:nvSpPr>
          <p:spPr>
            <a:xfrm>
              <a:off x="0" y="0"/>
              <a:ext cx="11258549" cy="990600"/>
            </a:xfrm>
            <a:custGeom>
              <a:rect b="b" l="l" r="r" t="t"/>
              <a:pathLst>
                <a:path extrusionOk="0" h="990600" w="11258549">
                  <a:moveTo>
                    <a:pt x="0" y="0"/>
                  </a:moveTo>
                  <a:lnTo>
                    <a:pt x="11258549" y="0"/>
                  </a:lnTo>
                  <a:lnTo>
                    <a:pt x="11258549" y="990600"/>
                  </a:lnTo>
                  <a:lnTo>
                    <a:pt x="0" y="990600"/>
                  </a:lnTo>
                  <a:close/>
                </a:path>
              </a:pathLst>
            </a:custGeom>
            <a:blipFill rotWithShape="1">
              <a:blip r:embed="rId6">
                <a:alphaModFix amt="0"/>
              </a:blip>
              <a:stretch>
                <a:fillRect b="-171454" l="0" r="0" t="-171454"/>
              </a:stretch>
            </a:blipFill>
            <a:ln>
              <a:noFill/>
            </a:ln>
          </p:spPr>
        </p:sp>
        <p:sp>
          <p:nvSpPr>
            <p:cNvPr id="198" name="Google Shape;198;p5"/>
            <p:cNvSpPr txBox="1"/>
            <p:nvPr/>
          </p:nvSpPr>
          <p:spPr>
            <a:xfrm>
              <a:off x="0" y="-9525"/>
              <a:ext cx="11258550" cy="10001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5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674" u="none" cap="none" strike="noStrike">
                  <a:solidFill>
                    <a:srgbClr val="2D3748"/>
                  </a:solidFill>
                  <a:latin typeface="Noto Sans"/>
                  <a:ea typeface="Noto Sans"/>
                  <a:cs typeface="Noto Sans"/>
                  <a:sym typeface="Noto Sans"/>
                </a:rPr>
                <a:t>LLMs represent the first AI system that can handle unstructured human language at scale, allowing for natural communication with machines.</a:t>
              </a:r>
              <a:endParaRPr/>
            </a:p>
          </p:txBody>
        </p:sp>
      </p:grpSp>
      <p:sp>
        <p:nvSpPr>
          <p:cNvPr descr="preencoded.png" id="199" name="Google Shape;199;p5"/>
          <p:cNvSpPr/>
          <p:nvPr/>
        </p:nvSpPr>
        <p:spPr>
          <a:xfrm>
            <a:off x="14130717" y="9498108"/>
            <a:ext cx="3928627" cy="642938"/>
          </a:xfrm>
          <a:custGeom>
            <a:rect b="b" l="l" r="r" t="t"/>
            <a:pathLst>
              <a:path extrusionOk="0" h="857250" w="5238169">
                <a:moveTo>
                  <a:pt x="0" y="0"/>
                </a:moveTo>
                <a:lnTo>
                  <a:pt x="5238169" y="0"/>
                </a:lnTo>
                <a:lnTo>
                  <a:pt x="5238169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-2834" l="0" r="0" t="-2835"/>
            </a:stretch>
          </a:blipFill>
          <a:ln>
            <a:noFill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preencoded.png" id="204" name="Google Shape;204;p6"/>
          <p:cNvSpPr/>
          <p:nvPr/>
        </p:nvSpPr>
        <p:spPr>
          <a:xfrm>
            <a:off x="0" y="809625"/>
            <a:ext cx="18288000" cy="8448675"/>
          </a:xfrm>
          <a:custGeom>
            <a:rect b="b" l="l" r="r" t="t"/>
            <a:pathLst>
              <a:path extrusionOk="0" h="11264900" w="24384000">
                <a:moveTo>
                  <a:pt x="0" y="0"/>
                </a:moveTo>
                <a:lnTo>
                  <a:pt x="24384000" y="0"/>
                </a:lnTo>
                <a:lnTo>
                  <a:pt x="24384000" y="11264900"/>
                </a:lnTo>
                <a:lnTo>
                  <a:pt x="0" y="112649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0878" l="-7526" r="0" t="-20044"/>
            </a:stretch>
          </a:blipFill>
          <a:ln>
            <a:noFill/>
          </a:ln>
        </p:spPr>
      </p:sp>
      <p:sp>
        <p:nvSpPr>
          <p:cNvPr descr="preencoded.png" id="205" name="Google Shape;205;p6"/>
          <p:cNvSpPr/>
          <p:nvPr/>
        </p:nvSpPr>
        <p:spPr>
          <a:xfrm>
            <a:off x="7758112" y="-190500"/>
            <a:ext cx="10529888" cy="6129338"/>
          </a:xfrm>
          <a:custGeom>
            <a:rect b="b" l="l" r="r" t="t"/>
            <a:pathLst>
              <a:path extrusionOk="0" h="8172450" w="14039850">
                <a:moveTo>
                  <a:pt x="0" y="0"/>
                </a:moveTo>
                <a:lnTo>
                  <a:pt x="14039850" y="0"/>
                </a:lnTo>
                <a:lnTo>
                  <a:pt x="14039850" y="8172450"/>
                </a:lnTo>
                <a:lnTo>
                  <a:pt x="0" y="81724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descr="preencoded.png" id="206" name="Google Shape;206;p6"/>
          <p:cNvSpPr/>
          <p:nvPr/>
        </p:nvSpPr>
        <p:spPr>
          <a:xfrm>
            <a:off x="0" y="8210550"/>
            <a:ext cx="5915025" cy="1885950"/>
          </a:xfrm>
          <a:custGeom>
            <a:rect b="b" l="l" r="r" t="t"/>
            <a:pathLst>
              <a:path extrusionOk="0" h="2514600" w="7886700">
                <a:moveTo>
                  <a:pt x="0" y="0"/>
                </a:moveTo>
                <a:lnTo>
                  <a:pt x="7886700" y="0"/>
                </a:lnTo>
                <a:lnTo>
                  <a:pt x="7886700" y="2514600"/>
                </a:lnTo>
                <a:lnTo>
                  <a:pt x="0" y="2514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descr="preencoded.png" id="207" name="Google Shape;207;p6"/>
          <p:cNvSpPr/>
          <p:nvPr/>
        </p:nvSpPr>
        <p:spPr>
          <a:xfrm>
            <a:off x="0" y="7210425"/>
            <a:ext cx="4443412" cy="2386012"/>
          </a:xfrm>
          <a:custGeom>
            <a:rect b="b" l="l" r="r" t="t"/>
            <a:pathLst>
              <a:path extrusionOk="0" h="3181350" w="5924550">
                <a:moveTo>
                  <a:pt x="0" y="0"/>
                </a:moveTo>
                <a:lnTo>
                  <a:pt x="5924550" y="0"/>
                </a:lnTo>
                <a:lnTo>
                  <a:pt x="5924550" y="3181350"/>
                </a:lnTo>
                <a:lnTo>
                  <a:pt x="0" y="31813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descr="preencoded.png" id="208" name="Google Shape;208;p6"/>
          <p:cNvSpPr/>
          <p:nvPr/>
        </p:nvSpPr>
        <p:spPr>
          <a:xfrm>
            <a:off x="5143500" y="8796338"/>
            <a:ext cx="3257550" cy="1300162"/>
          </a:xfrm>
          <a:custGeom>
            <a:rect b="b" l="l" r="r" t="t"/>
            <a:pathLst>
              <a:path extrusionOk="0" h="1733550" w="4343400">
                <a:moveTo>
                  <a:pt x="0" y="0"/>
                </a:moveTo>
                <a:lnTo>
                  <a:pt x="4343400" y="0"/>
                </a:lnTo>
                <a:lnTo>
                  <a:pt x="4343400" y="1733550"/>
                </a:lnTo>
                <a:lnTo>
                  <a:pt x="0" y="17335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 amt="70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9" name="Google Shape;209;p6"/>
          <p:cNvSpPr/>
          <p:nvPr/>
        </p:nvSpPr>
        <p:spPr>
          <a:xfrm>
            <a:off x="0" y="809625"/>
            <a:ext cx="9110160" cy="8542576"/>
          </a:xfrm>
          <a:custGeom>
            <a:rect b="b" l="l" r="r" t="t"/>
            <a:pathLst>
              <a:path extrusionOk="0" h="11432410" w="12192000">
                <a:moveTo>
                  <a:pt x="0" y="0"/>
                </a:moveTo>
                <a:lnTo>
                  <a:pt x="12192000" y="0"/>
                </a:lnTo>
                <a:lnTo>
                  <a:pt x="12192000" y="11432410"/>
                </a:lnTo>
                <a:lnTo>
                  <a:pt x="0" y="11432410"/>
                </a:lnTo>
                <a:close/>
              </a:path>
            </a:pathLst>
          </a:custGeom>
          <a:solidFill>
            <a:srgbClr val="0F1B2C"/>
          </a:solidFill>
          <a:ln>
            <a:noFill/>
          </a:ln>
        </p:spPr>
      </p:sp>
      <p:grpSp>
        <p:nvGrpSpPr>
          <p:cNvPr id="210" name="Google Shape;210;p6"/>
          <p:cNvGrpSpPr/>
          <p:nvPr/>
        </p:nvGrpSpPr>
        <p:grpSpPr>
          <a:xfrm>
            <a:off x="914400" y="3094980"/>
            <a:ext cx="6247543" cy="979459"/>
            <a:chOff x="0" y="-9525"/>
            <a:chExt cx="8330057" cy="1305946"/>
          </a:xfrm>
        </p:grpSpPr>
        <p:sp>
          <p:nvSpPr>
            <p:cNvPr id="211" name="Google Shape;211;p6"/>
            <p:cNvSpPr/>
            <p:nvPr/>
          </p:nvSpPr>
          <p:spPr>
            <a:xfrm>
              <a:off x="0" y="0"/>
              <a:ext cx="8330056" cy="1296421"/>
            </a:xfrm>
            <a:custGeom>
              <a:rect b="b" l="l" r="r" t="t"/>
              <a:pathLst>
                <a:path extrusionOk="0" h="1296421" w="8330056">
                  <a:moveTo>
                    <a:pt x="0" y="0"/>
                  </a:moveTo>
                  <a:lnTo>
                    <a:pt x="8330056" y="0"/>
                  </a:lnTo>
                  <a:lnTo>
                    <a:pt x="8330056" y="1296421"/>
                  </a:lnTo>
                  <a:lnTo>
                    <a:pt x="0" y="1296421"/>
                  </a:lnTo>
                  <a:close/>
                </a:path>
              </a:pathLst>
            </a:custGeom>
            <a:blipFill rotWithShape="1">
              <a:blip r:embed="rId8">
                <a:alphaModFix amt="0"/>
              </a:blip>
              <a:stretch>
                <a:fillRect b="-58579" l="0" r="4293" t="-81068"/>
              </a:stretch>
            </a:blipFill>
            <a:ln>
              <a:noFill/>
            </a:ln>
          </p:spPr>
        </p:sp>
        <p:sp>
          <p:nvSpPr>
            <p:cNvPr id="212" name="Google Shape;212;p6"/>
            <p:cNvSpPr txBox="1"/>
            <p:nvPr/>
          </p:nvSpPr>
          <p:spPr>
            <a:xfrm>
              <a:off x="0" y="-9525"/>
              <a:ext cx="8330057" cy="130594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1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5061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How LLMs Work: The</a:t>
              </a:r>
              <a:endParaRPr/>
            </a:p>
          </p:txBody>
        </p:sp>
      </p:grpSp>
      <p:grpSp>
        <p:nvGrpSpPr>
          <p:cNvPr id="213" name="Google Shape;213;p6"/>
          <p:cNvGrpSpPr/>
          <p:nvPr/>
        </p:nvGrpSpPr>
        <p:grpSpPr>
          <a:xfrm>
            <a:off x="914400" y="4101430"/>
            <a:ext cx="3808672" cy="979459"/>
            <a:chOff x="0" y="-9525"/>
            <a:chExt cx="5078229" cy="1305946"/>
          </a:xfrm>
        </p:grpSpPr>
        <p:sp>
          <p:nvSpPr>
            <p:cNvPr id="214" name="Google Shape;214;p6"/>
            <p:cNvSpPr/>
            <p:nvPr/>
          </p:nvSpPr>
          <p:spPr>
            <a:xfrm>
              <a:off x="0" y="0"/>
              <a:ext cx="5078229" cy="1296421"/>
            </a:xfrm>
            <a:custGeom>
              <a:rect b="b" l="l" r="r" t="t"/>
              <a:pathLst>
                <a:path extrusionOk="0" h="1296421" w="5078229">
                  <a:moveTo>
                    <a:pt x="0" y="0"/>
                  </a:moveTo>
                  <a:lnTo>
                    <a:pt x="5078229" y="0"/>
                  </a:lnTo>
                  <a:lnTo>
                    <a:pt x="5078229" y="1296421"/>
                  </a:lnTo>
                  <a:lnTo>
                    <a:pt x="0" y="1296421"/>
                  </a:lnTo>
                  <a:close/>
                </a:path>
              </a:pathLst>
            </a:custGeom>
            <a:blipFill rotWithShape="1">
              <a:blip r:embed="rId8">
                <a:alphaModFix amt="0"/>
              </a:blip>
              <a:stretch>
                <a:fillRect b="-10837" l="0" r="5560" t="-33324"/>
              </a:stretch>
            </a:blipFill>
            <a:ln>
              <a:noFill/>
            </a:ln>
          </p:spPr>
        </p:sp>
        <p:sp>
          <p:nvSpPr>
            <p:cNvPr id="215" name="Google Shape;215;p6"/>
            <p:cNvSpPr txBox="1"/>
            <p:nvPr/>
          </p:nvSpPr>
          <p:spPr>
            <a:xfrm>
              <a:off x="0" y="-9525"/>
              <a:ext cx="5078229" cy="130594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1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5061" u="none" cap="none" strike="noStrike">
                  <a:solidFill>
                    <a:srgbClr val="00AEEF"/>
                  </a:solidFill>
                  <a:latin typeface="Roboto"/>
                  <a:ea typeface="Roboto"/>
                  <a:cs typeface="Roboto"/>
                  <a:sym typeface="Roboto"/>
                </a:rPr>
                <a:t>Transformer</a:t>
              </a:r>
              <a:endParaRPr/>
            </a:p>
          </p:txBody>
        </p:sp>
      </p:grpSp>
      <p:grpSp>
        <p:nvGrpSpPr>
          <p:cNvPr id="216" name="Google Shape;216;p6"/>
          <p:cNvGrpSpPr/>
          <p:nvPr/>
        </p:nvGrpSpPr>
        <p:grpSpPr>
          <a:xfrm>
            <a:off x="4743450" y="4101430"/>
            <a:ext cx="3657600" cy="979459"/>
            <a:chOff x="0" y="-9525"/>
            <a:chExt cx="4876800" cy="1305946"/>
          </a:xfrm>
        </p:grpSpPr>
        <p:sp>
          <p:nvSpPr>
            <p:cNvPr id="217" name="Google Shape;217;p6"/>
            <p:cNvSpPr/>
            <p:nvPr/>
          </p:nvSpPr>
          <p:spPr>
            <a:xfrm>
              <a:off x="0" y="0"/>
              <a:ext cx="4876800" cy="1296421"/>
            </a:xfrm>
            <a:custGeom>
              <a:rect b="b" l="l" r="r" t="t"/>
              <a:pathLst>
                <a:path extrusionOk="0" h="1296421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1296421"/>
                  </a:lnTo>
                  <a:lnTo>
                    <a:pt x="0" y="1296421"/>
                  </a:lnTo>
                  <a:close/>
                </a:path>
              </a:pathLst>
            </a:custGeom>
            <a:blipFill rotWithShape="1">
              <a:blip r:embed="rId8">
                <a:alphaModFix amt="0"/>
              </a:blip>
              <a:stretch>
                <a:fillRect b="-7258" l="0" r="6542" t="-29745"/>
              </a:stretch>
            </a:blipFill>
            <a:ln>
              <a:noFill/>
            </a:ln>
          </p:spPr>
        </p:sp>
        <p:sp>
          <p:nvSpPr>
            <p:cNvPr id="218" name="Google Shape;218;p6"/>
            <p:cNvSpPr txBox="1"/>
            <p:nvPr/>
          </p:nvSpPr>
          <p:spPr>
            <a:xfrm>
              <a:off x="0" y="-9525"/>
              <a:ext cx="4876800" cy="130594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1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5061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Architecture</a:t>
              </a:r>
              <a:endParaRPr/>
            </a:p>
          </p:txBody>
        </p:sp>
      </p:grpSp>
      <p:grpSp>
        <p:nvGrpSpPr>
          <p:cNvPr id="219" name="Google Shape;219;p6"/>
          <p:cNvGrpSpPr/>
          <p:nvPr/>
        </p:nvGrpSpPr>
        <p:grpSpPr>
          <a:xfrm>
            <a:off x="914400" y="6003046"/>
            <a:ext cx="7315200" cy="643766"/>
            <a:chOff x="0" y="0"/>
            <a:chExt cx="9753600" cy="858355"/>
          </a:xfrm>
        </p:grpSpPr>
        <p:sp>
          <p:nvSpPr>
            <p:cNvPr id="220" name="Google Shape;220;p6"/>
            <p:cNvSpPr/>
            <p:nvPr/>
          </p:nvSpPr>
          <p:spPr>
            <a:xfrm>
              <a:off x="0" y="0"/>
              <a:ext cx="9753600" cy="858355"/>
            </a:xfrm>
            <a:custGeom>
              <a:rect b="b" l="l" r="r" t="t"/>
              <a:pathLst>
                <a:path extrusionOk="0" h="858355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858355"/>
                  </a:lnTo>
                  <a:lnTo>
                    <a:pt x="0" y="858355"/>
                  </a:lnTo>
                  <a:close/>
                </a:path>
              </a:pathLst>
            </a:custGeom>
            <a:blipFill rotWithShape="1">
              <a:blip r:embed="rId8">
                <a:alphaModFix amt="0"/>
              </a:blip>
              <a:stretch>
                <a:fillRect b="-171415" l="0" r="0" t="-171415"/>
              </a:stretch>
            </a:blipFill>
            <a:ln>
              <a:noFill/>
            </a:ln>
          </p:spPr>
        </p:sp>
        <p:sp>
          <p:nvSpPr>
            <p:cNvPr id="221" name="Google Shape;221;p6"/>
            <p:cNvSpPr txBox="1"/>
            <p:nvPr/>
          </p:nvSpPr>
          <p:spPr>
            <a:xfrm>
              <a:off x="0" y="0"/>
              <a:ext cx="9753600" cy="85835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3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091" u="none" cap="none" strike="noStrike">
                  <a:solidFill>
                    <a:srgbClr val="FFFFFF"/>
                  </a:solidFill>
                  <a:latin typeface="Noto Sans"/>
                  <a:ea typeface="Noto Sans"/>
                  <a:cs typeface="Noto Sans"/>
                  <a:sym typeface="Noto Sans"/>
                </a:rPr>
                <a:t>Built on neural networks called transformers, introduced in 2017 </a:t>
              </a:r>
              <a:endParaRPr/>
            </a:p>
          </p:txBody>
        </p:sp>
      </p:grpSp>
      <p:sp>
        <p:nvSpPr>
          <p:cNvPr id="222" name="Google Shape;222;p6"/>
          <p:cNvSpPr/>
          <p:nvPr/>
        </p:nvSpPr>
        <p:spPr>
          <a:xfrm>
            <a:off x="9144000" y="809625"/>
            <a:ext cx="9144000" cy="8126730"/>
          </a:xfrm>
          <a:custGeom>
            <a:rect b="b" l="l" r="r" t="t"/>
            <a:pathLst>
              <a:path extrusionOk="0" h="10835640" w="12192000">
                <a:moveTo>
                  <a:pt x="0" y="0"/>
                </a:moveTo>
                <a:lnTo>
                  <a:pt x="12192000" y="0"/>
                </a:lnTo>
                <a:lnTo>
                  <a:pt x="12192000" y="10835640"/>
                </a:lnTo>
                <a:lnTo>
                  <a:pt x="0" y="1083564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grpSp>
        <p:nvGrpSpPr>
          <p:cNvPr id="223" name="Google Shape;223;p6"/>
          <p:cNvGrpSpPr/>
          <p:nvPr/>
        </p:nvGrpSpPr>
        <p:grpSpPr>
          <a:xfrm>
            <a:off x="9715500" y="1819275"/>
            <a:ext cx="5778062" cy="795700"/>
            <a:chOff x="0" y="0"/>
            <a:chExt cx="7704083" cy="1060934"/>
          </a:xfrm>
        </p:grpSpPr>
        <p:sp>
          <p:nvSpPr>
            <p:cNvPr id="224" name="Google Shape;224;p6"/>
            <p:cNvSpPr/>
            <p:nvPr/>
          </p:nvSpPr>
          <p:spPr>
            <a:xfrm>
              <a:off x="0" y="0"/>
              <a:ext cx="7704079" cy="1060934"/>
            </a:xfrm>
            <a:custGeom>
              <a:rect b="b" l="l" r="r" t="t"/>
              <a:pathLst>
                <a:path extrusionOk="0" h="1060934" w="7704079">
                  <a:moveTo>
                    <a:pt x="0" y="0"/>
                  </a:moveTo>
                  <a:lnTo>
                    <a:pt x="7704079" y="0"/>
                  </a:lnTo>
                  <a:lnTo>
                    <a:pt x="7704079" y="1060934"/>
                  </a:lnTo>
                  <a:lnTo>
                    <a:pt x="0" y="1060934"/>
                  </a:lnTo>
                  <a:close/>
                </a:path>
              </a:pathLst>
            </a:custGeom>
            <a:blipFill rotWithShape="1">
              <a:blip r:embed="rId8">
                <a:alphaModFix amt="0"/>
              </a:blip>
              <a:stretch>
                <a:fillRect b="-56807" l="0" r="20266" t="-68824"/>
              </a:stretch>
            </a:blipFill>
            <a:ln>
              <a:noFill/>
            </a:ln>
          </p:spPr>
        </p:sp>
        <p:sp>
          <p:nvSpPr>
            <p:cNvPr id="225" name="Google Shape;225;p6"/>
            <p:cNvSpPr txBox="1"/>
            <p:nvPr/>
          </p:nvSpPr>
          <p:spPr>
            <a:xfrm>
              <a:off x="0" y="0"/>
              <a:ext cx="7704083" cy="106093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4050" u="none" cap="none" strike="noStrike">
                  <a:solidFill>
                    <a:srgbClr val="0F1B2C"/>
                  </a:solidFill>
                  <a:latin typeface="Noto Sans"/>
                  <a:ea typeface="Noto Sans"/>
                  <a:cs typeface="Noto Sans"/>
                  <a:sym typeface="Noto Sans"/>
                </a:rPr>
                <a:t>Key Components &amp;</a:t>
              </a:r>
              <a:endParaRPr/>
            </a:p>
          </p:txBody>
        </p:sp>
      </p:grpSp>
      <p:grpSp>
        <p:nvGrpSpPr>
          <p:cNvPr id="226" name="Google Shape;226;p6"/>
          <p:cNvGrpSpPr/>
          <p:nvPr/>
        </p:nvGrpSpPr>
        <p:grpSpPr>
          <a:xfrm>
            <a:off x="9715500" y="2410758"/>
            <a:ext cx="5038482" cy="795700"/>
            <a:chOff x="0" y="0"/>
            <a:chExt cx="6717977" cy="1060934"/>
          </a:xfrm>
        </p:grpSpPr>
        <p:sp>
          <p:nvSpPr>
            <p:cNvPr id="227" name="Google Shape;227;p6"/>
            <p:cNvSpPr/>
            <p:nvPr/>
          </p:nvSpPr>
          <p:spPr>
            <a:xfrm>
              <a:off x="0" y="0"/>
              <a:ext cx="6717977" cy="1060934"/>
            </a:xfrm>
            <a:custGeom>
              <a:rect b="b" l="l" r="r" t="t"/>
              <a:pathLst>
                <a:path extrusionOk="0" h="1060934" w="6717977">
                  <a:moveTo>
                    <a:pt x="0" y="0"/>
                  </a:moveTo>
                  <a:lnTo>
                    <a:pt x="6717977" y="0"/>
                  </a:lnTo>
                  <a:lnTo>
                    <a:pt x="6717977" y="1060934"/>
                  </a:lnTo>
                  <a:lnTo>
                    <a:pt x="0" y="1060934"/>
                  </a:lnTo>
                  <a:close/>
                </a:path>
              </a:pathLst>
            </a:custGeom>
            <a:blipFill rotWithShape="1">
              <a:blip r:embed="rId8">
                <a:alphaModFix amt="0"/>
              </a:blip>
              <a:stretch>
                <a:fillRect b="-40875" l="0" r="21476" t="-52893"/>
              </a:stretch>
            </a:blipFill>
            <a:ln>
              <a:noFill/>
            </a:ln>
          </p:spPr>
        </p:sp>
        <p:sp>
          <p:nvSpPr>
            <p:cNvPr id="228" name="Google Shape;228;p6"/>
            <p:cNvSpPr txBox="1"/>
            <p:nvPr/>
          </p:nvSpPr>
          <p:spPr>
            <a:xfrm>
              <a:off x="0" y="0"/>
              <a:ext cx="6717975" cy="106093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4050" u="none" cap="none" strike="noStrike">
                  <a:solidFill>
                    <a:srgbClr val="E55A46"/>
                  </a:solidFill>
                  <a:latin typeface="Noto Sans"/>
                  <a:ea typeface="Noto Sans"/>
                  <a:cs typeface="Noto Sans"/>
                  <a:sym typeface="Noto Sans"/>
                </a:rPr>
                <a:t>Training Process</a:t>
              </a:r>
              <a:endParaRPr/>
            </a:p>
          </p:txBody>
        </p:sp>
      </p:grpSp>
      <p:grpSp>
        <p:nvGrpSpPr>
          <p:cNvPr id="229" name="Google Shape;229;p6"/>
          <p:cNvGrpSpPr/>
          <p:nvPr/>
        </p:nvGrpSpPr>
        <p:grpSpPr>
          <a:xfrm>
            <a:off x="9715500" y="3211782"/>
            <a:ext cx="8001000" cy="428626"/>
            <a:chOff x="0" y="0"/>
            <a:chExt cx="10668000" cy="571501"/>
          </a:xfrm>
        </p:grpSpPr>
        <p:sp>
          <p:nvSpPr>
            <p:cNvPr id="230" name="Google Shape;230;p6"/>
            <p:cNvSpPr/>
            <p:nvPr/>
          </p:nvSpPr>
          <p:spPr>
            <a:xfrm>
              <a:off x="0" y="0"/>
              <a:ext cx="10668000" cy="571501"/>
            </a:xfrm>
            <a:custGeom>
              <a:rect b="b" l="l" r="r" t="t"/>
              <a:pathLst>
                <a:path extrusionOk="0" h="571501" w="10668000">
                  <a:moveTo>
                    <a:pt x="0" y="0"/>
                  </a:moveTo>
                  <a:lnTo>
                    <a:pt x="10668000" y="0"/>
                  </a:lnTo>
                  <a:lnTo>
                    <a:pt x="10668000" y="571501"/>
                  </a:lnTo>
                  <a:lnTo>
                    <a:pt x="0" y="571501"/>
                  </a:lnTo>
                  <a:close/>
                </a:path>
              </a:pathLst>
            </a:custGeom>
            <a:blipFill rotWithShape="1">
              <a:blip r:embed="rId8">
                <a:alphaModFix amt="0"/>
              </a:blip>
              <a:stretch>
                <a:fillRect b="-313742" l="0" r="0" t="-313742"/>
              </a:stretch>
            </a:blipFill>
            <a:ln>
              <a:noFill/>
            </a:ln>
          </p:spPr>
        </p:sp>
        <p:sp>
          <p:nvSpPr>
            <p:cNvPr id="231" name="Google Shape;231;p6"/>
            <p:cNvSpPr txBox="1"/>
            <p:nvPr/>
          </p:nvSpPr>
          <p:spPr>
            <a:xfrm>
              <a:off x="0" y="0"/>
              <a:ext cx="10668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3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091" u="none" cap="none" strike="noStrike">
                  <a:solidFill>
                    <a:srgbClr val="00AEEF"/>
                  </a:solidFill>
                  <a:latin typeface="Noto Sans"/>
                  <a:ea typeface="Noto Sans"/>
                  <a:cs typeface="Noto Sans"/>
                  <a:sym typeface="Noto Sans"/>
                </a:rPr>
                <a:t>Tokenization &amp; Embeddings</a:t>
              </a:r>
              <a:endParaRPr/>
            </a:p>
          </p:txBody>
        </p:sp>
      </p:grpSp>
      <p:grpSp>
        <p:nvGrpSpPr>
          <p:cNvPr id="232" name="Google Shape;232;p6"/>
          <p:cNvGrpSpPr/>
          <p:nvPr/>
        </p:nvGrpSpPr>
        <p:grpSpPr>
          <a:xfrm>
            <a:off x="9715500" y="3918556"/>
            <a:ext cx="8001000" cy="522418"/>
            <a:chOff x="0" y="-9525"/>
            <a:chExt cx="10668000" cy="696557"/>
          </a:xfrm>
        </p:grpSpPr>
        <p:sp>
          <p:nvSpPr>
            <p:cNvPr id="233" name="Google Shape;233;p6"/>
            <p:cNvSpPr/>
            <p:nvPr/>
          </p:nvSpPr>
          <p:spPr>
            <a:xfrm>
              <a:off x="0" y="0"/>
              <a:ext cx="10668000" cy="687027"/>
            </a:xfrm>
            <a:custGeom>
              <a:rect b="b" l="l" r="r" t="t"/>
              <a:pathLst>
                <a:path extrusionOk="0" h="687027" w="10668000">
                  <a:moveTo>
                    <a:pt x="0" y="0"/>
                  </a:moveTo>
                  <a:lnTo>
                    <a:pt x="10668000" y="0"/>
                  </a:lnTo>
                  <a:lnTo>
                    <a:pt x="10668000" y="687027"/>
                  </a:lnTo>
                  <a:lnTo>
                    <a:pt x="0" y="687027"/>
                  </a:lnTo>
                  <a:close/>
                </a:path>
              </a:pathLst>
            </a:custGeom>
            <a:blipFill rotWithShape="1">
              <a:blip r:embed="rId8">
                <a:alphaModFix amt="0"/>
              </a:blip>
              <a:stretch>
                <a:fillRect b="-252553" l="0" r="0" t="-252553"/>
              </a:stretch>
            </a:blipFill>
            <a:ln>
              <a:noFill/>
            </a:ln>
          </p:spPr>
        </p:sp>
        <p:sp>
          <p:nvSpPr>
            <p:cNvPr id="234" name="Google Shape;234;p6"/>
            <p:cNvSpPr txBox="1"/>
            <p:nvPr/>
          </p:nvSpPr>
          <p:spPr>
            <a:xfrm>
              <a:off x="0" y="-9525"/>
              <a:ext cx="10668000" cy="69655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5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674" u="none" cap="none" strike="noStrike">
                  <a:solidFill>
                    <a:srgbClr val="2D3748"/>
                  </a:solidFill>
                  <a:latin typeface="Noto Sans"/>
                  <a:ea typeface="Noto Sans"/>
                  <a:cs typeface="Noto Sans"/>
                  <a:sym typeface="Noto Sans"/>
                </a:rPr>
                <a:t>Text is broken into tokens (words/subwords) and mapped to numerical vectors called embeddings that capture semantic meaning. </a:t>
              </a:r>
              <a:endParaRPr/>
            </a:p>
          </p:txBody>
        </p:sp>
      </p:grpSp>
      <p:grpSp>
        <p:nvGrpSpPr>
          <p:cNvPr id="235" name="Google Shape;235;p6"/>
          <p:cNvGrpSpPr/>
          <p:nvPr/>
        </p:nvGrpSpPr>
        <p:grpSpPr>
          <a:xfrm>
            <a:off x="9715500" y="4897707"/>
            <a:ext cx="8001000" cy="428626"/>
            <a:chOff x="0" y="0"/>
            <a:chExt cx="10668000" cy="571501"/>
          </a:xfrm>
        </p:grpSpPr>
        <p:sp>
          <p:nvSpPr>
            <p:cNvPr id="236" name="Google Shape;236;p6"/>
            <p:cNvSpPr/>
            <p:nvPr/>
          </p:nvSpPr>
          <p:spPr>
            <a:xfrm>
              <a:off x="0" y="0"/>
              <a:ext cx="10668000" cy="571501"/>
            </a:xfrm>
            <a:custGeom>
              <a:rect b="b" l="l" r="r" t="t"/>
              <a:pathLst>
                <a:path extrusionOk="0" h="571501" w="10668000">
                  <a:moveTo>
                    <a:pt x="0" y="0"/>
                  </a:moveTo>
                  <a:lnTo>
                    <a:pt x="10668000" y="0"/>
                  </a:lnTo>
                  <a:lnTo>
                    <a:pt x="10668000" y="571501"/>
                  </a:lnTo>
                  <a:lnTo>
                    <a:pt x="0" y="571501"/>
                  </a:lnTo>
                  <a:close/>
                </a:path>
              </a:pathLst>
            </a:custGeom>
            <a:blipFill rotWithShape="1">
              <a:blip r:embed="rId8">
                <a:alphaModFix amt="0"/>
              </a:blip>
              <a:stretch>
                <a:fillRect b="-313742" l="0" r="0" t="-313742"/>
              </a:stretch>
            </a:blipFill>
            <a:ln>
              <a:noFill/>
            </a:ln>
          </p:spPr>
        </p:sp>
        <p:sp>
          <p:nvSpPr>
            <p:cNvPr id="237" name="Google Shape;237;p6"/>
            <p:cNvSpPr txBox="1"/>
            <p:nvPr/>
          </p:nvSpPr>
          <p:spPr>
            <a:xfrm>
              <a:off x="0" y="0"/>
              <a:ext cx="10668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3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091" u="none" cap="none" strike="noStrike">
                  <a:solidFill>
                    <a:srgbClr val="00AEEF"/>
                  </a:solidFill>
                  <a:latin typeface="Noto Sans"/>
                  <a:ea typeface="Noto Sans"/>
                  <a:cs typeface="Noto Sans"/>
                  <a:sym typeface="Noto Sans"/>
                </a:rPr>
                <a:t>Self-Attention Mechanism</a:t>
              </a:r>
              <a:endParaRPr/>
            </a:p>
          </p:txBody>
        </p:sp>
      </p:grpSp>
      <p:grpSp>
        <p:nvGrpSpPr>
          <p:cNvPr id="238" name="Google Shape;238;p6"/>
          <p:cNvGrpSpPr/>
          <p:nvPr/>
        </p:nvGrpSpPr>
        <p:grpSpPr>
          <a:xfrm>
            <a:off x="9715500" y="5470903"/>
            <a:ext cx="8001000" cy="780050"/>
            <a:chOff x="0" y="-9525"/>
            <a:chExt cx="10668000" cy="1040067"/>
          </a:xfrm>
        </p:grpSpPr>
        <p:sp>
          <p:nvSpPr>
            <p:cNvPr id="239" name="Google Shape;239;p6"/>
            <p:cNvSpPr/>
            <p:nvPr/>
          </p:nvSpPr>
          <p:spPr>
            <a:xfrm>
              <a:off x="0" y="0"/>
              <a:ext cx="10668000" cy="1030539"/>
            </a:xfrm>
            <a:custGeom>
              <a:rect b="b" l="l" r="r" t="t"/>
              <a:pathLst>
                <a:path extrusionOk="0" h="1030539" w="10668000">
                  <a:moveTo>
                    <a:pt x="0" y="0"/>
                  </a:moveTo>
                  <a:lnTo>
                    <a:pt x="10668000" y="0"/>
                  </a:lnTo>
                  <a:lnTo>
                    <a:pt x="10668000" y="1030539"/>
                  </a:lnTo>
                  <a:lnTo>
                    <a:pt x="0" y="1030539"/>
                  </a:lnTo>
                  <a:close/>
                </a:path>
              </a:pathLst>
            </a:custGeom>
            <a:blipFill rotWithShape="1">
              <a:blip r:embed="rId8">
                <a:alphaModFix amt="0"/>
              </a:blip>
              <a:stretch>
                <a:fillRect b="-151710" l="0" r="0" t="-151710"/>
              </a:stretch>
            </a:blipFill>
            <a:ln>
              <a:noFill/>
            </a:ln>
          </p:spPr>
        </p:sp>
        <p:sp>
          <p:nvSpPr>
            <p:cNvPr id="240" name="Google Shape;240;p6"/>
            <p:cNvSpPr txBox="1"/>
            <p:nvPr/>
          </p:nvSpPr>
          <p:spPr>
            <a:xfrm>
              <a:off x="0" y="-9525"/>
              <a:ext cx="10668000" cy="104006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5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674" u="none" cap="none" strike="noStrike">
                  <a:solidFill>
                    <a:srgbClr val="2D3748"/>
                  </a:solidFill>
                  <a:latin typeface="Noto Sans"/>
                  <a:ea typeface="Noto Sans"/>
                  <a:cs typeface="Noto Sans"/>
                  <a:sym typeface="Noto Sans"/>
                </a:rPr>
                <a:t>Each token "pays attention" to other tokens to understand context. The model calculates relationships between all tokens, determining which words matter most to each other. </a:t>
              </a:r>
              <a:endParaRPr/>
            </a:p>
          </p:txBody>
        </p:sp>
      </p:grpSp>
      <p:grpSp>
        <p:nvGrpSpPr>
          <p:cNvPr id="241" name="Google Shape;241;p6"/>
          <p:cNvGrpSpPr/>
          <p:nvPr/>
        </p:nvGrpSpPr>
        <p:grpSpPr>
          <a:xfrm>
            <a:off x="9715500" y="6764607"/>
            <a:ext cx="8001000" cy="428626"/>
            <a:chOff x="0" y="0"/>
            <a:chExt cx="10668000" cy="571501"/>
          </a:xfrm>
        </p:grpSpPr>
        <p:sp>
          <p:nvSpPr>
            <p:cNvPr id="242" name="Google Shape;242;p6"/>
            <p:cNvSpPr/>
            <p:nvPr/>
          </p:nvSpPr>
          <p:spPr>
            <a:xfrm>
              <a:off x="0" y="0"/>
              <a:ext cx="10668000" cy="571501"/>
            </a:xfrm>
            <a:custGeom>
              <a:rect b="b" l="l" r="r" t="t"/>
              <a:pathLst>
                <a:path extrusionOk="0" h="571501" w="10668000">
                  <a:moveTo>
                    <a:pt x="0" y="0"/>
                  </a:moveTo>
                  <a:lnTo>
                    <a:pt x="10668000" y="0"/>
                  </a:lnTo>
                  <a:lnTo>
                    <a:pt x="10668000" y="571501"/>
                  </a:lnTo>
                  <a:lnTo>
                    <a:pt x="0" y="571501"/>
                  </a:lnTo>
                  <a:close/>
                </a:path>
              </a:pathLst>
            </a:custGeom>
            <a:blipFill rotWithShape="1">
              <a:blip r:embed="rId8">
                <a:alphaModFix amt="0"/>
              </a:blip>
              <a:stretch>
                <a:fillRect b="-313742" l="0" r="0" t="-313742"/>
              </a:stretch>
            </a:blipFill>
            <a:ln>
              <a:noFill/>
            </a:ln>
          </p:spPr>
        </p:sp>
        <p:sp>
          <p:nvSpPr>
            <p:cNvPr id="243" name="Google Shape;243;p6"/>
            <p:cNvSpPr txBox="1"/>
            <p:nvPr/>
          </p:nvSpPr>
          <p:spPr>
            <a:xfrm>
              <a:off x="0" y="0"/>
              <a:ext cx="10668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3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091" u="none" cap="none" strike="noStrike">
                  <a:solidFill>
                    <a:srgbClr val="00AEEF"/>
                  </a:solidFill>
                  <a:latin typeface="Noto Sans"/>
                  <a:ea typeface="Noto Sans"/>
                  <a:cs typeface="Noto Sans"/>
                  <a:sym typeface="Noto Sans"/>
                </a:rPr>
                <a:t>Parameters &amp; Training</a:t>
              </a:r>
              <a:endParaRPr/>
            </a:p>
          </p:txBody>
        </p:sp>
      </p:grpSp>
      <p:grpSp>
        <p:nvGrpSpPr>
          <p:cNvPr id="244" name="Google Shape;244;p6"/>
          <p:cNvGrpSpPr/>
          <p:nvPr/>
        </p:nvGrpSpPr>
        <p:grpSpPr>
          <a:xfrm>
            <a:off x="9715500" y="7528303"/>
            <a:ext cx="8001000" cy="780050"/>
            <a:chOff x="0" y="-9525"/>
            <a:chExt cx="10668000" cy="1040067"/>
          </a:xfrm>
        </p:grpSpPr>
        <p:sp>
          <p:nvSpPr>
            <p:cNvPr id="245" name="Google Shape;245;p6"/>
            <p:cNvSpPr/>
            <p:nvPr/>
          </p:nvSpPr>
          <p:spPr>
            <a:xfrm>
              <a:off x="0" y="0"/>
              <a:ext cx="10668000" cy="1030539"/>
            </a:xfrm>
            <a:custGeom>
              <a:rect b="b" l="l" r="r" t="t"/>
              <a:pathLst>
                <a:path extrusionOk="0" h="1030539" w="10668000">
                  <a:moveTo>
                    <a:pt x="0" y="0"/>
                  </a:moveTo>
                  <a:lnTo>
                    <a:pt x="10668000" y="0"/>
                  </a:lnTo>
                  <a:lnTo>
                    <a:pt x="10668000" y="1030539"/>
                  </a:lnTo>
                  <a:lnTo>
                    <a:pt x="0" y="1030539"/>
                  </a:lnTo>
                  <a:close/>
                </a:path>
              </a:pathLst>
            </a:custGeom>
            <a:blipFill rotWithShape="1">
              <a:blip r:embed="rId8">
                <a:alphaModFix amt="0"/>
              </a:blip>
              <a:stretch>
                <a:fillRect b="-151710" l="0" r="0" t="-151710"/>
              </a:stretch>
            </a:blipFill>
            <a:ln>
              <a:noFill/>
            </a:ln>
          </p:spPr>
        </p:sp>
        <p:sp>
          <p:nvSpPr>
            <p:cNvPr id="246" name="Google Shape;246;p6"/>
            <p:cNvSpPr txBox="1"/>
            <p:nvPr/>
          </p:nvSpPr>
          <p:spPr>
            <a:xfrm>
              <a:off x="0" y="-9525"/>
              <a:ext cx="10668000" cy="104006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5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674" u="none" cap="none" strike="noStrike">
                  <a:solidFill>
                    <a:srgbClr val="2D3748"/>
                  </a:solidFill>
                  <a:latin typeface="Noto Sans"/>
                  <a:ea typeface="Noto Sans"/>
                  <a:cs typeface="Noto Sans"/>
                  <a:sym typeface="Noto Sans"/>
                </a:rPr>
                <a:t>LLMs contain billions of parameters (weights) that are optimized through training on massive datasets. The model learns patterns by predicting the next word millions of times. </a:t>
              </a:r>
              <a:endParaRPr/>
            </a:p>
          </p:txBody>
        </p:sp>
      </p:grpSp>
      <p:grpSp>
        <p:nvGrpSpPr>
          <p:cNvPr id="247" name="Google Shape;247;p6"/>
          <p:cNvGrpSpPr/>
          <p:nvPr/>
        </p:nvGrpSpPr>
        <p:grpSpPr>
          <a:xfrm>
            <a:off x="13902080" y="9352153"/>
            <a:ext cx="4385920" cy="934847"/>
            <a:chOff x="0" y="0"/>
            <a:chExt cx="5847893" cy="1246463"/>
          </a:xfrm>
        </p:grpSpPr>
        <p:sp>
          <p:nvSpPr>
            <p:cNvPr id="248" name="Google Shape;248;p6"/>
            <p:cNvSpPr/>
            <p:nvPr/>
          </p:nvSpPr>
          <p:spPr>
            <a:xfrm>
              <a:off x="0" y="0"/>
              <a:ext cx="5847893" cy="1246463"/>
            </a:xfrm>
            <a:custGeom>
              <a:rect b="b" l="l" r="r" t="t"/>
              <a:pathLst>
                <a:path extrusionOk="0" h="1250575" w="5867187">
                  <a:moveTo>
                    <a:pt x="0" y="0"/>
                  </a:moveTo>
                  <a:lnTo>
                    <a:pt x="5867187" y="0"/>
                  </a:lnTo>
                  <a:lnTo>
                    <a:pt x="5867187" y="1250575"/>
                  </a:lnTo>
                  <a:lnTo>
                    <a:pt x="0" y="125057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descr="preencoded.png" id="249" name="Google Shape;249;p6"/>
            <p:cNvSpPr/>
            <p:nvPr/>
          </p:nvSpPr>
          <p:spPr>
            <a:xfrm>
              <a:off x="304849" y="194606"/>
              <a:ext cx="5238169" cy="857250"/>
            </a:xfrm>
            <a:custGeom>
              <a:rect b="b" l="l" r="r" t="t"/>
              <a:pathLst>
                <a:path extrusionOk="0" h="857250" w="5238169">
                  <a:moveTo>
                    <a:pt x="0" y="0"/>
                  </a:moveTo>
                  <a:lnTo>
                    <a:pt x="5238169" y="0"/>
                  </a:lnTo>
                  <a:lnTo>
                    <a:pt x="5238169" y="857250"/>
                  </a:lnTo>
                  <a:lnTo>
                    <a:pt x="0" y="85725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9">
                <a:alphaModFix/>
              </a:blip>
              <a:stretch>
                <a:fillRect b="-2834" l="0" r="0" t="-2835"/>
              </a:stretch>
            </a:blipFill>
            <a:ln>
              <a:noFill/>
            </a:ln>
          </p:spPr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4" name="Google Shape;254;g3fbf35cb889_9_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9" name="Google Shape;259;g3fbf35cb889_9_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4" name="Google Shape;264;g3fbf35cb889_9_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36275" y="-211700"/>
            <a:ext cx="1828800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9" name="Google Shape;269;g3fbf35cb889_9_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1775" y="-236625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g3fbf35cb889_9_28"/>
          <p:cNvSpPr/>
          <p:nvPr/>
        </p:nvSpPr>
        <p:spPr>
          <a:xfrm>
            <a:off x="3986783" y="3829483"/>
            <a:ext cx="855100" cy="977750"/>
          </a:xfrm>
          <a:custGeom>
            <a:rect b="b" l="l" r="r" t="t"/>
            <a:pathLst>
              <a:path extrusionOk="0" h="39110" w="34204">
                <a:moveTo>
                  <a:pt x="31324" y="10716"/>
                </a:moveTo>
                <a:cubicBezTo>
                  <a:pt x="32222" y="8921"/>
                  <a:pt x="35121" y="6759"/>
                  <a:pt x="33815" y="5236"/>
                </a:cubicBezTo>
                <a:cubicBezTo>
                  <a:pt x="27323" y="-2338"/>
                  <a:pt x="9633" y="-1451"/>
                  <a:pt x="3925" y="6730"/>
                </a:cubicBezTo>
                <a:cubicBezTo>
                  <a:pt x="-189" y="12626"/>
                  <a:pt x="-436" y="13543"/>
                  <a:pt x="438" y="20679"/>
                </a:cubicBezTo>
                <a:cubicBezTo>
                  <a:pt x="1186" y="26785"/>
                  <a:pt x="2766" y="26597"/>
                  <a:pt x="6914" y="31140"/>
                </a:cubicBezTo>
                <a:cubicBezTo>
                  <a:pt x="8220" y="32570"/>
                  <a:pt x="12762" y="32397"/>
                  <a:pt x="11896" y="34129"/>
                </a:cubicBezTo>
                <a:cubicBezTo>
                  <a:pt x="10398" y="37126"/>
                  <a:pt x="9655" y="36620"/>
                  <a:pt x="7413" y="39111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5" name="Google Shape;275;g3fbf35cb889_9_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0" name="Google Shape;280;g3fbf35cb889_9_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5" name="Google Shape;285;g3fbf35cb889_9_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preencoded.png" id="290" name="Google Shape;290;p10"/>
          <p:cNvSpPr/>
          <p:nvPr/>
        </p:nvSpPr>
        <p:spPr>
          <a:xfrm>
            <a:off x="0" y="0"/>
            <a:ext cx="18288000" cy="11315700"/>
          </a:xfrm>
          <a:custGeom>
            <a:rect b="b" l="l" r="r" t="t"/>
            <a:pathLst>
              <a:path extrusionOk="0" h="15087600" w="24384000">
                <a:moveTo>
                  <a:pt x="0" y="0"/>
                </a:moveTo>
                <a:lnTo>
                  <a:pt x="24384000" y="0"/>
                </a:lnTo>
                <a:lnTo>
                  <a:pt x="24384000" y="15087600"/>
                </a:lnTo>
                <a:lnTo>
                  <a:pt x="0" y="15087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4999" r="-4999" t="0"/>
            </a:stretch>
          </a:blipFill>
          <a:ln>
            <a:noFill/>
          </a:ln>
        </p:spPr>
      </p:sp>
      <p:sp>
        <p:nvSpPr>
          <p:cNvPr descr="preencoded.png" id="291" name="Google Shape;291;p10"/>
          <p:cNvSpPr/>
          <p:nvPr/>
        </p:nvSpPr>
        <p:spPr>
          <a:xfrm>
            <a:off x="4643438" y="0"/>
            <a:ext cx="13644562" cy="7615238"/>
          </a:xfrm>
          <a:custGeom>
            <a:rect b="b" l="l" r="r" t="t"/>
            <a:pathLst>
              <a:path extrusionOk="0" h="10153650" w="18192750">
                <a:moveTo>
                  <a:pt x="0" y="0"/>
                </a:moveTo>
                <a:lnTo>
                  <a:pt x="18192750" y="0"/>
                </a:lnTo>
                <a:lnTo>
                  <a:pt x="18192750" y="10153650"/>
                </a:lnTo>
                <a:lnTo>
                  <a:pt x="0" y="101536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40000"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92" name="Google Shape;292;p10"/>
          <p:cNvGrpSpPr/>
          <p:nvPr/>
        </p:nvGrpSpPr>
        <p:grpSpPr>
          <a:xfrm>
            <a:off x="1508646" y="3298984"/>
            <a:ext cx="14977947" cy="2521596"/>
            <a:chOff x="0" y="0"/>
            <a:chExt cx="19970595" cy="3362128"/>
          </a:xfrm>
        </p:grpSpPr>
        <p:sp>
          <p:nvSpPr>
            <p:cNvPr id="293" name="Google Shape;293;p10"/>
            <p:cNvSpPr/>
            <p:nvPr/>
          </p:nvSpPr>
          <p:spPr>
            <a:xfrm>
              <a:off x="0" y="0"/>
              <a:ext cx="19970587" cy="3362128"/>
            </a:xfrm>
            <a:custGeom>
              <a:rect b="b" l="l" r="r" t="t"/>
              <a:pathLst>
                <a:path extrusionOk="0" h="3362128" w="19970587">
                  <a:moveTo>
                    <a:pt x="0" y="0"/>
                  </a:moveTo>
                  <a:lnTo>
                    <a:pt x="19970587" y="0"/>
                  </a:lnTo>
                  <a:lnTo>
                    <a:pt x="19970587" y="3362128"/>
                  </a:lnTo>
                  <a:lnTo>
                    <a:pt x="0" y="3362128"/>
                  </a:lnTo>
                  <a:close/>
                </a:path>
              </a:pathLst>
            </a:custGeom>
            <a:blipFill rotWithShape="1">
              <a:blip r:embed="rId5">
                <a:alphaModFix amt="0"/>
              </a:blip>
              <a:stretch>
                <a:fillRect b="641" l="0" r="52117" t="-11478"/>
              </a:stretch>
            </a:blipFill>
            <a:ln>
              <a:noFill/>
            </a:ln>
          </p:spPr>
        </p:sp>
        <p:sp>
          <p:nvSpPr>
            <p:cNvPr id="294" name="Google Shape;294;p10"/>
            <p:cNvSpPr txBox="1"/>
            <p:nvPr/>
          </p:nvSpPr>
          <p:spPr>
            <a:xfrm>
              <a:off x="0" y="0"/>
              <a:ext cx="19970595" cy="33621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7200" u="none" cap="none" strike="noStrike">
                  <a:solidFill>
                    <a:srgbClr val="00AEEF"/>
                  </a:solidFill>
                  <a:latin typeface="Noto Sans"/>
                  <a:ea typeface="Noto Sans"/>
                  <a:cs typeface="Noto Sans"/>
                  <a:sym typeface="Noto Sans"/>
                </a:rPr>
                <a:t>Understanding APIs</a:t>
              </a:r>
              <a:endParaRPr/>
            </a:p>
          </p:txBody>
        </p:sp>
      </p:grpSp>
      <p:grpSp>
        <p:nvGrpSpPr>
          <p:cNvPr id="295" name="Google Shape;295;p10"/>
          <p:cNvGrpSpPr/>
          <p:nvPr/>
        </p:nvGrpSpPr>
        <p:grpSpPr>
          <a:xfrm>
            <a:off x="13902080" y="9352153"/>
            <a:ext cx="4385920" cy="934847"/>
            <a:chOff x="0" y="0"/>
            <a:chExt cx="5847893" cy="1246463"/>
          </a:xfrm>
        </p:grpSpPr>
        <p:sp>
          <p:nvSpPr>
            <p:cNvPr id="296" name="Google Shape;296;p10"/>
            <p:cNvSpPr/>
            <p:nvPr/>
          </p:nvSpPr>
          <p:spPr>
            <a:xfrm>
              <a:off x="0" y="0"/>
              <a:ext cx="5847893" cy="1246463"/>
            </a:xfrm>
            <a:custGeom>
              <a:rect b="b" l="l" r="r" t="t"/>
              <a:pathLst>
                <a:path extrusionOk="0" h="1250575" w="5867187">
                  <a:moveTo>
                    <a:pt x="0" y="0"/>
                  </a:moveTo>
                  <a:lnTo>
                    <a:pt x="5867187" y="0"/>
                  </a:lnTo>
                  <a:lnTo>
                    <a:pt x="5867187" y="1250575"/>
                  </a:lnTo>
                  <a:lnTo>
                    <a:pt x="0" y="125057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descr="preencoded.png" id="297" name="Google Shape;297;p10"/>
            <p:cNvSpPr/>
            <p:nvPr/>
          </p:nvSpPr>
          <p:spPr>
            <a:xfrm>
              <a:off x="304849" y="194606"/>
              <a:ext cx="5238169" cy="857250"/>
            </a:xfrm>
            <a:custGeom>
              <a:rect b="b" l="l" r="r" t="t"/>
              <a:pathLst>
                <a:path extrusionOk="0" h="857250" w="5238169">
                  <a:moveTo>
                    <a:pt x="0" y="0"/>
                  </a:moveTo>
                  <a:lnTo>
                    <a:pt x="5238169" y="0"/>
                  </a:lnTo>
                  <a:lnTo>
                    <a:pt x="5238169" y="857250"/>
                  </a:lnTo>
                  <a:lnTo>
                    <a:pt x="0" y="85725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6">
                <a:alphaModFix/>
              </a:blip>
              <a:stretch>
                <a:fillRect b="-2834" l="0" r="0" t="-2835"/>
              </a:stretch>
            </a:blipFill>
            <a:ln>
              <a:noFill/>
            </a:ln>
          </p:spPr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preencoded.png" id="302" name="Google Shape;302;p11"/>
          <p:cNvSpPr/>
          <p:nvPr/>
        </p:nvSpPr>
        <p:spPr>
          <a:xfrm>
            <a:off x="10681954" y="-1479423"/>
            <a:ext cx="3700462" cy="2528888"/>
          </a:xfrm>
          <a:custGeom>
            <a:rect b="b" l="l" r="r" t="t"/>
            <a:pathLst>
              <a:path extrusionOk="0" h="3371850" w="4933950">
                <a:moveTo>
                  <a:pt x="0" y="0"/>
                </a:moveTo>
                <a:lnTo>
                  <a:pt x="4933950" y="0"/>
                </a:lnTo>
                <a:lnTo>
                  <a:pt x="4933950" y="3371850"/>
                </a:lnTo>
                <a:lnTo>
                  <a:pt x="0" y="33718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60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descr="preencoded.png" id="303" name="Google Shape;303;p11"/>
          <p:cNvSpPr/>
          <p:nvPr/>
        </p:nvSpPr>
        <p:spPr>
          <a:xfrm>
            <a:off x="-190833" y="7704534"/>
            <a:ext cx="4743450" cy="2814638"/>
          </a:xfrm>
          <a:custGeom>
            <a:rect b="b" l="l" r="r" t="t"/>
            <a:pathLst>
              <a:path extrusionOk="0" h="3752850" w="6324600">
                <a:moveTo>
                  <a:pt x="0" y="0"/>
                </a:moveTo>
                <a:lnTo>
                  <a:pt x="6324600" y="0"/>
                </a:lnTo>
                <a:lnTo>
                  <a:pt x="6324600" y="3752850"/>
                </a:lnTo>
                <a:lnTo>
                  <a:pt x="0" y="37528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253" l="0" r="0" t="-253"/>
            </a:stretch>
          </a:blipFill>
          <a:ln>
            <a:noFill/>
          </a:ln>
        </p:spPr>
      </p:sp>
      <p:sp>
        <p:nvSpPr>
          <p:cNvPr descr="preencoded.png" id="304" name="Google Shape;304;p11"/>
          <p:cNvSpPr/>
          <p:nvPr/>
        </p:nvSpPr>
        <p:spPr>
          <a:xfrm>
            <a:off x="-190833" y="6661547"/>
            <a:ext cx="2443162" cy="3357562"/>
          </a:xfrm>
          <a:custGeom>
            <a:rect b="b" l="l" r="r" t="t"/>
            <a:pathLst>
              <a:path extrusionOk="0" h="4476750" w="3257550">
                <a:moveTo>
                  <a:pt x="0" y="0"/>
                </a:moveTo>
                <a:lnTo>
                  <a:pt x="3257550" y="0"/>
                </a:lnTo>
                <a:lnTo>
                  <a:pt x="3257550" y="4476750"/>
                </a:lnTo>
                <a:lnTo>
                  <a:pt x="0" y="44767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212" l="0" r="0" t="-212"/>
            </a:stretch>
          </a:blipFill>
          <a:ln>
            <a:noFill/>
          </a:ln>
        </p:spPr>
      </p:sp>
      <p:grpSp>
        <p:nvGrpSpPr>
          <p:cNvPr id="305" name="Google Shape;305;p11"/>
          <p:cNvGrpSpPr/>
          <p:nvPr/>
        </p:nvGrpSpPr>
        <p:grpSpPr>
          <a:xfrm>
            <a:off x="290084" y="94259"/>
            <a:ext cx="1818084" cy="946547"/>
            <a:chOff x="0" y="-9525"/>
            <a:chExt cx="2424112" cy="1262064"/>
          </a:xfrm>
        </p:grpSpPr>
        <p:sp>
          <p:nvSpPr>
            <p:cNvPr id="306" name="Google Shape;306;p11"/>
            <p:cNvSpPr/>
            <p:nvPr/>
          </p:nvSpPr>
          <p:spPr>
            <a:xfrm>
              <a:off x="0" y="0"/>
              <a:ext cx="2424112" cy="1252539"/>
            </a:xfrm>
            <a:custGeom>
              <a:rect b="b" l="l" r="r" t="t"/>
              <a:pathLst>
                <a:path extrusionOk="0" h="1252539" w="2424112">
                  <a:moveTo>
                    <a:pt x="0" y="0"/>
                  </a:moveTo>
                  <a:lnTo>
                    <a:pt x="2424112" y="0"/>
                  </a:lnTo>
                  <a:lnTo>
                    <a:pt x="2424112" y="1252539"/>
                  </a:lnTo>
                  <a:lnTo>
                    <a:pt x="0" y="1252539"/>
                  </a:lnTo>
                  <a:close/>
                </a:path>
              </a:pathLst>
            </a:custGeom>
            <a:blipFill rotWithShape="1">
              <a:blip r:embed="rId6">
                <a:alphaModFix amt="0"/>
              </a:blip>
              <a:stretch>
                <a:fillRect b="0" l="-16294" r="-16294" t="0"/>
              </a:stretch>
            </a:blipFill>
            <a:ln>
              <a:noFill/>
            </a:ln>
          </p:spPr>
        </p:sp>
        <p:sp>
          <p:nvSpPr>
            <p:cNvPr id="307" name="Google Shape;307;p11"/>
            <p:cNvSpPr txBox="1"/>
            <p:nvPr/>
          </p:nvSpPr>
          <p:spPr>
            <a:xfrm>
              <a:off x="0" y="-9525"/>
              <a:ext cx="2424112" cy="12620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8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6300" u="none" cap="none" strike="noStrike">
                  <a:solidFill>
                    <a:srgbClr val="0F1B2C"/>
                  </a:solidFill>
                  <a:latin typeface="Roboto"/>
                  <a:ea typeface="Roboto"/>
                  <a:cs typeface="Roboto"/>
                  <a:sym typeface="Roboto"/>
                </a:rPr>
                <a:t>How </a:t>
              </a:r>
              <a:endParaRPr/>
            </a:p>
          </p:txBody>
        </p:sp>
      </p:grpSp>
      <p:grpSp>
        <p:nvGrpSpPr>
          <p:cNvPr id="308" name="Google Shape;308;p11"/>
          <p:cNvGrpSpPr/>
          <p:nvPr/>
        </p:nvGrpSpPr>
        <p:grpSpPr>
          <a:xfrm>
            <a:off x="2157723" y="94250"/>
            <a:ext cx="5061600" cy="946574"/>
            <a:chOff x="-15" y="-9537"/>
            <a:chExt cx="6748800" cy="1262100"/>
          </a:xfrm>
        </p:grpSpPr>
        <p:sp>
          <p:nvSpPr>
            <p:cNvPr id="309" name="Google Shape;309;p11"/>
            <p:cNvSpPr/>
            <p:nvPr/>
          </p:nvSpPr>
          <p:spPr>
            <a:xfrm>
              <a:off x="0" y="0"/>
              <a:ext cx="5286376" cy="1252539"/>
            </a:xfrm>
            <a:custGeom>
              <a:rect b="b" l="l" r="r" t="t"/>
              <a:pathLst>
                <a:path extrusionOk="0" h="1252539" w="5286376">
                  <a:moveTo>
                    <a:pt x="0" y="0"/>
                  </a:moveTo>
                  <a:lnTo>
                    <a:pt x="5286376" y="0"/>
                  </a:lnTo>
                  <a:lnTo>
                    <a:pt x="5286376" y="1252539"/>
                  </a:lnTo>
                  <a:lnTo>
                    <a:pt x="0" y="1252539"/>
                  </a:lnTo>
                  <a:close/>
                </a:path>
              </a:pathLst>
            </a:custGeom>
            <a:blipFill rotWithShape="1">
              <a:blip r:embed="rId6">
                <a:alphaModFix amt="0"/>
              </a:blip>
              <a:stretch>
                <a:fillRect b="-32237" l="0" r="0" t="-32237"/>
              </a:stretch>
            </a:blipFill>
            <a:ln>
              <a:noFill/>
            </a:ln>
          </p:spPr>
        </p:sp>
        <p:sp>
          <p:nvSpPr>
            <p:cNvPr id="310" name="Google Shape;310;p11"/>
            <p:cNvSpPr txBox="1"/>
            <p:nvPr/>
          </p:nvSpPr>
          <p:spPr>
            <a:xfrm>
              <a:off x="-15" y="-9537"/>
              <a:ext cx="6748800" cy="126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8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6300" u="none" cap="none" strike="noStrike">
                  <a:solidFill>
                    <a:srgbClr val="00AEEF"/>
                  </a:solidFill>
                  <a:latin typeface="Roboto"/>
                  <a:ea typeface="Roboto"/>
                  <a:cs typeface="Roboto"/>
                  <a:sym typeface="Roboto"/>
                </a:rPr>
                <a:t>APIs Work:</a:t>
              </a:r>
              <a:endParaRPr/>
            </a:p>
          </p:txBody>
        </p:sp>
      </p:grpSp>
      <p:grpSp>
        <p:nvGrpSpPr>
          <p:cNvPr id="311" name="Google Shape;311;p11"/>
          <p:cNvGrpSpPr/>
          <p:nvPr/>
        </p:nvGrpSpPr>
        <p:grpSpPr>
          <a:xfrm>
            <a:off x="6224008" y="-43165"/>
            <a:ext cx="8309467" cy="1221395"/>
            <a:chOff x="0" y="-9525"/>
            <a:chExt cx="11079290" cy="1628528"/>
          </a:xfrm>
        </p:grpSpPr>
        <p:sp>
          <p:nvSpPr>
            <p:cNvPr id="312" name="Google Shape;312;p11"/>
            <p:cNvSpPr/>
            <p:nvPr/>
          </p:nvSpPr>
          <p:spPr>
            <a:xfrm>
              <a:off x="0" y="0"/>
              <a:ext cx="11079289" cy="1619003"/>
            </a:xfrm>
            <a:custGeom>
              <a:rect b="b" l="l" r="r" t="t"/>
              <a:pathLst>
                <a:path extrusionOk="0" h="1619003" w="11079289">
                  <a:moveTo>
                    <a:pt x="0" y="0"/>
                  </a:moveTo>
                  <a:lnTo>
                    <a:pt x="11079289" y="0"/>
                  </a:lnTo>
                  <a:lnTo>
                    <a:pt x="11079289" y="1619003"/>
                  </a:lnTo>
                  <a:lnTo>
                    <a:pt x="0" y="1619003"/>
                  </a:lnTo>
                  <a:close/>
                </a:path>
              </a:pathLst>
            </a:custGeom>
            <a:blipFill rotWithShape="1">
              <a:blip r:embed="rId6">
                <a:alphaModFix amt="0"/>
              </a:blip>
              <a:stretch>
                <a:fillRect b="-66673" l="0" r="4013" t="-89310"/>
              </a:stretch>
            </a:blipFill>
            <a:ln>
              <a:noFill/>
            </a:ln>
          </p:spPr>
        </p:sp>
        <p:sp>
          <p:nvSpPr>
            <p:cNvPr id="313" name="Google Shape;313;p11"/>
            <p:cNvSpPr txBox="1"/>
            <p:nvPr/>
          </p:nvSpPr>
          <p:spPr>
            <a:xfrm>
              <a:off x="0" y="-9525"/>
              <a:ext cx="11079290" cy="16285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8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6300" u="none" cap="none" strike="noStrike">
                  <a:solidFill>
                    <a:srgbClr val="0F1B2C"/>
                  </a:solidFill>
                  <a:latin typeface="Roboto"/>
                  <a:ea typeface="Roboto"/>
                  <a:cs typeface="Roboto"/>
                  <a:sym typeface="Roboto"/>
                </a:rPr>
                <a:t> Technical Architecture</a:t>
              </a:r>
              <a:endParaRPr/>
            </a:p>
          </p:txBody>
        </p:sp>
      </p:grpSp>
      <p:sp>
        <p:nvSpPr>
          <p:cNvPr id="314" name="Google Shape;314;p11"/>
          <p:cNvSpPr/>
          <p:nvPr/>
        </p:nvSpPr>
        <p:spPr>
          <a:xfrm>
            <a:off x="441375" y="1503559"/>
            <a:ext cx="8393248" cy="2039982"/>
          </a:xfrm>
          <a:custGeom>
            <a:rect b="b" l="l" r="r" t="t"/>
            <a:pathLst>
              <a:path extrusionOk="0" h="2759669" w="11354308">
                <a:moveTo>
                  <a:pt x="0" y="0"/>
                </a:moveTo>
                <a:lnTo>
                  <a:pt x="11354308" y="0"/>
                </a:lnTo>
                <a:lnTo>
                  <a:pt x="11354308" y="2759669"/>
                </a:lnTo>
                <a:lnTo>
                  <a:pt x="0" y="2759669"/>
                </a:lnTo>
                <a:close/>
              </a:path>
            </a:pathLst>
          </a:custGeom>
          <a:solidFill>
            <a:srgbClr val="FFFFFF"/>
          </a:solidFill>
          <a:ln cap="sq" cmpd="sng" w="9525">
            <a:solidFill>
              <a:srgbClr val="4285F4"/>
            </a:solidFill>
            <a:prstDash val="solid"/>
            <a:miter lim="8000"/>
            <a:headEnd len="sm" w="sm" type="none"/>
            <a:tailEnd len="sm" w="sm" type="none"/>
          </a:ln>
        </p:spPr>
      </p:sp>
      <p:grpSp>
        <p:nvGrpSpPr>
          <p:cNvPr id="315" name="Google Shape;315;p11"/>
          <p:cNvGrpSpPr/>
          <p:nvPr/>
        </p:nvGrpSpPr>
        <p:grpSpPr>
          <a:xfrm>
            <a:off x="637842" y="1691545"/>
            <a:ext cx="3263299" cy="578644"/>
            <a:chOff x="0" y="-9525"/>
            <a:chExt cx="4351064" cy="771525"/>
          </a:xfrm>
        </p:grpSpPr>
        <p:sp>
          <p:nvSpPr>
            <p:cNvPr id="316" name="Google Shape;316;p11"/>
            <p:cNvSpPr/>
            <p:nvPr/>
          </p:nvSpPr>
          <p:spPr>
            <a:xfrm>
              <a:off x="0" y="0"/>
              <a:ext cx="4351020" cy="762000"/>
            </a:xfrm>
            <a:custGeom>
              <a:rect b="b" l="l" r="r" t="t"/>
              <a:pathLst>
                <a:path extrusionOk="0" h="762000" w="4351020">
                  <a:moveTo>
                    <a:pt x="0" y="0"/>
                  </a:moveTo>
                  <a:lnTo>
                    <a:pt x="4351020" y="0"/>
                  </a:lnTo>
                  <a:lnTo>
                    <a:pt x="4351020" y="762000"/>
                  </a:lnTo>
                  <a:lnTo>
                    <a:pt x="0" y="762000"/>
                  </a:lnTo>
                  <a:close/>
                </a:path>
              </a:pathLst>
            </a:custGeom>
            <a:solidFill>
              <a:srgbClr val="00AEEF"/>
            </a:solidFill>
            <a:ln>
              <a:noFill/>
            </a:ln>
          </p:spPr>
        </p:sp>
        <p:grpSp>
          <p:nvGrpSpPr>
            <p:cNvPr id="317" name="Google Shape;317;p11"/>
            <p:cNvGrpSpPr/>
            <p:nvPr/>
          </p:nvGrpSpPr>
          <p:grpSpPr>
            <a:xfrm>
              <a:off x="0" y="-9525"/>
              <a:ext cx="4351064" cy="771525"/>
              <a:chOff x="0" y="-9525"/>
              <a:chExt cx="4351064" cy="771525"/>
            </a:xfrm>
          </p:grpSpPr>
          <p:sp>
            <p:nvSpPr>
              <p:cNvPr id="318" name="Google Shape;318;p11"/>
              <p:cNvSpPr/>
              <p:nvPr/>
            </p:nvSpPr>
            <p:spPr>
              <a:xfrm>
                <a:off x="0" y="0"/>
                <a:ext cx="4351064" cy="762000"/>
              </a:xfrm>
              <a:custGeom>
                <a:rect b="b" l="l" r="r" t="t"/>
                <a:pathLst>
                  <a:path extrusionOk="0" h="762000" w="4351064">
                    <a:moveTo>
                      <a:pt x="0" y="0"/>
                    </a:moveTo>
                    <a:lnTo>
                      <a:pt x="4351064" y="0"/>
                    </a:lnTo>
                    <a:lnTo>
                      <a:pt x="4351064" y="762000"/>
                    </a:lnTo>
                    <a:lnTo>
                      <a:pt x="0" y="762000"/>
                    </a:lnTo>
                    <a:close/>
                  </a:path>
                </a:pathLst>
              </a:custGeom>
              <a:blipFill rotWithShape="1">
                <a:blip r:embed="rId6">
                  <a:alphaModFix amt="0"/>
                </a:blip>
                <a:stretch>
                  <a:fillRect b="-61259" l="0" r="0" t="-61259"/>
                </a:stretch>
              </a:blipFill>
              <a:ln>
                <a:noFill/>
              </a:ln>
            </p:spPr>
          </p:sp>
          <p:sp>
            <p:nvSpPr>
              <p:cNvPr id="319" name="Google Shape;319;p11"/>
              <p:cNvSpPr txBox="1"/>
              <p:nvPr/>
            </p:nvSpPr>
            <p:spPr>
              <a:xfrm>
                <a:off x="0" y="-9525"/>
                <a:ext cx="4351058" cy="7715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1995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-US" sz="1674" u="none" cap="none" strike="noStrike">
                    <a:solidFill>
                      <a:srgbClr val="FFFFFF"/>
                    </a:solidFill>
                    <a:latin typeface="Noto Sans"/>
                    <a:ea typeface="Noto Sans"/>
                    <a:cs typeface="Noto Sans"/>
                    <a:sym typeface="Noto Sans"/>
                  </a:rPr>
                  <a:t>Request-Response Cycle</a:t>
                </a:r>
                <a:endParaRPr/>
              </a:p>
            </p:txBody>
          </p:sp>
        </p:grpSp>
      </p:grpSp>
      <p:grpSp>
        <p:nvGrpSpPr>
          <p:cNvPr id="320" name="Google Shape;320;p11"/>
          <p:cNvGrpSpPr/>
          <p:nvPr/>
        </p:nvGrpSpPr>
        <p:grpSpPr>
          <a:xfrm>
            <a:off x="760325" y="2413064"/>
            <a:ext cx="4688091" cy="292894"/>
            <a:chOff x="0" y="0"/>
            <a:chExt cx="6250788" cy="390525"/>
          </a:xfrm>
        </p:grpSpPr>
        <p:sp>
          <p:nvSpPr>
            <p:cNvPr id="321" name="Google Shape;321;p11"/>
            <p:cNvSpPr/>
            <p:nvPr/>
          </p:nvSpPr>
          <p:spPr>
            <a:xfrm>
              <a:off x="0" y="0"/>
              <a:ext cx="6250781" cy="390525"/>
            </a:xfrm>
            <a:custGeom>
              <a:rect b="b" l="l" r="r" t="t"/>
              <a:pathLst>
                <a:path extrusionOk="0" h="390525" w="6250781">
                  <a:moveTo>
                    <a:pt x="0" y="0"/>
                  </a:moveTo>
                  <a:lnTo>
                    <a:pt x="6250781" y="0"/>
                  </a:lnTo>
                  <a:lnTo>
                    <a:pt x="6250781" y="390525"/>
                  </a:lnTo>
                  <a:lnTo>
                    <a:pt x="0" y="390525"/>
                  </a:lnTo>
                  <a:close/>
                </a:path>
              </a:pathLst>
            </a:custGeom>
            <a:blipFill rotWithShape="1">
              <a:blip r:embed="rId6">
                <a:alphaModFix amt="0"/>
              </a:blip>
              <a:stretch>
                <a:fillRect b="-261876" l="0" r="0" t="-261876"/>
              </a:stretch>
            </a:blipFill>
            <a:ln>
              <a:noFill/>
            </a:ln>
          </p:spPr>
        </p:sp>
        <p:sp>
          <p:nvSpPr>
            <p:cNvPr id="322" name="Google Shape;322;p11"/>
            <p:cNvSpPr txBox="1"/>
            <p:nvPr/>
          </p:nvSpPr>
          <p:spPr>
            <a:xfrm>
              <a:off x="0" y="0"/>
              <a:ext cx="6250788" cy="3905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1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69" u="none" cap="none" strike="noStrike">
                  <a:solidFill>
                    <a:srgbClr val="000000"/>
                  </a:solidFill>
                  <a:latin typeface="Noto Sans"/>
                  <a:ea typeface="Noto Sans"/>
                  <a:cs typeface="Noto Sans"/>
                  <a:sym typeface="Noto Sans"/>
                </a:rPr>
                <a:t> • Client sends HTTP request to server endpoint</a:t>
              </a:r>
              <a:endParaRPr/>
            </a:p>
          </p:txBody>
        </p:sp>
      </p:grpSp>
      <p:grpSp>
        <p:nvGrpSpPr>
          <p:cNvPr id="323" name="Google Shape;323;p11"/>
          <p:cNvGrpSpPr/>
          <p:nvPr/>
        </p:nvGrpSpPr>
        <p:grpSpPr>
          <a:xfrm>
            <a:off x="760325" y="2753716"/>
            <a:ext cx="5463687" cy="292894"/>
            <a:chOff x="0" y="0"/>
            <a:chExt cx="7284915" cy="390525"/>
          </a:xfrm>
        </p:grpSpPr>
        <p:sp>
          <p:nvSpPr>
            <p:cNvPr id="324" name="Google Shape;324;p11"/>
            <p:cNvSpPr/>
            <p:nvPr/>
          </p:nvSpPr>
          <p:spPr>
            <a:xfrm>
              <a:off x="0" y="0"/>
              <a:ext cx="7284915" cy="390525"/>
            </a:xfrm>
            <a:custGeom>
              <a:rect b="b" l="l" r="r" t="t"/>
              <a:pathLst>
                <a:path extrusionOk="0" h="390525" w="7284915">
                  <a:moveTo>
                    <a:pt x="0" y="0"/>
                  </a:moveTo>
                  <a:lnTo>
                    <a:pt x="7284915" y="0"/>
                  </a:lnTo>
                  <a:lnTo>
                    <a:pt x="7284915" y="390525"/>
                  </a:lnTo>
                  <a:lnTo>
                    <a:pt x="0" y="390525"/>
                  </a:lnTo>
                  <a:close/>
                </a:path>
              </a:pathLst>
            </a:custGeom>
            <a:blipFill rotWithShape="1">
              <a:blip r:embed="rId6">
                <a:alphaModFix amt="0"/>
              </a:blip>
              <a:stretch>
                <a:fillRect b="-313478" l="0" r="0" t="-313478"/>
              </a:stretch>
            </a:blipFill>
            <a:ln>
              <a:noFill/>
            </a:ln>
          </p:spPr>
        </p:sp>
        <p:sp>
          <p:nvSpPr>
            <p:cNvPr id="325" name="Google Shape;325;p11"/>
            <p:cNvSpPr txBox="1"/>
            <p:nvPr/>
          </p:nvSpPr>
          <p:spPr>
            <a:xfrm>
              <a:off x="0" y="0"/>
              <a:ext cx="7284910" cy="3905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1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69" u="none" cap="none" strike="noStrike">
                  <a:solidFill>
                    <a:srgbClr val="000000"/>
                  </a:solidFill>
                  <a:latin typeface="Noto Sans"/>
                  <a:ea typeface="Noto Sans"/>
                  <a:cs typeface="Noto Sans"/>
                  <a:sym typeface="Noto Sans"/>
                </a:rPr>
                <a:t> • Server processes request and returns HTTP response</a:t>
              </a:r>
              <a:endParaRPr/>
            </a:p>
          </p:txBody>
        </p:sp>
      </p:grpSp>
      <p:grpSp>
        <p:nvGrpSpPr>
          <p:cNvPr id="326" name="Google Shape;326;p11"/>
          <p:cNvGrpSpPr/>
          <p:nvPr/>
        </p:nvGrpSpPr>
        <p:grpSpPr>
          <a:xfrm>
            <a:off x="760325" y="3046609"/>
            <a:ext cx="5996902" cy="292894"/>
            <a:chOff x="0" y="0"/>
            <a:chExt cx="7995869" cy="390525"/>
          </a:xfrm>
        </p:grpSpPr>
        <p:sp>
          <p:nvSpPr>
            <p:cNvPr id="327" name="Google Shape;327;p11"/>
            <p:cNvSpPr/>
            <p:nvPr/>
          </p:nvSpPr>
          <p:spPr>
            <a:xfrm>
              <a:off x="0" y="0"/>
              <a:ext cx="7995867" cy="390525"/>
            </a:xfrm>
            <a:custGeom>
              <a:rect b="b" l="l" r="r" t="t"/>
              <a:pathLst>
                <a:path extrusionOk="0" h="390525" w="7995867">
                  <a:moveTo>
                    <a:pt x="0" y="0"/>
                  </a:moveTo>
                  <a:lnTo>
                    <a:pt x="7995867" y="0"/>
                  </a:lnTo>
                  <a:lnTo>
                    <a:pt x="7995867" y="390525"/>
                  </a:lnTo>
                  <a:lnTo>
                    <a:pt x="0" y="390525"/>
                  </a:lnTo>
                  <a:close/>
                </a:path>
              </a:pathLst>
            </a:custGeom>
            <a:blipFill rotWithShape="1">
              <a:blip r:embed="rId6">
                <a:alphaModFix amt="0"/>
              </a:blip>
              <a:stretch>
                <a:fillRect b="-348979" l="0" r="0" t="-348979"/>
              </a:stretch>
            </a:blipFill>
            <a:ln>
              <a:noFill/>
            </a:ln>
          </p:spPr>
        </p:sp>
        <p:sp>
          <p:nvSpPr>
            <p:cNvPr id="328" name="Google Shape;328;p11"/>
            <p:cNvSpPr txBox="1"/>
            <p:nvPr/>
          </p:nvSpPr>
          <p:spPr>
            <a:xfrm>
              <a:off x="0" y="0"/>
              <a:ext cx="7995869" cy="3905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1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69" u="none" cap="none" strike="noStrike">
                  <a:solidFill>
                    <a:srgbClr val="000000"/>
                  </a:solidFill>
                  <a:latin typeface="Noto Sans"/>
                  <a:ea typeface="Noto Sans"/>
                  <a:cs typeface="Noto Sans"/>
                  <a:sym typeface="Noto Sans"/>
                </a:rPr>
                <a:t> • Response includes status code, headers, and data payload </a:t>
              </a:r>
              <a:endParaRPr/>
            </a:p>
          </p:txBody>
        </p:sp>
      </p:grpSp>
      <p:sp>
        <p:nvSpPr>
          <p:cNvPr id="329" name="Google Shape;329;p11"/>
          <p:cNvSpPr/>
          <p:nvPr/>
        </p:nvSpPr>
        <p:spPr>
          <a:xfrm>
            <a:off x="417225" y="3886462"/>
            <a:ext cx="8393247" cy="2430458"/>
          </a:xfrm>
          <a:custGeom>
            <a:rect b="b" l="l" r="r" t="t"/>
            <a:pathLst>
              <a:path extrusionOk="0" h="3240611" w="11190997">
                <a:moveTo>
                  <a:pt x="0" y="0"/>
                </a:moveTo>
                <a:lnTo>
                  <a:pt x="11190997" y="0"/>
                </a:lnTo>
                <a:lnTo>
                  <a:pt x="11190997" y="3240611"/>
                </a:lnTo>
                <a:lnTo>
                  <a:pt x="0" y="3240611"/>
                </a:lnTo>
                <a:close/>
              </a:path>
            </a:pathLst>
          </a:custGeom>
          <a:solidFill>
            <a:srgbClr val="FFFFFF"/>
          </a:solidFill>
          <a:ln cap="sq" cmpd="sng" w="9525">
            <a:solidFill>
              <a:srgbClr val="4285F4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330" name="Google Shape;330;p11"/>
          <p:cNvSpPr/>
          <p:nvPr/>
        </p:nvSpPr>
        <p:spPr>
          <a:xfrm>
            <a:off x="637842" y="4029337"/>
            <a:ext cx="3597498" cy="568872"/>
          </a:xfrm>
          <a:custGeom>
            <a:rect b="b" l="l" r="r" t="t"/>
            <a:pathLst>
              <a:path extrusionOk="0" h="758495" w="4796663">
                <a:moveTo>
                  <a:pt x="0" y="0"/>
                </a:moveTo>
                <a:lnTo>
                  <a:pt x="4796663" y="0"/>
                </a:lnTo>
                <a:lnTo>
                  <a:pt x="4796663" y="758495"/>
                </a:lnTo>
                <a:lnTo>
                  <a:pt x="0" y="758495"/>
                </a:lnTo>
                <a:close/>
              </a:path>
            </a:pathLst>
          </a:custGeom>
          <a:solidFill>
            <a:srgbClr val="00AEEF"/>
          </a:solidFill>
          <a:ln>
            <a:noFill/>
          </a:ln>
        </p:spPr>
      </p:sp>
      <p:grpSp>
        <p:nvGrpSpPr>
          <p:cNvPr id="331" name="Google Shape;331;p11"/>
          <p:cNvGrpSpPr/>
          <p:nvPr/>
        </p:nvGrpSpPr>
        <p:grpSpPr>
          <a:xfrm>
            <a:off x="637842" y="4022193"/>
            <a:ext cx="3597493" cy="576016"/>
            <a:chOff x="0" y="-9525"/>
            <a:chExt cx="4796656" cy="768020"/>
          </a:xfrm>
        </p:grpSpPr>
        <p:sp>
          <p:nvSpPr>
            <p:cNvPr id="332" name="Google Shape;332;p11"/>
            <p:cNvSpPr/>
            <p:nvPr/>
          </p:nvSpPr>
          <p:spPr>
            <a:xfrm>
              <a:off x="0" y="0"/>
              <a:ext cx="4796656" cy="758495"/>
            </a:xfrm>
            <a:custGeom>
              <a:rect b="b" l="l" r="r" t="t"/>
              <a:pathLst>
                <a:path extrusionOk="0" h="758495" w="4796656">
                  <a:moveTo>
                    <a:pt x="0" y="0"/>
                  </a:moveTo>
                  <a:lnTo>
                    <a:pt x="4796656" y="0"/>
                  </a:lnTo>
                  <a:lnTo>
                    <a:pt x="4796656" y="758495"/>
                  </a:lnTo>
                  <a:lnTo>
                    <a:pt x="0" y="758495"/>
                  </a:lnTo>
                  <a:close/>
                </a:path>
              </a:pathLst>
            </a:custGeom>
            <a:blipFill rotWithShape="1">
              <a:blip r:embed="rId6">
                <a:alphaModFix amt="0"/>
              </a:blip>
              <a:stretch>
                <a:fillRect b="-73453" l="0" r="0" t="-72992"/>
              </a:stretch>
            </a:blipFill>
            <a:ln>
              <a:noFill/>
            </a:ln>
          </p:spPr>
        </p:sp>
        <p:sp>
          <p:nvSpPr>
            <p:cNvPr id="333" name="Google Shape;333;p11"/>
            <p:cNvSpPr txBox="1"/>
            <p:nvPr/>
          </p:nvSpPr>
          <p:spPr>
            <a:xfrm>
              <a:off x="0" y="-9525"/>
              <a:ext cx="4796650" cy="7680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1995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674" u="none" cap="none" strike="noStrike">
                  <a:solidFill>
                    <a:srgbClr val="FFFFFF"/>
                  </a:solidFill>
                  <a:latin typeface="Noto Sans"/>
                  <a:ea typeface="Noto Sans"/>
                  <a:cs typeface="Noto Sans"/>
                  <a:sym typeface="Noto Sans"/>
                </a:rPr>
                <a:t>HTTP Methods &amp; Endpoints</a:t>
              </a:r>
              <a:endParaRPr/>
            </a:p>
          </p:txBody>
        </p:sp>
      </p:grpSp>
      <p:grpSp>
        <p:nvGrpSpPr>
          <p:cNvPr id="334" name="Google Shape;334;p11"/>
          <p:cNvGrpSpPr/>
          <p:nvPr/>
        </p:nvGrpSpPr>
        <p:grpSpPr>
          <a:xfrm>
            <a:off x="637842" y="4736871"/>
            <a:ext cx="3200571" cy="316734"/>
            <a:chOff x="0" y="0"/>
            <a:chExt cx="4267429" cy="422313"/>
          </a:xfrm>
        </p:grpSpPr>
        <p:sp>
          <p:nvSpPr>
            <p:cNvPr id="335" name="Google Shape;335;p11"/>
            <p:cNvSpPr/>
            <p:nvPr/>
          </p:nvSpPr>
          <p:spPr>
            <a:xfrm>
              <a:off x="0" y="0"/>
              <a:ext cx="4267424" cy="422313"/>
            </a:xfrm>
            <a:custGeom>
              <a:rect b="b" l="l" r="r" t="t"/>
              <a:pathLst>
                <a:path extrusionOk="0" h="422313" w="4267424">
                  <a:moveTo>
                    <a:pt x="0" y="0"/>
                  </a:moveTo>
                  <a:lnTo>
                    <a:pt x="4267424" y="0"/>
                  </a:lnTo>
                  <a:lnTo>
                    <a:pt x="4267424" y="422313"/>
                  </a:lnTo>
                  <a:lnTo>
                    <a:pt x="0" y="422313"/>
                  </a:lnTo>
                  <a:close/>
                </a:path>
              </a:pathLst>
            </a:custGeom>
            <a:blipFill rotWithShape="1">
              <a:blip r:embed="rId6">
                <a:alphaModFix amt="0"/>
              </a:blip>
              <a:stretch>
                <a:fillRect b="-143132" l="0" r="0" t="-150662"/>
              </a:stretch>
            </a:blipFill>
            <a:ln>
              <a:noFill/>
            </a:ln>
          </p:spPr>
        </p:sp>
        <p:sp>
          <p:nvSpPr>
            <p:cNvPr id="336" name="Google Shape;336;p11"/>
            <p:cNvSpPr txBox="1"/>
            <p:nvPr/>
          </p:nvSpPr>
          <p:spPr>
            <a:xfrm>
              <a:off x="0" y="0"/>
              <a:ext cx="4267429" cy="4223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1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69" u="none" cap="none" strike="noStrike">
                  <a:solidFill>
                    <a:srgbClr val="000000"/>
                  </a:solidFill>
                  <a:latin typeface="Noto Sans"/>
                  <a:ea typeface="Noto Sans"/>
                  <a:cs typeface="Noto Sans"/>
                  <a:sym typeface="Noto Sans"/>
                </a:rPr>
                <a:t> • GET: Retrieve data from server</a:t>
              </a:r>
              <a:endParaRPr/>
            </a:p>
          </p:txBody>
        </p:sp>
      </p:grpSp>
      <p:grpSp>
        <p:nvGrpSpPr>
          <p:cNvPr id="337" name="Google Shape;337;p11"/>
          <p:cNvGrpSpPr/>
          <p:nvPr/>
        </p:nvGrpSpPr>
        <p:grpSpPr>
          <a:xfrm>
            <a:off x="637842" y="5078194"/>
            <a:ext cx="2951763" cy="316734"/>
            <a:chOff x="0" y="0"/>
            <a:chExt cx="3935685" cy="422313"/>
          </a:xfrm>
        </p:grpSpPr>
        <p:sp>
          <p:nvSpPr>
            <p:cNvPr id="338" name="Google Shape;338;p11"/>
            <p:cNvSpPr/>
            <p:nvPr/>
          </p:nvSpPr>
          <p:spPr>
            <a:xfrm>
              <a:off x="0" y="0"/>
              <a:ext cx="3935685" cy="422313"/>
            </a:xfrm>
            <a:custGeom>
              <a:rect b="b" l="l" r="r" t="t"/>
              <a:pathLst>
                <a:path extrusionOk="0" h="422313" w="3935685">
                  <a:moveTo>
                    <a:pt x="0" y="0"/>
                  </a:moveTo>
                  <a:lnTo>
                    <a:pt x="3935685" y="0"/>
                  </a:lnTo>
                  <a:lnTo>
                    <a:pt x="3935685" y="422313"/>
                  </a:lnTo>
                  <a:lnTo>
                    <a:pt x="0" y="422313"/>
                  </a:lnTo>
                  <a:close/>
                </a:path>
              </a:pathLst>
            </a:custGeom>
            <a:blipFill rotWithShape="1">
              <a:blip r:embed="rId6">
                <a:alphaModFix amt="0"/>
              </a:blip>
              <a:stretch>
                <a:fillRect b="-127823" l="0" r="0" t="-135351"/>
              </a:stretch>
            </a:blipFill>
            <a:ln>
              <a:noFill/>
            </a:ln>
          </p:spPr>
        </p:sp>
        <p:sp>
          <p:nvSpPr>
            <p:cNvPr id="339" name="Google Shape;339;p11"/>
            <p:cNvSpPr txBox="1"/>
            <p:nvPr/>
          </p:nvSpPr>
          <p:spPr>
            <a:xfrm>
              <a:off x="0" y="0"/>
              <a:ext cx="3935679" cy="4223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1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69" u="none" cap="none" strike="noStrike">
                  <a:solidFill>
                    <a:srgbClr val="000000"/>
                  </a:solidFill>
                  <a:latin typeface="Noto Sans"/>
                  <a:ea typeface="Noto Sans"/>
                  <a:cs typeface="Noto Sans"/>
                  <a:sym typeface="Noto Sans"/>
                </a:rPr>
                <a:t> • POST: Create new resources</a:t>
              </a:r>
              <a:endParaRPr/>
            </a:p>
          </p:txBody>
        </p:sp>
      </p:grpSp>
      <p:grpSp>
        <p:nvGrpSpPr>
          <p:cNvPr id="340" name="Google Shape;340;p11"/>
          <p:cNvGrpSpPr/>
          <p:nvPr/>
        </p:nvGrpSpPr>
        <p:grpSpPr>
          <a:xfrm>
            <a:off x="637842" y="5419517"/>
            <a:ext cx="4000167" cy="316734"/>
            <a:chOff x="0" y="0"/>
            <a:chExt cx="5333556" cy="422313"/>
          </a:xfrm>
        </p:grpSpPr>
        <p:sp>
          <p:nvSpPr>
            <p:cNvPr id="341" name="Google Shape;341;p11"/>
            <p:cNvSpPr/>
            <p:nvPr/>
          </p:nvSpPr>
          <p:spPr>
            <a:xfrm>
              <a:off x="0" y="0"/>
              <a:ext cx="5333555" cy="422313"/>
            </a:xfrm>
            <a:custGeom>
              <a:rect b="b" l="l" r="r" t="t"/>
              <a:pathLst>
                <a:path extrusionOk="0" h="422313" w="5333555">
                  <a:moveTo>
                    <a:pt x="0" y="0"/>
                  </a:moveTo>
                  <a:lnTo>
                    <a:pt x="5333555" y="0"/>
                  </a:lnTo>
                  <a:lnTo>
                    <a:pt x="5333555" y="422313"/>
                  </a:lnTo>
                  <a:lnTo>
                    <a:pt x="0" y="422313"/>
                  </a:lnTo>
                  <a:close/>
                </a:path>
              </a:pathLst>
            </a:custGeom>
            <a:blipFill rotWithShape="1">
              <a:blip r:embed="rId6">
                <a:alphaModFix amt="0"/>
              </a:blip>
              <a:stretch>
                <a:fillRect b="-192322" l="0" r="0" t="-199852"/>
              </a:stretch>
            </a:blipFill>
            <a:ln>
              <a:noFill/>
            </a:ln>
          </p:spPr>
        </p:sp>
        <p:sp>
          <p:nvSpPr>
            <p:cNvPr id="342" name="Google Shape;342;p11"/>
            <p:cNvSpPr txBox="1"/>
            <p:nvPr/>
          </p:nvSpPr>
          <p:spPr>
            <a:xfrm>
              <a:off x="0" y="0"/>
              <a:ext cx="5333556" cy="4223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1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69" u="none" cap="none" strike="noStrike">
                  <a:solidFill>
                    <a:srgbClr val="000000"/>
                  </a:solidFill>
                  <a:latin typeface="Noto Sans"/>
                  <a:ea typeface="Noto Sans"/>
                  <a:cs typeface="Noto Sans"/>
                  <a:sym typeface="Noto Sans"/>
                </a:rPr>
                <a:t> • PUT/PATCH: Update existing resources</a:t>
              </a:r>
              <a:endParaRPr/>
            </a:p>
          </p:txBody>
        </p:sp>
      </p:grpSp>
      <p:grpSp>
        <p:nvGrpSpPr>
          <p:cNvPr id="343" name="Google Shape;343;p11"/>
          <p:cNvGrpSpPr/>
          <p:nvPr/>
        </p:nvGrpSpPr>
        <p:grpSpPr>
          <a:xfrm>
            <a:off x="637842" y="5760840"/>
            <a:ext cx="2840757" cy="316734"/>
            <a:chOff x="0" y="0"/>
            <a:chExt cx="3787675" cy="422313"/>
          </a:xfrm>
        </p:grpSpPr>
        <p:sp>
          <p:nvSpPr>
            <p:cNvPr id="344" name="Google Shape;344;p11"/>
            <p:cNvSpPr/>
            <p:nvPr/>
          </p:nvSpPr>
          <p:spPr>
            <a:xfrm>
              <a:off x="0" y="0"/>
              <a:ext cx="3787675" cy="422313"/>
            </a:xfrm>
            <a:custGeom>
              <a:rect b="b" l="l" r="r" t="t"/>
              <a:pathLst>
                <a:path extrusionOk="0" h="422313" w="3787675">
                  <a:moveTo>
                    <a:pt x="0" y="0"/>
                  </a:moveTo>
                  <a:lnTo>
                    <a:pt x="3787675" y="0"/>
                  </a:lnTo>
                  <a:lnTo>
                    <a:pt x="3787675" y="422313"/>
                  </a:lnTo>
                  <a:lnTo>
                    <a:pt x="0" y="422313"/>
                  </a:lnTo>
                  <a:close/>
                </a:path>
              </a:pathLst>
            </a:custGeom>
            <a:blipFill rotWithShape="1">
              <a:blip r:embed="rId6">
                <a:alphaModFix amt="0"/>
              </a:blip>
              <a:stretch>
                <a:fillRect b="-120995" l="0" r="0" t="-128521"/>
              </a:stretch>
            </a:blipFill>
            <a:ln>
              <a:noFill/>
            </a:ln>
          </p:spPr>
        </p:sp>
        <p:sp>
          <p:nvSpPr>
            <p:cNvPr id="345" name="Google Shape;345;p11"/>
            <p:cNvSpPr txBox="1"/>
            <p:nvPr/>
          </p:nvSpPr>
          <p:spPr>
            <a:xfrm>
              <a:off x="0" y="0"/>
              <a:ext cx="3787673" cy="4223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1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69" u="none" cap="none" strike="noStrike">
                  <a:solidFill>
                    <a:srgbClr val="000000"/>
                  </a:solidFill>
                  <a:latin typeface="Noto Sans"/>
                  <a:ea typeface="Noto Sans"/>
                  <a:cs typeface="Noto Sans"/>
                  <a:sym typeface="Noto Sans"/>
                </a:rPr>
                <a:t> • DELETE: Remove resources </a:t>
              </a:r>
              <a:endParaRPr/>
            </a:p>
          </p:txBody>
        </p:sp>
      </p:grpSp>
      <p:sp>
        <p:nvSpPr>
          <p:cNvPr id="346" name="Google Shape;346;p11"/>
          <p:cNvSpPr/>
          <p:nvPr/>
        </p:nvSpPr>
        <p:spPr>
          <a:xfrm>
            <a:off x="417225" y="6678891"/>
            <a:ext cx="8417397" cy="2153605"/>
          </a:xfrm>
          <a:custGeom>
            <a:rect b="b" l="l" r="r" t="t"/>
            <a:pathLst>
              <a:path extrusionOk="0" h="2871474" w="11223196">
                <a:moveTo>
                  <a:pt x="0" y="0"/>
                </a:moveTo>
                <a:lnTo>
                  <a:pt x="11223196" y="0"/>
                </a:lnTo>
                <a:lnTo>
                  <a:pt x="11223196" y="2871474"/>
                </a:lnTo>
                <a:lnTo>
                  <a:pt x="0" y="2871474"/>
                </a:lnTo>
                <a:close/>
              </a:path>
            </a:pathLst>
          </a:custGeom>
          <a:solidFill>
            <a:srgbClr val="FFFFFF"/>
          </a:solidFill>
          <a:ln cap="sq" cmpd="sng" w="9525">
            <a:solidFill>
              <a:srgbClr val="4285F4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347" name="Google Shape;347;p11"/>
          <p:cNvSpPr/>
          <p:nvPr/>
        </p:nvSpPr>
        <p:spPr>
          <a:xfrm>
            <a:off x="637842" y="6859866"/>
            <a:ext cx="2959512" cy="571500"/>
          </a:xfrm>
          <a:custGeom>
            <a:rect b="b" l="l" r="r" t="t"/>
            <a:pathLst>
              <a:path extrusionOk="0" h="762000" w="3946017">
                <a:moveTo>
                  <a:pt x="0" y="0"/>
                </a:moveTo>
                <a:lnTo>
                  <a:pt x="3946017" y="0"/>
                </a:lnTo>
                <a:lnTo>
                  <a:pt x="3946017" y="762000"/>
                </a:lnTo>
                <a:lnTo>
                  <a:pt x="0" y="762000"/>
                </a:lnTo>
                <a:close/>
              </a:path>
            </a:pathLst>
          </a:custGeom>
          <a:solidFill>
            <a:srgbClr val="00AEEF"/>
          </a:solidFill>
          <a:ln>
            <a:noFill/>
          </a:ln>
        </p:spPr>
      </p:sp>
      <p:grpSp>
        <p:nvGrpSpPr>
          <p:cNvPr id="348" name="Google Shape;348;p11"/>
          <p:cNvGrpSpPr/>
          <p:nvPr/>
        </p:nvGrpSpPr>
        <p:grpSpPr>
          <a:xfrm>
            <a:off x="637842" y="6852722"/>
            <a:ext cx="2959465" cy="578644"/>
            <a:chOff x="0" y="-9525"/>
            <a:chExt cx="3945954" cy="771525"/>
          </a:xfrm>
        </p:grpSpPr>
        <p:sp>
          <p:nvSpPr>
            <p:cNvPr id="349" name="Google Shape;349;p11"/>
            <p:cNvSpPr/>
            <p:nvPr/>
          </p:nvSpPr>
          <p:spPr>
            <a:xfrm>
              <a:off x="0" y="0"/>
              <a:ext cx="3945954" cy="762000"/>
            </a:xfrm>
            <a:custGeom>
              <a:rect b="b" l="l" r="r" t="t"/>
              <a:pathLst>
                <a:path extrusionOk="0" h="762000" w="3945954">
                  <a:moveTo>
                    <a:pt x="0" y="0"/>
                  </a:moveTo>
                  <a:lnTo>
                    <a:pt x="3945954" y="0"/>
                  </a:lnTo>
                  <a:lnTo>
                    <a:pt x="3945954" y="762000"/>
                  </a:lnTo>
                  <a:lnTo>
                    <a:pt x="0" y="762000"/>
                  </a:lnTo>
                  <a:close/>
                </a:path>
              </a:pathLst>
            </a:custGeom>
            <a:blipFill rotWithShape="1">
              <a:blip r:embed="rId6">
                <a:alphaModFix amt="0"/>
              </a:blip>
              <a:stretch>
                <a:fillRect b="-50900" l="0" r="0" t="-50900"/>
              </a:stretch>
            </a:blipFill>
            <a:ln>
              <a:noFill/>
            </a:ln>
          </p:spPr>
        </p:sp>
        <p:sp>
          <p:nvSpPr>
            <p:cNvPr id="350" name="Google Shape;350;p11"/>
            <p:cNvSpPr txBox="1"/>
            <p:nvPr/>
          </p:nvSpPr>
          <p:spPr>
            <a:xfrm>
              <a:off x="0" y="-9525"/>
              <a:ext cx="3945954" cy="7715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1995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674" u="none" cap="none" strike="noStrike">
                  <a:solidFill>
                    <a:srgbClr val="FFFFFF"/>
                  </a:solidFill>
                  <a:latin typeface="Noto Sans"/>
                  <a:ea typeface="Noto Sans"/>
                  <a:cs typeface="Noto Sans"/>
                  <a:sym typeface="Noto Sans"/>
                </a:rPr>
                <a:t>Request Components</a:t>
              </a:r>
              <a:endParaRPr/>
            </a:p>
          </p:txBody>
        </p:sp>
      </p:grpSp>
      <p:grpSp>
        <p:nvGrpSpPr>
          <p:cNvPr id="351" name="Google Shape;351;p11"/>
          <p:cNvGrpSpPr/>
          <p:nvPr/>
        </p:nvGrpSpPr>
        <p:grpSpPr>
          <a:xfrm>
            <a:off x="760325" y="7524723"/>
            <a:ext cx="4816897" cy="292894"/>
            <a:chOff x="0" y="0"/>
            <a:chExt cx="6422530" cy="390525"/>
          </a:xfrm>
        </p:grpSpPr>
        <p:sp>
          <p:nvSpPr>
            <p:cNvPr id="352" name="Google Shape;352;p11"/>
            <p:cNvSpPr/>
            <p:nvPr/>
          </p:nvSpPr>
          <p:spPr>
            <a:xfrm>
              <a:off x="0" y="0"/>
              <a:ext cx="6422528" cy="390525"/>
            </a:xfrm>
            <a:custGeom>
              <a:rect b="b" l="l" r="r" t="t"/>
              <a:pathLst>
                <a:path extrusionOk="0" h="390525" w="6422528">
                  <a:moveTo>
                    <a:pt x="0" y="0"/>
                  </a:moveTo>
                  <a:lnTo>
                    <a:pt x="6422528" y="0"/>
                  </a:lnTo>
                  <a:lnTo>
                    <a:pt x="6422528" y="390525"/>
                  </a:lnTo>
                  <a:lnTo>
                    <a:pt x="0" y="390525"/>
                  </a:lnTo>
                  <a:close/>
                </a:path>
              </a:pathLst>
            </a:custGeom>
            <a:blipFill rotWithShape="1">
              <a:blip r:embed="rId6">
                <a:alphaModFix amt="0"/>
              </a:blip>
              <a:stretch>
                <a:fillRect b="-270431" l="0" r="0" t="-270431"/>
              </a:stretch>
            </a:blipFill>
            <a:ln>
              <a:noFill/>
            </a:ln>
          </p:spPr>
        </p:sp>
        <p:sp>
          <p:nvSpPr>
            <p:cNvPr id="353" name="Google Shape;353;p11"/>
            <p:cNvSpPr txBox="1"/>
            <p:nvPr/>
          </p:nvSpPr>
          <p:spPr>
            <a:xfrm>
              <a:off x="0" y="0"/>
              <a:ext cx="6422530" cy="3905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1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69" u="none" cap="none" strike="noStrike">
                  <a:solidFill>
                    <a:srgbClr val="000000"/>
                  </a:solidFill>
                  <a:latin typeface="Noto Sans"/>
                  <a:ea typeface="Noto Sans"/>
                  <a:cs typeface="Noto Sans"/>
                  <a:sym typeface="Noto Sans"/>
                </a:rPr>
                <a:t> • Headers: Metadata (auth tokens, content type)</a:t>
              </a:r>
              <a:endParaRPr/>
            </a:p>
          </p:txBody>
        </p:sp>
      </p:grpSp>
      <p:grpSp>
        <p:nvGrpSpPr>
          <p:cNvPr id="354" name="Google Shape;354;p11"/>
          <p:cNvGrpSpPr/>
          <p:nvPr/>
        </p:nvGrpSpPr>
        <p:grpSpPr>
          <a:xfrm>
            <a:off x="760325" y="7846192"/>
            <a:ext cx="4530366" cy="292894"/>
            <a:chOff x="0" y="0"/>
            <a:chExt cx="6040488" cy="390525"/>
          </a:xfrm>
        </p:grpSpPr>
        <p:sp>
          <p:nvSpPr>
            <p:cNvPr id="355" name="Google Shape;355;p11"/>
            <p:cNvSpPr/>
            <p:nvPr/>
          </p:nvSpPr>
          <p:spPr>
            <a:xfrm>
              <a:off x="0" y="0"/>
              <a:ext cx="6040488" cy="390525"/>
            </a:xfrm>
            <a:custGeom>
              <a:rect b="b" l="l" r="r" t="t"/>
              <a:pathLst>
                <a:path extrusionOk="0" h="390525" w="6040488">
                  <a:moveTo>
                    <a:pt x="0" y="0"/>
                  </a:moveTo>
                  <a:lnTo>
                    <a:pt x="6040488" y="0"/>
                  </a:lnTo>
                  <a:lnTo>
                    <a:pt x="6040488" y="390525"/>
                  </a:lnTo>
                  <a:lnTo>
                    <a:pt x="0" y="390525"/>
                  </a:lnTo>
                  <a:close/>
                </a:path>
              </a:pathLst>
            </a:custGeom>
            <a:blipFill rotWithShape="1">
              <a:blip r:embed="rId6">
                <a:alphaModFix amt="0"/>
              </a:blip>
              <a:stretch>
                <a:fillRect b="-251386" l="0" r="0" t="-251386"/>
              </a:stretch>
            </a:blipFill>
            <a:ln>
              <a:noFill/>
            </a:ln>
          </p:spPr>
        </p:sp>
        <p:sp>
          <p:nvSpPr>
            <p:cNvPr id="356" name="Google Shape;356;p11"/>
            <p:cNvSpPr txBox="1"/>
            <p:nvPr/>
          </p:nvSpPr>
          <p:spPr>
            <a:xfrm>
              <a:off x="0" y="0"/>
              <a:ext cx="6040488" cy="3905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1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69" u="none" cap="none" strike="noStrike">
                  <a:solidFill>
                    <a:srgbClr val="000000"/>
                  </a:solidFill>
                  <a:latin typeface="Noto Sans"/>
                  <a:ea typeface="Noto Sans"/>
                  <a:cs typeface="Noto Sans"/>
                  <a:sym typeface="Noto Sans"/>
                </a:rPr>
                <a:t> • Parameters: Query strings or path variables</a:t>
              </a:r>
              <a:endParaRPr/>
            </a:p>
          </p:txBody>
        </p:sp>
      </p:grpSp>
      <p:grpSp>
        <p:nvGrpSpPr>
          <p:cNvPr id="357" name="Google Shape;357;p11"/>
          <p:cNvGrpSpPr/>
          <p:nvPr/>
        </p:nvGrpSpPr>
        <p:grpSpPr>
          <a:xfrm>
            <a:off x="760325" y="8167661"/>
            <a:ext cx="4454073" cy="292894"/>
            <a:chOff x="0" y="0"/>
            <a:chExt cx="5938763" cy="390525"/>
          </a:xfrm>
        </p:grpSpPr>
        <p:sp>
          <p:nvSpPr>
            <p:cNvPr id="358" name="Google Shape;358;p11"/>
            <p:cNvSpPr/>
            <p:nvPr/>
          </p:nvSpPr>
          <p:spPr>
            <a:xfrm>
              <a:off x="0" y="0"/>
              <a:ext cx="5938763" cy="390525"/>
            </a:xfrm>
            <a:custGeom>
              <a:rect b="b" l="l" r="r" t="t"/>
              <a:pathLst>
                <a:path extrusionOk="0" h="390525" w="5938763">
                  <a:moveTo>
                    <a:pt x="0" y="0"/>
                  </a:moveTo>
                  <a:lnTo>
                    <a:pt x="5938763" y="0"/>
                  </a:lnTo>
                  <a:lnTo>
                    <a:pt x="5938763" y="390525"/>
                  </a:lnTo>
                  <a:lnTo>
                    <a:pt x="0" y="390525"/>
                  </a:lnTo>
                  <a:close/>
                </a:path>
              </a:pathLst>
            </a:custGeom>
            <a:blipFill rotWithShape="1">
              <a:blip r:embed="rId6">
                <a:alphaModFix amt="0"/>
              </a:blip>
              <a:stretch>
                <a:fillRect b="-246314" l="0" r="0" t="-246314"/>
              </a:stretch>
            </a:blipFill>
            <a:ln>
              <a:noFill/>
            </a:ln>
          </p:spPr>
        </p:sp>
        <p:sp>
          <p:nvSpPr>
            <p:cNvPr id="359" name="Google Shape;359;p11"/>
            <p:cNvSpPr txBox="1"/>
            <p:nvPr/>
          </p:nvSpPr>
          <p:spPr>
            <a:xfrm>
              <a:off x="0" y="0"/>
              <a:ext cx="5938761" cy="3905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1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69" u="none" cap="none" strike="noStrike">
                  <a:solidFill>
                    <a:srgbClr val="000000"/>
                  </a:solidFill>
                  <a:latin typeface="Noto Sans"/>
                  <a:ea typeface="Noto Sans"/>
                  <a:cs typeface="Noto Sans"/>
                  <a:sym typeface="Noto Sans"/>
                </a:rPr>
                <a:t> • Body: Data payload (JSON, XML, form data) </a:t>
              </a:r>
              <a:endParaRPr/>
            </a:p>
          </p:txBody>
        </p:sp>
      </p:grpSp>
      <p:sp>
        <p:nvSpPr>
          <p:cNvPr id="360" name="Google Shape;360;p11"/>
          <p:cNvSpPr/>
          <p:nvPr/>
        </p:nvSpPr>
        <p:spPr>
          <a:xfrm>
            <a:off x="9398401" y="1503559"/>
            <a:ext cx="8058532" cy="2154081"/>
          </a:xfrm>
          <a:custGeom>
            <a:rect b="b" l="l" r="r" t="t"/>
            <a:pathLst>
              <a:path extrusionOk="0" h="2872108" w="10744709">
                <a:moveTo>
                  <a:pt x="0" y="0"/>
                </a:moveTo>
                <a:lnTo>
                  <a:pt x="10744709" y="0"/>
                </a:lnTo>
                <a:lnTo>
                  <a:pt x="10744709" y="2872108"/>
                </a:lnTo>
                <a:lnTo>
                  <a:pt x="0" y="2872108"/>
                </a:lnTo>
                <a:close/>
              </a:path>
            </a:pathLst>
          </a:custGeom>
          <a:solidFill>
            <a:srgbClr val="FFFFFF"/>
          </a:solidFill>
          <a:ln cap="sq" cmpd="sng" w="9525">
            <a:solidFill>
              <a:srgbClr val="4285F4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361" name="Google Shape;361;p11"/>
          <p:cNvSpPr/>
          <p:nvPr/>
        </p:nvSpPr>
        <p:spPr>
          <a:xfrm>
            <a:off x="9741501" y="1634790"/>
            <a:ext cx="3416236" cy="571500"/>
          </a:xfrm>
          <a:custGeom>
            <a:rect b="b" l="l" r="r" t="t"/>
            <a:pathLst>
              <a:path extrusionOk="0" h="762000" w="4554982">
                <a:moveTo>
                  <a:pt x="0" y="0"/>
                </a:moveTo>
                <a:lnTo>
                  <a:pt x="4554982" y="0"/>
                </a:lnTo>
                <a:lnTo>
                  <a:pt x="4554982" y="762000"/>
                </a:lnTo>
                <a:lnTo>
                  <a:pt x="0" y="762000"/>
                </a:lnTo>
                <a:close/>
              </a:path>
            </a:pathLst>
          </a:custGeom>
          <a:solidFill>
            <a:srgbClr val="00AEEF"/>
          </a:solidFill>
          <a:ln>
            <a:noFill/>
          </a:ln>
        </p:spPr>
      </p:sp>
      <p:grpSp>
        <p:nvGrpSpPr>
          <p:cNvPr id="362" name="Google Shape;362;p11"/>
          <p:cNvGrpSpPr/>
          <p:nvPr/>
        </p:nvGrpSpPr>
        <p:grpSpPr>
          <a:xfrm>
            <a:off x="9741501" y="1627646"/>
            <a:ext cx="3416219" cy="578644"/>
            <a:chOff x="0" y="-9525"/>
            <a:chExt cx="4554960" cy="771525"/>
          </a:xfrm>
        </p:grpSpPr>
        <p:sp>
          <p:nvSpPr>
            <p:cNvPr id="363" name="Google Shape;363;p11"/>
            <p:cNvSpPr/>
            <p:nvPr/>
          </p:nvSpPr>
          <p:spPr>
            <a:xfrm>
              <a:off x="0" y="0"/>
              <a:ext cx="4554960" cy="762000"/>
            </a:xfrm>
            <a:custGeom>
              <a:rect b="b" l="l" r="r" t="t"/>
              <a:pathLst>
                <a:path extrusionOk="0" h="762000" w="4554960">
                  <a:moveTo>
                    <a:pt x="0" y="0"/>
                  </a:moveTo>
                  <a:lnTo>
                    <a:pt x="4554960" y="0"/>
                  </a:lnTo>
                  <a:lnTo>
                    <a:pt x="4554960" y="762000"/>
                  </a:lnTo>
                  <a:lnTo>
                    <a:pt x="0" y="762000"/>
                  </a:lnTo>
                  <a:close/>
                </a:path>
              </a:pathLst>
            </a:custGeom>
            <a:blipFill rotWithShape="1">
              <a:blip r:embed="rId6">
                <a:alphaModFix amt="0"/>
              </a:blip>
              <a:stretch>
                <a:fillRect b="-66474" l="0" r="0" t="-66474"/>
              </a:stretch>
            </a:blipFill>
            <a:ln>
              <a:noFill/>
            </a:ln>
          </p:spPr>
        </p:sp>
        <p:sp>
          <p:nvSpPr>
            <p:cNvPr id="364" name="Google Shape;364;p11"/>
            <p:cNvSpPr txBox="1"/>
            <p:nvPr/>
          </p:nvSpPr>
          <p:spPr>
            <a:xfrm>
              <a:off x="0" y="-9525"/>
              <a:ext cx="4554957" cy="7715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1995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674" u="none" cap="none" strike="noStrike">
                  <a:solidFill>
                    <a:srgbClr val="FFFFFF"/>
                  </a:solidFill>
                  <a:latin typeface="Noto Sans"/>
                  <a:ea typeface="Noto Sans"/>
                  <a:cs typeface="Noto Sans"/>
                  <a:sym typeface="Noto Sans"/>
                </a:rPr>
                <a:t>Data Formats &amp; Protocols</a:t>
              </a:r>
              <a:endParaRPr/>
            </a:p>
          </p:txBody>
        </p:sp>
      </p:grpSp>
      <p:grpSp>
        <p:nvGrpSpPr>
          <p:cNvPr id="365" name="Google Shape;365;p11"/>
          <p:cNvGrpSpPr/>
          <p:nvPr/>
        </p:nvGrpSpPr>
        <p:grpSpPr>
          <a:xfrm>
            <a:off x="9741501" y="2413064"/>
            <a:ext cx="4482370" cy="292894"/>
            <a:chOff x="0" y="0"/>
            <a:chExt cx="5976493" cy="390525"/>
          </a:xfrm>
        </p:grpSpPr>
        <p:sp>
          <p:nvSpPr>
            <p:cNvPr id="366" name="Google Shape;366;p11"/>
            <p:cNvSpPr/>
            <p:nvPr/>
          </p:nvSpPr>
          <p:spPr>
            <a:xfrm>
              <a:off x="0" y="0"/>
              <a:ext cx="5976491" cy="390525"/>
            </a:xfrm>
            <a:custGeom>
              <a:rect b="b" l="l" r="r" t="t"/>
              <a:pathLst>
                <a:path extrusionOk="0" h="390525" w="5976491">
                  <a:moveTo>
                    <a:pt x="0" y="0"/>
                  </a:moveTo>
                  <a:lnTo>
                    <a:pt x="5976491" y="0"/>
                  </a:lnTo>
                  <a:lnTo>
                    <a:pt x="5976491" y="390525"/>
                  </a:lnTo>
                  <a:lnTo>
                    <a:pt x="0" y="390525"/>
                  </a:lnTo>
                  <a:close/>
                </a:path>
              </a:pathLst>
            </a:custGeom>
            <a:blipFill rotWithShape="1">
              <a:blip r:embed="rId6">
                <a:alphaModFix amt="0"/>
              </a:blip>
              <a:stretch>
                <a:fillRect b="-248187" l="0" r="0" t="-248187"/>
              </a:stretch>
            </a:blipFill>
            <a:ln>
              <a:noFill/>
            </a:ln>
          </p:spPr>
        </p:sp>
        <p:sp>
          <p:nvSpPr>
            <p:cNvPr id="367" name="Google Shape;367;p11"/>
            <p:cNvSpPr txBox="1"/>
            <p:nvPr/>
          </p:nvSpPr>
          <p:spPr>
            <a:xfrm>
              <a:off x="0" y="0"/>
              <a:ext cx="5976493" cy="3905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1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69" u="none" cap="none" strike="noStrike">
                  <a:solidFill>
                    <a:srgbClr val="000000"/>
                  </a:solidFill>
                  <a:latin typeface="Noto Sans"/>
                  <a:ea typeface="Noto Sans"/>
                  <a:cs typeface="Noto Sans"/>
                  <a:sym typeface="Noto Sans"/>
                </a:rPr>
                <a:t> • JSON: Lightweight, human-readable format</a:t>
              </a:r>
              <a:endParaRPr/>
            </a:p>
          </p:txBody>
        </p:sp>
      </p:grpSp>
      <p:grpSp>
        <p:nvGrpSpPr>
          <p:cNvPr id="368" name="Google Shape;368;p11"/>
          <p:cNvGrpSpPr/>
          <p:nvPr/>
        </p:nvGrpSpPr>
        <p:grpSpPr>
          <a:xfrm>
            <a:off x="9741501" y="2753716"/>
            <a:ext cx="4690485" cy="292894"/>
            <a:chOff x="0" y="0"/>
            <a:chExt cx="6253981" cy="390525"/>
          </a:xfrm>
        </p:grpSpPr>
        <p:sp>
          <p:nvSpPr>
            <p:cNvPr id="369" name="Google Shape;369;p11"/>
            <p:cNvSpPr/>
            <p:nvPr/>
          </p:nvSpPr>
          <p:spPr>
            <a:xfrm>
              <a:off x="0" y="0"/>
              <a:ext cx="6253981" cy="390525"/>
            </a:xfrm>
            <a:custGeom>
              <a:rect b="b" l="l" r="r" t="t"/>
              <a:pathLst>
                <a:path extrusionOk="0" h="390525" w="6253981">
                  <a:moveTo>
                    <a:pt x="0" y="0"/>
                  </a:moveTo>
                  <a:lnTo>
                    <a:pt x="6253981" y="0"/>
                  </a:lnTo>
                  <a:lnTo>
                    <a:pt x="6253981" y="390525"/>
                  </a:lnTo>
                  <a:lnTo>
                    <a:pt x="0" y="390525"/>
                  </a:lnTo>
                  <a:close/>
                </a:path>
              </a:pathLst>
            </a:custGeom>
            <a:blipFill rotWithShape="1">
              <a:blip r:embed="rId6">
                <a:alphaModFix amt="0"/>
              </a:blip>
              <a:stretch>
                <a:fillRect b="-262032" l="0" r="0" t="-262032"/>
              </a:stretch>
            </a:blipFill>
            <a:ln>
              <a:noFill/>
            </a:ln>
          </p:spPr>
        </p:sp>
        <p:sp>
          <p:nvSpPr>
            <p:cNvPr id="370" name="Google Shape;370;p11"/>
            <p:cNvSpPr txBox="1"/>
            <p:nvPr/>
          </p:nvSpPr>
          <p:spPr>
            <a:xfrm>
              <a:off x="0" y="0"/>
              <a:ext cx="6253975" cy="3905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1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69" u="none" cap="none" strike="noStrike">
                  <a:solidFill>
                    <a:srgbClr val="000000"/>
                  </a:solidFill>
                  <a:latin typeface="Noto Sans"/>
                  <a:ea typeface="Noto Sans"/>
                  <a:cs typeface="Noto Sans"/>
                  <a:sym typeface="Noto Sans"/>
                </a:rPr>
                <a:t> • REST: Architectural style using HTTP methods</a:t>
              </a:r>
              <a:endParaRPr/>
            </a:p>
          </p:txBody>
        </p:sp>
      </p:grpSp>
      <p:grpSp>
        <p:nvGrpSpPr>
          <p:cNvPr id="371" name="Google Shape;371;p11"/>
          <p:cNvGrpSpPr/>
          <p:nvPr/>
        </p:nvGrpSpPr>
        <p:grpSpPr>
          <a:xfrm>
            <a:off x="9741501" y="3046609"/>
            <a:ext cx="5287101" cy="292894"/>
            <a:chOff x="0" y="0"/>
            <a:chExt cx="7049467" cy="390525"/>
          </a:xfrm>
        </p:grpSpPr>
        <p:sp>
          <p:nvSpPr>
            <p:cNvPr id="372" name="Google Shape;372;p11"/>
            <p:cNvSpPr/>
            <p:nvPr/>
          </p:nvSpPr>
          <p:spPr>
            <a:xfrm>
              <a:off x="0" y="0"/>
              <a:ext cx="7049467" cy="390525"/>
            </a:xfrm>
            <a:custGeom>
              <a:rect b="b" l="l" r="r" t="t"/>
              <a:pathLst>
                <a:path extrusionOk="0" h="390525" w="7049467">
                  <a:moveTo>
                    <a:pt x="0" y="0"/>
                  </a:moveTo>
                  <a:lnTo>
                    <a:pt x="7049467" y="0"/>
                  </a:lnTo>
                  <a:lnTo>
                    <a:pt x="7049467" y="390525"/>
                  </a:lnTo>
                  <a:lnTo>
                    <a:pt x="0" y="390525"/>
                  </a:lnTo>
                  <a:close/>
                </a:path>
              </a:pathLst>
            </a:custGeom>
            <a:blipFill rotWithShape="1">
              <a:blip r:embed="rId6">
                <a:alphaModFix amt="0"/>
              </a:blip>
              <a:stretch>
                <a:fillRect b="-301716" l="0" r="0" t="-301716"/>
              </a:stretch>
            </a:blipFill>
            <a:ln>
              <a:noFill/>
            </a:ln>
          </p:spPr>
        </p:sp>
        <p:sp>
          <p:nvSpPr>
            <p:cNvPr id="373" name="Google Shape;373;p11"/>
            <p:cNvSpPr txBox="1"/>
            <p:nvPr/>
          </p:nvSpPr>
          <p:spPr>
            <a:xfrm>
              <a:off x="0" y="0"/>
              <a:ext cx="7049465" cy="3905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1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69" u="none" cap="none" strike="noStrike">
                  <a:solidFill>
                    <a:srgbClr val="000000"/>
                  </a:solidFill>
                  <a:latin typeface="Noto Sans"/>
                  <a:ea typeface="Noto Sans"/>
                  <a:cs typeface="Noto Sans"/>
                  <a:sym typeface="Noto Sans"/>
                </a:rPr>
                <a:t> • GraphQL: Query language for flexible data retrieval </a:t>
              </a:r>
              <a:endParaRPr/>
            </a:p>
          </p:txBody>
        </p:sp>
      </p:grpSp>
      <p:grpSp>
        <p:nvGrpSpPr>
          <p:cNvPr id="374" name="Google Shape;374;p11"/>
          <p:cNvGrpSpPr/>
          <p:nvPr/>
        </p:nvGrpSpPr>
        <p:grpSpPr>
          <a:xfrm>
            <a:off x="9398401" y="4238887"/>
            <a:ext cx="8058531" cy="4593613"/>
            <a:chOff x="0" y="0"/>
            <a:chExt cx="10744708" cy="6124818"/>
          </a:xfrm>
        </p:grpSpPr>
        <p:sp>
          <p:nvSpPr>
            <p:cNvPr id="375" name="Google Shape;375;p11"/>
            <p:cNvSpPr/>
            <p:nvPr/>
          </p:nvSpPr>
          <p:spPr>
            <a:xfrm>
              <a:off x="0" y="0"/>
              <a:ext cx="10744708" cy="6124818"/>
            </a:xfrm>
            <a:custGeom>
              <a:rect b="b" l="l" r="r" t="t"/>
              <a:pathLst>
                <a:path extrusionOk="0" h="6124818" w="10744708">
                  <a:moveTo>
                    <a:pt x="0" y="0"/>
                  </a:moveTo>
                  <a:lnTo>
                    <a:pt x="10744708" y="0"/>
                  </a:lnTo>
                  <a:lnTo>
                    <a:pt x="10744708" y="6124818"/>
                  </a:lnTo>
                  <a:lnTo>
                    <a:pt x="0" y="6124818"/>
                  </a:lnTo>
                  <a:close/>
                </a:path>
              </a:pathLst>
            </a:custGeom>
            <a:solidFill>
              <a:srgbClr val="FFFFFF"/>
            </a:solidFill>
            <a:ln cap="sq" cmpd="sng" w="9525">
              <a:solidFill>
                <a:srgbClr val="4285F4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376" name="Google Shape;376;p11"/>
            <p:cNvSpPr/>
            <p:nvPr/>
          </p:nvSpPr>
          <p:spPr>
            <a:xfrm>
              <a:off x="396954" y="536575"/>
              <a:ext cx="4021836" cy="762000"/>
            </a:xfrm>
            <a:custGeom>
              <a:rect b="b" l="l" r="r" t="t"/>
              <a:pathLst>
                <a:path extrusionOk="0" h="762000" w="4021836">
                  <a:moveTo>
                    <a:pt x="0" y="0"/>
                  </a:moveTo>
                  <a:lnTo>
                    <a:pt x="4021836" y="0"/>
                  </a:lnTo>
                  <a:lnTo>
                    <a:pt x="4021836" y="762000"/>
                  </a:lnTo>
                  <a:lnTo>
                    <a:pt x="0" y="762000"/>
                  </a:lnTo>
                  <a:close/>
                </a:path>
              </a:pathLst>
            </a:custGeom>
            <a:solidFill>
              <a:srgbClr val="00AEEF"/>
            </a:solidFill>
            <a:ln>
              <a:noFill/>
            </a:ln>
          </p:spPr>
        </p:sp>
        <p:grpSp>
          <p:nvGrpSpPr>
            <p:cNvPr id="377" name="Google Shape;377;p11"/>
            <p:cNvGrpSpPr/>
            <p:nvPr/>
          </p:nvGrpSpPr>
          <p:grpSpPr>
            <a:xfrm>
              <a:off x="396954" y="527050"/>
              <a:ext cx="4021861" cy="771525"/>
              <a:chOff x="0" y="-9525"/>
              <a:chExt cx="4021861" cy="771525"/>
            </a:xfrm>
          </p:grpSpPr>
          <p:sp>
            <p:nvSpPr>
              <p:cNvPr id="378" name="Google Shape;378;p11"/>
              <p:cNvSpPr/>
              <p:nvPr/>
            </p:nvSpPr>
            <p:spPr>
              <a:xfrm>
                <a:off x="0" y="0"/>
                <a:ext cx="4021856" cy="762000"/>
              </a:xfrm>
              <a:custGeom>
                <a:rect b="b" l="l" r="r" t="t"/>
                <a:pathLst>
                  <a:path extrusionOk="0" h="762000" w="4021856">
                    <a:moveTo>
                      <a:pt x="0" y="0"/>
                    </a:moveTo>
                    <a:lnTo>
                      <a:pt x="4021856" y="0"/>
                    </a:lnTo>
                    <a:lnTo>
                      <a:pt x="4021856" y="762000"/>
                    </a:lnTo>
                    <a:lnTo>
                      <a:pt x="0" y="762000"/>
                    </a:lnTo>
                    <a:close/>
                  </a:path>
                </a:pathLst>
              </a:custGeom>
              <a:blipFill rotWithShape="1">
                <a:blip r:embed="rId6">
                  <a:alphaModFix amt="0"/>
                </a:blip>
                <a:stretch>
                  <a:fillRect b="-52843" l="0" r="0" t="-52843"/>
                </a:stretch>
              </a:blipFill>
              <a:ln>
                <a:noFill/>
              </a:ln>
            </p:spPr>
          </p:sp>
          <p:sp>
            <p:nvSpPr>
              <p:cNvPr id="379" name="Google Shape;379;p11"/>
              <p:cNvSpPr txBox="1"/>
              <p:nvPr/>
            </p:nvSpPr>
            <p:spPr>
              <a:xfrm>
                <a:off x="0" y="-9525"/>
                <a:ext cx="4021861" cy="7715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1995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-US" sz="1674" u="none" cap="none" strike="noStrike">
                    <a:solidFill>
                      <a:srgbClr val="FFFFFF"/>
                    </a:solidFill>
                    <a:latin typeface="Noto Sans"/>
                    <a:ea typeface="Noto Sans"/>
                    <a:cs typeface="Noto Sans"/>
                    <a:sym typeface="Noto Sans"/>
                  </a:rPr>
                  <a:t>Stateless Architecture</a:t>
                </a:r>
                <a:endParaRPr/>
              </a:p>
            </p:txBody>
          </p:sp>
        </p:grpSp>
        <p:grpSp>
          <p:nvGrpSpPr>
            <p:cNvPr id="380" name="Google Shape;380;p11"/>
            <p:cNvGrpSpPr/>
            <p:nvPr/>
          </p:nvGrpSpPr>
          <p:grpSpPr>
            <a:xfrm>
              <a:off x="457467" y="1438275"/>
              <a:ext cx="9829800" cy="1066800"/>
              <a:chOff x="0" y="0"/>
              <a:chExt cx="9829800" cy="1066800"/>
            </a:xfrm>
          </p:grpSpPr>
          <p:sp>
            <p:nvSpPr>
              <p:cNvPr id="381" name="Google Shape;381;p11"/>
              <p:cNvSpPr/>
              <p:nvPr/>
            </p:nvSpPr>
            <p:spPr>
              <a:xfrm>
                <a:off x="0" y="0"/>
                <a:ext cx="9829800" cy="1066800"/>
              </a:xfrm>
              <a:custGeom>
                <a:rect b="b" l="l" r="r" t="t"/>
                <a:pathLst>
                  <a:path extrusionOk="0" h="1066800" w="9829800">
                    <a:moveTo>
                      <a:pt x="0" y="0"/>
                    </a:moveTo>
                    <a:lnTo>
                      <a:pt x="9829800" y="0"/>
                    </a:lnTo>
                    <a:lnTo>
                      <a:pt x="9829800" y="1066800"/>
                    </a:lnTo>
                    <a:lnTo>
                      <a:pt x="0" y="1066800"/>
                    </a:lnTo>
                    <a:close/>
                  </a:path>
                </a:pathLst>
              </a:custGeom>
              <a:blipFill rotWithShape="1">
                <a:blip r:embed="rId6">
                  <a:alphaModFix amt="0"/>
                </a:blip>
                <a:stretch>
                  <a:fillRect b="-129546" l="0" r="0" t="-129546"/>
                </a:stretch>
              </a:blipFill>
              <a:ln>
                <a:noFill/>
              </a:ln>
            </p:spPr>
          </p:sp>
          <p:sp>
            <p:nvSpPr>
              <p:cNvPr id="382" name="Google Shape;382;p11"/>
              <p:cNvSpPr txBox="1"/>
              <p:nvPr/>
            </p:nvSpPr>
            <p:spPr>
              <a:xfrm>
                <a:off x="0" y="0"/>
                <a:ext cx="9829800" cy="1066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2001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569" u="none" cap="none" strike="noStrike">
                    <a:solidFill>
                      <a:srgbClr val="000000"/>
                    </a:solidFill>
                    <a:latin typeface="Noto Sans"/>
                    <a:ea typeface="Noto Sans"/>
                    <a:cs typeface="Noto Sans"/>
                    <a:sym typeface="Noto Sans"/>
                  </a:rPr>
                  <a:t>Each API request is independent and contains all necessary information. The server doesn't maintain session state between requests.</a:t>
                </a:r>
                <a:endParaRPr/>
              </a:p>
            </p:txBody>
          </p:sp>
        </p:grpSp>
        <p:grpSp>
          <p:nvGrpSpPr>
            <p:cNvPr id="383" name="Google Shape;383;p11"/>
            <p:cNvGrpSpPr/>
            <p:nvPr/>
          </p:nvGrpSpPr>
          <p:grpSpPr>
            <a:xfrm>
              <a:off x="396954" y="2819400"/>
              <a:ext cx="9829800" cy="533400"/>
              <a:chOff x="0" y="0"/>
              <a:chExt cx="9829800" cy="533400"/>
            </a:xfrm>
          </p:grpSpPr>
          <p:sp>
            <p:nvSpPr>
              <p:cNvPr id="384" name="Google Shape;384;p11"/>
              <p:cNvSpPr/>
              <p:nvPr/>
            </p:nvSpPr>
            <p:spPr>
              <a:xfrm>
                <a:off x="0" y="0"/>
                <a:ext cx="9829800" cy="533400"/>
              </a:xfrm>
              <a:custGeom>
                <a:rect b="b" l="l" r="r" t="t"/>
                <a:pathLst>
                  <a:path extrusionOk="0" h="533400" w="9829800">
                    <a:moveTo>
                      <a:pt x="0" y="0"/>
                    </a:moveTo>
                    <a:lnTo>
                      <a:pt x="9829800" y="0"/>
                    </a:lnTo>
                    <a:lnTo>
                      <a:pt x="9829800" y="533400"/>
                    </a:lnTo>
                    <a:lnTo>
                      <a:pt x="0" y="533400"/>
                    </a:lnTo>
                    <a:close/>
                  </a:path>
                </a:pathLst>
              </a:custGeom>
              <a:blipFill rotWithShape="1">
                <a:blip r:embed="rId6">
                  <a:alphaModFix amt="0"/>
                </a:blip>
                <a:stretch>
                  <a:fillRect b="-309092" l="0" r="0" t="-309092"/>
                </a:stretch>
              </a:blipFill>
              <a:ln>
                <a:noFill/>
              </a:ln>
            </p:spPr>
          </p:sp>
          <p:sp>
            <p:nvSpPr>
              <p:cNvPr id="385" name="Google Shape;385;p11"/>
              <p:cNvSpPr txBox="1"/>
              <p:nvPr/>
            </p:nvSpPr>
            <p:spPr>
              <a:xfrm>
                <a:off x="0" y="0"/>
                <a:ext cx="9829800" cy="533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2001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569" u="none" cap="none" strike="noStrike">
                    <a:solidFill>
                      <a:srgbClr val="000000"/>
                    </a:solidFill>
                    <a:latin typeface="Noto Sans"/>
                    <a:ea typeface="Noto Sans"/>
                    <a:cs typeface="Noto Sans"/>
                    <a:sym typeface="Noto Sans"/>
                  </a:rPr>
                  <a:t>• Scalability: Servers can handle requests without memory overhead</a:t>
                </a:r>
                <a:endParaRPr/>
              </a:p>
            </p:txBody>
          </p:sp>
        </p:grpSp>
        <p:grpSp>
          <p:nvGrpSpPr>
            <p:cNvPr id="386" name="Google Shape;386;p11"/>
            <p:cNvGrpSpPr/>
            <p:nvPr/>
          </p:nvGrpSpPr>
          <p:grpSpPr>
            <a:xfrm>
              <a:off x="396954" y="3394075"/>
              <a:ext cx="9829800" cy="533400"/>
              <a:chOff x="0" y="0"/>
              <a:chExt cx="9829800" cy="533400"/>
            </a:xfrm>
          </p:grpSpPr>
          <p:sp>
            <p:nvSpPr>
              <p:cNvPr id="387" name="Google Shape;387;p11"/>
              <p:cNvSpPr/>
              <p:nvPr/>
            </p:nvSpPr>
            <p:spPr>
              <a:xfrm>
                <a:off x="0" y="0"/>
                <a:ext cx="9829800" cy="533400"/>
              </a:xfrm>
              <a:custGeom>
                <a:rect b="b" l="l" r="r" t="t"/>
                <a:pathLst>
                  <a:path extrusionOk="0" h="533400" w="9829800">
                    <a:moveTo>
                      <a:pt x="0" y="0"/>
                    </a:moveTo>
                    <a:lnTo>
                      <a:pt x="9829800" y="0"/>
                    </a:lnTo>
                    <a:lnTo>
                      <a:pt x="9829800" y="533400"/>
                    </a:lnTo>
                    <a:lnTo>
                      <a:pt x="0" y="533400"/>
                    </a:lnTo>
                    <a:close/>
                  </a:path>
                </a:pathLst>
              </a:custGeom>
              <a:blipFill rotWithShape="1">
                <a:blip r:embed="rId6">
                  <a:alphaModFix amt="0"/>
                </a:blip>
                <a:stretch>
                  <a:fillRect b="-309092" l="0" r="0" t="-309092"/>
                </a:stretch>
              </a:blipFill>
              <a:ln>
                <a:noFill/>
              </a:ln>
            </p:spPr>
          </p:sp>
          <p:sp>
            <p:nvSpPr>
              <p:cNvPr id="388" name="Google Shape;388;p11"/>
              <p:cNvSpPr txBox="1"/>
              <p:nvPr/>
            </p:nvSpPr>
            <p:spPr>
              <a:xfrm>
                <a:off x="0" y="0"/>
                <a:ext cx="9829800" cy="533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2001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569" u="none" cap="none" strike="noStrike">
                    <a:solidFill>
                      <a:srgbClr val="000000"/>
                    </a:solidFill>
                    <a:latin typeface="Noto Sans"/>
                    <a:ea typeface="Noto Sans"/>
                    <a:cs typeface="Noto Sans"/>
                    <a:sym typeface="Noto Sans"/>
                  </a:rPr>
                  <a:t>• Reliability: No session data loss if server fails</a:t>
                </a:r>
                <a:endParaRPr/>
              </a:p>
            </p:txBody>
          </p:sp>
        </p:grpSp>
        <p:grpSp>
          <p:nvGrpSpPr>
            <p:cNvPr id="389" name="Google Shape;389;p11"/>
            <p:cNvGrpSpPr/>
            <p:nvPr/>
          </p:nvGrpSpPr>
          <p:grpSpPr>
            <a:xfrm>
              <a:off x="396954" y="4067175"/>
              <a:ext cx="9829800" cy="533400"/>
              <a:chOff x="0" y="0"/>
              <a:chExt cx="9829800" cy="533400"/>
            </a:xfrm>
          </p:grpSpPr>
          <p:sp>
            <p:nvSpPr>
              <p:cNvPr id="390" name="Google Shape;390;p11"/>
              <p:cNvSpPr/>
              <p:nvPr/>
            </p:nvSpPr>
            <p:spPr>
              <a:xfrm>
                <a:off x="0" y="0"/>
                <a:ext cx="9829800" cy="533400"/>
              </a:xfrm>
              <a:custGeom>
                <a:rect b="b" l="l" r="r" t="t"/>
                <a:pathLst>
                  <a:path extrusionOk="0" h="533400" w="9829800">
                    <a:moveTo>
                      <a:pt x="0" y="0"/>
                    </a:moveTo>
                    <a:lnTo>
                      <a:pt x="9829800" y="0"/>
                    </a:lnTo>
                    <a:lnTo>
                      <a:pt x="9829800" y="533400"/>
                    </a:lnTo>
                    <a:lnTo>
                      <a:pt x="0" y="533400"/>
                    </a:lnTo>
                    <a:close/>
                  </a:path>
                </a:pathLst>
              </a:custGeom>
              <a:blipFill rotWithShape="1">
                <a:blip r:embed="rId6">
                  <a:alphaModFix amt="0"/>
                </a:blip>
                <a:stretch>
                  <a:fillRect b="-309092" l="0" r="0" t="-309092"/>
                </a:stretch>
              </a:blipFill>
              <a:ln>
                <a:noFill/>
              </a:ln>
            </p:spPr>
          </p:sp>
          <p:sp>
            <p:nvSpPr>
              <p:cNvPr id="391" name="Google Shape;391;p11"/>
              <p:cNvSpPr txBox="1"/>
              <p:nvPr/>
            </p:nvSpPr>
            <p:spPr>
              <a:xfrm>
                <a:off x="0" y="0"/>
                <a:ext cx="9829800" cy="533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2001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569" u="none" cap="none" strike="noStrike">
                    <a:solidFill>
                      <a:srgbClr val="000000"/>
                    </a:solidFill>
                    <a:latin typeface="Noto Sans"/>
                    <a:ea typeface="Noto Sans"/>
                    <a:cs typeface="Noto Sans"/>
                    <a:sym typeface="Noto Sans"/>
                  </a:rPr>
                  <a:t>• Simplicity: Easier to cache and distribute requests</a:t>
                </a:r>
                <a:endParaRPr/>
              </a:p>
            </p:txBody>
          </p:sp>
        </p:grpSp>
        <p:grpSp>
          <p:nvGrpSpPr>
            <p:cNvPr id="392" name="Google Shape;392;p11"/>
            <p:cNvGrpSpPr/>
            <p:nvPr/>
          </p:nvGrpSpPr>
          <p:grpSpPr>
            <a:xfrm>
              <a:off x="457467" y="4710113"/>
              <a:ext cx="2241207" cy="390525"/>
              <a:chOff x="0" y="0"/>
              <a:chExt cx="2241207" cy="390525"/>
            </a:xfrm>
          </p:grpSpPr>
          <p:sp>
            <p:nvSpPr>
              <p:cNvPr id="393" name="Google Shape;393;p11"/>
              <p:cNvSpPr/>
              <p:nvPr/>
            </p:nvSpPr>
            <p:spPr>
              <a:xfrm>
                <a:off x="0" y="0"/>
                <a:ext cx="2241203" cy="390525"/>
              </a:xfrm>
              <a:custGeom>
                <a:rect b="b" l="l" r="r" t="t"/>
                <a:pathLst>
                  <a:path extrusionOk="0" h="390525" w="2241203">
                    <a:moveTo>
                      <a:pt x="0" y="0"/>
                    </a:moveTo>
                    <a:lnTo>
                      <a:pt x="2241203" y="0"/>
                    </a:lnTo>
                    <a:lnTo>
                      <a:pt x="2241203" y="390525"/>
                    </a:lnTo>
                    <a:lnTo>
                      <a:pt x="0" y="390525"/>
                    </a:lnTo>
                    <a:close/>
                  </a:path>
                </a:pathLst>
              </a:custGeom>
              <a:blipFill rotWithShape="1">
                <a:blip r:embed="rId6">
                  <a:alphaModFix amt="0"/>
                </a:blip>
                <a:stretch>
                  <a:fillRect b="-61822" l="0" r="0" t="-61822"/>
                </a:stretch>
              </a:blipFill>
              <a:ln>
                <a:noFill/>
              </a:ln>
            </p:spPr>
          </p:sp>
          <p:sp>
            <p:nvSpPr>
              <p:cNvPr id="394" name="Google Shape;394;p11"/>
              <p:cNvSpPr txBox="1"/>
              <p:nvPr/>
            </p:nvSpPr>
            <p:spPr>
              <a:xfrm>
                <a:off x="0" y="0"/>
                <a:ext cx="2241207" cy="3905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2001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-US" sz="1569" u="none" cap="none" strike="noStrike">
                    <a:solidFill>
                      <a:srgbClr val="00AEEF"/>
                    </a:solidFill>
                    <a:latin typeface="Noto Sans"/>
                    <a:ea typeface="Noto Sans"/>
                    <a:cs typeface="Noto Sans"/>
                    <a:sym typeface="Noto Sans"/>
                  </a:rPr>
                  <a:t>Authentication:</a:t>
                </a:r>
                <a:endParaRPr/>
              </a:p>
            </p:txBody>
          </p:sp>
        </p:grpSp>
        <p:grpSp>
          <p:nvGrpSpPr>
            <p:cNvPr id="395" name="Google Shape;395;p11"/>
            <p:cNvGrpSpPr/>
            <p:nvPr/>
          </p:nvGrpSpPr>
          <p:grpSpPr>
            <a:xfrm>
              <a:off x="2698674" y="4710113"/>
              <a:ext cx="6928320" cy="390525"/>
              <a:chOff x="0" y="0"/>
              <a:chExt cx="6928320" cy="390525"/>
            </a:xfrm>
          </p:grpSpPr>
          <p:sp>
            <p:nvSpPr>
              <p:cNvPr id="396" name="Google Shape;396;p11"/>
              <p:cNvSpPr/>
              <p:nvPr/>
            </p:nvSpPr>
            <p:spPr>
              <a:xfrm>
                <a:off x="0" y="0"/>
                <a:ext cx="6928320" cy="390525"/>
              </a:xfrm>
              <a:custGeom>
                <a:rect b="b" l="l" r="r" t="t"/>
                <a:pathLst>
                  <a:path extrusionOk="0" h="390525" w="6928320">
                    <a:moveTo>
                      <a:pt x="0" y="0"/>
                    </a:moveTo>
                    <a:lnTo>
                      <a:pt x="6928320" y="0"/>
                    </a:lnTo>
                    <a:lnTo>
                      <a:pt x="6928320" y="390525"/>
                    </a:lnTo>
                    <a:lnTo>
                      <a:pt x="0" y="390525"/>
                    </a:lnTo>
                    <a:close/>
                  </a:path>
                </a:pathLst>
              </a:custGeom>
              <a:blipFill rotWithShape="1">
                <a:blip r:embed="rId6">
                  <a:alphaModFix amt="0"/>
                </a:blip>
                <a:stretch>
                  <a:fillRect b="-295686" l="0" r="0" t="-295686"/>
                </a:stretch>
              </a:blipFill>
              <a:ln>
                <a:noFill/>
              </a:ln>
            </p:spPr>
          </p:sp>
          <p:sp>
            <p:nvSpPr>
              <p:cNvPr id="397" name="Google Shape;397;p11"/>
              <p:cNvSpPr txBox="1"/>
              <p:nvPr/>
            </p:nvSpPr>
            <p:spPr>
              <a:xfrm>
                <a:off x="0" y="0"/>
                <a:ext cx="6928320" cy="3905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2001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569" u="none" cap="none" strike="noStrike">
                    <a:solidFill>
                      <a:srgbClr val="000000"/>
                    </a:solidFill>
                    <a:latin typeface="Noto Sans"/>
                    <a:ea typeface="Noto Sans"/>
                    <a:cs typeface="Noto Sans"/>
                    <a:sym typeface="Noto Sans"/>
                  </a:rPr>
                  <a:t> Typically handled via tokens (JWT, OAuth) passed in </a:t>
                </a:r>
                <a:endParaRPr/>
              </a:p>
            </p:txBody>
          </p:sp>
        </p:grpSp>
        <p:grpSp>
          <p:nvGrpSpPr>
            <p:cNvPr id="398" name="Google Shape;398;p11"/>
            <p:cNvGrpSpPr/>
            <p:nvPr/>
          </p:nvGrpSpPr>
          <p:grpSpPr>
            <a:xfrm>
              <a:off x="457467" y="5243513"/>
              <a:ext cx="5523611" cy="390525"/>
              <a:chOff x="0" y="0"/>
              <a:chExt cx="5523611" cy="390525"/>
            </a:xfrm>
          </p:grpSpPr>
          <p:sp>
            <p:nvSpPr>
              <p:cNvPr id="399" name="Google Shape;399;p11"/>
              <p:cNvSpPr/>
              <p:nvPr/>
            </p:nvSpPr>
            <p:spPr>
              <a:xfrm>
                <a:off x="0" y="0"/>
                <a:ext cx="5523608" cy="390525"/>
              </a:xfrm>
              <a:custGeom>
                <a:rect b="b" l="l" r="r" t="t"/>
                <a:pathLst>
                  <a:path extrusionOk="0" h="390525" w="5523608">
                    <a:moveTo>
                      <a:pt x="0" y="0"/>
                    </a:moveTo>
                    <a:lnTo>
                      <a:pt x="5523608" y="0"/>
                    </a:lnTo>
                    <a:lnTo>
                      <a:pt x="5523608" y="390525"/>
                    </a:lnTo>
                    <a:lnTo>
                      <a:pt x="0" y="390525"/>
                    </a:lnTo>
                    <a:close/>
                  </a:path>
                </a:pathLst>
              </a:custGeom>
              <a:blipFill rotWithShape="1">
                <a:blip r:embed="rId6">
                  <a:alphaModFix amt="0"/>
                </a:blip>
                <a:stretch>
                  <a:fillRect b="-225604" l="0" r="0" t="-225604"/>
                </a:stretch>
              </a:blipFill>
              <a:ln>
                <a:noFill/>
              </a:ln>
            </p:spPr>
          </p:sp>
          <p:sp>
            <p:nvSpPr>
              <p:cNvPr id="400" name="Google Shape;400;p11"/>
              <p:cNvSpPr txBox="1"/>
              <p:nvPr/>
            </p:nvSpPr>
            <p:spPr>
              <a:xfrm>
                <a:off x="0" y="0"/>
                <a:ext cx="5523611" cy="3905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2001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569" u="none" cap="none" strike="noStrike">
                    <a:solidFill>
                      <a:srgbClr val="000000"/>
                    </a:solidFill>
                    <a:latin typeface="Noto Sans"/>
                    <a:ea typeface="Noto Sans"/>
                    <a:cs typeface="Noto Sans"/>
                    <a:sym typeface="Noto Sans"/>
                  </a:rPr>
                  <a:t>headers rather than server-side sessions.</a:t>
                </a:r>
                <a:endParaRPr/>
              </a:p>
            </p:txBody>
          </p:sp>
        </p:grpSp>
        <p:grpSp>
          <p:nvGrpSpPr>
            <p:cNvPr id="401" name="Google Shape;401;p11"/>
            <p:cNvGrpSpPr/>
            <p:nvPr/>
          </p:nvGrpSpPr>
          <p:grpSpPr>
            <a:xfrm>
              <a:off x="457467" y="2314575"/>
              <a:ext cx="1262736" cy="390525"/>
              <a:chOff x="0" y="0"/>
              <a:chExt cx="1262736" cy="390525"/>
            </a:xfrm>
          </p:grpSpPr>
          <p:sp>
            <p:nvSpPr>
              <p:cNvPr id="402" name="Google Shape;402;p11"/>
              <p:cNvSpPr/>
              <p:nvPr/>
            </p:nvSpPr>
            <p:spPr>
              <a:xfrm>
                <a:off x="0" y="0"/>
                <a:ext cx="1262733" cy="390525"/>
              </a:xfrm>
              <a:custGeom>
                <a:rect b="b" l="l" r="r" t="t"/>
                <a:pathLst>
                  <a:path extrusionOk="0" h="390525" w="1262733">
                    <a:moveTo>
                      <a:pt x="0" y="0"/>
                    </a:moveTo>
                    <a:lnTo>
                      <a:pt x="1262733" y="0"/>
                    </a:lnTo>
                    <a:lnTo>
                      <a:pt x="1262733" y="390525"/>
                    </a:lnTo>
                    <a:lnTo>
                      <a:pt x="0" y="390525"/>
                    </a:lnTo>
                    <a:close/>
                  </a:path>
                </a:pathLst>
              </a:custGeom>
              <a:blipFill rotWithShape="1">
                <a:blip r:embed="rId6">
                  <a:alphaModFix amt="0"/>
                </a:blip>
                <a:stretch>
                  <a:fillRect b="-13002" l="0" r="0" t="-13002"/>
                </a:stretch>
              </a:blipFill>
              <a:ln>
                <a:noFill/>
              </a:ln>
            </p:spPr>
          </p:sp>
          <p:sp>
            <p:nvSpPr>
              <p:cNvPr id="403" name="Google Shape;403;p11"/>
              <p:cNvSpPr txBox="1"/>
              <p:nvPr/>
            </p:nvSpPr>
            <p:spPr>
              <a:xfrm>
                <a:off x="0" y="0"/>
                <a:ext cx="1262736" cy="3905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2001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-US" sz="1569" u="none" cap="none" strike="noStrike">
                    <a:solidFill>
                      <a:srgbClr val="00AEEF"/>
                    </a:solidFill>
                    <a:latin typeface="Noto Sans"/>
                    <a:ea typeface="Noto Sans"/>
                    <a:cs typeface="Noto Sans"/>
                    <a:sym typeface="Noto Sans"/>
                  </a:rPr>
                  <a:t>Benefits:</a:t>
                </a:r>
                <a:endParaRPr/>
              </a:p>
            </p:txBody>
          </p:sp>
        </p:grpSp>
      </p:grpSp>
      <p:grpSp>
        <p:nvGrpSpPr>
          <p:cNvPr id="404" name="Google Shape;404;p11"/>
          <p:cNvGrpSpPr/>
          <p:nvPr/>
        </p:nvGrpSpPr>
        <p:grpSpPr>
          <a:xfrm>
            <a:off x="13902080" y="9352153"/>
            <a:ext cx="4385920" cy="934847"/>
            <a:chOff x="0" y="0"/>
            <a:chExt cx="5847893" cy="1246463"/>
          </a:xfrm>
        </p:grpSpPr>
        <p:sp>
          <p:nvSpPr>
            <p:cNvPr id="405" name="Google Shape;405;p11"/>
            <p:cNvSpPr/>
            <p:nvPr/>
          </p:nvSpPr>
          <p:spPr>
            <a:xfrm>
              <a:off x="0" y="0"/>
              <a:ext cx="5847893" cy="1246463"/>
            </a:xfrm>
            <a:custGeom>
              <a:rect b="b" l="l" r="r" t="t"/>
              <a:pathLst>
                <a:path extrusionOk="0" h="1250575" w="5867187">
                  <a:moveTo>
                    <a:pt x="0" y="0"/>
                  </a:moveTo>
                  <a:lnTo>
                    <a:pt x="5867187" y="0"/>
                  </a:lnTo>
                  <a:lnTo>
                    <a:pt x="5867187" y="1250575"/>
                  </a:lnTo>
                  <a:lnTo>
                    <a:pt x="0" y="125057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descr="preencoded.png" id="406" name="Google Shape;406;p11"/>
            <p:cNvSpPr/>
            <p:nvPr/>
          </p:nvSpPr>
          <p:spPr>
            <a:xfrm>
              <a:off x="304849" y="194606"/>
              <a:ext cx="5238169" cy="857250"/>
            </a:xfrm>
            <a:custGeom>
              <a:rect b="b" l="l" r="r" t="t"/>
              <a:pathLst>
                <a:path extrusionOk="0" h="857250" w="5238169">
                  <a:moveTo>
                    <a:pt x="0" y="0"/>
                  </a:moveTo>
                  <a:lnTo>
                    <a:pt x="5238169" y="0"/>
                  </a:lnTo>
                  <a:lnTo>
                    <a:pt x="5238169" y="857250"/>
                  </a:lnTo>
                  <a:lnTo>
                    <a:pt x="0" y="85725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7">
                <a:alphaModFix/>
              </a:blip>
              <a:stretch>
                <a:fillRect b="-2834" l="0" r="0" t="-2835"/>
              </a:stretch>
            </a:blipFill>
            <a:ln>
              <a:noFill/>
            </a:ln>
          </p:spPr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How APIs Work (request/response cycle)</a:t>
            </a:r>
          </a:p>
        </p:txBody>
      </p:sp>
      <p:pic>
        <p:nvPicPr>
          <p:cNvPr id="3" name="Picture 2" descr="d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3089" y="1600200"/>
            <a:ext cx="11421822" cy="7635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9281160"/>
            <a:ext cx="17190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444C56"/>
                </a:solidFill>
              </a:rPr>
              <a:t>An API call is one round trip — the client asks with a verb + endpoint, the server does the work and answers with a status code and JSON. Every call stands alone.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1" name="Google Shape;411;g3fbf35cb889_9_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6" name="Google Shape;416;g3fbf35cb889_9_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2453"/>
            <a:ext cx="1828800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preencoded.png" id="421" name="Google Shape;421;p14"/>
          <p:cNvSpPr/>
          <p:nvPr/>
        </p:nvSpPr>
        <p:spPr>
          <a:xfrm>
            <a:off x="0" y="8401050"/>
            <a:ext cx="5915025" cy="1885950"/>
          </a:xfrm>
          <a:custGeom>
            <a:rect b="b" l="l" r="r" t="t"/>
            <a:pathLst>
              <a:path extrusionOk="0" h="2514600" w="7886700">
                <a:moveTo>
                  <a:pt x="0" y="0"/>
                </a:moveTo>
                <a:lnTo>
                  <a:pt x="7886700" y="0"/>
                </a:lnTo>
                <a:lnTo>
                  <a:pt x="7886700" y="2514600"/>
                </a:lnTo>
                <a:lnTo>
                  <a:pt x="0" y="2514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380" l="0" r="0" t="-380"/>
            </a:stretch>
          </a:blipFill>
          <a:ln>
            <a:noFill/>
          </a:ln>
        </p:spPr>
      </p:sp>
      <p:sp>
        <p:nvSpPr>
          <p:cNvPr descr="preencoded.png" id="422" name="Google Shape;422;p14"/>
          <p:cNvSpPr/>
          <p:nvPr/>
        </p:nvSpPr>
        <p:spPr>
          <a:xfrm>
            <a:off x="0" y="7400925"/>
            <a:ext cx="4443413" cy="2386013"/>
          </a:xfrm>
          <a:custGeom>
            <a:rect b="b" l="l" r="r" t="t"/>
            <a:pathLst>
              <a:path extrusionOk="0" h="3181350" w="5924550">
                <a:moveTo>
                  <a:pt x="0" y="0"/>
                </a:moveTo>
                <a:lnTo>
                  <a:pt x="5924550" y="0"/>
                </a:lnTo>
                <a:lnTo>
                  <a:pt x="5924550" y="3181350"/>
                </a:lnTo>
                <a:lnTo>
                  <a:pt x="0" y="31813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300" l="0" r="0" t="-300"/>
            </a:stretch>
          </a:blipFill>
          <a:ln>
            <a:noFill/>
          </a:ln>
        </p:spPr>
      </p:sp>
      <p:sp>
        <p:nvSpPr>
          <p:cNvPr descr="preencoded.png" id="423" name="Google Shape;423;p14"/>
          <p:cNvSpPr/>
          <p:nvPr/>
        </p:nvSpPr>
        <p:spPr>
          <a:xfrm>
            <a:off x="5143500" y="8986838"/>
            <a:ext cx="3257550" cy="1300163"/>
          </a:xfrm>
          <a:custGeom>
            <a:rect b="b" l="l" r="r" t="t"/>
            <a:pathLst>
              <a:path extrusionOk="0" h="1733550" w="4343400">
                <a:moveTo>
                  <a:pt x="0" y="0"/>
                </a:moveTo>
                <a:lnTo>
                  <a:pt x="4343400" y="0"/>
                </a:lnTo>
                <a:lnTo>
                  <a:pt x="4343400" y="1733550"/>
                </a:lnTo>
                <a:lnTo>
                  <a:pt x="0" y="17335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 amt="70000"/>
            </a:blip>
            <a:stretch>
              <a:fillRect b="-550" l="0" r="0" t="-550"/>
            </a:stretch>
          </a:blipFill>
          <a:ln>
            <a:noFill/>
          </a:ln>
        </p:spPr>
      </p:sp>
      <p:sp>
        <p:nvSpPr>
          <p:cNvPr id="424" name="Google Shape;424;p14"/>
          <p:cNvSpPr/>
          <p:nvPr/>
        </p:nvSpPr>
        <p:spPr>
          <a:xfrm>
            <a:off x="0" y="1"/>
            <a:ext cx="9144000" cy="9450838"/>
          </a:xfrm>
          <a:custGeom>
            <a:rect b="b" l="l" r="r" t="t"/>
            <a:pathLst>
              <a:path extrusionOk="0" h="13647420" w="12192000">
                <a:moveTo>
                  <a:pt x="0" y="0"/>
                </a:moveTo>
                <a:lnTo>
                  <a:pt x="12192000" y="0"/>
                </a:lnTo>
                <a:lnTo>
                  <a:pt x="12192000" y="13647420"/>
                </a:lnTo>
                <a:lnTo>
                  <a:pt x="0" y="13647420"/>
                </a:lnTo>
                <a:close/>
              </a:path>
            </a:pathLst>
          </a:custGeom>
          <a:solidFill>
            <a:srgbClr val="0F1B2C"/>
          </a:solidFill>
          <a:ln>
            <a:noFill/>
          </a:ln>
        </p:spPr>
      </p:sp>
      <p:grpSp>
        <p:nvGrpSpPr>
          <p:cNvPr id="425" name="Google Shape;425;p14"/>
          <p:cNvGrpSpPr/>
          <p:nvPr/>
        </p:nvGrpSpPr>
        <p:grpSpPr>
          <a:xfrm>
            <a:off x="1996473" y="3758150"/>
            <a:ext cx="3047406" cy="760813"/>
            <a:chOff x="0" y="-9529"/>
            <a:chExt cx="4063208" cy="1014417"/>
          </a:xfrm>
        </p:grpSpPr>
        <p:sp>
          <p:nvSpPr>
            <p:cNvPr id="426" name="Google Shape;426;p14"/>
            <p:cNvSpPr/>
            <p:nvPr/>
          </p:nvSpPr>
          <p:spPr>
            <a:xfrm>
              <a:off x="0" y="0"/>
              <a:ext cx="1423987" cy="1004888"/>
            </a:xfrm>
            <a:custGeom>
              <a:rect b="b" l="l" r="r" t="t"/>
              <a:pathLst>
                <a:path extrusionOk="0" h="1004888" w="1423987">
                  <a:moveTo>
                    <a:pt x="0" y="0"/>
                  </a:moveTo>
                  <a:lnTo>
                    <a:pt x="1423987" y="0"/>
                  </a:lnTo>
                  <a:lnTo>
                    <a:pt x="1423987" y="1004888"/>
                  </a:lnTo>
                  <a:lnTo>
                    <a:pt x="0" y="1004888"/>
                  </a:lnTo>
                  <a:close/>
                </a:path>
              </a:pathLst>
            </a:custGeom>
            <a:blipFill rotWithShape="1">
              <a:blip r:embed="rId6">
                <a:alphaModFix amt="0"/>
              </a:blip>
              <a:stretch>
                <a:fillRect b="0" l="-40541" r="-40550" t="0"/>
              </a:stretch>
            </a:blipFill>
            <a:ln>
              <a:noFill/>
            </a:ln>
          </p:spPr>
        </p:sp>
        <p:sp>
          <p:nvSpPr>
            <p:cNvPr id="427" name="Google Shape;427;p14"/>
            <p:cNvSpPr txBox="1"/>
            <p:nvPr/>
          </p:nvSpPr>
          <p:spPr>
            <a:xfrm>
              <a:off x="8" y="-9529"/>
              <a:ext cx="4063200" cy="101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1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5061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The</a:t>
              </a:r>
              <a:endParaRPr/>
            </a:p>
          </p:txBody>
        </p:sp>
      </p:grpSp>
      <p:grpSp>
        <p:nvGrpSpPr>
          <p:cNvPr id="428" name="Google Shape;428;p14"/>
          <p:cNvGrpSpPr/>
          <p:nvPr/>
        </p:nvGrpSpPr>
        <p:grpSpPr>
          <a:xfrm>
            <a:off x="3288448" y="3758150"/>
            <a:ext cx="4385925" cy="760813"/>
            <a:chOff x="-7" y="-9529"/>
            <a:chExt cx="5847900" cy="1014417"/>
          </a:xfrm>
        </p:grpSpPr>
        <p:sp>
          <p:nvSpPr>
            <p:cNvPr id="429" name="Google Shape;429;p14"/>
            <p:cNvSpPr/>
            <p:nvPr/>
          </p:nvSpPr>
          <p:spPr>
            <a:xfrm>
              <a:off x="0" y="0"/>
              <a:ext cx="4195762" cy="1004888"/>
            </a:xfrm>
            <a:custGeom>
              <a:rect b="b" l="l" r="r" t="t"/>
              <a:pathLst>
                <a:path extrusionOk="0" h="1004888" w="4195762">
                  <a:moveTo>
                    <a:pt x="0" y="0"/>
                  </a:moveTo>
                  <a:lnTo>
                    <a:pt x="4195762" y="0"/>
                  </a:lnTo>
                  <a:lnTo>
                    <a:pt x="4195762" y="1004888"/>
                  </a:lnTo>
                  <a:lnTo>
                    <a:pt x="0" y="1004888"/>
                  </a:lnTo>
                  <a:close/>
                </a:path>
              </a:pathLst>
            </a:custGeom>
            <a:blipFill rotWithShape="1">
              <a:blip r:embed="rId6">
                <a:alphaModFix amt="0"/>
              </a:blip>
              <a:stretch>
                <a:fillRect b="-31349" l="0" r="0" t="-31361"/>
              </a:stretch>
            </a:blipFill>
            <a:ln>
              <a:noFill/>
            </a:ln>
          </p:spPr>
        </p:sp>
        <p:sp>
          <p:nvSpPr>
            <p:cNvPr id="430" name="Google Shape;430;p14"/>
            <p:cNvSpPr txBox="1"/>
            <p:nvPr/>
          </p:nvSpPr>
          <p:spPr>
            <a:xfrm>
              <a:off x="-7" y="-9529"/>
              <a:ext cx="5847900" cy="101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1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5061" u="none" cap="none" strike="noStrike">
                  <a:solidFill>
                    <a:srgbClr val="00AEEF"/>
                  </a:solidFill>
                  <a:latin typeface="Roboto"/>
                  <a:ea typeface="Roboto"/>
                  <a:cs typeface="Roboto"/>
                  <a:sym typeface="Roboto"/>
                </a:rPr>
                <a:t>Integration</a:t>
              </a:r>
              <a:endParaRPr/>
            </a:p>
          </p:txBody>
        </p:sp>
      </p:grpSp>
      <p:grpSp>
        <p:nvGrpSpPr>
          <p:cNvPr id="431" name="Google Shape;431;p14"/>
          <p:cNvGrpSpPr/>
          <p:nvPr/>
        </p:nvGrpSpPr>
        <p:grpSpPr>
          <a:xfrm>
            <a:off x="916169" y="4782200"/>
            <a:ext cx="4511025" cy="760819"/>
            <a:chOff x="-23" y="-9537"/>
            <a:chExt cx="6014700" cy="1014425"/>
          </a:xfrm>
        </p:grpSpPr>
        <p:sp>
          <p:nvSpPr>
            <p:cNvPr id="432" name="Google Shape;432;p14"/>
            <p:cNvSpPr/>
            <p:nvPr/>
          </p:nvSpPr>
          <p:spPr>
            <a:xfrm>
              <a:off x="0" y="0"/>
              <a:ext cx="3838576" cy="1004888"/>
            </a:xfrm>
            <a:custGeom>
              <a:rect b="b" l="l" r="r" t="t"/>
              <a:pathLst>
                <a:path extrusionOk="0" h="1004888" w="3838576">
                  <a:moveTo>
                    <a:pt x="0" y="0"/>
                  </a:moveTo>
                  <a:lnTo>
                    <a:pt x="3838576" y="0"/>
                  </a:lnTo>
                  <a:lnTo>
                    <a:pt x="3838576" y="1004888"/>
                  </a:lnTo>
                  <a:lnTo>
                    <a:pt x="0" y="1004888"/>
                  </a:lnTo>
                  <a:close/>
                </a:path>
              </a:pathLst>
            </a:custGeom>
            <a:blipFill rotWithShape="1">
              <a:blip r:embed="rId6">
                <a:alphaModFix amt="0"/>
              </a:blip>
              <a:stretch>
                <a:fillRect b="-24429" l="0" r="0" t="-24429"/>
              </a:stretch>
            </a:blipFill>
            <a:ln>
              <a:noFill/>
            </a:ln>
          </p:spPr>
        </p:sp>
        <p:sp>
          <p:nvSpPr>
            <p:cNvPr id="433" name="Google Shape;433;p14"/>
            <p:cNvSpPr txBox="1"/>
            <p:nvPr/>
          </p:nvSpPr>
          <p:spPr>
            <a:xfrm>
              <a:off x="-23" y="-9537"/>
              <a:ext cx="6014700" cy="101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1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5061" u="none" cap="none" strike="noStrike">
                  <a:solidFill>
                    <a:srgbClr val="00AEEF"/>
                  </a:solidFill>
                  <a:latin typeface="Roboto"/>
                  <a:ea typeface="Roboto"/>
                  <a:cs typeface="Roboto"/>
                  <a:sym typeface="Roboto"/>
                </a:rPr>
                <a:t>Challenge</a:t>
              </a:r>
              <a:endParaRPr/>
            </a:p>
          </p:txBody>
        </p:sp>
      </p:grpSp>
      <p:grpSp>
        <p:nvGrpSpPr>
          <p:cNvPr id="434" name="Google Shape;434;p14"/>
          <p:cNvGrpSpPr/>
          <p:nvPr/>
        </p:nvGrpSpPr>
        <p:grpSpPr>
          <a:xfrm>
            <a:off x="4046758" y="4672885"/>
            <a:ext cx="3529013" cy="979460"/>
            <a:chOff x="0" y="-9525"/>
            <a:chExt cx="4705350" cy="1305946"/>
          </a:xfrm>
        </p:grpSpPr>
        <p:sp>
          <p:nvSpPr>
            <p:cNvPr id="435" name="Google Shape;435;p14"/>
            <p:cNvSpPr/>
            <p:nvPr/>
          </p:nvSpPr>
          <p:spPr>
            <a:xfrm>
              <a:off x="0" y="0"/>
              <a:ext cx="4705350" cy="1296421"/>
            </a:xfrm>
            <a:custGeom>
              <a:rect b="b" l="l" r="r" t="t"/>
              <a:pathLst>
                <a:path extrusionOk="0" h="1296421" w="4705350">
                  <a:moveTo>
                    <a:pt x="0" y="0"/>
                  </a:moveTo>
                  <a:lnTo>
                    <a:pt x="4705350" y="0"/>
                  </a:lnTo>
                  <a:lnTo>
                    <a:pt x="4705350" y="1296421"/>
                  </a:lnTo>
                  <a:lnTo>
                    <a:pt x="0" y="1296421"/>
                  </a:lnTo>
                  <a:close/>
                </a:path>
              </a:pathLst>
            </a:custGeom>
            <a:blipFill rotWithShape="1">
              <a:blip r:embed="rId6">
                <a:alphaModFix amt="0"/>
              </a:blip>
              <a:stretch>
                <a:fillRect b="-3040" l="0" r="9110" t="-25521"/>
              </a:stretch>
            </a:blipFill>
            <a:ln>
              <a:noFill/>
            </a:ln>
          </p:spPr>
        </p:sp>
        <p:sp>
          <p:nvSpPr>
            <p:cNvPr id="436" name="Google Shape;436;p14"/>
            <p:cNvSpPr txBox="1"/>
            <p:nvPr/>
          </p:nvSpPr>
          <p:spPr>
            <a:xfrm>
              <a:off x="0" y="-9525"/>
              <a:ext cx="4705200" cy="130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1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5061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for AI Tools</a:t>
              </a:r>
              <a:endParaRPr/>
            </a:p>
          </p:txBody>
        </p:sp>
      </p:grpSp>
      <p:grpSp>
        <p:nvGrpSpPr>
          <p:cNvPr id="437" name="Google Shape;437;p14"/>
          <p:cNvGrpSpPr/>
          <p:nvPr/>
        </p:nvGrpSpPr>
        <p:grpSpPr>
          <a:xfrm>
            <a:off x="9715500" y="1040"/>
            <a:ext cx="3901976" cy="795701"/>
            <a:chOff x="0" y="0"/>
            <a:chExt cx="5202635" cy="1060934"/>
          </a:xfrm>
        </p:grpSpPr>
        <p:grpSp>
          <p:nvGrpSpPr>
            <p:cNvPr id="438" name="Google Shape;438;p14"/>
            <p:cNvGrpSpPr/>
            <p:nvPr/>
          </p:nvGrpSpPr>
          <p:grpSpPr>
            <a:xfrm>
              <a:off x="0" y="63742"/>
              <a:ext cx="1325700" cy="933600"/>
              <a:chOff x="0" y="0"/>
              <a:chExt cx="1325700" cy="933600"/>
            </a:xfrm>
          </p:grpSpPr>
          <p:sp>
            <p:nvSpPr>
              <p:cNvPr id="439" name="Google Shape;439;p14"/>
              <p:cNvSpPr/>
              <p:nvPr/>
            </p:nvSpPr>
            <p:spPr>
              <a:xfrm>
                <a:off x="0" y="0"/>
                <a:ext cx="1325685" cy="933451"/>
              </a:xfrm>
              <a:custGeom>
                <a:rect b="b" l="l" r="r" t="t"/>
                <a:pathLst>
                  <a:path extrusionOk="0" h="933451" w="1325685">
                    <a:moveTo>
                      <a:pt x="0" y="0"/>
                    </a:moveTo>
                    <a:lnTo>
                      <a:pt x="1325685" y="0"/>
                    </a:lnTo>
                    <a:lnTo>
                      <a:pt x="1325685" y="933451"/>
                    </a:lnTo>
                    <a:lnTo>
                      <a:pt x="0" y="933451"/>
                    </a:lnTo>
                    <a:close/>
                  </a:path>
                </a:pathLst>
              </a:custGeom>
              <a:blipFill rotWithShape="1">
                <a:blip r:embed="rId6">
                  <a:alphaModFix amt="0"/>
                </a:blip>
                <a:stretch>
                  <a:fillRect b="0" l="-40341" r="-40341" t="0"/>
                </a:stretch>
              </a:blipFill>
              <a:ln>
                <a:noFill/>
              </a:ln>
            </p:spPr>
          </p:sp>
          <p:sp>
            <p:nvSpPr>
              <p:cNvPr id="440" name="Google Shape;440;p14"/>
              <p:cNvSpPr txBox="1"/>
              <p:nvPr/>
            </p:nvSpPr>
            <p:spPr>
              <a:xfrm>
                <a:off x="0" y="0"/>
                <a:ext cx="1325700" cy="933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4050" u="none" cap="none" strike="noStrike">
                    <a:solidFill>
                      <a:srgbClr val="0F1B2C"/>
                    </a:solidFill>
                    <a:latin typeface="Noto Sans"/>
                    <a:ea typeface="Noto Sans"/>
                    <a:cs typeface="Noto Sans"/>
                    <a:sym typeface="Noto Sans"/>
                  </a:rPr>
                  <a:t>Key </a:t>
                </a:r>
                <a:endParaRPr/>
              </a:p>
            </p:txBody>
          </p:sp>
        </p:grpSp>
        <p:grpSp>
          <p:nvGrpSpPr>
            <p:cNvPr id="441" name="Google Shape;441;p14"/>
            <p:cNvGrpSpPr/>
            <p:nvPr/>
          </p:nvGrpSpPr>
          <p:grpSpPr>
            <a:xfrm>
              <a:off x="1325690" y="0"/>
              <a:ext cx="3876945" cy="1060934"/>
              <a:chOff x="0" y="0"/>
              <a:chExt cx="3876945" cy="1060934"/>
            </a:xfrm>
          </p:grpSpPr>
          <p:sp>
            <p:nvSpPr>
              <p:cNvPr id="442" name="Google Shape;442;p14"/>
              <p:cNvSpPr/>
              <p:nvPr/>
            </p:nvSpPr>
            <p:spPr>
              <a:xfrm>
                <a:off x="0" y="0"/>
                <a:ext cx="3876945" cy="1060934"/>
              </a:xfrm>
              <a:custGeom>
                <a:rect b="b" l="l" r="r" t="t"/>
                <a:pathLst>
                  <a:path extrusionOk="0" h="1060934" w="3876945">
                    <a:moveTo>
                      <a:pt x="0" y="0"/>
                    </a:moveTo>
                    <a:lnTo>
                      <a:pt x="3876945" y="0"/>
                    </a:lnTo>
                    <a:lnTo>
                      <a:pt x="3876945" y="1060934"/>
                    </a:lnTo>
                    <a:lnTo>
                      <a:pt x="0" y="1060934"/>
                    </a:lnTo>
                    <a:close/>
                  </a:path>
                </a:pathLst>
              </a:custGeom>
              <a:blipFill rotWithShape="1">
                <a:blip r:embed="rId6">
                  <a:alphaModFix amt="0"/>
                </a:blip>
                <a:stretch>
                  <a:fillRect b="-11490" l="0" r="5200" t="-23510"/>
                </a:stretch>
              </a:blipFill>
              <a:ln>
                <a:noFill/>
              </a:ln>
            </p:spPr>
          </p:sp>
          <p:sp>
            <p:nvSpPr>
              <p:cNvPr id="443" name="Google Shape;443;p14"/>
              <p:cNvSpPr txBox="1"/>
              <p:nvPr/>
            </p:nvSpPr>
            <p:spPr>
              <a:xfrm>
                <a:off x="0" y="0"/>
                <a:ext cx="3876900" cy="1060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-US" sz="4050" u="none" cap="none" strike="noStrike">
                    <a:solidFill>
                      <a:srgbClr val="E55A46"/>
                    </a:solidFill>
                    <a:latin typeface="Noto Sans"/>
                    <a:ea typeface="Noto Sans"/>
                    <a:cs typeface="Noto Sans"/>
                    <a:sym typeface="Noto Sans"/>
                  </a:rPr>
                  <a:t>Challenges</a:t>
                </a:r>
                <a:endParaRPr/>
              </a:p>
            </p:txBody>
          </p:sp>
        </p:grpSp>
      </p:grpSp>
      <p:grpSp>
        <p:nvGrpSpPr>
          <p:cNvPr id="444" name="Google Shape;444;p14"/>
          <p:cNvGrpSpPr/>
          <p:nvPr/>
        </p:nvGrpSpPr>
        <p:grpSpPr>
          <a:xfrm>
            <a:off x="9715500" y="888335"/>
            <a:ext cx="8001000" cy="2328863"/>
            <a:chOff x="0" y="0"/>
            <a:chExt cx="10668000" cy="3105150"/>
          </a:xfrm>
        </p:grpSpPr>
        <p:sp>
          <p:nvSpPr>
            <p:cNvPr id="445" name="Google Shape;445;p14"/>
            <p:cNvSpPr/>
            <p:nvPr/>
          </p:nvSpPr>
          <p:spPr>
            <a:xfrm>
              <a:off x="0" y="0"/>
              <a:ext cx="10668000" cy="3105150"/>
            </a:xfrm>
            <a:custGeom>
              <a:rect b="b" l="l" r="r" t="t"/>
              <a:pathLst>
                <a:path extrusionOk="0" h="3105150" w="10668000">
                  <a:moveTo>
                    <a:pt x="0" y="0"/>
                  </a:moveTo>
                  <a:lnTo>
                    <a:pt x="10668000" y="0"/>
                  </a:lnTo>
                  <a:lnTo>
                    <a:pt x="10668000" y="3105150"/>
                  </a:lnTo>
                  <a:lnTo>
                    <a:pt x="0" y="3105150"/>
                  </a:lnTo>
                  <a:close/>
                </a:path>
              </a:pathLst>
            </a:custGeom>
            <a:solidFill>
              <a:srgbClr val="F0F4F8"/>
            </a:solidFill>
            <a:ln>
              <a:noFill/>
            </a:ln>
          </p:spPr>
        </p:sp>
        <p:grpSp>
          <p:nvGrpSpPr>
            <p:cNvPr id="446" name="Google Shape;446;p14"/>
            <p:cNvGrpSpPr/>
            <p:nvPr/>
          </p:nvGrpSpPr>
          <p:grpSpPr>
            <a:xfrm>
              <a:off x="381000" y="381000"/>
              <a:ext cx="9906000" cy="628725"/>
              <a:chOff x="0" y="0"/>
              <a:chExt cx="9906000" cy="628725"/>
            </a:xfrm>
          </p:grpSpPr>
          <p:sp>
            <p:nvSpPr>
              <p:cNvPr id="447" name="Google Shape;447;p14"/>
              <p:cNvSpPr/>
              <p:nvPr/>
            </p:nvSpPr>
            <p:spPr>
              <a:xfrm>
                <a:off x="0" y="0"/>
                <a:ext cx="9906000" cy="628651"/>
              </a:xfrm>
              <a:custGeom>
                <a:rect b="b" l="l" r="r" t="t"/>
                <a:pathLst>
                  <a:path extrusionOk="0" h="628651" w="9906000">
                    <a:moveTo>
                      <a:pt x="0" y="0"/>
                    </a:moveTo>
                    <a:lnTo>
                      <a:pt x="9906000" y="0"/>
                    </a:lnTo>
                    <a:lnTo>
                      <a:pt x="9906000" y="628651"/>
                    </a:lnTo>
                    <a:lnTo>
                      <a:pt x="0" y="628651"/>
                    </a:lnTo>
                    <a:close/>
                  </a:path>
                </a:pathLst>
              </a:custGeom>
              <a:blipFill rotWithShape="1">
                <a:blip r:embed="rId6">
                  <a:alphaModFix amt="0"/>
                </a:blip>
                <a:stretch>
                  <a:fillRect b="-257050" l="0" r="0" t="-257050"/>
                </a:stretch>
              </a:blipFill>
              <a:ln>
                <a:noFill/>
              </a:ln>
            </p:spPr>
          </p:sp>
          <p:sp>
            <p:nvSpPr>
              <p:cNvPr id="448" name="Google Shape;448;p14"/>
              <p:cNvSpPr txBox="1"/>
              <p:nvPr/>
            </p:nvSpPr>
            <p:spPr>
              <a:xfrm>
                <a:off x="0" y="9525"/>
                <a:ext cx="9906000" cy="619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2004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-US" sz="2475" u="none" cap="none" strike="noStrike">
                    <a:solidFill>
                      <a:srgbClr val="00AEEF"/>
                    </a:solidFill>
                    <a:latin typeface="Noto Sans"/>
                    <a:ea typeface="Noto Sans"/>
                    <a:cs typeface="Noto Sans"/>
                    <a:sym typeface="Noto Sans"/>
                  </a:rPr>
                  <a:t>The N×M Problem</a:t>
                </a:r>
                <a:endParaRPr/>
              </a:p>
            </p:txBody>
          </p:sp>
        </p:grpSp>
        <p:grpSp>
          <p:nvGrpSpPr>
            <p:cNvPr id="449" name="Google Shape;449;p14"/>
            <p:cNvGrpSpPr/>
            <p:nvPr/>
          </p:nvGrpSpPr>
          <p:grpSpPr>
            <a:xfrm>
              <a:off x="381000" y="1228725"/>
              <a:ext cx="9906000" cy="1495500"/>
              <a:chOff x="0" y="-9525"/>
              <a:chExt cx="9906000" cy="1495500"/>
            </a:xfrm>
          </p:grpSpPr>
          <p:sp>
            <p:nvSpPr>
              <p:cNvPr id="450" name="Google Shape;450;p14"/>
              <p:cNvSpPr/>
              <p:nvPr/>
            </p:nvSpPr>
            <p:spPr>
              <a:xfrm>
                <a:off x="0" y="0"/>
                <a:ext cx="9906000" cy="1485901"/>
              </a:xfrm>
              <a:custGeom>
                <a:rect b="b" l="l" r="r" t="t"/>
                <a:pathLst>
                  <a:path extrusionOk="0" h="1485901" w="9906000">
                    <a:moveTo>
                      <a:pt x="0" y="0"/>
                    </a:moveTo>
                    <a:lnTo>
                      <a:pt x="9906000" y="0"/>
                    </a:lnTo>
                    <a:lnTo>
                      <a:pt x="9906000" y="1485901"/>
                    </a:lnTo>
                    <a:lnTo>
                      <a:pt x="0" y="1485901"/>
                    </a:lnTo>
                    <a:close/>
                  </a:path>
                </a:pathLst>
              </a:custGeom>
              <a:blipFill rotWithShape="1">
                <a:blip r:embed="rId6">
                  <a:alphaModFix amt="0"/>
                </a:blip>
                <a:stretch>
                  <a:fillRect b="-79892" l="0" r="0" t="-79902"/>
                </a:stretch>
              </a:blipFill>
              <a:ln>
                <a:noFill/>
              </a:ln>
            </p:spPr>
          </p:sp>
          <p:sp>
            <p:nvSpPr>
              <p:cNvPr id="451" name="Google Shape;451;p14"/>
              <p:cNvSpPr txBox="1"/>
              <p:nvPr/>
            </p:nvSpPr>
            <p:spPr>
              <a:xfrm>
                <a:off x="0" y="-9525"/>
                <a:ext cx="9906000" cy="1495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1995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74" u="none" cap="none" strike="noStrike">
                    <a:solidFill>
                      <a:srgbClr val="2D3748"/>
                    </a:solidFill>
                    <a:latin typeface="Noto Sans"/>
                    <a:ea typeface="Noto Sans"/>
                    <a:cs typeface="Noto Sans"/>
                    <a:sym typeface="Noto Sans"/>
                  </a:rPr>
                  <a:t> Connecting N AI applications to M data sources requires building N×M custom integrations. This exponential complexity creates massive technical debt and slows innovation. </a:t>
                </a:r>
                <a:endParaRPr/>
              </a:p>
            </p:txBody>
          </p:sp>
        </p:grpSp>
      </p:grpSp>
      <p:grpSp>
        <p:nvGrpSpPr>
          <p:cNvPr id="452" name="Google Shape;452;p14"/>
          <p:cNvGrpSpPr/>
          <p:nvPr/>
        </p:nvGrpSpPr>
        <p:grpSpPr>
          <a:xfrm>
            <a:off x="9715500" y="3644567"/>
            <a:ext cx="8001000" cy="3043238"/>
            <a:chOff x="0" y="0"/>
            <a:chExt cx="10668000" cy="4057650"/>
          </a:xfrm>
        </p:grpSpPr>
        <p:sp>
          <p:nvSpPr>
            <p:cNvPr id="453" name="Google Shape;453;p14"/>
            <p:cNvSpPr/>
            <p:nvPr/>
          </p:nvSpPr>
          <p:spPr>
            <a:xfrm>
              <a:off x="0" y="0"/>
              <a:ext cx="10668000" cy="4057650"/>
            </a:xfrm>
            <a:custGeom>
              <a:rect b="b" l="l" r="r" t="t"/>
              <a:pathLst>
                <a:path extrusionOk="0" h="4057650" w="10668000">
                  <a:moveTo>
                    <a:pt x="0" y="0"/>
                  </a:moveTo>
                  <a:lnTo>
                    <a:pt x="10668000" y="0"/>
                  </a:lnTo>
                  <a:lnTo>
                    <a:pt x="10668000" y="4057650"/>
                  </a:lnTo>
                  <a:lnTo>
                    <a:pt x="0" y="4057650"/>
                  </a:lnTo>
                  <a:close/>
                </a:path>
              </a:pathLst>
            </a:custGeom>
            <a:solidFill>
              <a:srgbClr val="F0F4F8"/>
            </a:solidFill>
            <a:ln>
              <a:noFill/>
            </a:ln>
          </p:spPr>
        </p:sp>
        <p:grpSp>
          <p:nvGrpSpPr>
            <p:cNvPr id="454" name="Google Shape;454;p14"/>
            <p:cNvGrpSpPr/>
            <p:nvPr/>
          </p:nvGrpSpPr>
          <p:grpSpPr>
            <a:xfrm>
              <a:off x="381000" y="381000"/>
              <a:ext cx="9906000" cy="628725"/>
              <a:chOff x="0" y="0"/>
              <a:chExt cx="9906000" cy="628725"/>
            </a:xfrm>
          </p:grpSpPr>
          <p:sp>
            <p:nvSpPr>
              <p:cNvPr id="455" name="Google Shape;455;p14"/>
              <p:cNvSpPr/>
              <p:nvPr/>
            </p:nvSpPr>
            <p:spPr>
              <a:xfrm>
                <a:off x="0" y="0"/>
                <a:ext cx="9906000" cy="628651"/>
              </a:xfrm>
              <a:custGeom>
                <a:rect b="b" l="l" r="r" t="t"/>
                <a:pathLst>
                  <a:path extrusionOk="0" h="628651" w="9906000">
                    <a:moveTo>
                      <a:pt x="0" y="0"/>
                    </a:moveTo>
                    <a:lnTo>
                      <a:pt x="9906000" y="0"/>
                    </a:lnTo>
                    <a:lnTo>
                      <a:pt x="9906000" y="628651"/>
                    </a:lnTo>
                    <a:lnTo>
                      <a:pt x="0" y="628651"/>
                    </a:lnTo>
                    <a:close/>
                  </a:path>
                </a:pathLst>
              </a:custGeom>
              <a:blipFill rotWithShape="1">
                <a:blip r:embed="rId6">
                  <a:alphaModFix amt="0"/>
                </a:blip>
                <a:stretch>
                  <a:fillRect b="-257050" l="0" r="0" t="-257050"/>
                </a:stretch>
              </a:blipFill>
              <a:ln>
                <a:noFill/>
              </a:ln>
            </p:spPr>
          </p:sp>
          <p:sp>
            <p:nvSpPr>
              <p:cNvPr id="456" name="Google Shape;456;p14"/>
              <p:cNvSpPr txBox="1"/>
              <p:nvPr/>
            </p:nvSpPr>
            <p:spPr>
              <a:xfrm>
                <a:off x="0" y="9525"/>
                <a:ext cx="9906000" cy="619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2004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-US" sz="2475" u="none" cap="none" strike="noStrike">
                    <a:solidFill>
                      <a:srgbClr val="00AEEF"/>
                    </a:solidFill>
                    <a:latin typeface="Noto Sans"/>
                    <a:ea typeface="Noto Sans"/>
                    <a:cs typeface="Noto Sans"/>
                    <a:sym typeface="Noto Sans"/>
                  </a:rPr>
                  <a:t>Current Pain Points</a:t>
                </a:r>
                <a:endParaRPr/>
              </a:p>
            </p:txBody>
          </p:sp>
        </p:grpSp>
        <p:grpSp>
          <p:nvGrpSpPr>
            <p:cNvPr id="457" name="Google Shape;457;p14"/>
            <p:cNvGrpSpPr/>
            <p:nvPr/>
          </p:nvGrpSpPr>
          <p:grpSpPr>
            <a:xfrm>
              <a:off x="381000" y="1228725"/>
              <a:ext cx="9906000" cy="504900"/>
              <a:chOff x="0" y="-9525"/>
              <a:chExt cx="9906000" cy="504900"/>
            </a:xfrm>
          </p:grpSpPr>
          <p:sp>
            <p:nvSpPr>
              <p:cNvPr id="458" name="Google Shape;458;p14"/>
              <p:cNvSpPr/>
              <p:nvPr/>
            </p:nvSpPr>
            <p:spPr>
              <a:xfrm>
                <a:off x="0" y="0"/>
                <a:ext cx="9906000" cy="495301"/>
              </a:xfrm>
              <a:custGeom>
                <a:rect b="b" l="l" r="r" t="t"/>
                <a:pathLst>
                  <a:path extrusionOk="0" h="495301" w="9906000">
                    <a:moveTo>
                      <a:pt x="0" y="0"/>
                    </a:moveTo>
                    <a:lnTo>
                      <a:pt x="9906000" y="0"/>
                    </a:lnTo>
                    <a:lnTo>
                      <a:pt x="9906000" y="495301"/>
                    </a:lnTo>
                    <a:lnTo>
                      <a:pt x="0" y="495301"/>
                    </a:lnTo>
                    <a:close/>
                  </a:path>
                </a:pathLst>
              </a:custGeom>
              <a:blipFill rotWithShape="1">
                <a:blip r:embed="rId6">
                  <a:alphaModFix amt="0"/>
                </a:blip>
                <a:stretch>
                  <a:fillRect b="-339712" l="0" r="0" t="-339712"/>
                </a:stretch>
              </a:blipFill>
              <a:ln>
                <a:noFill/>
              </a:ln>
            </p:spPr>
          </p:sp>
          <p:sp>
            <p:nvSpPr>
              <p:cNvPr id="459" name="Google Shape;459;p14"/>
              <p:cNvSpPr txBox="1"/>
              <p:nvPr/>
            </p:nvSpPr>
            <p:spPr>
              <a:xfrm>
                <a:off x="0" y="-9525"/>
                <a:ext cx="9906000" cy="504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1995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74" u="none" cap="none" strike="noStrike">
                    <a:solidFill>
                      <a:srgbClr val="2D3748"/>
                    </a:solidFill>
                    <a:latin typeface="Noto Sans"/>
                    <a:ea typeface="Noto Sans"/>
                    <a:cs typeface="Noto Sans"/>
                    <a:sym typeface="Noto Sans"/>
                  </a:rPr>
                  <a:t>• Custom code required for each integration (150+ lines per tool)</a:t>
                </a:r>
                <a:endParaRPr/>
              </a:p>
            </p:txBody>
          </p:sp>
        </p:grpSp>
        <p:grpSp>
          <p:nvGrpSpPr>
            <p:cNvPr id="460" name="Google Shape;460;p14"/>
            <p:cNvGrpSpPr/>
            <p:nvPr/>
          </p:nvGrpSpPr>
          <p:grpSpPr>
            <a:xfrm>
              <a:off x="381000" y="1876425"/>
              <a:ext cx="9906000" cy="504900"/>
              <a:chOff x="0" y="-9525"/>
              <a:chExt cx="9906000" cy="504900"/>
            </a:xfrm>
          </p:grpSpPr>
          <p:sp>
            <p:nvSpPr>
              <p:cNvPr id="461" name="Google Shape;461;p14"/>
              <p:cNvSpPr/>
              <p:nvPr/>
            </p:nvSpPr>
            <p:spPr>
              <a:xfrm>
                <a:off x="0" y="0"/>
                <a:ext cx="9906000" cy="495301"/>
              </a:xfrm>
              <a:custGeom>
                <a:rect b="b" l="l" r="r" t="t"/>
                <a:pathLst>
                  <a:path extrusionOk="0" h="495301" w="9906000">
                    <a:moveTo>
                      <a:pt x="0" y="0"/>
                    </a:moveTo>
                    <a:lnTo>
                      <a:pt x="9906000" y="0"/>
                    </a:lnTo>
                    <a:lnTo>
                      <a:pt x="9906000" y="495301"/>
                    </a:lnTo>
                    <a:lnTo>
                      <a:pt x="0" y="495301"/>
                    </a:lnTo>
                    <a:close/>
                  </a:path>
                </a:pathLst>
              </a:custGeom>
              <a:blipFill rotWithShape="1">
                <a:blip r:embed="rId6">
                  <a:alphaModFix amt="0"/>
                </a:blip>
                <a:stretch>
                  <a:fillRect b="-339712" l="0" r="0" t="-339712"/>
                </a:stretch>
              </a:blipFill>
              <a:ln>
                <a:noFill/>
              </a:ln>
            </p:spPr>
          </p:sp>
          <p:sp>
            <p:nvSpPr>
              <p:cNvPr id="462" name="Google Shape;462;p14"/>
              <p:cNvSpPr txBox="1"/>
              <p:nvPr/>
            </p:nvSpPr>
            <p:spPr>
              <a:xfrm>
                <a:off x="0" y="-9525"/>
                <a:ext cx="9906000" cy="504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1995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74" u="none" cap="none" strike="noStrike">
                    <a:solidFill>
                      <a:srgbClr val="2D3748"/>
                    </a:solidFill>
                    <a:latin typeface="Noto Sans"/>
                    <a:ea typeface="Noto Sans"/>
                    <a:cs typeface="Noto Sans"/>
                    <a:sym typeface="Noto Sans"/>
                  </a:rPr>
                  <a:t>• Brittle integrations that break with API changes</a:t>
                </a:r>
                <a:endParaRPr/>
              </a:p>
            </p:txBody>
          </p:sp>
        </p:grpSp>
        <p:grpSp>
          <p:nvGrpSpPr>
            <p:cNvPr id="463" name="Google Shape;463;p14"/>
            <p:cNvGrpSpPr/>
            <p:nvPr/>
          </p:nvGrpSpPr>
          <p:grpSpPr>
            <a:xfrm>
              <a:off x="381000" y="2524125"/>
              <a:ext cx="9906000" cy="504900"/>
              <a:chOff x="0" y="-9525"/>
              <a:chExt cx="9906000" cy="504900"/>
            </a:xfrm>
          </p:grpSpPr>
          <p:sp>
            <p:nvSpPr>
              <p:cNvPr id="464" name="Google Shape;464;p14"/>
              <p:cNvSpPr/>
              <p:nvPr/>
            </p:nvSpPr>
            <p:spPr>
              <a:xfrm>
                <a:off x="0" y="0"/>
                <a:ext cx="9906000" cy="495301"/>
              </a:xfrm>
              <a:custGeom>
                <a:rect b="b" l="l" r="r" t="t"/>
                <a:pathLst>
                  <a:path extrusionOk="0" h="495301" w="9906000">
                    <a:moveTo>
                      <a:pt x="0" y="0"/>
                    </a:moveTo>
                    <a:lnTo>
                      <a:pt x="9906000" y="0"/>
                    </a:lnTo>
                    <a:lnTo>
                      <a:pt x="9906000" y="495301"/>
                    </a:lnTo>
                    <a:lnTo>
                      <a:pt x="0" y="495301"/>
                    </a:lnTo>
                    <a:close/>
                  </a:path>
                </a:pathLst>
              </a:custGeom>
              <a:blipFill rotWithShape="1">
                <a:blip r:embed="rId6">
                  <a:alphaModFix amt="0"/>
                </a:blip>
                <a:stretch>
                  <a:fillRect b="-339712" l="0" r="0" t="-339712"/>
                </a:stretch>
              </a:blipFill>
              <a:ln>
                <a:noFill/>
              </a:ln>
            </p:spPr>
          </p:sp>
          <p:sp>
            <p:nvSpPr>
              <p:cNvPr id="465" name="Google Shape;465;p14"/>
              <p:cNvSpPr txBox="1"/>
              <p:nvPr/>
            </p:nvSpPr>
            <p:spPr>
              <a:xfrm>
                <a:off x="0" y="-9525"/>
                <a:ext cx="9906000" cy="504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1995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74" u="none" cap="none" strike="noStrike">
                    <a:solidFill>
                      <a:srgbClr val="2D3748"/>
                    </a:solidFill>
                    <a:latin typeface="Noto Sans"/>
                    <a:ea typeface="Noto Sans"/>
                    <a:cs typeface="Noto Sans"/>
                    <a:sym typeface="Noto Sans"/>
                  </a:rPr>
                  <a:t>• Constant maintenance overhead across all connections</a:t>
                </a:r>
                <a:endParaRPr/>
              </a:p>
            </p:txBody>
          </p:sp>
        </p:grpSp>
        <p:grpSp>
          <p:nvGrpSpPr>
            <p:cNvPr id="466" name="Google Shape;466;p14"/>
            <p:cNvGrpSpPr/>
            <p:nvPr/>
          </p:nvGrpSpPr>
          <p:grpSpPr>
            <a:xfrm>
              <a:off x="381000" y="3171825"/>
              <a:ext cx="9906000" cy="504900"/>
              <a:chOff x="0" y="-9525"/>
              <a:chExt cx="9906000" cy="504900"/>
            </a:xfrm>
          </p:grpSpPr>
          <p:sp>
            <p:nvSpPr>
              <p:cNvPr id="467" name="Google Shape;467;p14"/>
              <p:cNvSpPr/>
              <p:nvPr/>
            </p:nvSpPr>
            <p:spPr>
              <a:xfrm>
                <a:off x="0" y="0"/>
                <a:ext cx="9906000" cy="495301"/>
              </a:xfrm>
              <a:custGeom>
                <a:rect b="b" l="l" r="r" t="t"/>
                <a:pathLst>
                  <a:path extrusionOk="0" h="495301" w="9906000">
                    <a:moveTo>
                      <a:pt x="0" y="0"/>
                    </a:moveTo>
                    <a:lnTo>
                      <a:pt x="9906000" y="0"/>
                    </a:lnTo>
                    <a:lnTo>
                      <a:pt x="9906000" y="495301"/>
                    </a:lnTo>
                    <a:lnTo>
                      <a:pt x="0" y="495301"/>
                    </a:lnTo>
                    <a:close/>
                  </a:path>
                </a:pathLst>
              </a:custGeom>
              <a:blipFill rotWithShape="1">
                <a:blip r:embed="rId6">
                  <a:alphaModFix amt="0"/>
                </a:blip>
                <a:stretch>
                  <a:fillRect b="-339712" l="0" r="0" t="-339712"/>
                </a:stretch>
              </a:blipFill>
              <a:ln>
                <a:noFill/>
              </a:ln>
            </p:spPr>
          </p:sp>
          <p:sp>
            <p:nvSpPr>
              <p:cNvPr id="468" name="Google Shape;468;p14"/>
              <p:cNvSpPr txBox="1"/>
              <p:nvPr/>
            </p:nvSpPr>
            <p:spPr>
              <a:xfrm>
                <a:off x="0" y="-9525"/>
                <a:ext cx="9906000" cy="504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1995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74" u="none" cap="none" strike="noStrike">
                    <a:solidFill>
                      <a:srgbClr val="2D3748"/>
                    </a:solidFill>
                    <a:latin typeface="Noto Sans"/>
                    <a:ea typeface="Noto Sans"/>
                    <a:cs typeface="Noto Sans"/>
                    <a:sym typeface="Noto Sans"/>
                  </a:rPr>
                  <a:t>• Limited tool discovery and dynamic capability detection</a:t>
                </a:r>
                <a:endParaRPr/>
              </a:p>
            </p:txBody>
          </p:sp>
        </p:grpSp>
      </p:grpSp>
      <p:grpSp>
        <p:nvGrpSpPr>
          <p:cNvPr id="469" name="Google Shape;469;p14"/>
          <p:cNvGrpSpPr/>
          <p:nvPr/>
        </p:nvGrpSpPr>
        <p:grpSpPr>
          <a:xfrm>
            <a:off x="9715500" y="7115175"/>
            <a:ext cx="8001000" cy="2328863"/>
            <a:chOff x="0" y="0"/>
            <a:chExt cx="10668000" cy="3105150"/>
          </a:xfrm>
        </p:grpSpPr>
        <p:sp>
          <p:nvSpPr>
            <p:cNvPr id="470" name="Google Shape;470;p14"/>
            <p:cNvSpPr/>
            <p:nvPr/>
          </p:nvSpPr>
          <p:spPr>
            <a:xfrm>
              <a:off x="0" y="0"/>
              <a:ext cx="10668000" cy="3105150"/>
            </a:xfrm>
            <a:custGeom>
              <a:rect b="b" l="l" r="r" t="t"/>
              <a:pathLst>
                <a:path extrusionOk="0" h="3105150" w="10668000">
                  <a:moveTo>
                    <a:pt x="0" y="0"/>
                  </a:moveTo>
                  <a:lnTo>
                    <a:pt x="10668000" y="0"/>
                  </a:lnTo>
                  <a:lnTo>
                    <a:pt x="10668000" y="3105150"/>
                  </a:lnTo>
                  <a:lnTo>
                    <a:pt x="0" y="3105150"/>
                  </a:lnTo>
                  <a:close/>
                </a:path>
              </a:pathLst>
            </a:custGeom>
            <a:solidFill>
              <a:srgbClr val="F0F4F8"/>
            </a:solidFill>
            <a:ln>
              <a:noFill/>
            </a:ln>
          </p:spPr>
        </p:sp>
        <p:grpSp>
          <p:nvGrpSpPr>
            <p:cNvPr id="471" name="Google Shape;471;p14"/>
            <p:cNvGrpSpPr/>
            <p:nvPr/>
          </p:nvGrpSpPr>
          <p:grpSpPr>
            <a:xfrm>
              <a:off x="381000" y="381000"/>
              <a:ext cx="9906000" cy="628725"/>
              <a:chOff x="0" y="0"/>
              <a:chExt cx="9906000" cy="628725"/>
            </a:xfrm>
          </p:grpSpPr>
          <p:sp>
            <p:nvSpPr>
              <p:cNvPr id="472" name="Google Shape;472;p14"/>
              <p:cNvSpPr/>
              <p:nvPr/>
            </p:nvSpPr>
            <p:spPr>
              <a:xfrm>
                <a:off x="0" y="0"/>
                <a:ext cx="9906000" cy="628651"/>
              </a:xfrm>
              <a:custGeom>
                <a:rect b="b" l="l" r="r" t="t"/>
                <a:pathLst>
                  <a:path extrusionOk="0" h="628651" w="9906000">
                    <a:moveTo>
                      <a:pt x="0" y="0"/>
                    </a:moveTo>
                    <a:lnTo>
                      <a:pt x="9906000" y="0"/>
                    </a:lnTo>
                    <a:lnTo>
                      <a:pt x="9906000" y="628651"/>
                    </a:lnTo>
                    <a:lnTo>
                      <a:pt x="0" y="628651"/>
                    </a:lnTo>
                    <a:close/>
                  </a:path>
                </a:pathLst>
              </a:custGeom>
              <a:blipFill rotWithShape="1">
                <a:blip r:embed="rId6">
                  <a:alphaModFix amt="0"/>
                </a:blip>
                <a:stretch>
                  <a:fillRect b="-257050" l="0" r="0" t="-257050"/>
                </a:stretch>
              </a:blipFill>
              <a:ln>
                <a:noFill/>
              </a:ln>
            </p:spPr>
          </p:sp>
          <p:sp>
            <p:nvSpPr>
              <p:cNvPr id="473" name="Google Shape;473;p14"/>
              <p:cNvSpPr txBox="1"/>
              <p:nvPr/>
            </p:nvSpPr>
            <p:spPr>
              <a:xfrm>
                <a:off x="0" y="9525"/>
                <a:ext cx="9906000" cy="619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2004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-US" sz="2475" u="none" cap="none" strike="noStrike">
                    <a:solidFill>
                      <a:srgbClr val="00AEEF"/>
                    </a:solidFill>
                    <a:latin typeface="Noto Sans"/>
                    <a:ea typeface="Noto Sans"/>
                    <a:cs typeface="Noto Sans"/>
                    <a:sym typeface="Noto Sans"/>
                  </a:rPr>
                  <a:t>Industry Impact</a:t>
                </a:r>
                <a:endParaRPr/>
              </a:p>
            </p:txBody>
          </p:sp>
        </p:grpSp>
        <p:grpSp>
          <p:nvGrpSpPr>
            <p:cNvPr id="474" name="Google Shape;474;p14"/>
            <p:cNvGrpSpPr/>
            <p:nvPr/>
          </p:nvGrpSpPr>
          <p:grpSpPr>
            <a:xfrm>
              <a:off x="381000" y="1228725"/>
              <a:ext cx="9906000" cy="1495500"/>
              <a:chOff x="0" y="-9525"/>
              <a:chExt cx="9906000" cy="1495500"/>
            </a:xfrm>
          </p:grpSpPr>
          <p:sp>
            <p:nvSpPr>
              <p:cNvPr id="475" name="Google Shape;475;p14"/>
              <p:cNvSpPr/>
              <p:nvPr/>
            </p:nvSpPr>
            <p:spPr>
              <a:xfrm>
                <a:off x="0" y="0"/>
                <a:ext cx="9906000" cy="1485901"/>
              </a:xfrm>
              <a:custGeom>
                <a:rect b="b" l="l" r="r" t="t"/>
                <a:pathLst>
                  <a:path extrusionOk="0" h="1485901" w="9906000">
                    <a:moveTo>
                      <a:pt x="0" y="0"/>
                    </a:moveTo>
                    <a:lnTo>
                      <a:pt x="9906000" y="0"/>
                    </a:lnTo>
                    <a:lnTo>
                      <a:pt x="9906000" y="1485901"/>
                    </a:lnTo>
                    <a:lnTo>
                      <a:pt x="0" y="1485901"/>
                    </a:lnTo>
                    <a:close/>
                  </a:path>
                </a:pathLst>
              </a:custGeom>
              <a:blipFill rotWithShape="1">
                <a:blip r:embed="rId6">
                  <a:alphaModFix amt="0"/>
                </a:blip>
                <a:stretch>
                  <a:fillRect b="-79892" l="0" r="0" t="-79902"/>
                </a:stretch>
              </a:blipFill>
              <a:ln>
                <a:noFill/>
              </a:ln>
            </p:spPr>
          </p:sp>
          <p:sp>
            <p:nvSpPr>
              <p:cNvPr id="476" name="Google Shape;476;p14"/>
              <p:cNvSpPr txBox="1"/>
              <p:nvPr/>
            </p:nvSpPr>
            <p:spPr>
              <a:xfrm>
                <a:off x="0" y="-9525"/>
                <a:ext cx="9906000" cy="1495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1995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74" u="none" cap="none" strike="noStrike">
                    <a:solidFill>
                      <a:srgbClr val="2D3748"/>
                    </a:solidFill>
                    <a:latin typeface="Noto Sans"/>
                    <a:ea typeface="Noto Sans"/>
                    <a:cs typeface="Noto Sans"/>
                    <a:sym typeface="Noto Sans"/>
                  </a:rPr>
                  <a:t> Organizations spend 60-70% of development time on integration work rather than core AI capabilities. This creates vendor lock-in, siloed solutions, and high barriers to entry for AI adoption. </a:t>
                </a:r>
                <a:endParaRPr/>
              </a:p>
            </p:txBody>
          </p:sp>
        </p:grpSp>
      </p:grpSp>
      <p:grpSp>
        <p:nvGrpSpPr>
          <p:cNvPr id="477" name="Google Shape;477;p14"/>
          <p:cNvGrpSpPr/>
          <p:nvPr/>
        </p:nvGrpSpPr>
        <p:grpSpPr>
          <a:xfrm>
            <a:off x="13902080" y="9444038"/>
            <a:ext cx="4389389" cy="843629"/>
            <a:chOff x="0" y="0"/>
            <a:chExt cx="5852519" cy="1124839"/>
          </a:xfrm>
        </p:grpSpPr>
        <p:sp>
          <p:nvSpPr>
            <p:cNvPr id="478" name="Google Shape;478;p14"/>
            <p:cNvSpPr/>
            <p:nvPr/>
          </p:nvSpPr>
          <p:spPr>
            <a:xfrm>
              <a:off x="0" y="0"/>
              <a:ext cx="5852519" cy="1124839"/>
            </a:xfrm>
            <a:custGeom>
              <a:rect b="b" l="l" r="r" t="t"/>
              <a:pathLst>
                <a:path extrusionOk="0" h="1127658" w="5867187">
                  <a:moveTo>
                    <a:pt x="0" y="0"/>
                  </a:moveTo>
                  <a:lnTo>
                    <a:pt x="5867187" y="0"/>
                  </a:lnTo>
                  <a:lnTo>
                    <a:pt x="5867187" y="1127658"/>
                  </a:lnTo>
                  <a:lnTo>
                    <a:pt x="0" y="112765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descr="preencoded.png" id="479" name="Google Shape;479;p14"/>
            <p:cNvSpPr/>
            <p:nvPr/>
          </p:nvSpPr>
          <p:spPr>
            <a:xfrm>
              <a:off x="304849" y="175479"/>
              <a:ext cx="5238169" cy="772992"/>
            </a:xfrm>
            <a:custGeom>
              <a:rect b="b" l="l" r="r" t="t"/>
              <a:pathLst>
                <a:path extrusionOk="0" h="772992" w="5238169">
                  <a:moveTo>
                    <a:pt x="0" y="0"/>
                  </a:moveTo>
                  <a:lnTo>
                    <a:pt x="5238169" y="0"/>
                  </a:lnTo>
                  <a:lnTo>
                    <a:pt x="5238169" y="772992"/>
                  </a:lnTo>
                  <a:lnTo>
                    <a:pt x="0" y="772992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7">
                <a:alphaModFix/>
              </a:blip>
              <a:stretch>
                <a:fillRect b="-8601" l="0" r="0" t="-8590"/>
              </a:stretch>
            </a:blipFill>
            <a:ln>
              <a:noFill/>
            </a:ln>
          </p:spPr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The M×N Integration Problem</a:t>
            </a:r>
          </a:p>
        </p:txBody>
      </p:sp>
      <p:pic>
        <p:nvPicPr>
          <p:cNvPr id="3" name="Picture 2" descr="d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0635" y="1600200"/>
            <a:ext cx="13666730" cy="7635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9281160"/>
            <a:ext cx="17190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444C56"/>
                </a:solidFill>
              </a:rPr>
              <a:t>Without a standard, every agent needs bespoke glue for every system. 3×3 already = 9 brittle integrations; it grows as M×N.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preencoded.png" id="484" name="Google Shape;484;p15"/>
          <p:cNvSpPr/>
          <p:nvPr/>
        </p:nvSpPr>
        <p:spPr>
          <a:xfrm>
            <a:off x="7758112" y="-1943100"/>
            <a:ext cx="10529888" cy="6129338"/>
          </a:xfrm>
          <a:custGeom>
            <a:rect b="b" l="l" r="r" t="t"/>
            <a:pathLst>
              <a:path extrusionOk="0" h="8172450" w="14039850">
                <a:moveTo>
                  <a:pt x="0" y="0"/>
                </a:moveTo>
                <a:lnTo>
                  <a:pt x="14039850" y="0"/>
                </a:lnTo>
                <a:lnTo>
                  <a:pt x="14039850" y="8172450"/>
                </a:lnTo>
                <a:lnTo>
                  <a:pt x="0" y="81724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descr="preencoded.png" id="485" name="Google Shape;485;p15"/>
          <p:cNvSpPr/>
          <p:nvPr/>
        </p:nvSpPr>
        <p:spPr>
          <a:xfrm>
            <a:off x="0" y="8401050"/>
            <a:ext cx="5915025" cy="1885950"/>
          </a:xfrm>
          <a:custGeom>
            <a:rect b="b" l="l" r="r" t="t"/>
            <a:pathLst>
              <a:path extrusionOk="0" h="2514600" w="7886700">
                <a:moveTo>
                  <a:pt x="0" y="0"/>
                </a:moveTo>
                <a:lnTo>
                  <a:pt x="7886700" y="0"/>
                </a:lnTo>
                <a:lnTo>
                  <a:pt x="7886700" y="2514600"/>
                </a:lnTo>
                <a:lnTo>
                  <a:pt x="0" y="2514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descr="preencoded.png" id="486" name="Google Shape;486;p15"/>
          <p:cNvSpPr/>
          <p:nvPr/>
        </p:nvSpPr>
        <p:spPr>
          <a:xfrm>
            <a:off x="0" y="7400925"/>
            <a:ext cx="4443413" cy="2386013"/>
          </a:xfrm>
          <a:custGeom>
            <a:rect b="b" l="l" r="r" t="t"/>
            <a:pathLst>
              <a:path extrusionOk="0" h="3181350" w="5924550">
                <a:moveTo>
                  <a:pt x="0" y="0"/>
                </a:moveTo>
                <a:lnTo>
                  <a:pt x="5924550" y="0"/>
                </a:lnTo>
                <a:lnTo>
                  <a:pt x="5924550" y="3181350"/>
                </a:lnTo>
                <a:lnTo>
                  <a:pt x="0" y="31813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descr="preencoded.png" id="487" name="Google Shape;487;p15"/>
          <p:cNvSpPr/>
          <p:nvPr/>
        </p:nvSpPr>
        <p:spPr>
          <a:xfrm>
            <a:off x="5143500" y="8986838"/>
            <a:ext cx="3257550" cy="1300163"/>
          </a:xfrm>
          <a:custGeom>
            <a:rect b="b" l="l" r="r" t="t"/>
            <a:pathLst>
              <a:path extrusionOk="0" h="1733550" w="4343400">
                <a:moveTo>
                  <a:pt x="0" y="0"/>
                </a:moveTo>
                <a:lnTo>
                  <a:pt x="4343400" y="0"/>
                </a:lnTo>
                <a:lnTo>
                  <a:pt x="4343400" y="1733550"/>
                </a:lnTo>
                <a:lnTo>
                  <a:pt x="0" y="17335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 amt="70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88" name="Google Shape;488;p15"/>
          <p:cNvSpPr/>
          <p:nvPr/>
        </p:nvSpPr>
        <p:spPr>
          <a:xfrm>
            <a:off x="0" y="0"/>
            <a:ext cx="9144000" cy="9486805"/>
          </a:xfrm>
          <a:custGeom>
            <a:rect b="b" l="l" r="r" t="t"/>
            <a:pathLst>
              <a:path extrusionOk="0" h="13849350" w="12192000">
                <a:moveTo>
                  <a:pt x="0" y="0"/>
                </a:moveTo>
                <a:lnTo>
                  <a:pt x="12192000" y="0"/>
                </a:lnTo>
                <a:lnTo>
                  <a:pt x="12192000" y="13849350"/>
                </a:lnTo>
                <a:lnTo>
                  <a:pt x="0" y="13849350"/>
                </a:lnTo>
                <a:close/>
              </a:path>
            </a:pathLst>
          </a:custGeom>
          <a:solidFill>
            <a:srgbClr val="0F1B2C"/>
          </a:solidFill>
          <a:ln>
            <a:noFill/>
          </a:ln>
        </p:spPr>
      </p:sp>
      <p:grpSp>
        <p:nvGrpSpPr>
          <p:cNvPr id="489" name="Google Shape;489;p15"/>
          <p:cNvGrpSpPr/>
          <p:nvPr/>
        </p:nvGrpSpPr>
        <p:grpSpPr>
          <a:xfrm>
            <a:off x="914400" y="1190837"/>
            <a:ext cx="3356390" cy="979460"/>
            <a:chOff x="0" y="-9525"/>
            <a:chExt cx="4475187" cy="1305946"/>
          </a:xfrm>
        </p:grpSpPr>
        <p:sp>
          <p:nvSpPr>
            <p:cNvPr id="490" name="Google Shape;490;p15"/>
            <p:cNvSpPr/>
            <p:nvPr/>
          </p:nvSpPr>
          <p:spPr>
            <a:xfrm>
              <a:off x="0" y="0"/>
              <a:ext cx="4475187" cy="1296421"/>
            </a:xfrm>
            <a:custGeom>
              <a:rect b="b" l="l" r="r" t="t"/>
              <a:pathLst>
                <a:path extrusionOk="0" h="1296421" w="4475187">
                  <a:moveTo>
                    <a:pt x="0" y="0"/>
                  </a:moveTo>
                  <a:lnTo>
                    <a:pt x="4475187" y="0"/>
                  </a:lnTo>
                  <a:lnTo>
                    <a:pt x="4475187" y="1296421"/>
                  </a:lnTo>
                  <a:lnTo>
                    <a:pt x="0" y="1296421"/>
                  </a:lnTo>
                  <a:close/>
                </a:path>
              </a:pathLst>
            </a:custGeom>
            <a:blipFill rotWithShape="1">
              <a:blip r:embed="rId7">
                <a:alphaModFix amt="0"/>
              </a:blip>
              <a:stretch>
                <a:fillRect b="-101" l="0" r="8800" t="-22590"/>
              </a:stretch>
            </a:blipFill>
            <a:ln>
              <a:noFill/>
            </a:ln>
          </p:spPr>
        </p:sp>
        <p:sp>
          <p:nvSpPr>
            <p:cNvPr id="491" name="Google Shape;491;p15"/>
            <p:cNvSpPr txBox="1"/>
            <p:nvPr/>
          </p:nvSpPr>
          <p:spPr>
            <a:xfrm>
              <a:off x="0" y="-9525"/>
              <a:ext cx="4475100" cy="130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1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5061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APIs &amp; The</a:t>
              </a:r>
              <a:endParaRPr/>
            </a:p>
          </p:txBody>
        </p:sp>
      </p:grpSp>
      <p:grpSp>
        <p:nvGrpSpPr>
          <p:cNvPr id="492" name="Google Shape;492;p15"/>
          <p:cNvGrpSpPr/>
          <p:nvPr/>
        </p:nvGrpSpPr>
        <p:grpSpPr>
          <a:xfrm>
            <a:off x="4136688" y="1300150"/>
            <a:ext cx="4801290" cy="760822"/>
            <a:chOff x="0" y="-9541"/>
            <a:chExt cx="6401720" cy="1014429"/>
          </a:xfrm>
        </p:grpSpPr>
        <p:sp>
          <p:nvSpPr>
            <p:cNvPr id="493" name="Google Shape;493;p15"/>
            <p:cNvSpPr/>
            <p:nvPr/>
          </p:nvSpPr>
          <p:spPr>
            <a:xfrm>
              <a:off x="0" y="0"/>
              <a:ext cx="5248275" cy="1004888"/>
            </a:xfrm>
            <a:custGeom>
              <a:rect b="b" l="l" r="r" t="t"/>
              <a:pathLst>
                <a:path extrusionOk="0" h="1004888" w="5248275">
                  <a:moveTo>
                    <a:pt x="0" y="0"/>
                  </a:moveTo>
                  <a:lnTo>
                    <a:pt x="5248275" y="0"/>
                  </a:lnTo>
                  <a:lnTo>
                    <a:pt x="5248275" y="1004888"/>
                  </a:lnTo>
                  <a:lnTo>
                    <a:pt x="0" y="1004888"/>
                  </a:lnTo>
                  <a:close/>
                </a:path>
              </a:pathLst>
            </a:custGeom>
            <a:blipFill rotWithShape="1">
              <a:blip r:embed="rId7">
                <a:alphaModFix amt="0"/>
              </a:blip>
              <a:stretch>
                <a:fillRect b="-51760" l="0" r="0" t="-51770"/>
              </a:stretch>
            </a:blipFill>
            <a:ln>
              <a:noFill/>
            </a:ln>
          </p:spPr>
        </p:sp>
        <p:sp>
          <p:nvSpPr>
            <p:cNvPr id="494" name="Google Shape;494;p15"/>
            <p:cNvSpPr txBox="1"/>
            <p:nvPr/>
          </p:nvSpPr>
          <p:spPr>
            <a:xfrm>
              <a:off x="20" y="-9541"/>
              <a:ext cx="6401700" cy="101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1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5061" u="none" cap="none" strike="noStrike">
                  <a:solidFill>
                    <a:srgbClr val="00AEEF"/>
                  </a:solidFill>
                  <a:latin typeface="Roboto"/>
                  <a:ea typeface="Roboto"/>
                  <a:cs typeface="Roboto"/>
                  <a:sym typeface="Roboto"/>
                </a:rPr>
                <a:t>MxN Problem</a:t>
              </a:r>
              <a:endParaRPr/>
            </a:p>
          </p:txBody>
        </p:sp>
      </p:grpSp>
      <p:grpSp>
        <p:nvGrpSpPr>
          <p:cNvPr id="495" name="Google Shape;495;p15"/>
          <p:cNvGrpSpPr/>
          <p:nvPr/>
        </p:nvGrpSpPr>
        <p:grpSpPr>
          <a:xfrm>
            <a:off x="914400" y="3514725"/>
            <a:ext cx="1608525" cy="389334"/>
            <a:chOff x="0" y="0"/>
            <a:chExt cx="2144700" cy="519112"/>
          </a:xfrm>
        </p:grpSpPr>
        <p:sp>
          <p:nvSpPr>
            <p:cNvPr id="496" name="Google Shape;496;p15"/>
            <p:cNvSpPr/>
            <p:nvPr/>
          </p:nvSpPr>
          <p:spPr>
            <a:xfrm>
              <a:off x="0" y="0"/>
              <a:ext cx="2144688" cy="519112"/>
            </a:xfrm>
            <a:custGeom>
              <a:rect b="b" l="l" r="r" t="t"/>
              <a:pathLst>
                <a:path extrusionOk="0" h="519112" w="2144688">
                  <a:moveTo>
                    <a:pt x="0" y="0"/>
                  </a:moveTo>
                  <a:lnTo>
                    <a:pt x="2144688" y="0"/>
                  </a:lnTo>
                  <a:lnTo>
                    <a:pt x="2144688" y="519112"/>
                  </a:lnTo>
                  <a:lnTo>
                    <a:pt x="0" y="519112"/>
                  </a:lnTo>
                  <a:close/>
                </a:path>
              </a:pathLst>
            </a:custGeom>
            <a:blipFill rotWithShape="1">
              <a:blip r:embed="rId7">
                <a:alphaModFix amt="0"/>
              </a:blip>
              <a:stretch>
                <a:fillRect b="-30500" l="0" r="0" t="-30500"/>
              </a:stretch>
            </a:blipFill>
            <a:ln>
              <a:noFill/>
            </a:ln>
          </p:spPr>
        </p:sp>
        <p:sp>
          <p:nvSpPr>
            <p:cNvPr id="497" name="Google Shape;497;p15"/>
            <p:cNvSpPr txBox="1"/>
            <p:nvPr/>
          </p:nvSpPr>
          <p:spPr>
            <a:xfrm>
              <a:off x="0" y="0"/>
              <a:ext cx="2144700" cy="51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3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091" u="none" cap="none" strike="noStrike">
                  <a:solidFill>
                    <a:srgbClr val="FFFFFF"/>
                  </a:solidFill>
                  <a:latin typeface="Noto Sans"/>
                  <a:ea typeface="Noto Sans"/>
                  <a:cs typeface="Noto Sans"/>
                  <a:sym typeface="Noto Sans"/>
                </a:rPr>
                <a:t>Connecting </a:t>
              </a:r>
              <a:endParaRPr/>
            </a:p>
          </p:txBody>
        </p:sp>
      </p:grpSp>
      <p:grpSp>
        <p:nvGrpSpPr>
          <p:cNvPr id="498" name="Google Shape;498;p15"/>
          <p:cNvGrpSpPr/>
          <p:nvPr/>
        </p:nvGrpSpPr>
        <p:grpSpPr>
          <a:xfrm>
            <a:off x="2522915" y="3514725"/>
            <a:ext cx="269550" cy="389334"/>
            <a:chOff x="0" y="0"/>
            <a:chExt cx="359400" cy="519112"/>
          </a:xfrm>
        </p:grpSpPr>
        <p:sp>
          <p:nvSpPr>
            <p:cNvPr id="499" name="Google Shape;499;p15"/>
            <p:cNvSpPr/>
            <p:nvPr/>
          </p:nvSpPr>
          <p:spPr>
            <a:xfrm>
              <a:off x="0" y="0"/>
              <a:ext cx="359347" cy="519112"/>
            </a:xfrm>
            <a:custGeom>
              <a:rect b="b" l="l" r="r" t="t"/>
              <a:pathLst>
                <a:path extrusionOk="0" h="519112" w="359347">
                  <a:moveTo>
                    <a:pt x="0" y="0"/>
                  </a:moveTo>
                  <a:lnTo>
                    <a:pt x="359347" y="0"/>
                  </a:lnTo>
                  <a:lnTo>
                    <a:pt x="359347" y="519112"/>
                  </a:lnTo>
                  <a:lnTo>
                    <a:pt x="0" y="519112"/>
                  </a:lnTo>
                  <a:close/>
                </a:path>
              </a:pathLst>
            </a:custGeom>
            <a:blipFill rotWithShape="1">
              <a:blip r:embed="rId7">
                <a:alphaModFix amt="0"/>
              </a:blip>
              <a:stretch>
                <a:fillRect b="0" l="-135350" r="-135350" t="0"/>
              </a:stretch>
            </a:blipFill>
            <a:ln>
              <a:noFill/>
            </a:ln>
          </p:spPr>
        </p:sp>
        <p:sp>
          <p:nvSpPr>
            <p:cNvPr id="500" name="Google Shape;500;p15"/>
            <p:cNvSpPr txBox="1"/>
            <p:nvPr/>
          </p:nvSpPr>
          <p:spPr>
            <a:xfrm>
              <a:off x="0" y="0"/>
              <a:ext cx="359400" cy="51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3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091" u="none" cap="none" strike="noStrike">
                  <a:solidFill>
                    <a:srgbClr val="FFFFFF"/>
                  </a:solidFill>
                  <a:latin typeface="Noto Sans"/>
                  <a:ea typeface="Noto Sans"/>
                  <a:cs typeface="Noto Sans"/>
                  <a:sym typeface="Noto Sans"/>
                </a:rPr>
                <a:t>M</a:t>
              </a:r>
              <a:endParaRPr/>
            </a:p>
          </p:txBody>
        </p:sp>
      </p:grpSp>
      <p:grpSp>
        <p:nvGrpSpPr>
          <p:cNvPr id="501" name="Google Shape;501;p15"/>
          <p:cNvGrpSpPr/>
          <p:nvPr/>
        </p:nvGrpSpPr>
        <p:grpSpPr>
          <a:xfrm>
            <a:off x="2792425" y="3514725"/>
            <a:ext cx="2472630" cy="389334"/>
            <a:chOff x="0" y="0"/>
            <a:chExt cx="3296840" cy="519112"/>
          </a:xfrm>
        </p:grpSpPr>
        <p:sp>
          <p:nvSpPr>
            <p:cNvPr id="502" name="Google Shape;502;p15"/>
            <p:cNvSpPr/>
            <p:nvPr/>
          </p:nvSpPr>
          <p:spPr>
            <a:xfrm>
              <a:off x="0" y="0"/>
              <a:ext cx="3296840" cy="519112"/>
            </a:xfrm>
            <a:custGeom>
              <a:rect b="b" l="l" r="r" t="t"/>
              <a:pathLst>
                <a:path extrusionOk="0" h="519112" w="3296840">
                  <a:moveTo>
                    <a:pt x="0" y="0"/>
                  </a:moveTo>
                  <a:lnTo>
                    <a:pt x="3296840" y="0"/>
                  </a:lnTo>
                  <a:lnTo>
                    <a:pt x="3296840" y="519112"/>
                  </a:lnTo>
                  <a:lnTo>
                    <a:pt x="0" y="519112"/>
                  </a:lnTo>
                  <a:close/>
                </a:path>
              </a:pathLst>
            </a:custGeom>
            <a:blipFill rotWithShape="1">
              <a:blip r:embed="rId7">
                <a:alphaModFix amt="0"/>
              </a:blip>
              <a:stretch>
                <a:fillRect b="-73750" l="0" r="0" t="-73750"/>
              </a:stretch>
            </a:blipFill>
            <a:ln>
              <a:noFill/>
            </a:ln>
          </p:spPr>
        </p:sp>
        <p:sp>
          <p:nvSpPr>
            <p:cNvPr id="503" name="Google Shape;503;p15"/>
            <p:cNvSpPr txBox="1"/>
            <p:nvPr/>
          </p:nvSpPr>
          <p:spPr>
            <a:xfrm>
              <a:off x="0" y="0"/>
              <a:ext cx="3296700" cy="51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3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091" u="none" cap="none" strike="noStrike">
                  <a:solidFill>
                    <a:srgbClr val="FFFFFF"/>
                  </a:solidFill>
                  <a:latin typeface="Noto Sans"/>
                  <a:ea typeface="Noto Sans"/>
                  <a:cs typeface="Noto Sans"/>
                  <a:sym typeface="Noto Sans"/>
                </a:rPr>
                <a:t> AI applications to </a:t>
              </a:r>
              <a:endParaRPr/>
            </a:p>
          </p:txBody>
        </p:sp>
      </p:grpSp>
      <p:grpSp>
        <p:nvGrpSpPr>
          <p:cNvPr id="504" name="Google Shape;504;p15"/>
          <p:cNvGrpSpPr/>
          <p:nvPr/>
        </p:nvGrpSpPr>
        <p:grpSpPr>
          <a:xfrm>
            <a:off x="5265058" y="3514725"/>
            <a:ext cx="232425" cy="389334"/>
            <a:chOff x="0" y="0"/>
            <a:chExt cx="309900" cy="519112"/>
          </a:xfrm>
        </p:grpSpPr>
        <p:sp>
          <p:nvSpPr>
            <p:cNvPr id="505" name="Google Shape;505;p15"/>
            <p:cNvSpPr/>
            <p:nvPr/>
          </p:nvSpPr>
          <p:spPr>
            <a:xfrm>
              <a:off x="0" y="0"/>
              <a:ext cx="309787" cy="519112"/>
            </a:xfrm>
            <a:custGeom>
              <a:rect b="b" l="l" r="r" t="t"/>
              <a:pathLst>
                <a:path extrusionOk="0" h="519112" w="309787">
                  <a:moveTo>
                    <a:pt x="0" y="0"/>
                  </a:moveTo>
                  <a:lnTo>
                    <a:pt x="309787" y="0"/>
                  </a:lnTo>
                  <a:lnTo>
                    <a:pt x="309787" y="519112"/>
                  </a:lnTo>
                  <a:lnTo>
                    <a:pt x="0" y="519112"/>
                  </a:lnTo>
                  <a:close/>
                </a:path>
              </a:pathLst>
            </a:custGeom>
            <a:blipFill rotWithShape="1">
              <a:blip r:embed="rId7">
                <a:alphaModFix amt="0"/>
              </a:blip>
              <a:stretch>
                <a:fillRect b="0" l="-164998" r="-164998" t="0"/>
              </a:stretch>
            </a:blipFill>
            <a:ln>
              <a:noFill/>
            </a:ln>
          </p:spPr>
        </p:sp>
        <p:sp>
          <p:nvSpPr>
            <p:cNvPr id="506" name="Google Shape;506;p15"/>
            <p:cNvSpPr txBox="1"/>
            <p:nvPr/>
          </p:nvSpPr>
          <p:spPr>
            <a:xfrm>
              <a:off x="0" y="0"/>
              <a:ext cx="309900" cy="51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3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091" u="none" cap="none" strike="noStrike">
                  <a:solidFill>
                    <a:srgbClr val="FFFFFF"/>
                  </a:solidFill>
                  <a:latin typeface="Noto Sans"/>
                  <a:ea typeface="Noto Sans"/>
                  <a:cs typeface="Noto Sans"/>
                  <a:sym typeface="Noto Sans"/>
                </a:rPr>
                <a:t>N</a:t>
              </a:r>
              <a:endParaRPr/>
            </a:p>
          </p:txBody>
        </p:sp>
      </p:grpSp>
      <p:grpSp>
        <p:nvGrpSpPr>
          <p:cNvPr id="507" name="Google Shape;507;p15"/>
          <p:cNvGrpSpPr/>
          <p:nvPr/>
        </p:nvGrpSpPr>
        <p:grpSpPr>
          <a:xfrm>
            <a:off x="5497392" y="3514725"/>
            <a:ext cx="1782000" cy="389334"/>
            <a:chOff x="0" y="0"/>
            <a:chExt cx="2376000" cy="519112"/>
          </a:xfrm>
        </p:grpSpPr>
        <p:sp>
          <p:nvSpPr>
            <p:cNvPr id="508" name="Google Shape;508;p15"/>
            <p:cNvSpPr/>
            <p:nvPr/>
          </p:nvSpPr>
          <p:spPr>
            <a:xfrm>
              <a:off x="0" y="0"/>
              <a:ext cx="2375965" cy="519112"/>
            </a:xfrm>
            <a:custGeom>
              <a:rect b="b" l="l" r="r" t="t"/>
              <a:pathLst>
                <a:path extrusionOk="0" h="519112" w="2375965">
                  <a:moveTo>
                    <a:pt x="0" y="0"/>
                  </a:moveTo>
                  <a:lnTo>
                    <a:pt x="2375965" y="0"/>
                  </a:lnTo>
                  <a:lnTo>
                    <a:pt x="2375965" y="519112"/>
                  </a:lnTo>
                  <a:lnTo>
                    <a:pt x="0" y="519112"/>
                  </a:lnTo>
                  <a:close/>
                </a:path>
              </a:pathLst>
            </a:custGeom>
            <a:blipFill rotWithShape="1">
              <a:blip r:embed="rId7">
                <a:alphaModFix amt="0"/>
              </a:blip>
              <a:stretch>
                <a:fillRect b="-39181" l="0" r="0" t="-39181"/>
              </a:stretch>
            </a:blipFill>
            <a:ln>
              <a:noFill/>
            </a:ln>
          </p:spPr>
        </p:sp>
        <p:sp>
          <p:nvSpPr>
            <p:cNvPr id="509" name="Google Shape;509;p15"/>
            <p:cNvSpPr txBox="1"/>
            <p:nvPr/>
          </p:nvSpPr>
          <p:spPr>
            <a:xfrm>
              <a:off x="0" y="0"/>
              <a:ext cx="2376000" cy="51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3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091" u="none" cap="none" strike="noStrike">
                  <a:solidFill>
                    <a:srgbClr val="FFFFFF"/>
                  </a:solidFill>
                  <a:latin typeface="Noto Sans"/>
                  <a:ea typeface="Noto Sans"/>
                  <a:cs typeface="Noto Sans"/>
                  <a:sym typeface="Noto Sans"/>
                </a:rPr>
                <a:t> data sources </a:t>
              </a:r>
              <a:endParaRPr/>
            </a:p>
          </p:txBody>
        </p:sp>
      </p:grpSp>
      <p:grpSp>
        <p:nvGrpSpPr>
          <p:cNvPr id="510" name="Google Shape;510;p15"/>
          <p:cNvGrpSpPr/>
          <p:nvPr/>
        </p:nvGrpSpPr>
        <p:grpSpPr>
          <a:xfrm>
            <a:off x="914400" y="3979069"/>
            <a:ext cx="2360060" cy="389334"/>
            <a:chOff x="0" y="0"/>
            <a:chExt cx="3146747" cy="519112"/>
          </a:xfrm>
        </p:grpSpPr>
        <p:sp>
          <p:nvSpPr>
            <p:cNvPr id="511" name="Google Shape;511;p15"/>
            <p:cNvSpPr/>
            <p:nvPr/>
          </p:nvSpPr>
          <p:spPr>
            <a:xfrm>
              <a:off x="0" y="0"/>
              <a:ext cx="3146747" cy="519112"/>
            </a:xfrm>
            <a:custGeom>
              <a:rect b="b" l="l" r="r" t="t"/>
              <a:pathLst>
                <a:path extrusionOk="0" h="519112" w="3146747">
                  <a:moveTo>
                    <a:pt x="0" y="0"/>
                  </a:moveTo>
                  <a:lnTo>
                    <a:pt x="3146747" y="0"/>
                  </a:lnTo>
                  <a:lnTo>
                    <a:pt x="3146747" y="519112"/>
                  </a:lnTo>
                  <a:lnTo>
                    <a:pt x="0" y="519112"/>
                  </a:lnTo>
                  <a:close/>
                </a:path>
              </a:pathLst>
            </a:custGeom>
            <a:blipFill rotWithShape="1">
              <a:blip r:embed="rId7">
                <a:alphaModFix amt="0"/>
              </a:blip>
              <a:stretch>
                <a:fillRect b="-68119" l="0" r="0" t="-68109"/>
              </a:stretch>
            </a:blipFill>
            <a:ln>
              <a:noFill/>
            </a:ln>
          </p:spPr>
        </p:sp>
        <p:sp>
          <p:nvSpPr>
            <p:cNvPr id="512" name="Google Shape;512;p15"/>
            <p:cNvSpPr txBox="1"/>
            <p:nvPr/>
          </p:nvSpPr>
          <p:spPr>
            <a:xfrm>
              <a:off x="0" y="0"/>
              <a:ext cx="3146700" cy="51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3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091" u="none" cap="none" strike="noStrike">
                  <a:solidFill>
                    <a:srgbClr val="FFFFFF"/>
                  </a:solidFill>
                  <a:latin typeface="Noto Sans"/>
                  <a:ea typeface="Noto Sans"/>
                  <a:cs typeface="Noto Sans"/>
                  <a:sym typeface="Noto Sans"/>
                </a:rPr>
                <a:t>requires building </a:t>
              </a:r>
              <a:endParaRPr/>
            </a:p>
          </p:txBody>
        </p:sp>
      </p:grpSp>
      <p:grpSp>
        <p:nvGrpSpPr>
          <p:cNvPr id="513" name="Google Shape;513;p15"/>
          <p:cNvGrpSpPr/>
          <p:nvPr/>
        </p:nvGrpSpPr>
        <p:grpSpPr>
          <a:xfrm>
            <a:off x="3274457" y="3979069"/>
            <a:ext cx="665325" cy="389334"/>
            <a:chOff x="0" y="0"/>
            <a:chExt cx="887100" cy="519112"/>
          </a:xfrm>
        </p:grpSpPr>
        <p:sp>
          <p:nvSpPr>
            <p:cNvPr id="514" name="Google Shape;514;p15"/>
            <p:cNvSpPr/>
            <p:nvPr/>
          </p:nvSpPr>
          <p:spPr>
            <a:xfrm>
              <a:off x="0" y="0"/>
              <a:ext cx="887016" cy="519112"/>
            </a:xfrm>
            <a:custGeom>
              <a:rect b="b" l="l" r="r" t="t"/>
              <a:pathLst>
                <a:path extrusionOk="0" h="519112" w="887016">
                  <a:moveTo>
                    <a:pt x="0" y="0"/>
                  </a:moveTo>
                  <a:lnTo>
                    <a:pt x="887016" y="0"/>
                  </a:lnTo>
                  <a:lnTo>
                    <a:pt x="887016" y="519112"/>
                  </a:lnTo>
                  <a:lnTo>
                    <a:pt x="0" y="519112"/>
                  </a:lnTo>
                  <a:close/>
                </a:path>
              </a:pathLst>
            </a:custGeom>
            <a:blipFill rotWithShape="1">
              <a:blip r:embed="rId7">
                <a:alphaModFix amt="0"/>
              </a:blip>
              <a:stretch>
                <a:fillRect b="0" l="-25090" r="-25080" t="0"/>
              </a:stretch>
            </a:blipFill>
            <a:ln>
              <a:noFill/>
            </a:ln>
          </p:spPr>
        </p:sp>
        <p:sp>
          <p:nvSpPr>
            <p:cNvPr id="515" name="Google Shape;515;p15"/>
            <p:cNvSpPr txBox="1"/>
            <p:nvPr/>
          </p:nvSpPr>
          <p:spPr>
            <a:xfrm>
              <a:off x="0" y="0"/>
              <a:ext cx="887100" cy="51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3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091" u="none" cap="none" strike="noStrike">
                  <a:solidFill>
                    <a:srgbClr val="FFFFFF"/>
                  </a:solidFill>
                  <a:latin typeface="Noto Sans"/>
                  <a:ea typeface="Noto Sans"/>
                  <a:cs typeface="Noto Sans"/>
                  <a:sym typeface="Noto Sans"/>
                </a:rPr>
                <a:t>M×N</a:t>
              </a:r>
              <a:endParaRPr/>
            </a:p>
          </p:txBody>
        </p:sp>
      </p:grpSp>
      <p:grpSp>
        <p:nvGrpSpPr>
          <p:cNvPr id="516" name="Google Shape;516;p15"/>
          <p:cNvGrpSpPr/>
          <p:nvPr/>
        </p:nvGrpSpPr>
        <p:grpSpPr>
          <a:xfrm>
            <a:off x="3939721" y="3979069"/>
            <a:ext cx="2845222" cy="389334"/>
            <a:chOff x="0" y="0"/>
            <a:chExt cx="3793629" cy="519112"/>
          </a:xfrm>
        </p:grpSpPr>
        <p:sp>
          <p:nvSpPr>
            <p:cNvPr id="517" name="Google Shape;517;p15"/>
            <p:cNvSpPr/>
            <p:nvPr/>
          </p:nvSpPr>
          <p:spPr>
            <a:xfrm>
              <a:off x="0" y="0"/>
              <a:ext cx="3793629" cy="519112"/>
            </a:xfrm>
            <a:custGeom>
              <a:rect b="b" l="l" r="r" t="t"/>
              <a:pathLst>
                <a:path extrusionOk="0" h="519112" w="3793629">
                  <a:moveTo>
                    <a:pt x="0" y="0"/>
                  </a:moveTo>
                  <a:lnTo>
                    <a:pt x="3793629" y="0"/>
                  </a:lnTo>
                  <a:lnTo>
                    <a:pt x="3793629" y="519112"/>
                  </a:lnTo>
                  <a:lnTo>
                    <a:pt x="0" y="519112"/>
                  </a:lnTo>
                  <a:close/>
                </a:path>
              </a:pathLst>
            </a:custGeom>
            <a:blipFill rotWithShape="1">
              <a:blip r:embed="rId7">
                <a:alphaModFix amt="0"/>
              </a:blip>
              <a:stretch>
                <a:fillRect b="-92399" l="0" r="0" t="-92388"/>
              </a:stretch>
            </a:blipFill>
            <a:ln>
              <a:noFill/>
            </a:ln>
          </p:spPr>
        </p:sp>
        <p:sp>
          <p:nvSpPr>
            <p:cNvPr id="518" name="Google Shape;518;p15"/>
            <p:cNvSpPr txBox="1"/>
            <p:nvPr/>
          </p:nvSpPr>
          <p:spPr>
            <a:xfrm>
              <a:off x="0" y="0"/>
              <a:ext cx="3793500" cy="51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3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091" u="none" cap="none" strike="noStrike">
                  <a:solidFill>
                    <a:srgbClr val="FFFFFF"/>
                  </a:solidFill>
                  <a:latin typeface="Noto Sans"/>
                  <a:ea typeface="Noto Sans"/>
                  <a:cs typeface="Noto Sans"/>
                  <a:sym typeface="Noto Sans"/>
                </a:rPr>
                <a:t> custom integrations.</a:t>
              </a:r>
              <a:endParaRPr/>
            </a:p>
          </p:txBody>
        </p:sp>
      </p:grpSp>
      <p:grpSp>
        <p:nvGrpSpPr>
          <p:cNvPr id="519" name="Google Shape;519;p15"/>
          <p:cNvGrpSpPr/>
          <p:nvPr/>
        </p:nvGrpSpPr>
        <p:grpSpPr>
          <a:xfrm>
            <a:off x="914400" y="4672012"/>
            <a:ext cx="1269675" cy="389334"/>
            <a:chOff x="0" y="0"/>
            <a:chExt cx="1692900" cy="519112"/>
          </a:xfrm>
        </p:grpSpPr>
        <p:sp>
          <p:nvSpPr>
            <p:cNvPr id="520" name="Google Shape;520;p15"/>
            <p:cNvSpPr/>
            <p:nvPr/>
          </p:nvSpPr>
          <p:spPr>
            <a:xfrm>
              <a:off x="0" y="0"/>
              <a:ext cx="1692845" cy="519112"/>
            </a:xfrm>
            <a:custGeom>
              <a:rect b="b" l="l" r="r" t="t"/>
              <a:pathLst>
                <a:path extrusionOk="0" h="519112" w="1692845">
                  <a:moveTo>
                    <a:pt x="0" y="0"/>
                  </a:moveTo>
                  <a:lnTo>
                    <a:pt x="1692845" y="0"/>
                  </a:lnTo>
                  <a:lnTo>
                    <a:pt x="1692845" y="519112"/>
                  </a:lnTo>
                  <a:lnTo>
                    <a:pt x="0" y="519112"/>
                  </a:lnTo>
                  <a:close/>
                </a:path>
              </a:pathLst>
            </a:custGeom>
            <a:blipFill rotWithShape="1">
              <a:blip r:embed="rId7">
                <a:alphaModFix amt="0"/>
              </a:blip>
              <a:stretch>
                <a:fillRect b="-13540" l="0" r="0" t="-13540"/>
              </a:stretch>
            </a:blipFill>
            <a:ln>
              <a:noFill/>
            </a:ln>
          </p:spPr>
        </p:sp>
        <p:sp>
          <p:nvSpPr>
            <p:cNvPr id="521" name="Google Shape;521;p15"/>
            <p:cNvSpPr txBox="1"/>
            <p:nvPr/>
          </p:nvSpPr>
          <p:spPr>
            <a:xfrm>
              <a:off x="0" y="0"/>
              <a:ext cx="1692900" cy="51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3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091" u="none" cap="none" strike="noStrike">
                  <a:solidFill>
                    <a:srgbClr val="00AEEF"/>
                  </a:solidFill>
                  <a:latin typeface="Noto Sans"/>
                  <a:ea typeface="Noto Sans"/>
                  <a:cs typeface="Noto Sans"/>
                  <a:sym typeface="Noto Sans"/>
                </a:rPr>
                <a:t>Example:</a:t>
              </a:r>
              <a:endParaRPr/>
            </a:p>
          </p:txBody>
        </p:sp>
      </p:grpSp>
      <p:grpSp>
        <p:nvGrpSpPr>
          <p:cNvPr id="522" name="Google Shape;522;p15"/>
          <p:cNvGrpSpPr/>
          <p:nvPr/>
        </p:nvGrpSpPr>
        <p:grpSpPr>
          <a:xfrm>
            <a:off x="914400" y="5136356"/>
            <a:ext cx="3973098" cy="389334"/>
            <a:chOff x="0" y="0"/>
            <a:chExt cx="5297464" cy="519112"/>
          </a:xfrm>
        </p:grpSpPr>
        <p:sp>
          <p:nvSpPr>
            <p:cNvPr id="523" name="Google Shape;523;p15"/>
            <p:cNvSpPr/>
            <p:nvPr/>
          </p:nvSpPr>
          <p:spPr>
            <a:xfrm>
              <a:off x="0" y="0"/>
              <a:ext cx="5297464" cy="519112"/>
            </a:xfrm>
            <a:custGeom>
              <a:rect b="b" l="l" r="r" t="t"/>
              <a:pathLst>
                <a:path extrusionOk="0" h="519112" w="5297464">
                  <a:moveTo>
                    <a:pt x="0" y="0"/>
                  </a:moveTo>
                  <a:lnTo>
                    <a:pt x="5297464" y="0"/>
                  </a:lnTo>
                  <a:lnTo>
                    <a:pt x="5297464" y="519112"/>
                  </a:lnTo>
                  <a:lnTo>
                    <a:pt x="0" y="519112"/>
                  </a:lnTo>
                  <a:close/>
                </a:path>
              </a:pathLst>
            </a:custGeom>
            <a:blipFill rotWithShape="1">
              <a:blip r:embed="rId7">
                <a:alphaModFix amt="0"/>
              </a:blip>
              <a:stretch>
                <a:fillRect b="-148839" l="0" r="0" t="-148839"/>
              </a:stretch>
            </a:blipFill>
            <a:ln>
              <a:noFill/>
            </a:ln>
          </p:spPr>
        </p:sp>
        <p:sp>
          <p:nvSpPr>
            <p:cNvPr id="524" name="Google Shape;524;p15"/>
            <p:cNvSpPr txBox="1"/>
            <p:nvPr/>
          </p:nvSpPr>
          <p:spPr>
            <a:xfrm>
              <a:off x="0" y="0"/>
              <a:ext cx="5297400" cy="51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3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091" u="none" cap="none" strike="noStrike">
                  <a:solidFill>
                    <a:srgbClr val="FFFFFF"/>
                  </a:solidFill>
                  <a:latin typeface="Noto Sans"/>
                  <a:ea typeface="Noto Sans"/>
                  <a:cs typeface="Noto Sans"/>
                  <a:sym typeface="Noto Sans"/>
                </a:rPr>
                <a:t>5 AI apps × 10 data sources = </a:t>
              </a:r>
              <a:endParaRPr/>
            </a:p>
          </p:txBody>
        </p:sp>
      </p:grpSp>
      <p:grpSp>
        <p:nvGrpSpPr>
          <p:cNvPr id="525" name="Google Shape;525;p15"/>
          <p:cNvGrpSpPr/>
          <p:nvPr/>
        </p:nvGrpSpPr>
        <p:grpSpPr>
          <a:xfrm>
            <a:off x="4887497" y="5136356"/>
            <a:ext cx="2164278" cy="389334"/>
            <a:chOff x="0" y="0"/>
            <a:chExt cx="2885704" cy="519112"/>
          </a:xfrm>
        </p:grpSpPr>
        <p:sp>
          <p:nvSpPr>
            <p:cNvPr id="526" name="Google Shape;526;p15"/>
            <p:cNvSpPr/>
            <p:nvPr/>
          </p:nvSpPr>
          <p:spPr>
            <a:xfrm>
              <a:off x="0" y="0"/>
              <a:ext cx="2885704" cy="519112"/>
            </a:xfrm>
            <a:custGeom>
              <a:rect b="b" l="l" r="r" t="t"/>
              <a:pathLst>
                <a:path extrusionOk="0" h="519112" w="2885704">
                  <a:moveTo>
                    <a:pt x="0" y="0"/>
                  </a:moveTo>
                  <a:lnTo>
                    <a:pt x="2885704" y="0"/>
                  </a:lnTo>
                  <a:lnTo>
                    <a:pt x="2885704" y="519112"/>
                  </a:lnTo>
                  <a:lnTo>
                    <a:pt x="0" y="519112"/>
                  </a:lnTo>
                  <a:close/>
                </a:path>
              </a:pathLst>
            </a:custGeom>
            <a:blipFill rotWithShape="1">
              <a:blip r:embed="rId7">
                <a:alphaModFix amt="0"/>
              </a:blip>
              <a:stretch>
                <a:fillRect b="-58319" l="0" r="0" t="-58310"/>
              </a:stretch>
            </a:blipFill>
            <a:ln>
              <a:noFill/>
            </a:ln>
          </p:spPr>
        </p:sp>
        <p:sp>
          <p:nvSpPr>
            <p:cNvPr id="527" name="Google Shape;527;p15"/>
            <p:cNvSpPr txBox="1"/>
            <p:nvPr/>
          </p:nvSpPr>
          <p:spPr>
            <a:xfrm>
              <a:off x="0" y="0"/>
              <a:ext cx="2885700" cy="51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3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091" u="none" cap="none" strike="noStrike">
                  <a:solidFill>
                    <a:srgbClr val="FFFFFF"/>
                  </a:solidFill>
                  <a:latin typeface="Noto Sans"/>
                  <a:ea typeface="Noto Sans"/>
                  <a:cs typeface="Noto Sans"/>
                  <a:sym typeface="Noto Sans"/>
                </a:rPr>
                <a:t>50 integrations</a:t>
              </a:r>
              <a:endParaRPr/>
            </a:p>
          </p:txBody>
        </p:sp>
      </p:grpSp>
      <p:grpSp>
        <p:nvGrpSpPr>
          <p:cNvPr id="528" name="Google Shape;528;p15"/>
          <p:cNvGrpSpPr/>
          <p:nvPr/>
        </p:nvGrpSpPr>
        <p:grpSpPr>
          <a:xfrm>
            <a:off x="914400" y="5793581"/>
            <a:ext cx="7315200" cy="1393032"/>
            <a:chOff x="0" y="0"/>
            <a:chExt cx="9753600" cy="1857376"/>
          </a:xfrm>
        </p:grpSpPr>
        <p:sp>
          <p:nvSpPr>
            <p:cNvPr id="529" name="Google Shape;529;p15"/>
            <p:cNvSpPr/>
            <p:nvPr/>
          </p:nvSpPr>
          <p:spPr>
            <a:xfrm>
              <a:off x="0" y="0"/>
              <a:ext cx="9753600" cy="1857376"/>
            </a:xfrm>
            <a:custGeom>
              <a:rect b="b" l="l" r="r" t="t"/>
              <a:pathLst>
                <a:path extrusionOk="0" h="1857376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1857376"/>
                  </a:lnTo>
                  <a:lnTo>
                    <a:pt x="0" y="1857376"/>
                  </a:lnTo>
                  <a:close/>
                </a:path>
              </a:pathLst>
            </a:custGeom>
            <a:blipFill rotWithShape="1">
              <a:blip r:embed="rId7">
                <a:alphaModFix amt="0"/>
              </a:blip>
              <a:stretch>
                <a:fillRect b="-52321" l="0" r="0" t="-52321"/>
              </a:stretch>
            </a:blipFill>
            <a:ln>
              <a:noFill/>
            </a:ln>
          </p:spPr>
        </p:sp>
        <p:sp>
          <p:nvSpPr>
            <p:cNvPr id="530" name="Google Shape;530;p15"/>
            <p:cNvSpPr txBox="1"/>
            <p:nvPr/>
          </p:nvSpPr>
          <p:spPr>
            <a:xfrm>
              <a:off x="0" y="0"/>
              <a:ext cx="9753600" cy="185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3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091" u="none" cap="none" strike="noStrike">
                  <a:solidFill>
                    <a:srgbClr val="FFFFFF"/>
                  </a:solidFill>
                  <a:latin typeface="Noto Sans"/>
                  <a:ea typeface="Noto Sans"/>
                  <a:cs typeface="Noto Sans"/>
                  <a:sym typeface="Noto Sans"/>
                </a:rPr>
                <a:t>This exponential complexity creates massive development overhead, maintenance burden, and integration fragility.</a:t>
              </a:r>
              <a:endParaRPr/>
            </a:p>
          </p:txBody>
        </p:sp>
      </p:grpSp>
      <p:sp>
        <p:nvSpPr>
          <p:cNvPr id="531" name="Google Shape;531;p15"/>
          <p:cNvSpPr/>
          <p:nvPr/>
        </p:nvSpPr>
        <p:spPr>
          <a:xfrm>
            <a:off x="9144000" y="0"/>
            <a:ext cx="9144000" cy="9417558"/>
          </a:xfrm>
          <a:custGeom>
            <a:rect b="b" l="l" r="r" t="t"/>
            <a:pathLst>
              <a:path extrusionOk="0" h="13849350" w="12192000">
                <a:moveTo>
                  <a:pt x="0" y="0"/>
                </a:moveTo>
                <a:lnTo>
                  <a:pt x="12192000" y="0"/>
                </a:lnTo>
                <a:lnTo>
                  <a:pt x="12192000" y="13849350"/>
                </a:lnTo>
                <a:lnTo>
                  <a:pt x="0" y="1384935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grpSp>
        <p:nvGrpSpPr>
          <p:cNvPr id="532" name="Google Shape;532;p15"/>
          <p:cNvGrpSpPr/>
          <p:nvPr/>
        </p:nvGrpSpPr>
        <p:grpSpPr>
          <a:xfrm>
            <a:off x="9410562" y="531399"/>
            <a:ext cx="5773725" cy="994603"/>
            <a:chOff x="0" y="0"/>
            <a:chExt cx="7698300" cy="1326137"/>
          </a:xfrm>
        </p:grpSpPr>
        <p:sp>
          <p:nvSpPr>
            <p:cNvPr id="533" name="Google Shape;533;p15"/>
            <p:cNvSpPr/>
            <p:nvPr/>
          </p:nvSpPr>
          <p:spPr>
            <a:xfrm>
              <a:off x="0" y="0"/>
              <a:ext cx="7698156" cy="1326137"/>
            </a:xfrm>
            <a:custGeom>
              <a:rect b="b" l="l" r="r" t="t"/>
              <a:pathLst>
                <a:path extrusionOk="0" h="1326137" w="7698156">
                  <a:moveTo>
                    <a:pt x="0" y="0"/>
                  </a:moveTo>
                  <a:lnTo>
                    <a:pt x="7698156" y="0"/>
                  </a:lnTo>
                  <a:lnTo>
                    <a:pt x="7698156" y="1326137"/>
                  </a:lnTo>
                  <a:lnTo>
                    <a:pt x="0" y="1326137"/>
                  </a:lnTo>
                  <a:close/>
                </a:path>
              </a:pathLst>
            </a:custGeom>
            <a:blipFill rotWithShape="1">
              <a:blip r:embed="rId7">
                <a:alphaModFix amt="0"/>
              </a:blip>
              <a:stretch>
                <a:fillRect b="-51589" l="0" r="4880" t="-63599"/>
              </a:stretch>
            </a:blipFill>
            <a:ln>
              <a:noFill/>
            </a:ln>
          </p:spPr>
        </p:sp>
        <p:sp>
          <p:nvSpPr>
            <p:cNvPr id="534" name="Google Shape;534;p15"/>
            <p:cNvSpPr txBox="1"/>
            <p:nvPr/>
          </p:nvSpPr>
          <p:spPr>
            <a:xfrm>
              <a:off x="0" y="0"/>
              <a:ext cx="7698300" cy="132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1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5061" u="none" cap="none" strike="noStrike">
                  <a:solidFill>
                    <a:srgbClr val="0F1B2C"/>
                  </a:solidFill>
                  <a:latin typeface="Noto Sans"/>
                  <a:ea typeface="Noto Sans"/>
                  <a:cs typeface="Noto Sans"/>
                  <a:sym typeface="Noto Sans"/>
                </a:rPr>
                <a:t>The MCP Solution:</a:t>
              </a:r>
              <a:endParaRPr/>
            </a:p>
          </p:txBody>
        </p:sp>
      </p:grpSp>
      <p:grpSp>
        <p:nvGrpSpPr>
          <p:cNvPr id="535" name="Google Shape;535;p15"/>
          <p:cNvGrpSpPr/>
          <p:nvPr/>
        </p:nvGrpSpPr>
        <p:grpSpPr>
          <a:xfrm>
            <a:off x="15176344" y="531399"/>
            <a:ext cx="1977300" cy="994603"/>
            <a:chOff x="0" y="0"/>
            <a:chExt cx="2636400" cy="1326137"/>
          </a:xfrm>
        </p:grpSpPr>
        <p:sp>
          <p:nvSpPr>
            <p:cNvPr id="536" name="Google Shape;536;p15"/>
            <p:cNvSpPr/>
            <p:nvPr/>
          </p:nvSpPr>
          <p:spPr>
            <a:xfrm>
              <a:off x="0" y="0"/>
              <a:ext cx="2636338" cy="1326137"/>
            </a:xfrm>
            <a:custGeom>
              <a:rect b="b" l="l" r="r" t="t"/>
              <a:pathLst>
                <a:path extrusionOk="0" h="1326137" w="2636338">
                  <a:moveTo>
                    <a:pt x="0" y="0"/>
                  </a:moveTo>
                  <a:lnTo>
                    <a:pt x="2636338" y="0"/>
                  </a:lnTo>
                  <a:lnTo>
                    <a:pt x="2636338" y="1326137"/>
                  </a:lnTo>
                  <a:lnTo>
                    <a:pt x="0" y="1326137"/>
                  </a:lnTo>
                  <a:close/>
                </a:path>
              </a:pathLst>
            </a:custGeom>
            <a:blipFill rotWithShape="1">
              <a:blip r:embed="rId7">
                <a:alphaModFix amt="0"/>
              </a:blip>
              <a:stretch>
                <a:fillRect b="12010" l="-19490" r="5920" t="0"/>
              </a:stretch>
            </a:blipFill>
            <a:ln>
              <a:noFill/>
            </a:ln>
          </p:spPr>
        </p:sp>
        <p:sp>
          <p:nvSpPr>
            <p:cNvPr id="537" name="Google Shape;537;p15"/>
            <p:cNvSpPr txBox="1"/>
            <p:nvPr/>
          </p:nvSpPr>
          <p:spPr>
            <a:xfrm>
              <a:off x="0" y="0"/>
              <a:ext cx="2636400" cy="132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1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5061" u="none" cap="none" strike="noStrike">
                  <a:solidFill>
                    <a:srgbClr val="E55A46"/>
                  </a:solidFill>
                  <a:latin typeface="Noto Sans"/>
                  <a:ea typeface="Noto Sans"/>
                  <a:cs typeface="Noto Sans"/>
                  <a:sym typeface="Noto Sans"/>
                </a:rPr>
                <a:t>M+N</a:t>
              </a:r>
              <a:endParaRPr/>
            </a:p>
          </p:txBody>
        </p:sp>
      </p:grpSp>
      <p:sp>
        <p:nvSpPr>
          <p:cNvPr id="538" name="Google Shape;538;p15"/>
          <p:cNvSpPr/>
          <p:nvPr/>
        </p:nvSpPr>
        <p:spPr>
          <a:xfrm>
            <a:off x="9944100" y="2041550"/>
            <a:ext cx="7543800" cy="3500438"/>
          </a:xfrm>
          <a:custGeom>
            <a:rect b="b" l="l" r="r" t="t"/>
            <a:pathLst>
              <a:path extrusionOk="0" h="4667250" w="10058400">
                <a:moveTo>
                  <a:pt x="0" y="0"/>
                </a:moveTo>
                <a:lnTo>
                  <a:pt x="10058400" y="0"/>
                </a:lnTo>
                <a:lnTo>
                  <a:pt x="10058400" y="4667250"/>
                </a:lnTo>
                <a:lnTo>
                  <a:pt x="0" y="4667250"/>
                </a:lnTo>
                <a:close/>
              </a:path>
            </a:pathLst>
          </a:custGeom>
          <a:solidFill>
            <a:srgbClr val="F0F4F8"/>
          </a:solidFill>
          <a:ln>
            <a:noFill/>
          </a:ln>
        </p:spPr>
      </p:sp>
      <p:grpSp>
        <p:nvGrpSpPr>
          <p:cNvPr id="539" name="Google Shape;539;p15"/>
          <p:cNvGrpSpPr/>
          <p:nvPr/>
        </p:nvGrpSpPr>
        <p:grpSpPr>
          <a:xfrm>
            <a:off x="10401300" y="2491606"/>
            <a:ext cx="6629400" cy="521550"/>
            <a:chOff x="0" y="-9525"/>
            <a:chExt cx="8839200" cy="695400"/>
          </a:xfrm>
        </p:grpSpPr>
        <p:sp>
          <p:nvSpPr>
            <p:cNvPr id="540" name="Google Shape;540;p15"/>
            <p:cNvSpPr/>
            <p:nvPr/>
          </p:nvSpPr>
          <p:spPr>
            <a:xfrm>
              <a:off x="0" y="0"/>
              <a:ext cx="8839200" cy="685800"/>
            </a:xfrm>
            <a:custGeom>
              <a:rect b="b" l="l" r="r" t="t"/>
              <a:pathLst>
                <a:path extrusionOk="0" h="685800" w="8839200">
                  <a:moveTo>
                    <a:pt x="0" y="0"/>
                  </a:moveTo>
                  <a:lnTo>
                    <a:pt x="8839200" y="0"/>
                  </a:lnTo>
                  <a:lnTo>
                    <a:pt x="8839200" y="685800"/>
                  </a:lnTo>
                  <a:lnTo>
                    <a:pt x="0" y="685800"/>
                  </a:lnTo>
                  <a:close/>
                </a:path>
              </a:pathLst>
            </a:custGeom>
            <a:blipFill rotWithShape="1">
              <a:blip r:embed="rId7">
                <a:alphaModFix amt="0"/>
              </a:blip>
              <a:stretch>
                <a:fillRect b="-201130" l="0" r="0" t="-201130"/>
              </a:stretch>
            </a:blipFill>
            <a:ln>
              <a:noFill/>
            </a:ln>
          </p:spPr>
        </p:sp>
        <p:sp>
          <p:nvSpPr>
            <p:cNvPr id="541" name="Google Shape;541;p15"/>
            <p:cNvSpPr txBox="1"/>
            <p:nvPr/>
          </p:nvSpPr>
          <p:spPr>
            <a:xfrm>
              <a:off x="0" y="-9525"/>
              <a:ext cx="8839200" cy="69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700" u="none" cap="none" strike="noStrike">
                  <a:solidFill>
                    <a:srgbClr val="00AEEF"/>
                  </a:solidFill>
                  <a:latin typeface="Noto Sans"/>
                  <a:ea typeface="Noto Sans"/>
                  <a:cs typeface="Noto Sans"/>
                  <a:sym typeface="Noto Sans"/>
                </a:rPr>
                <a:t>Linear Scaling</a:t>
              </a:r>
              <a:endParaRPr/>
            </a:p>
          </p:txBody>
        </p:sp>
      </p:grpSp>
      <p:grpSp>
        <p:nvGrpSpPr>
          <p:cNvPr id="542" name="Google Shape;542;p15"/>
          <p:cNvGrpSpPr/>
          <p:nvPr/>
        </p:nvGrpSpPr>
        <p:grpSpPr>
          <a:xfrm>
            <a:off x="10401300" y="3273847"/>
            <a:ext cx="3669750" cy="350100"/>
            <a:chOff x="0" y="0"/>
            <a:chExt cx="4893000" cy="466800"/>
          </a:xfrm>
        </p:grpSpPr>
        <p:sp>
          <p:nvSpPr>
            <p:cNvPr id="543" name="Google Shape;543;p15"/>
            <p:cNvSpPr/>
            <p:nvPr/>
          </p:nvSpPr>
          <p:spPr>
            <a:xfrm>
              <a:off x="0" y="0"/>
              <a:ext cx="4892875" cy="466725"/>
            </a:xfrm>
            <a:custGeom>
              <a:rect b="b" l="l" r="r" t="t"/>
              <a:pathLst>
                <a:path extrusionOk="0" h="466725" w="4892875">
                  <a:moveTo>
                    <a:pt x="0" y="0"/>
                  </a:moveTo>
                  <a:lnTo>
                    <a:pt x="4892875" y="0"/>
                  </a:lnTo>
                  <a:lnTo>
                    <a:pt x="4892875" y="466725"/>
                  </a:lnTo>
                  <a:lnTo>
                    <a:pt x="0" y="466725"/>
                  </a:lnTo>
                  <a:close/>
                </a:path>
              </a:pathLst>
            </a:custGeom>
            <a:blipFill rotWithShape="1">
              <a:blip r:embed="rId7">
                <a:alphaModFix amt="0"/>
              </a:blip>
              <a:stretch>
                <a:fillRect b="-154261" l="0" r="0" t="-154269"/>
              </a:stretch>
            </a:blipFill>
            <a:ln>
              <a:noFill/>
            </a:ln>
          </p:spPr>
        </p:sp>
        <p:sp>
          <p:nvSpPr>
            <p:cNvPr id="544" name="Google Shape;544;p15"/>
            <p:cNvSpPr txBox="1"/>
            <p:nvPr/>
          </p:nvSpPr>
          <p:spPr>
            <a:xfrm>
              <a:off x="0" y="0"/>
              <a:ext cx="4893000" cy="466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5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84" u="none" cap="none" strike="noStrike">
                  <a:solidFill>
                    <a:srgbClr val="2D3748"/>
                  </a:solidFill>
                  <a:latin typeface="Noto Sans"/>
                  <a:ea typeface="Noto Sans"/>
                  <a:cs typeface="Noto Sans"/>
                  <a:sym typeface="Noto Sans"/>
                </a:rPr>
                <a:t> MCP reduces complexity from </a:t>
              </a:r>
              <a:endParaRPr/>
            </a:p>
          </p:txBody>
        </p:sp>
      </p:grpSp>
      <p:grpSp>
        <p:nvGrpSpPr>
          <p:cNvPr id="545" name="Google Shape;545;p15"/>
          <p:cNvGrpSpPr/>
          <p:nvPr/>
        </p:nvGrpSpPr>
        <p:grpSpPr>
          <a:xfrm>
            <a:off x="14070959" y="3273847"/>
            <a:ext cx="598736" cy="350100"/>
            <a:chOff x="0" y="0"/>
            <a:chExt cx="798315" cy="466800"/>
          </a:xfrm>
        </p:grpSpPr>
        <p:sp>
          <p:nvSpPr>
            <p:cNvPr id="546" name="Google Shape;546;p15"/>
            <p:cNvSpPr/>
            <p:nvPr/>
          </p:nvSpPr>
          <p:spPr>
            <a:xfrm>
              <a:off x="0" y="0"/>
              <a:ext cx="798315" cy="466725"/>
            </a:xfrm>
            <a:custGeom>
              <a:rect b="b" l="l" r="r" t="t"/>
              <a:pathLst>
                <a:path extrusionOk="0" h="466725" w="798315">
                  <a:moveTo>
                    <a:pt x="0" y="0"/>
                  </a:moveTo>
                  <a:lnTo>
                    <a:pt x="798315" y="0"/>
                  </a:lnTo>
                  <a:lnTo>
                    <a:pt x="798315" y="466725"/>
                  </a:lnTo>
                  <a:lnTo>
                    <a:pt x="0" y="466725"/>
                  </a:lnTo>
                  <a:close/>
                </a:path>
              </a:pathLst>
            </a:custGeom>
            <a:blipFill rotWithShape="1">
              <a:blip r:embed="rId7">
                <a:alphaModFix amt="0"/>
              </a:blip>
              <a:stretch>
                <a:fillRect b="0" l="-25010" r="-25010" t="0"/>
              </a:stretch>
            </a:blipFill>
            <a:ln>
              <a:noFill/>
            </a:ln>
          </p:spPr>
        </p:sp>
        <p:sp>
          <p:nvSpPr>
            <p:cNvPr id="547" name="Google Shape;547;p15"/>
            <p:cNvSpPr txBox="1"/>
            <p:nvPr/>
          </p:nvSpPr>
          <p:spPr>
            <a:xfrm>
              <a:off x="0" y="0"/>
              <a:ext cx="798300" cy="466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5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884" u="none" cap="none" strike="noStrike">
                  <a:solidFill>
                    <a:srgbClr val="2D3748"/>
                  </a:solidFill>
                  <a:latin typeface="Noto Sans"/>
                  <a:ea typeface="Noto Sans"/>
                  <a:cs typeface="Noto Sans"/>
                  <a:sym typeface="Noto Sans"/>
                </a:rPr>
                <a:t>M×N</a:t>
              </a:r>
              <a:endParaRPr/>
            </a:p>
          </p:txBody>
        </p:sp>
      </p:grpSp>
      <p:grpSp>
        <p:nvGrpSpPr>
          <p:cNvPr id="548" name="Google Shape;548;p15"/>
          <p:cNvGrpSpPr/>
          <p:nvPr/>
        </p:nvGrpSpPr>
        <p:grpSpPr>
          <a:xfrm>
            <a:off x="14669691" y="3273847"/>
            <a:ext cx="382275" cy="350100"/>
            <a:chOff x="0" y="0"/>
            <a:chExt cx="509700" cy="466800"/>
          </a:xfrm>
        </p:grpSpPr>
        <p:sp>
          <p:nvSpPr>
            <p:cNvPr id="549" name="Google Shape;549;p15"/>
            <p:cNvSpPr/>
            <p:nvPr/>
          </p:nvSpPr>
          <p:spPr>
            <a:xfrm>
              <a:off x="0" y="0"/>
              <a:ext cx="509587" cy="466725"/>
            </a:xfrm>
            <a:custGeom>
              <a:rect b="b" l="l" r="r" t="t"/>
              <a:pathLst>
                <a:path extrusionOk="0" h="466725" w="509587">
                  <a:moveTo>
                    <a:pt x="0" y="0"/>
                  </a:moveTo>
                  <a:lnTo>
                    <a:pt x="509587" y="0"/>
                  </a:lnTo>
                  <a:lnTo>
                    <a:pt x="509587" y="466725"/>
                  </a:lnTo>
                  <a:lnTo>
                    <a:pt x="0" y="466725"/>
                  </a:lnTo>
                  <a:close/>
                </a:path>
              </a:pathLst>
            </a:custGeom>
            <a:blipFill rotWithShape="1">
              <a:blip r:embed="rId7">
                <a:alphaModFix amt="0"/>
              </a:blip>
              <a:stretch>
                <a:fillRect b="0" l="-67509" r="-67509" t="0"/>
              </a:stretch>
            </a:blipFill>
            <a:ln>
              <a:noFill/>
            </a:ln>
          </p:spPr>
        </p:sp>
        <p:sp>
          <p:nvSpPr>
            <p:cNvPr id="550" name="Google Shape;550;p15"/>
            <p:cNvSpPr txBox="1"/>
            <p:nvPr/>
          </p:nvSpPr>
          <p:spPr>
            <a:xfrm>
              <a:off x="0" y="0"/>
              <a:ext cx="509700" cy="466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5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84" u="none" cap="none" strike="noStrike">
                  <a:solidFill>
                    <a:srgbClr val="2D3748"/>
                  </a:solidFill>
                  <a:latin typeface="Noto Sans"/>
                  <a:ea typeface="Noto Sans"/>
                  <a:cs typeface="Noto Sans"/>
                  <a:sym typeface="Noto Sans"/>
                </a:rPr>
                <a:t> to </a:t>
              </a:r>
              <a:endParaRPr/>
            </a:p>
          </p:txBody>
        </p:sp>
      </p:grpSp>
      <p:grpSp>
        <p:nvGrpSpPr>
          <p:cNvPr id="551" name="Google Shape;551;p15"/>
          <p:cNvGrpSpPr/>
          <p:nvPr/>
        </p:nvGrpSpPr>
        <p:grpSpPr>
          <a:xfrm>
            <a:off x="15051881" y="3273847"/>
            <a:ext cx="598736" cy="350100"/>
            <a:chOff x="0" y="0"/>
            <a:chExt cx="798315" cy="466800"/>
          </a:xfrm>
        </p:grpSpPr>
        <p:sp>
          <p:nvSpPr>
            <p:cNvPr id="552" name="Google Shape;552;p15"/>
            <p:cNvSpPr/>
            <p:nvPr/>
          </p:nvSpPr>
          <p:spPr>
            <a:xfrm>
              <a:off x="0" y="0"/>
              <a:ext cx="798315" cy="466725"/>
            </a:xfrm>
            <a:custGeom>
              <a:rect b="b" l="l" r="r" t="t"/>
              <a:pathLst>
                <a:path extrusionOk="0" h="466725" w="798315">
                  <a:moveTo>
                    <a:pt x="0" y="0"/>
                  </a:moveTo>
                  <a:lnTo>
                    <a:pt x="798315" y="0"/>
                  </a:lnTo>
                  <a:lnTo>
                    <a:pt x="798315" y="466725"/>
                  </a:lnTo>
                  <a:lnTo>
                    <a:pt x="0" y="466725"/>
                  </a:lnTo>
                  <a:close/>
                </a:path>
              </a:pathLst>
            </a:custGeom>
            <a:blipFill rotWithShape="1">
              <a:blip r:embed="rId7">
                <a:alphaModFix amt="0"/>
              </a:blip>
              <a:stretch>
                <a:fillRect b="0" l="-25010" r="-25010" t="0"/>
              </a:stretch>
            </a:blipFill>
            <a:ln>
              <a:noFill/>
            </a:ln>
          </p:spPr>
        </p:sp>
        <p:sp>
          <p:nvSpPr>
            <p:cNvPr id="553" name="Google Shape;553;p15"/>
            <p:cNvSpPr txBox="1"/>
            <p:nvPr/>
          </p:nvSpPr>
          <p:spPr>
            <a:xfrm>
              <a:off x="0" y="0"/>
              <a:ext cx="798300" cy="466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5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884" u="none" cap="none" strike="noStrike">
                  <a:solidFill>
                    <a:srgbClr val="2D3748"/>
                  </a:solidFill>
                  <a:latin typeface="Noto Sans"/>
                  <a:ea typeface="Noto Sans"/>
                  <a:cs typeface="Noto Sans"/>
                  <a:sym typeface="Noto Sans"/>
                </a:rPr>
                <a:t>M+N</a:t>
              </a:r>
              <a:endParaRPr/>
            </a:p>
          </p:txBody>
        </p:sp>
      </p:grpSp>
      <p:grpSp>
        <p:nvGrpSpPr>
          <p:cNvPr id="554" name="Google Shape;554;p15"/>
          <p:cNvGrpSpPr/>
          <p:nvPr/>
        </p:nvGrpSpPr>
        <p:grpSpPr>
          <a:xfrm>
            <a:off x="15650613" y="3273847"/>
            <a:ext cx="351048" cy="350100"/>
            <a:chOff x="0" y="0"/>
            <a:chExt cx="468064" cy="466800"/>
          </a:xfrm>
        </p:grpSpPr>
        <p:sp>
          <p:nvSpPr>
            <p:cNvPr id="555" name="Google Shape;555;p15"/>
            <p:cNvSpPr/>
            <p:nvPr/>
          </p:nvSpPr>
          <p:spPr>
            <a:xfrm>
              <a:off x="0" y="0"/>
              <a:ext cx="468064" cy="466725"/>
            </a:xfrm>
            <a:custGeom>
              <a:rect b="b" l="l" r="r" t="t"/>
              <a:pathLst>
                <a:path extrusionOk="0" h="466725" w="468064">
                  <a:moveTo>
                    <a:pt x="0" y="0"/>
                  </a:moveTo>
                  <a:lnTo>
                    <a:pt x="468064" y="0"/>
                  </a:lnTo>
                  <a:lnTo>
                    <a:pt x="468064" y="466725"/>
                  </a:lnTo>
                  <a:lnTo>
                    <a:pt x="0" y="466725"/>
                  </a:lnTo>
                  <a:close/>
                </a:path>
              </a:pathLst>
            </a:custGeom>
            <a:blipFill rotWithShape="1">
              <a:blip r:embed="rId7">
                <a:alphaModFix amt="0"/>
              </a:blip>
              <a:stretch>
                <a:fillRect b="0" l="-77941" r="-77931" t="0"/>
              </a:stretch>
            </a:blipFill>
            <a:ln>
              <a:noFill/>
            </a:ln>
          </p:spPr>
        </p:sp>
        <p:sp>
          <p:nvSpPr>
            <p:cNvPr id="556" name="Google Shape;556;p15"/>
            <p:cNvSpPr txBox="1"/>
            <p:nvPr/>
          </p:nvSpPr>
          <p:spPr>
            <a:xfrm>
              <a:off x="0" y="0"/>
              <a:ext cx="468000" cy="466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5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84" u="none" cap="none" strike="noStrike">
                  <a:solidFill>
                    <a:srgbClr val="2D3748"/>
                  </a:solidFill>
                  <a:latin typeface="Noto Sans"/>
                  <a:ea typeface="Noto Sans"/>
                  <a:cs typeface="Noto Sans"/>
                  <a:sym typeface="Noto Sans"/>
                </a:rPr>
                <a:t> by </a:t>
              </a:r>
              <a:endParaRPr/>
            </a:p>
          </p:txBody>
        </p:sp>
      </p:grpSp>
      <p:grpSp>
        <p:nvGrpSpPr>
          <p:cNvPr id="557" name="Google Shape;557;p15"/>
          <p:cNvGrpSpPr/>
          <p:nvPr/>
        </p:nvGrpSpPr>
        <p:grpSpPr>
          <a:xfrm>
            <a:off x="10401300" y="3691757"/>
            <a:ext cx="5011425" cy="350100"/>
            <a:chOff x="0" y="0"/>
            <a:chExt cx="6681900" cy="466800"/>
          </a:xfrm>
        </p:grpSpPr>
        <p:sp>
          <p:nvSpPr>
            <p:cNvPr id="558" name="Google Shape;558;p15"/>
            <p:cNvSpPr/>
            <p:nvPr/>
          </p:nvSpPr>
          <p:spPr>
            <a:xfrm>
              <a:off x="0" y="0"/>
              <a:ext cx="6681787" cy="466725"/>
            </a:xfrm>
            <a:custGeom>
              <a:rect b="b" l="l" r="r" t="t"/>
              <a:pathLst>
                <a:path extrusionOk="0" h="466725" w="6681787">
                  <a:moveTo>
                    <a:pt x="0" y="0"/>
                  </a:moveTo>
                  <a:lnTo>
                    <a:pt x="6681787" y="0"/>
                  </a:lnTo>
                  <a:lnTo>
                    <a:pt x="6681787" y="466725"/>
                  </a:lnTo>
                  <a:lnTo>
                    <a:pt x="0" y="466725"/>
                  </a:lnTo>
                  <a:close/>
                </a:path>
              </a:pathLst>
            </a:custGeom>
            <a:blipFill rotWithShape="1">
              <a:blip r:embed="rId7">
                <a:alphaModFix amt="0"/>
              </a:blip>
              <a:stretch>
                <a:fillRect b="-228950" l="0" r="0" t="-228961"/>
              </a:stretch>
            </a:blipFill>
            <a:ln>
              <a:noFill/>
            </a:ln>
          </p:spPr>
        </p:sp>
        <p:sp>
          <p:nvSpPr>
            <p:cNvPr id="559" name="Google Shape;559;p15"/>
            <p:cNvSpPr txBox="1"/>
            <p:nvPr/>
          </p:nvSpPr>
          <p:spPr>
            <a:xfrm>
              <a:off x="0" y="0"/>
              <a:ext cx="6681900" cy="466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5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84" u="none" cap="none" strike="noStrike">
                  <a:solidFill>
                    <a:srgbClr val="2D3748"/>
                  </a:solidFill>
                  <a:latin typeface="Noto Sans"/>
                  <a:ea typeface="Noto Sans"/>
                  <a:cs typeface="Noto Sans"/>
                  <a:sym typeface="Noto Sans"/>
                </a:rPr>
                <a:t>introducing a standardized protocol layer. </a:t>
              </a:r>
              <a:endParaRPr/>
            </a:p>
          </p:txBody>
        </p:sp>
      </p:grpSp>
      <p:grpSp>
        <p:nvGrpSpPr>
          <p:cNvPr id="560" name="Google Shape;560;p15"/>
          <p:cNvGrpSpPr/>
          <p:nvPr/>
        </p:nvGrpSpPr>
        <p:grpSpPr>
          <a:xfrm>
            <a:off x="10401300" y="4281116"/>
            <a:ext cx="1142775" cy="350100"/>
            <a:chOff x="0" y="0"/>
            <a:chExt cx="1523700" cy="466800"/>
          </a:xfrm>
        </p:grpSpPr>
        <p:sp>
          <p:nvSpPr>
            <p:cNvPr id="561" name="Google Shape;561;p15"/>
            <p:cNvSpPr/>
            <p:nvPr/>
          </p:nvSpPr>
          <p:spPr>
            <a:xfrm>
              <a:off x="0" y="0"/>
              <a:ext cx="1523555" cy="466725"/>
            </a:xfrm>
            <a:custGeom>
              <a:rect b="b" l="l" r="r" t="t"/>
              <a:pathLst>
                <a:path extrusionOk="0" h="466725" w="1523555">
                  <a:moveTo>
                    <a:pt x="0" y="0"/>
                  </a:moveTo>
                  <a:lnTo>
                    <a:pt x="1523555" y="0"/>
                  </a:lnTo>
                  <a:lnTo>
                    <a:pt x="1523555" y="466725"/>
                  </a:lnTo>
                  <a:lnTo>
                    <a:pt x="0" y="466725"/>
                  </a:lnTo>
                  <a:close/>
                </a:path>
              </a:pathLst>
            </a:custGeom>
            <a:blipFill rotWithShape="1">
              <a:blip r:embed="rId7">
                <a:alphaModFix amt="0"/>
              </a:blip>
              <a:stretch>
                <a:fillRect b="-13600" l="0" r="0" t="-13610"/>
              </a:stretch>
            </a:blipFill>
            <a:ln>
              <a:noFill/>
            </a:ln>
          </p:spPr>
        </p:sp>
        <p:sp>
          <p:nvSpPr>
            <p:cNvPr id="562" name="Google Shape;562;p15"/>
            <p:cNvSpPr txBox="1"/>
            <p:nvPr/>
          </p:nvSpPr>
          <p:spPr>
            <a:xfrm>
              <a:off x="0" y="0"/>
              <a:ext cx="1523700" cy="466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5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884" u="none" cap="none" strike="noStrike">
                  <a:solidFill>
                    <a:srgbClr val="E55A46"/>
                  </a:solidFill>
                  <a:latin typeface="Noto Sans"/>
                  <a:ea typeface="Noto Sans"/>
                  <a:cs typeface="Noto Sans"/>
                  <a:sym typeface="Noto Sans"/>
                </a:rPr>
                <a:t>Example:</a:t>
              </a:r>
              <a:endParaRPr/>
            </a:p>
          </p:txBody>
        </p:sp>
      </p:grpSp>
      <p:grpSp>
        <p:nvGrpSpPr>
          <p:cNvPr id="563" name="Google Shape;563;p15"/>
          <p:cNvGrpSpPr/>
          <p:nvPr/>
        </p:nvGrpSpPr>
        <p:grpSpPr>
          <a:xfrm>
            <a:off x="10401300" y="4699025"/>
            <a:ext cx="3536775" cy="350100"/>
            <a:chOff x="0" y="0"/>
            <a:chExt cx="4715700" cy="466800"/>
          </a:xfrm>
        </p:grpSpPr>
        <p:sp>
          <p:nvSpPr>
            <p:cNvPr id="564" name="Google Shape;564;p15"/>
            <p:cNvSpPr/>
            <p:nvPr/>
          </p:nvSpPr>
          <p:spPr>
            <a:xfrm>
              <a:off x="0" y="0"/>
              <a:ext cx="4715619" cy="466725"/>
            </a:xfrm>
            <a:custGeom>
              <a:rect b="b" l="l" r="r" t="t"/>
              <a:pathLst>
                <a:path extrusionOk="0" h="466725" w="4715619">
                  <a:moveTo>
                    <a:pt x="0" y="0"/>
                  </a:moveTo>
                  <a:lnTo>
                    <a:pt x="4715619" y="0"/>
                  </a:lnTo>
                  <a:lnTo>
                    <a:pt x="4715619" y="466725"/>
                  </a:lnTo>
                  <a:lnTo>
                    <a:pt x="0" y="466725"/>
                  </a:lnTo>
                  <a:close/>
                </a:path>
              </a:pathLst>
            </a:custGeom>
            <a:blipFill rotWithShape="1">
              <a:blip r:embed="rId7">
                <a:alphaModFix amt="0"/>
              </a:blip>
              <a:stretch>
                <a:fillRect b="-146862" l="0" r="0" t="-146870"/>
              </a:stretch>
            </a:blipFill>
            <a:ln>
              <a:noFill/>
            </a:ln>
          </p:spPr>
        </p:sp>
        <p:sp>
          <p:nvSpPr>
            <p:cNvPr id="565" name="Google Shape;565;p15"/>
            <p:cNvSpPr txBox="1"/>
            <p:nvPr/>
          </p:nvSpPr>
          <p:spPr>
            <a:xfrm>
              <a:off x="0" y="0"/>
              <a:ext cx="4715700" cy="466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5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84" u="none" cap="none" strike="noStrike">
                  <a:solidFill>
                    <a:srgbClr val="2D3748"/>
                  </a:solidFill>
                  <a:latin typeface="Noto Sans"/>
                  <a:ea typeface="Noto Sans"/>
                  <a:cs typeface="Noto Sans"/>
                  <a:sym typeface="Noto Sans"/>
                </a:rPr>
                <a:t> 5 AI apps + 10 MCP servers = </a:t>
              </a:r>
              <a:endParaRPr/>
            </a:p>
          </p:txBody>
        </p:sp>
      </p:grpSp>
      <p:grpSp>
        <p:nvGrpSpPr>
          <p:cNvPr id="566" name="Google Shape;566;p15"/>
          <p:cNvGrpSpPr/>
          <p:nvPr/>
        </p:nvGrpSpPr>
        <p:grpSpPr>
          <a:xfrm>
            <a:off x="13938018" y="4699025"/>
            <a:ext cx="1947900" cy="350100"/>
            <a:chOff x="0" y="0"/>
            <a:chExt cx="2597200" cy="466800"/>
          </a:xfrm>
        </p:grpSpPr>
        <p:sp>
          <p:nvSpPr>
            <p:cNvPr id="567" name="Google Shape;567;p15"/>
            <p:cNvSpPr/>
            <p:nvPr/>
          </p:nvSpPr>
          <p:spPr>
            <a:xfrm>
              <a:off x="0" y="0"/>
              <a:ext cx="2597200" cy="466725"/>
            </a:xfrm>
            <a:custGeom>
              <a:rect b="b" l="l" r="r" t="t"/>
              <a:pathLst>
                <a:path extrusionOk="0" h="466725" w="2597200">
                  <a:moveTo>
                    <a:pt x="0" y="0"/>
                  </a:moveTo>
                  <a:lnTo>
                    <a:pt x="2597200" y="0"/>
                  </a:lnTo>
                  <a:lnTo>
                    <a:pt x="2597200" y="466725"/>
                  </a:lnTo>
                  <a:lnTo>
                    <a:pt x="0" y="466725"/>
                  </a:lnTo>
                  <a:close/>
                </a:path>
              </a:pathLst>
            </a:custGeom>
            <a:blipFill rotWithShape="1">
              <a:blip r:embed="rId7">
                <a:alphaModFix amt="0"/>
              </a:blip>
              <a:stretch>
                <a:fillRect b="-58432" l="0" r="0" t="-58432"/>
              </a:stretch>
            </a:blipFill>
            <a:ln>
              <a:noFill/>
            </a:ln>
          </p:spPr>
        </p:sp>
        <p:sp>
          <p:nvSpPr>
            <p:cNvPr id="568" name="Google Shape;568;p15"/>
            <p:cNvSpPr txBox="1"/>
            <p:nvPr/>
          </p:nvSpPr>
          <p:spPr>
            <a:xfrm>
              <a:off x="0" y="0"/>
              <a:ext cx="2597100" cy="466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5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884" u="none" cap="none" strike="noStrike">
                  <a:solidFill>
                    <a:srgbClr val="2D3748"/>
                  </a:solidFill>
                  <a:latin typeface="Noto Sans"/>
                  <a:ea typeface="Noto Sans"/>
                  <a:cs typeface="Noto Sans"/>
                  <a:sym typeface="Noto Sans"/>
                </a:rPr>
                <a:t>15 integrations</a:t>
              </a:r>
              <a:endParaRPr/>
            </a:p>
          </p:txBody>
        </p:sp>
      </p:grpSp>
      <p:sp>
        <p:nvSpPr>
          <p:cNvPr id="569" name="Google Shape;569;p15"/>
          <p:cNvSpPr/>
          <p:nvPr/>
        </p:nvSpPr>
        <p:spPr>
          <a:xfrm>
            <a:off x="9944100" y="5884888"/>
            <a:ext cx="7543800" cy="3579019"/>
          </a:xfrm>
          <a:custGeom>
            <a:rect b="b" l="l" r="r" t="t"/>
            <a:pathLst>
              <a:path extrusionOk="0" h="4772025" w="10058400">
                <a:moveTo>
                  <a:pt x="0" y="0"/>
                </a:moveTo>
                <a:lnTo>
                  <a:pt x="10058400" y="0"/>
                </a:lnTo>
                <a:lnTo>
                  <a:pt x="10058400" y="4772025"/>
                </a:lnTo>
                <a:lnTo>
                  <a:pt x="0" y="4772025"/>
                </a:lnTo>
                <a:close/>
              </a:path>
            </a:pathLst>
          </a:custGeom>
          <a:solidFill>
            <a:srgbClr val="0F1B2C"/>
          </a:solidFill>
          <a:ln>
            <a:noFill/>
          </a:ln>
        </p:spPr>
      </p:sp>
      <p:grpSp>
        <p:nvGrpSpPr>
          <p:cNvPr id="570" name="Google Shape;570;p15"/>
          <p:cNvGrpSpPr/>
          <p:nvPr/>
        </p:nvGrpSpPr>
        <p:grpSpPr>
          <a:xfrm>
            <a:off x="10401300" y="6334944"/>
            <a:ext cx="6629400" cy="521550"/>
            <a:chOff x="0" y="-9525"/>
            <a:chExt cx="8839200" cy="695400"/>
          </a:xfrm>
        </p:grpSpPr>
        <p:sp>
          <p:nvSpPr>
            <p:cNvPr id="571" name="Google Shape;571;p15"/>
            <p:cNvSpPr/>
            <p:nvPr/>
          </p:nvSpPr>
          <p:spPr>
            <a:xfrm>
              <a:off x="0" y="0"/>
              <a:ext cx="8839200" cy="685800"/>
            </a:xfrm>
            <a:custGeom>
              <a:rect b="b" l="l" r="r" t="t"/>
              <a:pathLst>
                <a:path extrusionOk="0" h="685800" w="8839200">
                  <a:moveTo>
                    <a:pt x="0" y="0"/>
                  </a:moveTo>
                  <a:lnTo>
                    <a:pt x="8839200" y="0"/>
                  </a:lnTo>
                  <a:lnTo>
                    <a:pt x="8839200" y="685800"/>
                  </a:lnTo>
                  <a:lnTo>
                    <a:pt x="0" y="685800"/>
                  </a:lnTo>
                  <a:close/>
                </a:path>
              </a:pathLst>
            </a:custGeom>
            <a:blipFill rotWithShape="1">
              <a:blip r:embed="rId7">
                <a:alphaModFix amt="0"/>
              </a:blip>
              <a:stretch>
                <a:fillRect b="-201130" l="0" r="0" t="-201130"/>
              </a:stretch>
            </a:blipFill>
            <a:ln>
              <a:noFill/>
            </a:ln>
          </p:spPr>
        </p:sp>
        <p:sp>
          <p:nvSpPr>
            <p:cNvPr id="572" name="Google Shape;572;p15"/>
            <p:cNvSpPr txBox="1"/>
            <p:nvPr/>
          </p:nvSpPr>
          <p:spPr>
            <a:xfrm>
              <a:off x="0" y="-9525"/>
              <a:ext cx="8839200" cy="69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700" u="none" cap="none" strike="noStrike">
                  <a:solidFill>
                    <a:srgbClr val="00AEEF"/>
                  </a:solidFill>
                  <a:latin typeface="Noto Sans"/>
                  <a:ea typeface="Noto Sans"/>
                  <a:cs typeface="Noto Sans"/>
                  <a:sym typeface="Noto Sans"/>
                </a:rPr>
                <a:t>Key Benefits</a:t>
              </a:r>
              <a:endParaRPr/>
            </a:p>
          </p:txBody>
        </p:sp>
      </p:grpSp>
      <p:grpSp>
        <p:nvGrpSpPr>
          <p:cNvPr id="573" name="Google Shape;573;p15"/>
          <p:cNvGrpSpPr/>
          <p:nvPr/>
        </p:nvGrpSpPr>
        <p:grpSpPr>
          <a:xfrm>
            <a:off x="10401300" y="7113613"/>
            <a:ext cx="154575" cy="332184"/>
            <a:chOff x="0" y="0"/>
            <a:chExt cx="206100" cy="442912"/>
          </a:xfrm>
        </p:grpSpPr>
        <p:sp>
          <p:nvSpPr>
            <p:cNvPr id="574" name="Google Shape;574;p15"/>
            <p:cNvSpPr/>
            <p:nvPr/>
          </p:nvSpPr>
          <p:spPr>
            <a:xfrm>
              <a:off x="0" y="0"/>
              <a:ext cx="205979" cy="442912"/>
            </a:xfrm>
            <a:custGeom>
              <a:rect b="b" l="l" r="r" t="t"/>
              <a:pathLst>
                <a:path extrusionOk="0" h="442912" w="205979">
                  <a:moveTo>
                    <a:pt x="0" y="0"/>
                  </a:moveTo>
                  <a:lnTo>
                    <a:pt x="205979" y="0"/>
                  </a:lnTo>
                  <a:lnTo>
                    <a:pt x="205979" y="442912"/>
                  </a:lnTo>
                  <a:lnTo>
                    <a:pt x="0" y="442912"/>
                  </a:lnTo>
                  <a:close/>
                </a:path>
              </a:pathLst>
            </a:custGeom>
            <a:blipFill rotWithShape="1">
              <a:blip r:embed="rId7">
                <a:alphaModFix amt="0"/>
              </a:blip>
              <a:stretch>
                <a:fillRect b="0" l="-225883" r="-225872" t="0"/>
              </a:stretch>
            </a:blipFill>
            <a:ln>
              <a:noFill/>
            </a:ln>
          </p:spPr>
        </p:sp>
        <p:sp>
          <p:nvSpPr>
            <p:cNvPr id="575" name="Google Shape;575;p15"/>
            <p:cNvSpPr txBox="1"/>
            <p:nvPr/>
          </p:nvSpPr>
          <p:spPr>
            <a:xfrm>
              <a:off x="0" y="0"/>
              <a:ext cx="206100" cy="44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778" u="none" cap="none" strike="noStrike">
                  <a:solidFill>
                    <a:srgbClr val="FFFFFF"/>
                  </a:solidFill>
                  <a:latin typeface="Noto Sans"/>
                  <a:ea typeface="Noto Sans"/>
                  <a:cs typeface="Noto Sans"/>
                  <a:sym typeface="Noto Sans"/>
                </a:rPr>
                <a:t>• </a:t>
              </a:r>
              <a:endParaRPr/>
            </a:p>
          </p:txBody>
        </p:sp>
      </p:grpSp>
      <p:grpSp>
        <p:nvGrpSpPr>
          <p:cNvPr id="576" name="Google Shape;576;p15"/>
          <p:cNvGrpSpPr/>
          <p:nvPr/>
        </p:nvGrpSpPr>
        <p:grpSpPr>
          <a:xfrm>
            <a:off x="10555786" y="7113613"/>
            <a:ext cx="1736434" cy="332184"/>
            <a:chOff x="0" y="0"/>
            <a:chExt cx="2315245" cy="442912"/>
          </a:xfrm>
        </p:grpSpPr>
        <p:sp>
          <p:nvSpPr>
            <p:cNvPr id="577" name="Google Shape;577;p15"/>
            <p:cNvSpPr/>
            <p:nvPr/>
          </p:nvSpPr>
          <p:spPr>
            <a:xfrm>
              <a:off x="0" y="0"/>
              <a:ext cx="2315245" cy="442912"/>
            </a:xfrm>
            <a:custGeom>
              <a:rect b="b" l="l" r="r" t="t"/>
              <a:pathLst>
                <a:path extrusionOk="0" h="442912" w="2315245">
                  <a:moveTo>
                    <a:pt x="0" y="0"/>
                  </a:moveTo>
                  <a:lnTo>
                    <a:pt x="2315245" y="0"/>
                  </a:lnTo>
                  <a:lnTo>
                    <a:pt x="2315245" y="442912"/>
                  </a:lnTo>
                  <a:lnTo>
                    <a:pt x="0" y="442912"/>
                  </a:lnTo>
                  <a:close/>
                </a:path>
              </a:pathLst>
            </a:custGeom>
            <a:blipFill rotWithShape="1">
              <a:blip r:embed="rId7">
                <a:alphaModFix amt="0"/>
              </a:blip>
              <a:stretch>
                <a:fillRect b="-51861" l="0" r="0" t="-51851"/>
              </a:stretch>
            </a:blipFill>
            <a:ln>
              <a:noFill/>
            </a:ln>
          </p:spPr>
        </p:sp>
        <p:sp>
          <p:nvSpPr>
            <p:cNvPr id="578" name="Google Shape;578;p15"/>
            <p:cNvSpPr txBox="1"/>
            <p:nvPr/>
          </p:nvSpPr>
          <p:spPr>
            <a:xfrm>
              <a:off x="0" y="0"/>
              <a:ext cx="2315100" cy="44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778" u="none" cap="none" strike="noStrike">
                  <a:solidFill>
                    <a:srgbClr val="FFFFFF"/>
                  </a:solidFill>
                  <a:latin typeface="Noto Sans"/>
                  <a:ea typeface="Noto Sans"/>
                  <a:cs typeface="Noto Sans"/>
                  <a:sym typeface="Noto Sans"/>
                </a:rPr>
                <a:t>67% reduction</a:t>
              </a:r>
              <a:endParaRPr/>
            </a:p>
          </p:txBody>
        </p:sp>
      </p:grpSp>
      <p:grpSp>
        <p:nvGrpSpPr>
          <p:cNvPr id="579" name="Google Shape;579;p15"/>
          <p:cNvGrpSpPr/>
          <p:nvPr/>
        </p:nvGrpSpPr>
        <p:grpSpPr>
          <a:xfrm>
            <a:off x="12292222" y="7113613"/>
            <a:ext cx="3441000" cy="332184"/>
            <a:chOff x="0" y="0"/>
            <a:chExt cx="4588000" cy="442912"/>
          </a:xfrm>
        </p:grpSpPr>
        <p:sp>
          <p:nvSpPr>
            <p:cNvPr id="580" name="Google Shape;580;p15"/>
            <p:cNvSpPr/>
            <p:nvPr/>
          </p:nvSpPr>
          <p:spPr>
            <a:xfrm>
              <a:off x="0" y="0"/>
              <a:ext cx="4588000" cy="442912"/>
            </a:xfrm>
            <a:custGeom>
              <a:rect b="b" l="l" r="r" t="t"/>
              <a:pathLst>
                <a:path extrusionOk="0" h="442912" w="4588000">
                  <a:moveTo>
                    <a:pt x="0" y="0"/>
                  </a:moveTo>
                  <a:lnTo>
                    <a:pt x="4588000" y="0"/>
                  </a:lnTo>
                  <a:lnTo>
                    <a:pt x="4588000" y="442912"/>
                  </a:lnTo>
                  <a:lnTo>
                    <a:pt x="0" y="442912"/>
                  </a:lnTo>
                  <a:close/>
                </a:path>
              </a:pathLst>
            </a:custGeom>
            <a:blipFill rotWithShape="1">
              <a:blip r:embed="rId7">
                <a:alphaModFix amt="0"/>
              </a:blip>
              <a:stretch>
                <a:fillRect b="-151841" l="0" r="0" t="-151841"/>
              </a:stretch>
            </a:blipFill>
            <a:ln>
              <a:noFill/>
            </a:ln>
          </p:spPr>
        </p:sp>
        <p:sp>
          <p:nvSpPr>
            <p:cNvPr id="581" name="Google Shape;581;p15"/>
            <p:cNvSpPr txBox="1"/>
            <p:nvPr/>
          </p:nvSpPr>
          <p:spPr>
            <a:xfrm>
              <a:off x="0" y="0"/>
              <a:ext cx="4587900" cy="44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778" u="none" cap="none" strike="noStrike">
                  <a:solidFill>
                    <a:srgbClr val="FFFFFF"/>
                  </a:solidFill>
                  <a:latin typeface="Noto Sans"/>
                  <a:ea typeface="Noto Sans"/>
                  <a:cs typeface="Noto Sans"/>
                  <a:sym typeface="Noto Sans"/>
                </a:rPr>
                <a:t> in integration effort (50 → 15)</a:t>
              </a:r>
              <a:endParaRPr/>
            </a:p>
          </p:txBody>
        </p:sp>
      </p:grpSp>
      <p:grpSp>
        <p:nvGrpSpPr>
          <p:cNvPr id="582" name="Google Shape;582;p15"/>
          <p:cNvGrpSpPr/>
          <p:nvPr/>
        </p:nvGrpSpPr>
        <p:grpSpPr>
          <a:xfrm>
            <a:off x="10401300" y="7622600"/>
            <a:ext cx="154575" cy="332184"/>
            <a:chOff x="0" y="0"/>
            <a:chExt cx="206100" cy="442912"/>
          </a:xfrm>
        </p:grpSpPr>
        <p:sp>
          <p:nvSpPr>
            <p:cNvPr id="583" name="Google Shape;583;p15"/>
            <p:cNvSpPr/>
            <p:nvPr/>
          </p:nvSpPr>
          <p:spPr>
            <a:xfrm>
              <a:off x="0" y="0"/>
              <a:ext cx="205979" cy="442912"/>
            </a:xfrm>
            <a:custGeom>
              <a:rect b="b" l="l" r="r" t="t"/>
              <a:pathLst>
                <a:path extrusionOk="0" h="442912" w="205979">
                  <a:moveTo>
                    <a:pt x="0" y="0"/>
                  </a:moveTo>
                  <a:lnTo>
                    <a:pt x="205979" y="0"/>
                  </a:lnTo>
                  <a:lnTo>
                    <a:pt x="205979" y="442912"/>
                  </a:lnTo>
                  <a:lnTo>
                    <a:pt x="0" y="442912"/>
                  </a:lnTo>
                  <a:close/>
                </a:path>
              </a:pathLst>
            </a:custGeom>
            <a:blipFill rotWithShape="1">
              <a:blip r:embed="rId7">
                <a:alphaModFix amt="0"/>
              </a:blip>
              <a:stretch>
                <a:fillRect b="0" l="-225883" r="-225872" t="0"/>
              </a:stretch>
            </a:blipFill>
            <a:ln>
              <a:noFill/>
            </a:ln>
          </p:spPr>
        </p:sp>
        <p:sp>
          <p:nvSpPr>
            <p:cNvPr id="584" name="Google Shape;584;p15"/>
            <p:cNvSpPr txBox="1"/>
            <p:nvPr/>
          </p:nvSpPr>
          <p:spPr>
            <a:xfrm>
              <a:off x="0" y="0"/>
              <a:ext cx="206100" cy="44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778" u="none" cap="none" strike="noStrike">
                  <a:solidFill>
                    <a:srgbClr val="FFFFFF"/>
                  </a:solidFill>
                  <a:latin typeface="Noto Sans"/>
                  <a:ea typeface="Noto Sans"/>
                  <a:cs typeface="Noto Sans"/>
                  <a:sym typeface="Noto Sans"/>
                </a:rPr>
                <a:t>• </a:t>
              </a:r>
              <a:endParaRPr/>
            </a:p>
          </p:txBody>
        </p:sp>
      </p:grpSp>
      <p:grpSp>
        <p:nvGrpSpPr>
          <p:cNvPr id="585" name="Google Shape;585;p15"/>
          <p:cNvGrpSpPr/>
          <p:nvPr/>
        </p:nvGrpSpPr>
        <p:grpSpPr>
          <a:xfrm>
            <a:off x="10555786" y="7622600"/>
            <a:ext cx="2760750" cy="332184"/>
            <a:chOff x="0" y="0"/>
            <a:chExt cx="3681000" cy="442912"/>
          </a:xfrm>
        </p:grpSpPr>
        <p:sp>
          <p:nvSpPr>
            <p:cNvPr id="586" name="Google Shape;586;p15"/>
            <p:cNvSpPr/>
            <p:nvPr/>
          </p:nvSpPr>
          <p:spPr>
            <a:xfrm>
              <a:off x="0" y="0"/>
              <a:ext cx="3680891" cy="442912"/>
            </a:xfrm>
            <a:custGeom>
              <a:rect b="b" l="l" r="r" t="t"/>
              <a:pathLst>
                <a:path extrusionOk="0" h="442912" w="3680891">
                  <a:moveTo>
                    <a:pt x="0" y="0"/>
                  </a:moveTo>
                  <a:lnTo>
                    <a:pt x="3680891" y="0"/>
                  </a:lnTo>
                  <a:lnTo>
                    <a:pt x="3680891" y="442912"/>
                  </a:lnTo>
                  <a:lnTo>
                    <a:pt x="0" y="442912"/>
                  </a:lnTo>
                  <a:close/>
                </a:path>
              </a:pathLst>
            </a:custGeom>
            <a:blipFill rotWithShape="1">
              <a:blip r:embed="rId7">
                <a:alphaModFix amt="0"/>
              </a:blip>
              <a:stretch>
                <a:fillRect b="-111938" l="0" r="0" t="-111938"/>
              </a:stretch>
            </a:blipFill>
            <a:ln>
              <a:noFill/>
            </a:ln>
          </p:spPr>
        </p:sp>
        <p:sp>
          <p:nvSpPr>
            <p:cNvPr id="587" name="Google Shape;587;p15"/>
            <p:cNvSpPr txBox="1"/>
            <p:nvPr/>
          </p:nvSpPr>
          <p:spPr>
            <a:xfrm>
              <a:off x="0" y="0"/>
              <a:ext cx="3681000" cy="44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778" u="none" cap="none" strike="noStrike">
                  <a:solidFill>
                    <a:srgbClr val="FFFFFF"/>
                  </a:solidFill>
                  <a:latin typeface="Noto Sans"/>
                  <a:ea typeface="Noto Sans"/>
                  <a:cs typeface="Noto Sans"/>
                  <a:sym typeface="Noto Sans"/>
                </a:rPr>
                <a:t>Unified authentication</a:t>
              </a:r>
              <a:endParaRPr/>
            </a:p>
          </p:txBody>
        </p:sp>
      </p:grpSp>
      <p:grpSp>
        <p:nvGrpSpPr>
          <p:cNvPr id="588" name="Google Shape;588;p15"/>
          <p:cNvGrpSpPr/>
          <p:nvPr/>
        </p:nvGrpSpPr>
        <p:grpSpPr>
          <a:xfrm>
            <a:off x="13316455" y="7622600"/>
            <a:ext cx="2215902" cy="332184"/>
            <a:chOff x="0" y="0"/>
            <a:chExt cx="2954536" cy="442912"/>
          </a:xfrm>
        </p:grpSpPr>
        <p:sp>
          <p:nvSpPr>
            <p:cNvPr id="589" name="Google Shape;589;p15"/>
            <p:cNvSpPr/>
            <p:nvPr/>
          </p:nvSpPr>
          <p:spPr>
            <a:xfrm>
              <a:off x="0" y="0"/>
              <a:ext cx="2954536" cy="442912"/>
            </a:xfrm>
            <a:custGeom>
              <a:rect b="b" l="l" r="r" t="t"/>
              <a:pathLst>
                <a:path extrusionOk="0" h="442912" w="2954536">
                  <a:moveTo>
                    <a:pt x="0" y="0"/>
                  </a:moveTo>
                  <a:lnTo>
                    <a:pt x="2954536" y="0"/>
                  </a:lnTo>
                  <a:lnTo>
                    <a:pt x="2954536" y="442912"/>
                  </a:lnTo>
                  <a:lnTo>
                    <a:pt x="0" y="442912"/>
                  </a:lnTo>
                  <a:close/>
                </a:path>
              </a:pathLst>
            </a:custGeom>
            <a:blipFill rotWithShape="1">
              <a:blip r:embed="rId7">
                <a:alphaModFix amt="0"/>
              </a:blip>
              <a:stretch>
                <a:fillRect b="-79978" l="0" r="0" t="-79978"/>
              </a:stretch>
            </a:blipFill>
            <a:ln>
              <a:noFill/>
            </a:ln>
          </p:spPr>
        </p:sp>
        <p:sp>
          <p:nvSpPr>
            <p:cNvPr id="590" name="Google Shape;590;p15"/>
            <p:cNvSpPr txBox="1"/>
            <p:nvPr/>
          </p:nvSpPr>
          <p:spPr>
            <a:xfrm>
              <a:off x="0" y="0"/>
              <a:ext cx="2954400" cy="44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778" u="none" cap="none" strike="noStrike">
                  <a:solidFill>
                    <a:srgbClr val="FFFFFF"/>
                  </a:solidFill>
                  <a:latin typeface="Noto Sans"/>
                  <a:ea typeface="Noto Sans"/>
                  <a:cs typeface="Noto Sans"/>
                  <a:sym typeface="Noto Sans"/>
                </a:rPr>
                <a:t> and error handling</a:t>
              </a:r>
              <a:endParaRPr/>
            </a:p>
          </p:txBody>
        </p:sp>
      </p:grpSp>
      <p:grpSp>
        <p:nvGrpSpPr>
          <p:cNvPr id="591" name="Google Shape;591;p15"/>
          <p:cNvGrpSpPr/>
          <p:nvPr/>
        </p:nvGrpSpPr>
        <p:grpSpPr>
          <a:xfrm>
            <a:off x="10401300" y="8131597"/>
            <a:ext cx="154575" cy="332184"/>
            <a:chOff x="0" y="0"/>
            <a:chExt cx="206100" cy="442912"/>
          </a:xfrm>
        </p:grpSpPr>
        <p:sp>
          <p:nvSpPr>
            <p:cNvPr id="592" name="Google Shape;592;p15"/>
            <p:cNvSpPr/>
            <p:nvPr/>
          </p:nvSpPr>
          <p:spPr>
            <a:xfrm>
              <a:off x="0" y="0"/>
              <a:ext cx="205979" cy="442912"/>
            </a:xfrm>
            <a:custGeom>
              <a:rect b="b" l="l" r="r" t="t"/>
              <a:pathLst>
                <a:path extrusionOk="0" h="442912" w="205979">
                  <a:moveTo>
                    <a:pt x="0" y="0"/>
                  </a:moveTo>
                  <a:lnTo>
                    <a:pt x="205979" y="0"/>
                  </a:lnTo>
                  <a:lnTo>
                    <a:pt x="205979" y="442912"/>
                  </a:lnTo>
                  <a:lnTo>
                    <a:pt x="0" y="442912"/>
                  </a:lnTo>
                  <a:close/>
                </a:path>
              </a:pathLst>
            </a:custGeom>
            <a:blipFill rotWithShape="1">
              <a:blip r:embed="rId7">
                <a:alphaModFix amt="0"/>
              </a:blip>
              <a:stretch>
                <a:fillRect b="0" l="-225883" r="-225872" t="0"/>
              </a:stretch>
            </a:blipFill>
            <a:ln>
              <a:noFill/>
            </a:ln>
          </p:spPr>
        </p:sp>
        <p:sp>
          <p:nvSpPr>
            <p:cNvPr id="593" name="Google Shape;593;p15"/>
            <p:cNvSpPr txBox="1"/>
            <p:nvPr/>
          </p:nvSpPr>
          <p:spPr>
            <a:xfrm>
              <a:off x="0" y="0"/>
              <a:ext cx="206100" cy="44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778" u="none" cap="none" strike="noStrike">
                  <a:solidFill>
                    <a:srgbClr val="FFFFFF"/>
                  </a:solidFill>
                  <a:latin typeface="Noto Sans"/>
                  <a:ea typeface="Noto Sans"/>
                  <a:cs typeface="Noto Sans"/>
                  <a:sym typeface="Noto Sans"/>
                </a:rPr>
                <a:t>• </a:t>
              </a:r>
              <a:endParaRPr/>
            </a:p>
          </p:txBody>
        </p:sp>
      </p:grpSp>
      <p:grpSp>
        <p:nvGrpSpPr>
          <p:cNvPr id="594" name="Google Shape;594;p15"/>
          <p:cNvGrpSpPr/>
          <p:nvPr/>
        </p:nvGrpSpPr>
        <p:grpSpPr>
          <a:xfrm>
            <a:off x="10555786" y="8131597"/>
            <a:ext cx="2880941" cy="332184"/>
            <a:chOff x="0" y="0"/>
            <a:chExt cx="3841254" cy="442912"/>
          </a:xfrm>
        </p:grpSpPr>
        <p:sp>
          <p:nvSpPr>
            <p:cNvPr id="595" name="Google Shape;595;p15"/>
            <p:cNvSpPr/>
            <p:nvPr/>
          </p:nvSpPr>
          <p:spPr>
            <a:xfrm>
              <a:off x="0" y="0"/>
              <a:ext cx="3841254" cy="442912"/>
            </a:xfrm>
            <a:custGeom>
              <a:rect b="b" l="l" r="r" t="t"/>
              <a:pathLst>
                <a:path extrusionOk="0" h="442912" w="3841254">
                  <a:moveTo>
                    <a:pt x="0" y="0"/>
                  </a:moveTo>
                  <a:lnTo>
                    <a:pt x="3841254" y="0"/>
                  </a:lnTo>
                  <a:lnTo>
                    <a:pt x="3841254" y="442912"/>
                  </a:lnTo>
                  <a:lnTo>
                    <a:pt x="0" y="442912"/>
                  </a:lnTo>
                  <a:close/>
                </a:path>
              </a:pathLst>
            </a:custGeom>
            <a:blipFill rotWithShape="1">
              <a:blip r:embed="rId7">
                <a:alphaModFix amt="0"/>
              </a:blip>
              <a:stretch>
                <a:fillRect b="-118977" l="0" r="0" t="-118987"/>
              </a:stretch>
            </a:blipFill>
            <a:ln>
              <a:noFill/>
            </a:ln>
          </p:spPr>
        </p:sp>
        <p:sp>
          <p:nvSpPr>
            <p:cNvPr id="596" name="Google Shape;596;p15"/>
            <p:cNvSpPr txBox="1"/>
            <p:nvPr/>
          </p:nvSpPr>
          <p:spPr>
            <a:xfrm>
              <a:off x="0" y="0"/>
              <a:ext cx="3841200" cy="44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778" u="none" cap="none" strike="noStrike">
                  <a:solidFill>
                    <a:srgbClr val="FFFFFF"/>
                  </a:solidFill>
                  <a:latin typeface="Noto Sans"/>
                  <a:ea typeface="Noto Sans"/>
                  <a:cs typeface="Noto Sans"/>
                  <a:sym typeface="Noto Sans"/>
                </a:rPr>
                <a:t>Standardized interfaces</a:t>
              </a:r>
              <a:endParaRPr/>
            </a:p>
          </p:txBody>
        </p:sp>
      </p:grpSp>
      <p:grpSp>
        <p:nvGrpSpPr>
          <p:cNvPr id="597" name="Google Shape;597;p15"/>
          <p:cNvGrpSpPr/>
          <p:nvPr/>
        </p:nvGrpSpPr>
        <p:grpSpPr>
          <a:xfrm>
            <a:off x="13436727" y="8131597"/>
            <a:ext cx="1739700" cy="332184"/>
            <a:chOff x="0" y="0"/>
            <a:chExt cx="2319600" cy="442912"/>
          </a:xfrm>
        </p:grpSpPr>
        <p:sp>
          <p:nvSpPr>
            <p:cNvPr id="598" name="Google Shape;598;p15"/>
            <p:cNvSpPr/>
            <p:nvPr/>
          </p:nvSpPr>
          <p:spPr>
            <a:xfrm>
              <a:off x="0" y="0"/>
              <a:ext cx="2319485" cy="442912"/>
            </a:xfrm>
            <a:custGeom>
              <a:rect b="b" l="l" r="r" t="t"/>
              <a:pathLst>
                <a:path extrusionOk="0" h="442912" w="2319485">
                  <a:moveTo>
                    <a:pt x="0" y="0"/>
                  </a:moveTo>
                  <a:lnTo>
                    <a:pt x="2319485" y="0"/>
                  </a:lnTo>
                  <a:lnTo>
                    <a:pt x="2319485" y="442912"/>
                  </a:lnTo>
                  <a:lnTo>
                    <a:pt x="0" y="442912"/>
                  </a:lnTo>
                  <a:close/>
                </a:path>
              </a:pathLst>
            </a:custGeom>
            <a:blipFill rotWithShape="1">
              <a:blip r:embed="rId7">
                <a:alphaModFix amt="0"/>
              </a:blip>
              <a:stretch>
                <a:fillRect b="-52041" l="0" r="0" t="-52041"/>
              </a:stretch>
            </a:blipFill>
            <a:ln>
              <a:noFill/>
            </a:ln>
          </p:spPr>
        </p:sp>
        <p:sp>
          <p:nvSpPr>
            <p:cNvPr id="599" name="Google Shape;599;p15"/>
            <p:cNvSpPr txBox="1"/>
            <p:nvPr/>
          </p:nvSpPr>
          <p:spPr>
            <a:xfrm>
              <a:off x="0" y="0"/>
              <a:ext cx="2319600" cy="44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778" u="none" cap="none" strike="noStrike">
                  <a:solidFill>
                    <a:srgbClr val="FFFFFF"/>
                  </a:solidFill>
                  <a:latin typeface="Noto Sans"/>
                  <a:ea typeface="Noto Sans"/>
                  <a:cs typeface="Noto Sans"/>
                  <a:sym typeface="Noto Sans"/>
                </a:rPr>
                <a:t> across all tools</a:t>
              </a:r>
              <a:endParaRPr/>
            </a:p>
          </p:txBody>
        </p:sp>
      </p:grpSp>
      <p:grpSp>
        <p:nvGrpSpPr>
          <p:cNvPr id="600" name="Google Shape;600;p15"/>
          <p:cNvGrpSpPr/>
          <p:nvPr/>
        </p:nvGrpSpPr>
        <p:grpSpPr>
          <a:xfrm>
            <a:off x="10401300" y="8640585"/>
            <a:ext cx="154575" cy="332184"/>
            <a:chOff x="0" y="0"/>
            <a:chExt cx="206100" cy="442912"/>
          </a:xfrm>
        </p:grpSpPr>
        <p:sp>
          <p:nvSpPr>
            <p:cNvPr id="601" name="Google Shape;601;p15"/>
            <p:cNvSpPr/>
            <p:nvPr/>
          </p:nvSpPr>
          <p:spPr>
            <a:xfrm>
              <a:off x="0" y="0"/>
              <a:ext cx="205979" cy="442912"/>
            </a:xfrm>
            <a:custGeom>
              <a:rect b="b" l="l" r="r" t="t"/>
              <a:pathLst>
                <a:path extrusionOk="0" h="442912" w="205979">
                  <a:moveTo>
                    <a:pt x="0" y="0"/>
                  </a:moveTo>
                  <a:lnTo>
                    <a:pt x="205979" y="0"/>
                  </a:lnTo>
                  <a:lnTo>
                    <a:pt x="205979" y="442912"/>
                  </a:lnTo>
                  <a:lnTo>
                    <a:pt x="0" y="442912"/>
                  </a:lnTo>
                  <a:close/>
                </a:path>
              </a:pathLst>
            </a:custGeom>
            <a:blipFill rotWithShape="1">
              <a:blip r:embed="rId7">
                <a:alphaModFix amt="0"/>
              </a:blip>
              <a:stretch>
                <a:fillRect b="0" l="-225883" r="-225872" t="0"/>
              </a:stretch>
            </a:blipFill>
            <a:ln>
              <a:noFill/>
            </a:ln>
          </p:spPr>
        </p:sp>
        <p:sp>
          <p:nvSpPr>
            <p:cNvPr id="602" name="Google Shape;602;p15"/>
            <p:cNvSpPr txBox="1"/>
            <p:nvPr/>
          </p:nvSpPr>
          <p:spPr>
            <a:xfrm>
              <a:off x="0" y="0"/>
              <a:ext cx="206100" cy="44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778" u="none" cap="none" strike="noStrike">
                  <a:solidFill>
                    <a:srgbClr val="FFFFFF"/>
                  </a:solidFill>
                  <a:latin typeface="Noto Sans"/>
                  <a:ea typeface="Noto Sans"/>
                  <a:cs typeface="Noto Sans"/>
                  <a:sym typeface="Noto Sans"/>
                </a:rPr>
                <a:t>• </a:t>
              </a:r>
              <a:endParaRPr/>
            </a:p>
          </p:txBody>
        </p:sp>
      </p:grpSp>
      <p:grpSp>
        <p:nvGrpSpPr>
          <p:cNvPr id="603" name="Google Shape;603;p15"/>
          <p:cNvGrpSpPr/>
          <p:nvPr/>
        </p:nvGrpSpPr>
        <p:grpSpPr>
          <a:xfrm>
            <a:off x="10555786" y="8640585"/>
            <a:ext cx="2273944" cy="332184"/>
            <a:chOff x="0" y="0"/>
            <a:chExt cx="3031925" cy="442912"/>
          </a:xfrm>
        </p:grpSpPr>
        <p:sp>
          <p:nvSpPr>
            <p:cNvPr id="604" name="Google Shape;604;p15"/>
            <p:cNvSpPr/>
            <p:nvPr/>
          </p:nvSpPr>
          <p:spPr>
            <a:xfrm>
              <a:off x="0" y="0"/>
              <a:ext cx="3031925" cy="442912"/>
            </a:xfrm>
            <a:custGeom>
              <a:rect b="b" l="l" r="r" t="t"/>
              <a:pathLst>
                <a:path extrusionOk="0" h="442912" w="3031925">
                  <a:moveTo>
                    <a:pt x="0" y="0"/>
                  </a:moveTo>
                  <a:lnTo>
                    <a:pt x="3031925" y="0"/>
                  </a:lnTo>
                  <a:lnTo>
                    <a:pt x="3031925" y="442912"/>
                  </a:lnTo>
                  <a:lnTo>
                    <a:pt x="0" y="442912"/>
                  </a:lnTo>
                  <a:close/>
                </a:path>
              </a:pathLst>
            </a:custGeom>
            <a:blipFill rotWithShape="1">
              <a:blip r:embed="rId7">
                <a:alphaModFix amt="0"/>
              </a:blip>
              <a:stretch>
                <a:fillRect b="-83388" l="0" r="0" t="-83378"/>
              </a:stretch>
            </a:blipFill>
            <a:ln>
              <a:noFill/>
            </a:ln>
          </p:spPr>
        </p:sp>
        <p:sp>
          <p:nvSpPr>
            <p:cNvPr id="605" name="Google Shape;605;p15"/>
            <p:cNvSpPr txBox="1"/>
            <p:nvPr/>
          </p:nvSpPr>
          <p:spPr>
            <a:xfrm>
              <a:off x="0" y="0"/>
              <a:ext cx="3031800" cy="44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778" u="none" cap="none" strike="noStrike">
                  <a:solidFill>
                    <a:srgbClr val="FFFFFF"/>
                  </a:solidFill>
                  <a:latin typeface="Noto Sans"/>
                  <a:ea typeface="Noto Sans"/>
                  <a:cs typeface="Noto Sans"/>
                  <a:sym typeface="Noto Sans"/>
                </a:rPr>
                <a:t>Dynamic discovery</a:t>
              </a:r>
              <a:endParaRPr/>
            </a:p>
          </p:txBody>
        </p:sp>
      </p:grpSp>
      <p:grpSp>
        <p:nvGrpSpPr>
          <p:cNvPr id="606" name="Google Shape;606;p15"/>
          <p:cNvGrpSpPr/>
          <p:nvPr/>
        </p:nvGrpSpPr>
        <p:grpSpPr>
          <a:xfrm>
            <a:off x="12829727" y="8640585"/>
            <a:ext cx="2172648" cy="332184"/>
            <a:chOff x="0" y="0"/>
            <a:chExt cx="2896864" cy="442912"/>
          </a:xfrm>
        </p:grpSpPr>
        <p:sp>
          <p:nvSpPr>
            <p:cNvPr id="607" name="Google Shape;607;p15"/>
            <p:cNvSpPr/>
            <p:nvPr/>
          </p:nvSpPr>
          <p:spPr>
            <a:xfrm>
              <a:off x="0" y="0"/>
              <a:ext cx="2896864" cy="442912"/>
            </a:xfrm>
            <a:custGeom>
              <a:rect b="b" l="l" r="r" t="t"/>
              <a:pathLst>
                <a:path extrusionOk="0" h="442912" w="2896864">
                  <a:moveTo>
                    <a:pt x="0" y="0"/>
                  </a:moveTo>
                  <a:lnTo>
                    <a:pt x="2896864" y="0"/>
                  </a:lnTo>
                  <a:lnTo>
                    <a:pt x="2896864" y="442912"/>
                  </a:lnTo>
                  <a:lnTo>
                    <a:pt x="0" y="442912"/>
                  </a:lnTo>
                  <a:close/>
                </a:path>
              </a:pathLst>
            </a:custGeom>
            <a:blipFill rotWithShape="1">
              <a:blip r:embed="rId7">
                <a:alphaModFix amt="0"/>
              </a:blip>
              <a:stretch>
                <a:fillRect b="-77440" l="0" r="0" t="-77440"/>
              </a:stretch>
            </a:blipFill>
            <a:ln>
              <a:noFill/>
            </a:ln>
          </p:spPr>
        </p:sp>
        <p:sp>
          <p:nvSpPr>
            <p:cNvPr id="608" name="Google Shape;608;p15"/>
            <p:cNvSpPr txBox="1"/>
            <p:nvPr/>
          </p:nvSpPr>
          <p:spPr>
            <a:xfrm>
              <a:off x="0" y="0"/>
              <a:ext cx="2896800" cy="44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778" u="none" cap="none" strike="noStrike">
                  <a:solidFill>
                    <a:srgbClr val="FFFFFF"/>
                  </a:solidFill>
                  <a:latin typeface="Noto Sans"/>
                  <a:ea typeface="Noto Sans"/>
                  <a:cs typeface="Noto Sans"/>
                  <a:sym typeface="Noto Sans"/>
                </a:rPr>
                <a:t> of new capabilities</a:t>
              </a:r>
              <a:endParaRPr/>
            </a:p>
          </p:txBody>
        </p:sp>
      </p:grpSp>
      <p:grpSp>
        <p:nvGrpSpPr>
          <p:cNvPr id="609" name="Google Shape;609;p15"/>
          <p:cNvGrpSpPr/>
          <p:nvPr/>
        </p:nvGrpSpPr>
        <p:grpSpPr>
          <a:xfrm>
            <a:off x="13902080" y="9458325"/>
            <a:ext cx="4389389" cy="829330"/>
            <a:chOff x="0" y="0"/>
            <a:chExt cx="5852519" cy="1105774"/>
          </a:xfrm>
        </p:grpSpPr>
        <p:sp>
          <p:nvSpPr>
            <p:cNvPr id="610" name="Google Shape;610;p15"/>
            <p:cNvSpPr/>
            <p:nvPr/>
          </p:nvSpPr>
          <p:spPr>
            <a:xfrm>
              <a:off x="0" y="0"/>
              <a:ext cx="5852519" cy="1105774"/>
            </a:xfrm>
            <a:custGeom>
              <a:rect b="b" l="l" r="r" t="t"/>
              <a:pathLst>
                <a:path extrusionOk="0" h="1108545" w="5867187">
                  <a:moveTo>
                    <a:pt x="0" y="0"/>
                  </a:moveTo>
                  <a:lnTo>
                    <a:pt x="5867187" y="0"/>
                  </a:lnTo>
                  <a:lnTo>
                    <a:pt x="5867187" y="1108545"/>
                  </a:lnTo>
                  <a:lnTo>
                    <a:pt x="0" y="110854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descr="preencoded.png" id="611" name="Google Shape;611;p15"/>
            <p:cNvSpPr/>
            <p:nvPr/>
          </p:nvSpPr>
          <p:spPr>
            <a:xfrm>
              <a:off x="304849" y="172505"/>
              <a:ext cx="5238169" cy="759891"/>
            </a:xfrm>
            <a:custGeom>
              <a:rect b="b" l="l" r="r" t="t"/>
              <a:pathLst>
                <a:path extrusionOk="0" h="759891" w="5238169">
                  <a:moveTo>
                    <a:pt x="0" y="0"/>
                  </a:moveTo>
                  <a:lnTo>
                    <a:pt x="5238169" y="0"/>
                  </a:lnTo>
                  <a:lnTo>
                    <a:pt x="5238169" y="759891"/>
                  </a:lnTo>
                  <a:lnTo>
                    <a:pt x="0" y="759891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8">
                <a:alphaModFix/>
              </a:blip>
              <a:stretch>
                <a:fillRect b="-9609" l="0" r="0" t="-9600"/>
              </a:stretch>
            </a:blipFill>
            <a:ln>
              <a:noFill/>
            </a:ln>
          </p:spPr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5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6" name="Google Shape;616;g3fbf35cb889_9_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The MCP Solution: M + N</a:t>
            </a:r>
          </a:p>
        </p:txBody>
      </p:sp>
      <p:pic>
        <p:nvPicPr>
          <p:cNvPr id="3" name="Picture 2" descr="d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852368"/>
            <a:ext cx="17190720" cy="513090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9281160"/>
            <a:ext cx="17190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444C56"/>
                </a:solidFill>
              </a:rPr>
              <a:t>Each agent implements MCP once; each system is wrapped once as an MCP server. 5×10 = 50 custom integrations becomes 5+10 = 15.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MCP Value Proposition (who maintains the integration?)</a:t>
            </a:r>
          </a:p>
        </p:txBody>
      </p:sp>
      <p:pic>
        <p:nvPicPr>
          <p:cNvPr id="3" name="Picture 2" descr="d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485925"/>
            <a:ext cx="17190720" cy="186378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9281160"/>
            <a:ext cx="17190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444C56"/>
                </a:solidFill>
              </a:rPr>
              <a:t>When a provider ships its own MCP server, API changes are their problem, not yours. Your agent speaks one protocol and stops chasing breaking integrations.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p17"/>
          <p:cNvSpPr/>
          <p:nvPr/>
        </p:nvSpPr>
        <p:spPr>
          <a:xfrm>
            <a:off x="0" y="1323365"/>
            <a:ext cx="7684865" cy="7905369"/>
          </a:xfrm>
          <a:custGeom>
            <a:rect b="b" l="l" r="r" t="t"/>
            <a:pathLst>
              <a:path extrusionOk="0" h="10540492" w="10246487">
                <a:moveTo>
                  <a:pt x="0" y="0"/>
                </a:moveTo>
                <a:lnTo>
                  <a:pt x="10246487" y="0"/>
                </a:lnTo>
                <a:lnTo>
                  <a:pt x="10246487" y="10540492"/>
                </a:lnTo>
                <a:lnTo>
                  <a:pt x="0" y="10540492"/>
                </a:lnTo>
                <a:close/>
              </a:path>
            </a:pathLst>
          </a:custGeom>
          <a:solidFill>
            <a:srgbClr val="0F1B2C"/>
          </a:solidFill>
          <a:ln>
            <a:noFill/>
          </a:ln>
        </p:spPr>
      </p:sp>
      <p:grpSp>
        <p:nvGrpSpPr>
          <p:cNvPr id="622" name="Google Shape;622;p17"/>
          <p:cNvGrpSpPr/>
          <p:nvPr/>
        </p:nvGrpSpPr>
        <p:grpSpPr>
          <a:xfrm>
            <a:off x="571500" y="4156243"/>
            <a:ext cx="2590453" cy="778935"/>
            <a:chOff x="0" y="0"/>
            <a:chExt cx="3453936" cy="1038581"/>
          </a:xfrm>
        </p:grpSpPr>
        <p:sp>
          <p:nvSpPr>
            <p:cNvPr id="623" name="Google Shape;623;p17"/>
            <p:cNvSpPr/>
            <p:nvPr/>
          </p:nvSpPr>
          <p:spPr>
            <a:xfrm>
              <a:off x="0" y="0"/>
              <a:ext cx="3453936" cy="1038576"/>
            </a:xfrm>
            <a:custGeom>
              <a:rect b="b" l="l" r="r" t="t"/>
              <a:pathLst>
                <a:path extrusionOk="0" h="1038576" w="3453936">
                  <a:moveTo>
                    <a:pt x="0" y="0"/>
                  </a:moveTo>
                  <a:lnTo>
                    <a:pt x="3453936" y="0"/>
                  </a:lnTo>
                  <a:lnTo>
                    <a:pt x="3453936" y="1038576"/>
                  </a:lnTo>
                  <a:lnTo>
                    <a:pt x="0" y="1038576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4800" l="0" r="0" t="-14800"/>
              </a:stretch>
            </a:blipFill>
            <a:ln>
              <a:noFill/>
            </a:ln>
          </p:spPr>
        </p:sp>
        <p:sp>
          <p:nvSpPr>
            <p:cNvPr id="624" name="Google Shape;624;p17"/>
            <p:cNvSpPr txBox="1"/>
            <p:nvPr/>
          </p:nvSpPr>
          <p:spPr>
            <a:xfrm>
              <a:off x="0" y="0"/>
              <a:ext cx="3453930" cy="103858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1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5061" u="none" cap="none" strike="noStrike">
                  <a:solidFill>
                    <a:srgbClr val="FFFFFF"/>
                  </a:solidFill>
                  <a:latin typeface="Noto Sans"/>
                  <a:ea typeface="Noto Sans"/>
                  <a:cs typeface="Noto Sans"/>
                  <a:sym typeface="Noto Sans"/>
                </a:rPr>
                <a:t> What is </a:t>
              </a:r>
              <a:endParaRPr/>
            </a:p>
          </p:txBody>
        </p:sp>
      </p:grpSp>
      <p:grpSp>
        <p:nvGrpSpPr>
          <p:cNvPr id="625" name="Google Shape;625;p17"/>
          <p:cNvGrpSpPr/>
          <p:nvPr/>
        </p:nvGrpSpPr>
        <p:grpSpPr>
          <a:xfrm>
            <a:off x="2967780" y="4048410"/>
            <a:ext cx="2176882" cy="994602"/>
            <a:chOff x="0" y="0"/>
            <a:chExt cx="2902509" cy="1326136"/>
          </a:xfrm>
        </p:grpSpPr>
        <p:sp>
          <p:nvSpPr>
            <p:cNvPr id="626" name="Google Shape;626;p17"/>
            <p:cNvSpPr/>
            <p:nvPr/>
          </p:nvSpPr>
          <p:spPr>
            <a:xfrm>
              <a:off x="0" y="0"/>
              <a:ext cx="2902504" cy="1326131"/>
            </a:xfrm>
            <a:custGeom>
              <a:rect b="b" l="l" r="r" t="t"/>
              <a:pathLst>
                <a:path extrusionOk="0" h="1326131" w="2902504">
                  <a:moveTo>
                    <a:pt x="0" y="0"/>
                  </a:moveTo>
                  <a:lnTo>
                    <a:pt x="2902504" y="0"/>
                  </a:lnTo>
                  <a:lnTo>
                    <a:pt x="2902504" y="1326131"/>
                  </a:lnTo>
                  <a:lnTo>
                    <a:pt x="0" y="1326131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18194" l="0" r="0" t="-3488"/>
              </a:stretch>
            </a:blipFill>
            <a:ln>
              <a:noFill/>
            </a:ln>
          </p:spPr>
        </p:sp>
        <p:sp>
          <p:nvSpPr>
            <p:cNvPr id="627" name="Google Shape;627;p17"/>
            <p:cNvSpPr txBox="1"/>
            <p:nvPr/>
          </p:nvSpPr>
          <p:spPr>
            <a:xfrm>
              <a:off x="0" y="0"/>
              <a:ext cx="2902509" cy="132613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1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5061" u="none" cap="none" strike="noStrike">
                  <a:solidFill>
                    <a:srgbClr val="00AEEF"/>
                  </a:solidFill>
                  <a:latin typeface="Noto Sans"/>
                  <a:ea typeface="Noto Sans"/>
                  <a:cs typeface="Noto Sans"/>
                  <a:sym typeface="Noto Sans"/>
                </a:rPr>
                <a:t> Model </a:t>
              </a:r>
              <a:endParaRPr/>
            </a:p>
          </p:txBody>
        </p:sp>
      </p:grpSp>
      <p:grpSp>
        <p:nvGrpSpPr>
          <p:cNvPr id="628" name="Google Shape;628;p17"/>
          <p:cNvGrpSpPr/>
          <p:nvPr/>
        </p:nvGrpSpPr>
        <p:grpSpPr>
          <a:xfrm>
            <a:off x="571500" y="4959915"/>
            <a:ext cx="5453416" cy="778935"/>
            <a:chOff x="0" y="0"/>
            <a:chExt cx="7271221" cy="1038581"/>
          </a:xfrm>
        </p:grpSpPr>
        <p:sp>
          <p:nvSpPr>
            <p:cNvPr id="629" name="Google Shape;629;p17"/>
            <p:cNvSpPr/>
            <p:nvPr/>
          </p:nvSpPr>
          <p:spPr>
            <a:xfrm>
              <a:off x="0" y="0"/>
              <a:ext cx="7271221" cy="1038576"/>
            </a:xfrm>
            <a:custGeom>
              <a:rect b="b" l="l" r="r" t="t"/>
              <a:pathLst>
                <a:path extrusionOk="0" h="1038576" w="7271221">
                  <a:moveTo>
                    <a:pt x="0" y="0"/>
                  </a:moveTo>
                  <a:lnTo>
                    <a:pt x="7271221" y="0"/>
                  </a:lnTo>
                  <a:lnTo>
                    <a:pt x="7271221" y="1038576"/>
                  </a:lnTo>
                  <a:lnTo>
                    <a:pt x="0" y="1038576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86418" l="0" r="0" t="-86418"/>
              </a:stretch>
            </a:blipFill>
            <a:ln>
              <a:noFill/>
            </a:ln>
          </p:spPr>
        </p:sp>
        <p:sp>
          <p:nvSpPr>
            <p:cNvPr id="630" name="Google Shape;630;p17"/>
            <p:cNvSpPr txBox="1"/>
            <p:nvPr/>
          </p:nvSpPr>
          <p:spPr>
            <a:xfrm>
              <a:off x="0" y="0"/>
              <a:ext cx="7271220" cy="103858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1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5061" u="none" cap="none" strike="noStrike">
                  <a:solidFill>
                    <a:srgbClr val="00AEEF"/>
                  </a:solidFill>
                  <a:latin typeface="Noto Sans"/>
                  <a:ea typeface="Noto Sans"/>
                  <a:cs typeface="Noto Sans"/>
                  <a:sym typeface="Noto Sans"/>
                </a:rPr>
                <a:t>Context Protocol</a:t>
              </a:r>
              <a:endParaRPr/>
            </a:p>
          </p:txBody>
        </p:sp>
      </p:grpSp>
      <p:grpSp>
        <p:nvGrpSpPr>
          <p:cNvPr id="631" name="Google Shape;631;p17"/>
          <p:cNvGrpSpPr/>
          <p:nvPr/>
        </p:nvGrpSpPr>
        <p:grpSpPr>
          <a:xfrm>
            <a:off x="571500" y="5763587"/>
            <a:ext cx="5126404" cy="778935"/>
            <a:chOff x="0" y="0"/>
            <a:chExt cx="6835205" cy="1038581"/>
          </a:xfrm>
        </p:grpSpPr>
        <p:sp>
          <p:nvSpPr>
            <p:cNvPr id="632" name="Google Shape;632;p17"/>
            <p:cNvSpPr/>
            <p:nvPr/>
          </p:nvSpPr>
          <p:spPr>
            <a:xfrm>
              <a:off x="0" y="0"/>
              <a:ext cx="6835205" cy="1038576"/>
            </a:xfrm>
            <a:custGeom>
              <a:rect b="b" l="l" r="r" t="t"/>
              <a:pathLst>
                <a:path extrusionOk="0" h="1038576" w="6835205">
                  <a:moveTo>
                    <a:pt x="0" y="0"/>
                  </a:moveTo>
                  <a:lnTo>
                    <a:pt x="6835205" y="0"/>
                  </a:lnTo>
                  <a:lnTo>
                    <a:pt x="6835205" y="1038576"/>
                  </a:lnTo>
                  <a:lnTo>
                    <a:pt x="0" y="1038576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78238" l="0" r="0" t="-78238"/>
              </a:stretch>
            </a:blipFill>
            <a:ln>
              <a:noFill/>
            </a:ln>
          </p:spPr>
        </p:sp>
        <p:sp>
          <p:nvSpPr>
            <p:cNvPr id="633" name="Google Shape;633;p17"/>
            <p:cNvSpPr txBox="1"/>
            <p:nvPr/>
          </p:nvSpPr>
          <p:spPr>
            <a:xfrm>
              <a:off x="0" y="0"/>
              <a:ext cx="6835204" cy="103858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1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5061" u="none" cap="none" strike="noStrike">
                  <a:solidFill>
                    <a:srgbClr val="FFFFFF"/>
                  </a:solidFill>
                  <a:latin typeface="Noto Sans"/>
                  <a:ea typeface="Noto Sans"/>
                  <a:cs typeface="Noto Sans"/>
                  <a:sym typeface="Noto Sans"/>
                </a:rPr>
                <a:t> and why does it </a:t>
              </a:r>
              <a:endParaRPr/>
            </a:p>
          </p:txBody>
        </p:sp>
      </p:grpSp>
      <p:grpSp>
        <p:nvGrpSpPr>
          <p:cNvPr id="634" name="Google Shape;634;p17"/>
          <p:cNvGrpSpPr/>
          <p:nvPr/>
        </p:nvGrpSpPr>
        <p:grpSpPr>
          <a:xfrm>
            <a:off x="571500" y="6567259"/>
            <a:ext cx="2273061" cy="778935"/>
            <a:chOff x="0" y="0"/>
            <a:chExt cx="3030747" cy="1038581"/>
          </a:xfrm>
        </p:grpSpPr>
        <p:sp>
          <p:nvSpPr>
            <p:cNvPr id="635" name="Google Shape;635;p17"/>
            <p:cNvSpPr/>
            <p:nvPr/>
          </p:nvSpPr>
          <p:spPr>
            <a:xfrm>
              <a:off x="0" y="0"/>
              <a:ext cx="3030747" cy="1038576"/>
            </a:xfrm>
            <a:custGeom>
              <a:rect b="b" l="l" r="r" t="t"/>
              <a:pathLst>
                <a:path extrusionOk="0" h="1038576" w="3030747">
                  <a:moveTo>
                    <a:pt x="0" y="0"/>
                  </a:moveTo>
                  <a:lnTo>
                    <a:pt x="3030747" y="0"/>
                  </a:lnTo>
                  <a:lnTo>
                    <a:pt x="3030747" y="1038576"/>
                  </a:lnTo>
                  <a:lnTo>
                    <a:pt x="0" y="1038576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6860" l="0" r="0" t="-6860"/>
              </a:stretch>
            </a:blipFill>
            <a:ln>
              <a:noFill/>
            </a:ln>
          </p:spPr>
        </p:sp>
        <p:sp>
          <p:nvSpPr>
            <p:cNvPr id="636" name="Google Shape;636;p17"/>
            <p:cNvSpPr txBox="1"/>
            <p:nvPr/>
          </p:nvSpPr>
          <p:spPr>
            <a:xfrm>
              <a:off x="0" y="0"/>
              <a:ext cx="3030741" cy="103858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1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5061" u="none" cap="none" strike="noStrike">
                  <a:solidFill>
                    <a:srgbClr val="00AEEF"/>
                  </a:solidFill>
                  <a:latin typeface="Noto Sans"/>
                  <a:ea typeface="Noto Sans"/>
                  <a:cs typeface="Noto Sans"/>
                  <a:sym typeface="Noto Sans"/>
                </a:rPr>
                <a:t>matter</a:t>
              </a:r>
              <a:endParaRPr/>
            </a:p>
          </p:txBody>
        </p:sp>
      </p:grpSp>
      <p:grpSp>
        <p:nvGrpSpPr>
          <p:cNvPr id="637" name="Google Shape;637;p17"/>
          <p:cNvGrpSpPr/>
          <p:nvPr/>
        </p:nvGrpSpPr>
        <p:grpSpPr>
          <a:xfrm>
            <a:off x="2821172" y="6567259"/>
            <a:ext cx="506549" cy="778935"/>
            <a:chOff x="0" y="0"/>
            <a:chExt cx="675399" cy="1038581"/>
          </a:xfrm>
        </p:grpSpPr>
        <p:sp>
          <p:nvSpPr>
            <p:cNvPr id="638" name="Google Shape;638;p17"/>
            <p:cNvSpPr/>
            <p:nvPr/>
          </p:nvSpPr>
          <p:spPr>
            <a:xfrm>
              <a:off x="0" y="0"/>
              <a:ext cx="675397" cy="1038576"/>
            </a:xfrm>
            <a:custGeom>
              <a:rect b="b" l="l" r="r" t="t"/>
              <a:pathLst>
                <a:path extrusionOk="0" h="1038576" w="675397">
                  <a:moveTo>
                    <a:pt x="0" y="0"/>
                  </a:moveTo>
                  <a:lnTo>
                    <a:pt x="675397" y="0"/>
                  </a:lnTo>
                  <a:lnTo>
                    <a:pt x="675397" y="1038576"/>
                  </a:lnTo>
                  <a:lnTo>
                    <a:pt x="0" y="1038576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0" l="-147301" r="-147301" t="0"/>
              </a:stretch>
            </a:blipFill>
            <a:ln>
              <a:noFill/>
            </a:ln>
          </p:spPr>
        </p:sp>
        <p:sp>
          <p:nvSpPr>
            <p:cNvPr id="639" name="Google Shape;639;p17"/>
            <p:cNvSpPr txBox="1"/>
            <p:nvPr/>
          </p:nvSpPr>
          <p:spPr>
            <a:xfrm>
              <a:off x="0" y="0"/>
              <a:ext cx="675399" cy="103858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1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5061" u="none" cap="none" strike="noStrike">
                  <a:solidFill>
                    <a:srgbClr val="FFFFFF"/>
                  </a:solidFill>
                  <a:latin typeface="Noto Sans"/>
                  <a:ea typeface="Noto Sans"/>
                  <a:cs typeface="Noto Sans"/>
                  <a:sym typeface="Noto Sans"/>
                </a:rPr>
                <a:t>? </a:t>
              </a:r>
              <a:endParaRPr/>
            </a:p>
          </p:txBody>
        </p:sp>
      </p:grpSp>
      <p:sp>
        <p:nvSpPr>
          <p:cNvPr id="640" name="Google Shape;640;p17"/>
          <p:cNvSpPr/>
          <p:nvPr/>
        </p:nvSpPr>
        <p:spPr>
          <a:xfrm>
            <a:off x="8439112" y="1343025"/>
            <a:ext cx="2286000" cy="2286000"/>
          </a:xfrm>
          <a:custGeom>
            <a:rect b="b" l="l" r="r" t="t"/>
            <a:pathLst>
              <a:path extrusionOk="0" h="3048000" w="3048000">
                <a:moveTo>
                  <a:pt x="0" y="0"/>
                </a:moveTo>
                <a:lnTo>
                  <a:pt x="3048000" y="0"/>
                </a:lnTo>
                <a:lnTo>
                  <a:pt x="3048000" y="3048000"/>
                </a:lnTo>
                <a:lnTo>
                  <a:pt x="0" y="3048000"/>
                </a:lnTo>
                <a:close/>
              </a:path>
            </a:pathLst>
          </a:custGeom>
          <a:solidFill>
            <a:srgbClr val="2E6FE7"/>
          </a:solidFill>
          <a:ln>
            <a:noFill/>
          </a:ln>
        </p:spPr>
      </p:sp>
      <p:grpSp>
        <p:nvGrpSpPr>
          <p:cNvPr id="641" name="Google Shape;641;p17"/>
          <p:cNvGrpSpPr/>
          <p:nvPr/>
        </p:nvGrpSpPr>
        <p:grpSpPr>
          <a:xfrm>
            <a:off x="9024271" y="2341054"/>
            <a:ext cx="1115692" cy="289953"/>
            <a:chOff x="0" y="0"/>
            <a:chExt cx="1487589" cy="386603"/>
          </a:xfrm>
        </p:grpSpPr>
        <p:sp>
          <p:nvSpPr>
            <p:cNvPr id="642" name="Google Shape;642;p17"/>
            <p:cNvSpPr/>
            <p:nvPr/>
          </p:nvSpPr>
          <p:spPr>
            <a:xfrm>
              <a:off x="0" y="0"/>
              <a:ext cx="1487587" cy="386603"/>
            </a:xfrm>
            <a:custGeom>
              <a:rect b="b" l="l" r="r" t="t"/>
              <a:pathLst>
                <a:path extrusionOk="0" h="386603" w="1487587">
                  <a:moveTo>
                    <a:pt x="0" y="0"/>
                  </a:moveTo>
                  <a:lnTo>
                    <a:pt x="1487587" y="0"/>
                  </a:lnTo>
                  <a:lnTo>
                    <a:pt x="1487587" y="386603"/>
                  </a:lnTo>
                  <a:lnTo>
                    <a:pt x="0" y="386603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4976" l="0" r="0" t="-24976"/>
              </a:stretch>
            </a:blipFill>
            <a:ln>
              <a:noFill/>
            </a:ln>
          </p:spPr>
        </p:sp>
        <p:sp>
          <p:nvSpPr>
            <p:cNvPr id="643" name="Google Shape;643;p17"/>
            <p:cNvSpPr txBox="1"/>
            <p:nvPr/>
          </p:nvSpPr>
          <p:spPr>
            <a:xfrm>
              <a:off x="0" y="0"/>
              <a:ext cx="1487589" cy="38660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1995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84" u="none" cap="none" strike="noStrike">
                  <a:solidFill>
                    <a:srgbClr val="FFFFFF"/>
                  </a:solidFill>
                  <a:latin typeface="Noto Sans"/>
                  <a:ea typeface="Noto Sans"/>
                  <a:cs typeface="Noto Sans"/>
                  <a:sym typeface="Noto Sans"/>
                </a:rPr>
                <a:t>Definition</a:t>
              </a:r>
              <a:endParaRPr/>
            </a:p>
          </p:txBody>
        </p:sp>
      </p:grpSp>
      <p:sp>
        <p:nvSpPr>
          <p:cNvPr id="644" name="Google Shape;644;p17"/>
          <p:cNvSpPr/>
          <p:nvPr/>
        </p:nvSpPr>
        <p:spPr>
          <a:xfrm>
            <a:off x="11368802" y="1328547"/>
            <a:ext cx="6462236" cy="2300669"/>
          </a:xfrm>
          <a:custGeom>
            <a:rect b="b" l="l" r="r" t="t"/>
            <a:pathLst>
              <a:path extrusionOk="0" h="3067558" w="8616315">
                <a:moveTo>
                  <a:pt x="0" y="0"/>
                </a:moveTo>
                <a:lnTo>
                  <a:pt x="8616315" y="0"/>
                </a:lnTo>
                <a:lnTo>
                  <a:pt x="8616315" y="3067558"/>
                </a:lnTo>
                <a:lnTo>
                  <a:pt x="0" y="3067558"/>
                </a:lnTo>
                <a:close/>
              </a:path>
            </a:pathLst>
          </a:custGeom>
          <a:solidFill>
            <a:srgbClr val="FFFFFF"/>
          </a:solidFill>
          <a:ln cap="sq" cmpd="sng" w="9525">
            <a:solidFill>
              <a:srgbClr val="4285F4"/>
            </a:solidFill>
            <a:prstDash val="solid"/>
            <a:miter lim="8000"/>
            <a:headEnd len="sm" w="sm" type="none"/>
            <a:tailEnd len="sm" w="sm" type="none"/>
          </a:ln>
        </p:spPr>
      </p:sp>
      <p:grpSp>
        <p:nvGrpSpPr>
          <p:cNvPr id="645" name="Google Shape;645;p17"/>
          <p:cNvGrpSpPr/>
          <p:nvPr/>
        </p:nvGrpSpPr>
        <p:grpSpPr>
          <a:xfrm>
            <a:off x="11910003" y="1535640"/>
            <a:ext cx="5433099" cy="677109"/>
            <a:chOff x="0" y="0"/>
            <a:chExt cx="7244133" cy="902811"/>
          </a:xfrm>
        </p:grpSpPr>
        <p:sp>
          <p:nvSpPr>
            <p:cNvPr id="646" name="Google Shape;646;p17"/>
            <p:cNvSpPr/>
            <p:nvPr/>
          </p:nvSpPr>
          <p:spPr>
            <a:xfrm>
              <a:off x="0" y="0"/>
              <a:ext cx="7244133" cy="902811"/>
            </a:xfrm>
            <a:custGeom>
              <a:rect b="b" l="l" r="r" t="t"/>
              <a:pathLst>
                <a:path extrusionOk="0" h="902811" w="7244133">
                  <a:moveTo>
                    <a:pt x="0" y="0"/>
                  </a:moveTo>
                  <a:lnTo>
                    <a:pt x="7244133" y="0"/>
                  </a:lnTo>
                  <a:lnTo>
                    <a:pt x="7244133" y="902811"/>
                  </a:lnTo>
                  <a:lnTo>
                    <a:pt x="0" y="902811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06348" l="0" r="0" t="-106348"/>
              </a:stretch>
            </a:blipFill>
            <a:ln>
              <a:noFill/>
            </a:ln>
          </p:spPr>
        </p:sp>
        <p:sp>
          <p:nvSpPr>
            <p:cNvPr id="647" name="Google Shape;647;p17"/>
            <p:cNvSpPr txBox="1"/>
            <p:nvPr/>
          </p:nvSpPr>
          <p:spPr>
            <a:xfrm>
              <a:off x="0" y="0"/>
              <a:ext cx="7244131" cy="9028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99" u="none" cap="none" strike="noStrike">
                  <a:solidFill>
                    <a:srgbClr val="0F1B2C"/>
                  </a:solidFill>
                  <a:latin typeface="Noto Sans"/>
                  <a:ea typeface="Noto Sans"/>
                  <a:cs typeface="Noto Sans"/>
                  <a:sym typeface="Noto Sans"/>
                </a:rPr>
                <a:t>Standardization protocol for AI tool integration</a:t>
              </a:r>
              <a:endParaRPr/>
            </a:p>
          </p:txBody>
        </p:sp>
      </p:grpSp>
      <p:grpSp>
        <p:nvGrpSpPr>
          <p:cNvPr id="648" name="Google Shape;648;p17"/>
          <p:cNvGrpSpPr/>
          <p:nvPr/>
        </p:nvGrpSpPr>
        <p:grpSpPr>
          <a:xfrm>
            <a:off x="11856701" y="2458583"/>
            <a:ext cx="5433099" cy="338557"/>
            <a:chOff x="0" y="0"/>
            <a:chExt cx="7244133" cy="451409"/>
          </a:xfrm>
        </p:grpSpPr>
        <p:sp>
          <p:nvSpPr>
            <p:cNvPr id="649" name="Google Shape;649;p17"/>
            <p:cNvSpPr/>
            <p:nvPr/>
          </p:nvSpPr>
          <p:spPr>
            <a:xfrm>
              <a:off x="0" y="0"/>
              <a:ext cx="7244133" cy="451405"/>
            </a:xfrm>
            <a:custGeom>
              <a:rect b="b" l="l" r="r" t="t"/>
              <a:pathLst>
                <a:path extrusionOk="0" h="451405" w="7244133">
                  <a:moveTo>
                    <a:pt x="0" y="0"/>
                  </a:moveTo>
                  <a:lnTo>
                    <a:pt x="7244133" y="0"/>
                  </a:lnTo>
                  <a:lnTo>
                    <a:pt x="7244133" y="451405"/>
                  </a:lnTo>
                  <a:lnTo>
                    <a:pt x="0" y="451405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62696" l="0" r="0" t="-262696"/>
              </a:stretch>
            </a:blipFill>
            <a:ln>
              <a:noFill/>
            </a:ln>
          </p:spPr>
        </p:sp>
        <p:sp>
          <p:nvSpPr>
            <p:cNvPr id="650" name="Google Shape;650;p17"/>
            <p:cNvSpPr txBox="1"/>
            <p:nvPr/>
          </p:nvSpPr>
          <p:spPr>
            <a:xfrm>
              <a:off x="0" y="0"/>
              <a:ext cx="7244131" cy="45140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99" u="none" cap="none" strike="noStrike">
                  <a:solidFill>
                    <a:srgbClr val="0F1B2C"/>
                  </a:solidFill>
                  <a:latin typeface="Noto Sans"/>
                  <a:ea typeface="Noto Sans"/>
                  <a:cs typeface="Noto Sans"/>
                  <a:sym typeface="Noto Sans"/>
                </a:rPr>
                <a:t>"USB-C for AI" - universal connector</a:t>
              </a:r>
              <a:endParaRPr/>
            </a:p>
          </p:txBody>
        </p:sp>
      </p:grpSp>
      <p:grpSp>
        <p:nvGrpSpPr>
          <p:cNvPr id="651" name="Google Shape;651;p17"/>
          <p:cNvGrpSpPr/>
          <p:nvPr/>
        </p:nvGrpSpPr>
        <p:grpSpPr>
          <a:xfrm>
            <a:off x="11992318" y="3077556"/>
            <a:ext cx="3789502" cy="338557"/>
            <a:chOff x="0" y="0"/>
            <a:chExt cx="5052670" cy="451409"/>
          </a:xfrm>
        </p:grpSpPr>
        <p:sp>
          <p:nvSpPr>
            <p:cNvPr id="652" name="Google Shape;652;p17"/>
            <p:cNvSpPr/>
            <p:nvPr/>
          </p:nvSpPr>
          <p:spPr>
            <a:xfrm>
              <a:off x="0" y="0"/>
              <a:ext cx="5052664" cy="451405"/>
            </a:xfrm>
            <a:custGeom>
              <a:rect b="b" l="l" r="r" t="t"/>
              <a:pathLst>
                <a:path extrusionOk="0" h="451405" w="5052664">
                  <a:moveTo>
                    <a:pt x="0" y="0"/>
                  </a:moveTo>
                  <a:lnTo>
                    <a:pt x="5052664" y="0"/>
                  </a:lnTo>
                  <a:lnTo>
                    <a:pt x="5052664" y="451405"/>
                  </a:lnTo>
                  <a:lnTo>
                    <a:pt x="0" y="451405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68093" l="0" r="0" t="-168093"/>
              </a:stretch>
            </a:blipFill>
            <a:ln>
              <a:noFill/>
            </a:ln>
          </p:spPr>
        </p:sp>
        <p:sp>
          <p:nvSpPr>
            <p:cNvPr id="653" name="Google Shape;653;p17"/>
            <p:cNvSpPr txBox="1"/>
            <p:nvPr/>
          </p:nvSpPr>
          <p:spPr>
            <a:xfrm>
              <a:off x="0" y="0"/>
              <a:ext cx="5052670" cy="45140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99" u="none" cap="none" strike="noStrike">
                  <a:solidFill>
                    <a:srgbClr val="0F1B2C"/>
                  </a:solidFill>
                  <a:latin typeface="Noto Sans"/>
                  <a:ea typeface="Noto Sans"/>
                  <a:cs typeface="Noto Sans"/>
                  <a:sym typeface="Noto Sans"/>
                </a:rPr>
                <a:t>NOT an AI assistant or agent</a:t>
              </a:r>
              <a:endParaRPr/>
            </a:p>
          </p:txBody>
        </p:sp>
      </p:grpSp>
      <p:sp>
        <p:nvSpPr>
          <p:cNvPr id="654" name="Google Shape;654;p17"/>
          <p:cNvSpPr/>
          <p:nvPr/>
        </p:nvSpPr>
        <p:spPr>
          <a:xfrm>
            <a:off x="8383943" y="4121944"/>
            <a:ext cx="2286000" cy="2286000"/>
          </a:xfrm>
          <a:custGeom>
            <a:rect b="b" l="l" r="r" t="t"/>
            <a:pathLst>
              <a:path extrusionOk="0" h="3048000" w="3048000">
                <a:moveTo>
                  <a:pt x="0" y="0"/>
                </a:moveTo>
                <a:lnTo>
                  <a:pt x="3048000" y="0"/>
                </a:lnTo>
                <a:lnTo>
                  <a:pt x="3048000" y="3048000"/>
                </a:lnTo>
                <a:lnTo>
                  <a:pt x="0" y="3048000"/>
                </a:lnTo>
                <a:close/>
              </a:path>
            </a:pathLst>
          </a:custGeom>
          <a:solidFill>
            <a:srgbClr val="2E6FE7"/>
          </a:solidFill>
          <a:ln>
            <a:noFill/>
          </a:ln>
        </p:spPr>
      </p:sp>
      <p:grpSp>
        <p:nvGrpSpPr>
          <p:cNvPr id="655" name="Google Shape;655;p17"/>
          <p:cNvGrpSpPr/>
          <p:nvPr/>
        </p:nvGrpSpPr>
        <p:grpSpPr>
          <a:xfrm>
            <a:off x="8752665" y="5119973"/>
            <a:ext cx="1548502" cy="289953"/>
            <a:chOff x="0" y="0"/>
            <a:chExt cx="2064669" cy="386603"/>
          </a:xfrm>
        </p:grpSpPr>
        <p:sp>
          <p:nvSpPr>
            <p:cNvPr id="656" name="Google Shape;656;p17"/>
            <p:cNvSpPr/>
            <p:nvPr/>
          </p:nvSpPr>
          <p:spPr>
            <a:xfrm>
              <a:off x="0" y="0"/>
              <a:ext cx="2064669" cy="386603"/>
            </a:xfrm>
            <a:custGeom>
              <a:rect b="b" l="l" r="r" t="t"/>
              <a:pathLst>
                <a:path extrusionOk="0" h="386603" w="2064669">
                  <a:moveTo>
                    <a:pt x="0" y="0"/>
                  </a:moveTo>
                  <a:lnTo>
                    <a:pt x="2064669" y="0"/>
                  </a:lnTo>
                  <a:lnTo>
                    <a:pt x="2064669" y="386603"/>
                  </a:lnTo>
                  <a:lnTo>
                    <a:pt x="0" y="386603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54058" l="0" r="0" t="-54058"/>
              </a:stretch>
            </a:blipFill>
            <a:ln>
              <a:noFill/>
            </a:ln>
          </p:spPr>
        </p:sp>
        <p:sp>
          <p:nvSpPr>
            <p:cNvPr id="657" name="Google Shape;657;p17"/>
            <p:cNvSpPr txBox="1"/>
            <p:nvPr/>
          </p:nvSpPr>
          <p:spPr>
            <a:xfrm>
              <a:off x="0" y="0"/>
              <a:ext cx="2064664" cy="38660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1995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84" u="none" cap="none" strike="noStrike">
                  <a:solidFill>
                    <a:srgbClr val="FFFFFF"/>
                  </a:solidFill>
                  <a:latin typeface="Noto Sans"/>
                  <a:ea typeface="Noto Sans"/>
                  <a:cs typeface="Noto Sans"/>
                  <a:sym typeface="Noto Sans"/>
                </a:rPr>
                <a:t>Core Purpose</a:t>
              </a:r>
              <a:endParaRPr/>
            </a:p>
          </p:txBody>
        </p:sp>
      </p:grpSp>
      <p:sp>
        <p:nvSpPr>
          <p:cNvPr id="658" name="Google Shape;658;p17"/>
          <p:cNvSpPr/>
          <p:nvPr/>
        </p:nvSpPr>
        <p:spPr>
          <a:xfrm>
            <a:off x="11368802" y="4020312"/>
            <a:ext cx="6462236" cy="2387822"/>
          </a:xfrm>
          <a:custGeom>
            <a:rect b="b" l="l" r="r" t="t"/>
            <a:pathLst>
              <a:path extrusionOk="0" h="3183763" w="8616315">
                <a:moveTo>
                  <a:pt x="0" y="0"/>
                </a:moveTo>
                <a:lnTo>
                  <a:pt x="8616315" y="0"/>
                </a:lnTo>
                <a:lnTo>
                  <a:pt x="8616315" y="3183763"/>
                </a:lnTo>
                <a:lnTo>
                  <a:pt x="0" y="3183763"/>
                </a:lnTo>
                <a:close/>
              </a:path>
            </a:pathLst>
          </a:custGeom>
          <a:solidFill>
            <a:srgbClr val="FFFFFF"/>
          </a:solidFill>
          <a:ln cap="sq" cmpd="sng" w="9525">
            <a:solidFill>
              <a:srgbClr val="4285F4"/>
            </a:solidFill>
            <a:prstDash val="solid"/>
            <a:miter lim="8000"/>
            <a:headEnd len="sm" w="sm" type="none"/>
            <a:tailEnd len="sm" w="sm" type="none"/>
          </a:ln>
        </p:spPr>
      </p:sp>
      <p:grpSp>
        <p:nvGrpSpPr>
          <p:cNvPr id="659" name="Google Shape;659;p17"/>
          <p:cNvGrpSpPr/>
          <p:nvPr/>
        </p:nvGrpSpPr>
        <p:grpSpPr>
          <a:xfrm>
            <a:off x="12054802" y="4687052"/>
            <a:ext cx="5433099" cy="338557"/>
            <a:chOff x="0" y="0"/>
            <a:chExt cx="7244133" cy="451409"/>
          </a:xfrm>
        </p:grpSpPr>
        <p:sp>
          <p:nvSpPr>
            <p:cNvPr id="660" name="Google Shape;660;p17"/>
            <p:cNvSpPr/>
            <p:nvPr/>
          </p:nvSpPr>
          <p:spPr>
            <a:xfrm>
              <a:off x="0" y="0"/>
              <a:ext cx="7244133" cy="451405"/>
            </a:xfrm>
            <a:custGeom>
              <a:rect b="b" l="l" r="r" t="t"/>
              <a:pathLst>
                <a:path extrusionOk="0" h="451405" w="7244133">
                  <a:moveTo>
                    <a:pt x="0" y="0"/>
                  </a:moveTo>
                  <a:lnTo>
                    <a:pt x="7244133" y="0"/>
                  </a:lnTo>
                  <a:lnTo>
                    <a:pt x="7244133" y="451405"/>
                  </a:lnTo>
                  <a:lnTo>
                    <a:pt x="0" y="451405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62696" l="0" r="0" t="-262696"/>
              </a:stretch>
            </a:blipFill>
            <a:ln>
              <a:noFill/>
            </a:ln>
          </p:spPr>
        </p:sp>
        <p:sp>
          <p:nvSpPr>
            <p:cNvPr id="661" name="Google Shape;661;p17"/>
            <p:cNvSpPr txBox="1"/>
            <p:nvPr/>
          </p:nvSpPr>
          <p:spPr>
            <a:xfrm>
              <a:off x="0" y="0"/>
              <a:ext cx="7244131" cy="45140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99" u="none" cap="none" strike="noStrike">
                  <a:solidFill>
                    <a:srgbClr val="0F1B2C"/>
                  </a:solidFill>
                  <a:latin typeface="Noto Sans"/>
                  <a:ea typeface="Noto Sans"/>
                  <a:cs typeface="Noto Sans"/>
                  <a:sym typeface="Noto Sans"/>
                </a:rPr>
                <a:t>Establish client-server architecture</a:t>
              </a:r>
              <a:endParaRPr/>
            </a:p>
          </p:txBody>
        </p:sp>
      </p:grpSp>
      <p:grpSp>
        <p:nvGrpSpPr>
          <p:cNvPr id="662" name="Google Shape;662;p17"/>
          <p:cNvGrpSpPr/>
          <p:nvPr/>
        </p:nvGrpSpPr>
        <p:grpSpPr>
          <a:xfrm>
            <a:off x="12054802" y="5269716"/>
            <a:ext cx="5433099" cy="338557"/>
            <a:chOff x="0" y="0"/>
            <a:chExt cx="7244133" cy="451409"/>
          </a:xfrm>
        </p:grpSpPr>
        <p:sp>
          <p:nvSpPr>
            <p:cNvPr id="663" name="Google Shape;663;p17"/>
            <p:cNvSpPr/>
            <p:nvPr/>
          </p:nvSpPr>
          <p:spPr>
            <a:xfrm>
              <a:off x="0" y="0"/>
              <a:ext cx="7244133" cy="451405"/>
            </a:xfrm>
            <a:custGeom>
              <a:rect b="b" l="l" r="r" t="t"/>
              <a:pathLst>
                <a:path extrusionOk="0" h="451405" w="7244133">
                  <a:moveTo>
                    <a:pt x="0" y="0"/>
                  </a:moveTo>
                  <a:lnTo>
                    <a:pt x="7244133" y="0"/>
                  </a:lnTo>
                  <a:lnTo>
                    <a:pt x="7244133" y="451405"/>
                  </a:lnTo>
                  <a:lnTo>
                    <a:pt x="0" y="451405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62696" l="0" r="0" t="-262696"/>
              </a:stretch>
            </a:blipFill>
            <a:ln>
              <a:noFill/>
            </a:ln>
          </p:spPr>
        </p:sp>
        <p:sp>
          <p:nvSpPr>
            <p:cNvPr id="664" name="Google Shape;664;p17"/>
            <p:cNvSpPr txBox="1"/>
            <p:nvPr/>
          </p:nvSpPr>
          <p:spPr>
            <a:xfrm>
              <a:off x="0" y="0"/>
              <a:ext cx="7244131" cy="45140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99" u="none" cap="none" strike="noStrike">
                  <a:solidFill>
                    <a:srgbClr val="0F1B2C"/>
                  </a:solidFill>
                  <a:latin typeface="Noto Sans"/>
                  <a:ea typeface="Noto Sans"/>
                  <a:cs typeface="Noto Sans"/>
                  <a:sym typeface="Noto Sans"/>
                </a:rPr>
                <a:t>Connect AI applications to external tools</a:t>
              </a:r>
              <a:endParaRPr/>
            </a:p>
          </p:txBody>
        </p:sp>
      </p:grpSp>
      <p:grpSp>
        <p:nvGrpSpPr>
          <p:cNvPr id="665" name="Google Shape;665;p17"/>
          <p:cNvGrpSpPr/>
          <p:nvPr/>
        </p:nvGrpSpPr>
        <p:grpSpPr>
          <a:xfrm>
            <a:off x="12057755" y="5817946"/>
            <a:ext cx="4001100" cy="338557"/>
            <a:chOff x="0" y="0"/>
            <a:chExt cx="5334800" cy="451409"/>
          </a:xfrm>
        </p:grpSpPr>
        <p:sp>
          <p:nvSpPr>
            <p:cNvPr id="666" name="Google Shape;666;p17"/>
            <p:cNvSpPr/>
            <p:nvPr/>
          </p:nvSpPr>
          <p:spPr>
            <a:xfrm>
              <a:off x="0" y="0"/>
              <a:ext cx="5334795" cy="451405"/>
            </a:xfrm>
            <a:custGeom>
              <a:rect b="b" l="l" r="r" t="t"/>
              <a:pathLst>
                <a:path extrusionOk="0" h="451405" w="5334795">
                  <a:moveTo>
                    <a:pt x="0" y="0"/>
                  </a:moveTo>
                  <a:lnTo>
                    <a:pt x="5334795" y="0"/>
                  </a:lnTo>
                  <a:lnTo>
                    <a:pt x="5334795" y="451405"/>
                  </a:lnTo>
                  <a:lnTo>
                    <a:pt x="0" y="451405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80279" l="0" r="0" t="-180275"/>
              </a:stretch>
            </a:blipFill>
            <a:ln>
              <a:noFill/>
            </a:ln>
          </p:spPr>
        </p:sp>
        <p:sp>
          <p:nvSpPr>
            <p:cNvPr id="667" name="Google Shape;667;p17"/>
            <p:cNvSpPr txBox="1"/>
            <p:nvPr/>
          </p:nvSpPr>
          <p:spPr>
            <a:xfrm>
              <a:off x="0" y="0"/>
              <a:ext cx="5334800" cy="45140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99" u="none" cap="none" strike="noStrike">
                  <a:solidFill>
                    <a:srgbClr val="0F1B2C"/>
                  </a:solidFill>
                  <a:latin typeface="Noto Sans"/>
                  <a:ea typeface="Noto Sans"/>
                  <a:cs typeface="Noto Sans"/>
                  <a:sym typeface="Noto Sans"/>
                </a:rPr>
                <a:t>Enable dynamic tool discovery</a:t>
              </a:r>
              <a:endParaRPr/>
            </a:p>
          </p:txBody>
        </p:sp>
      </p:grpSp>
      <p:sp>
        <p:nvSpPr>
          <p:cNvPr id="668" name="Google Shape;668;p17"/>
          <p:cNvSpPr/>
          <p:nvPr/>
        </p:nvSpPr>
        <p:spPr>
          <a:xfrm>
            <a:off x="8439112" y="6809318"/>
            <a:ext cx="2286000" cy="2286000"/>
          </a:xfrm>
          <a:custGeom>
            <a:rect b="b" l="l" r="r" t="t"/>
            <a:pathLst>
              <a:path extrusionOk="0" h="3048000" w="3048000">
                <a:moveTo>
                  <a:pt x="0" y="0"/>
                </a:moveTo>
                <a:lnTo>
                  <a:pt x="3048000" y="0"/>
                </a:lnTo>
                <a:lnTo>
                  <a:pt x="3048000" y="3048000"/>
                </a:lnTo>
                <a:lnTo>
                  <a:pt x="0" y="3048000"/>
                </a:lnTo>
                <a:close/>
              </a:path>
            </a:pathLst>
          </a:custGeom>
          <a:solidFill>
            <a:srgbClr val="2E6FE7"/>
          </a:solidFill>
          <a:ln>
            <a:noFill/>
          </a:ln>
        </p:spPr>
      </p:sp>
      <p:grpSp>
        <p:nvGrpSpPr>
          <p:cNvPr id="669" name="Google Shape;669;p17"/>
          <p:cNvGrpSpPr/>
          <p:nvPr/>
        </p:nvGrpSpPr>
        <p:grpSpPr>
          <a:xfrm>
            <a:off x="8879967" y="7807338"/>
            <a:ext cx="1404233" cy="289953"/>
            <a:chOff x="0" y="0"/>
            <a:chExt cx="1872310" cy="386603"/>
          </a:xfrm>
        </p:grpSpPr>
        <p:sp>
          <p:nvSpPr>
            <p:cNvPr id="670" name="Google Shape;670;p17"/>
            <p:cNvSpPr/>
            <p:nvPr/>
          </p:nvSpPr>
          <p:spPr>
            <a:xfrm>
              <a:off x="0" y="0"/>
              <a:ext cx="1872309" cy="386603"/>
            </a:xfrm>
            <a:custGeom>
              <a:rect b="b" l="l" r="r" t="t"/>
              <a:pathLst>
                <a:path extrusionOk="0" h="386603" w="1872309">
                  <a:moveTo>
                    <a:pt x="0" y="0"/>
                  </a:moveTo>
                  <a:lnTo>
                    <a:pt x="1872309" y="0"/>
                  </a:lnTo>
                  <a:lnTo>
                    <a:pt x="1872309" y="386603"/>
                  </a:lnTo>
                  <a:lnTo>
                    <a:pt x="0" y="386603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44365" l="0" r="0" t="-44365"/>
              </a:stretch>
            </a:blipFill>
            <a:ln>
              <a:noFill/>
            </a:ln>
          </p:spPr>
        </p:sp>
        <p:sp>
          <p:nvSpPr>
            <p:cNvPr id="671" name="Google Shape;671;p17"/>
            <p:cNvSpPr txBox="1"/>
            <p:nvPr/>
          </p:nvSpPr>
          <p:spPr>
            <a:xfrm>
              <a:off x="0" y="0"/>
              <a:ext cx="1872310" cy="38660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1995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84" u="none" cap="none" strike="noStrike">
                  <a:solidFill>
                    <a:srgbClr val="FFFFFF"/>
                  </a:solidFill>
                  <a:latin typeface="Noto Sans"/>
                  <a:ea typeface="Noto Sans"/>
                  <a:cs typeface="Noto Sans"/>
                  <a:sym typeface="Noto Sans"/>
                </a:rPr>
                <a:t>Key Benefits</a:t>
              </a:r>
              <a:endParaRPr/>
            </a:p>
          </p:txBody>
        </p:sp>
      </p:grpSp>
      <p:sp>
        <p:nvSpPr>
          <p:cNvPr id="672" name="Google Shape;672;p17"/>
          <p:cNvSpPr/>
          <p:nvPr/>
        </p:nvSpPr>
        <p:spPr>
          <a:xfrm>
            <a:off x="11368802" y="6809118"/>
            <a:ext cx="6462236" cy="2286381"/>
          </a:xfrm>
          <a:custGeom>
            <a:rect b="b" l="l" r="r" t="t"/>
            <a:pathLst>
              <a:path extrusionOk="0" h="3048508" w="8616315">
                <a:moveTo>
                  <a:pt x="0" y="0"/>
                </a:moveTo>
                <a:lnTo>
                  <a:pt x="8616315" y="0"/>
                </a:lnTo>
                <a:lnTo>
                  <a:pt x="8616315" y="3048508"/>
                </a:lnTo>
                <a:lnTo>
                  <a:pt x="0" y="3048508"/>
                </a:lnTo>
                <a:close/>
              </a:path>
            </a:pathLst>
          </a:custGeom>
          <a:solidFill>
            <a:srgbClr val="FFFFFF"/>
          </a:solidFill>
          <a:ln cap="sq" cmpd="sng" w="9525">
            <a:solidFill>
              <a:srgbClr val="4285F4"/>
            </a:solidFill>
            <a:prstDash val="solid"/>
            <a:miter lim="8000"/>
            <a:headEnd len="sm" w="sm" type="none"/>
            <a:tailEnd len="sm" w="sm" type="none"/>
          </a:ln>
        </p:spPr>
      </p:sp>
      <p:grpSp>
        <p:nvGrpSpPr>
          <p:cNvPr id="673" name="Google Shape;673;p17"/>
          <p:cNvGrpSpPr/>
          <p:nvPr/>
        </p:nvGrpSpPr>
        <p:grpSpPr>
          <a:xfrm>
            <a:off x="11910003" y="7048995"/>
            <a:ext cx="5433099" cy="677109"/>
            <a:chOff x="0" y="0"/>
            <a:chExt cx="7244133" cy="902811"/>
          </a:xfrm>
        </p:grpSpPr>
        <p:sp>
          <p:nvSpPr>
            <p:cNvPr id="674" name="Google Shape;674;p17"/>
            <p:cNvSpPr/>
            <p:nvPr/>
          </p:nvSpPr>
          <p:spPr>
            <a:xfrm>
              <a:off x="0" y="0"/>
              <a:ext cx="7244133" cy="902811"/>
            </a:xfrm>
            <a:custGeom>
              <a:rect b="b" l="l" r="r" t="t"/>
              <a:pathLst>
                <a:path extrusionOk="0" h="902811" w="7244133">
                  <a:moveTo>
                    <a:pt x="0" y="0"/>
                  </a:moveTo>
                  <a:lnTo>
                    <a:pt x="7244133" y="0"/>
                  </a:lnTo>
                  <a:lnTo>
                    <a:pt x="7244133" y="902811"/>
                  </a:lnTo>
                  <a:lnTo>
                    <a:pt x="0" y="902811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06348" l="0" r="0" t="-106348"/>
              </a:stretch>
            </a:blipFill>
            <a:ln>
              <a:noFill/>
            </a:ln>
          </p:spPr>
        </p:sp>
        <p:sp>
          <p:nvSpPr>
            <p:cNvPr id="675" name="Google Shape;675;p17"/>
            <p:cNvSpPr txBox="1"/>
            <p:nvPr/>
          </p:nvSpPr>
          <p:spPr>
            <a:xfrm>
              <a:off x="0" y="0"/>
              <a:ext cx="7244131" cy="9028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99" u="none" cap="none" strike="noStrike">
                  <a:solidFill>
                    <a:srgbClr val="0F1B2C"/>
                  </a:solidFill>
                  <a:latin typeface="Noto Sans"/>
                  <a:ea typeface="Noto Sans"/>
                  <a:cs typeface="Noto Sans"/>
                  <a:sym typeface="Noto Sans"/>
                </a:rPr>
                <a:t>Linear scaling (M+N) vs exponential (M×N)</a:t>
              </a:r>
              <a:endParaRPr/>
            </a:p>
          </p:txBody>
        </p:sp>
      </p:grpSp>
      <p:grpSp>
        <p:nvGrpSpPr>
          <p:cNvPr id="676" name="Google Shape;676;p17"/>
          <p:cNvGrpSpPr/>
          <p:nvPr/>
        </p:nvGrpSpPr>
        <p:grpSpPr>
          <a:xfrm>
            <a:off x="11910003" y="7876670"/>
            <a:ext cx="5433099" cy="677109"/>
            <a:chOff x="0" y="0"/>
            <a:chExt cx="7244133" cy="902811"/>
          </a:xfrm>
        </p:grpSpPr>
        <p:sp>
          <p:nvSpPr>
            <p:cNvPr id="677" name="Google Shape;677;p17"/>
            <p:cNvSpPr/>
            <p:nvPr/>
          </p:nvSpPr>
          <p:spPr>
            <a:xfrm>
              <a:off x="0" y="0"/>
              <a:ext cx="7244133" cy="902811"/>
            </a:xfrm>
            <a:custGeom>
              <a:rect b="b" l="l" r="r" t="t"/>
              <a:pathLst>
                <a:path extrusionOk="0" h="902811" w="7244133">
                  <a:moveTo>
                    <a:pt x="0" y="0"/>
                  </a:moveTo>
                  <a:lnTo>
                    <a:pt x="7244133" y="0"/>
                  </a:lnTo>
                  <a:lnTo>
                    <a:pt x="7244133" y="902811"/>
                  </a:lnTo>
                  <a:lnTo>
                    <a:pt x="0" y="902811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06348" l="0" r="0" t="-106348"/>
              </a:stretch>
            </a:blipFill>
            <a:ln>
              <a:noFill/>
            </a:ln>
          </p:spPr>
        </p:sp>
        <p:sp>
          <p:nvSpPr>
            <p:cNvPr id="678" name="Google Shape;678;p17"/>
            <p:cNvSpPr txBox="1"/>
            <p:nvPr/>
          </p:nvSpPr>
          <p:spPr>
            <a:xfrm>
              <a:off x="0" y="0"/>
              <a:ext cx="7244131" cy="9028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99" u="none" cap="none" strike="noStrike">
                  <a:solidFill>
                    <a:srgbClr val="0F1B2C"/>
                  </a:solidFill>
                  <a:latin typeface="Noto Sans"/>
                  <a:ea typeface="Noto Sans"/>
                  <a:cs typeface="Noto Sans"/>
                  <a:sym typeface="Noto Sans"/>
                </a:rPr>
                <a:t>Unified authentication and error handling</a:t>
              </a:r>
              <a:endParaRPr/>
            </a:p>
          </p:txBody>
        </p:sp>
      </p:grpSp>
      <p:grpSp>
        <p:nvGrpSpPr>
          <p:cNvPr id="679" name="Google Shape;679;p17"/>
          <p:cNvGrpSpPr/>
          <p:nvPr/>
        </p:nvGrpSpPr>
        <p:grpSpPr>
          <a:xfrm>
            <a:off x="11883352" y="8704345"/>
            <a:ext cx="5433099" cy="338557"/>
            <a:chOff x="0" y="0"/>
            <a:chExt cx="7244133" cy="451409"/>
          </a:xfrm>
        </p:grpSpPr>
        <p:sp>
          <p:nvSpPr>
            <p:cNvPr id="680" name="Google Shape;680;p17"/>
            <p:cNvSpPr/>
            <p:nvPr/>
          </p:nvSpPr>
          <p:spPr>
            <a:xfrm>
              <a:off x="0" y="0"/>
              <a:ext cx="7244133" cy="451405"/>
            </a:xfrm>
            <a:custGeom>
              <a:rect b="b" l="l" r="r" t="t"/>
              <a:pathLst>
                <a:path extrusionOk="0" h="451405" w="7244133">
                  <a:moveTo>
                    <a:pt x="0" y="0"/>
                  </a:moveTo>
                  <a:lnTo>
                    <a:pt x="7244133" y="0"/>
                  </a:lnTo>
                  <a:lnTo>
                    <a:pt x="7244133" y="451405"/>
                  </a:lnTo>
                  <a:lnTo>
                    <a:pt x="0" y="451405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62696" l="0" r="0" t="-262696"/>
              </a:stretch>
            </a:blipFill>
            <a:ln>
              <a:noFill/>
            </a:ln>
          </p:spPr>
        </p:sp>
        <p:sp>
          <p:nvSpPr>
            <p:cNvPr id="681" name="Google Shape;681;p17"/>
            <p:cNvSpPr txBox="1"/>
            <p:nvPr/>
          </p:nvSpPr>
          <p:spPr>
            <a:xfrm>
              <a:off x="0" y="0"/>
              <a:ext cx="7244131" cy="45140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99" u="none" cap="none" strike="noStrike">
                  <a:solidFill>
                    <a:srgbClr val="0F1B2C"/>
                  </a:solidFill>
                  <a:latin typeface="Noto Sans"/>
                  <a:ea typeface="Noto Sans"/>
                  <a:cs typeface="Noto Sans"/>
                  <a:sym typeface="Noto Sans"/>
                </a:rPr>
                <a:t>Standardized interfaces across tools</a:t>
              </a:r>
              <a:endParaRPr/>
            </a:p>
          </p:txBody>
        </p:sp>
      </p:grpSp>
      <p:sp>
        <p:nvSpPr>
          <p:cNvPr id="682" name="Google Shape;682;p17"/>
          <p:cNvSpPr/>
          <p:nvPr/>
        </p:nvSpPr>
        <p:spPr>
          <a:xfrm>
            <a:off x="0" y="14351794"/>
            <a:ext cx="18288000" cy="14288"/>
          </a:xfrm>
          <a:custGeom>
            <a:rect b="b" l="l" r="r" t="t"/>
            <a:pathLst>
              <a:path extrusionOk="0" h="19050" w="24384000">
                <a:moveTo>
                  <a:pt x="0" y="0"/>
                </a:moveTo>
                <a:lnTo>
                  <a:pt x="24384000" y="0"/>
                </a:lnTo>
                <a:lnTo>
                  <a:pt x="24384000" y="19050"/>
                </a:lnTo>
                <a:lnTo>
                  <a:pt x="0" y="19050"/>
                </a:lnTo>
                <a:close/>
              </a:path>
            </a:pathLst>
          </a:custGeom>
          <a:solidFill>
            <a:srgbClr val="E5E7EB"/>
          </a:solidFill>
          <a:ln>
            <a:noFill/>
          </a:ln>
        </p:spPr>
      </p:sp>
      <p:sp>
        <p:nvSpPr>
          <p:cNvPr id="683" name="Google Shape;683;p17"/>
          <p:cNvSpPr/>
          <p:nvPr/>
        </p:nvSpPr>
        <p:spPr>
          <a:xfrm>
            <a:off x="5374129" y="1539088"/>
            <a:ext cx="2031968" cy="1879568"/>
          </a:xfrm>
          <a:custGeom>
            <a:rect b="b" l="l" r="r" t="t"/>
            <a:pathLst>
              <a:path extrusionOk="0" h="2506091" w="2709291">
                <a:moveTo>
                  <a:pt x="0" y="0"/>
                </a:moveTo>
                <a:lnTo>
                  <a:pt x="2709291" y="0"/>
                </a:lnTo>
                <a:lnTo>
                  <a:pt x="2709291" y="2506091"/>
                </a:lnTo>
                <a:lnTo>
                  <a:pt x="0" y="25060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26" l="0" r="-1" t="-25"/>
            </a:stretch>
          </a:blipFill>
          <a:ln>
            <a:noFill/>
          </a:ln>
        </p:spPr>
      </p:sp>
      <p:grpSp>
        <p:nvGrpSpPr>
          <p:cNvPr id="684" name="Google Shape;684;p17"/>
          <p:cNvGrpSpPr/>
          <p:nvPr/>
        </p:nvGrpSpPr>
        <p:grpSpPr>
          <a:xfrm>
            <a:off x="13902080" y="9352153"/>
            <a:ext cx="4385920" cy="934847"/>
            <a:chOff x="0" y="0"/>
            <a:chExt cx="5847893" cy="1246463"/>
          </a:xfrm>
        </p:grpSpPr>
        <p:sp>
          <p:nvSpPr>
            <p:cNvPr id="685" name="Google Shape;685;p17"/>
            <p:cNvSpPr/>
            <p:nvPr/>
          </p:nvSpPr>
          <p:spPr>
            <a:xfrm>
              <a:off x="0" y="0"/>
              <a:ext cx="5847893" cy="1246463"/>
            </a:xfrm>
            <a:custGeom>
              <a:rect b="b" l="l" r="r" t="t"/>
              <a:pathLst>
                <a:path extrusionOk="0" h="1250575" w="5867187">
                  <a:moveTo>
                    <a:pt x="0" y="0"/>
                  </a:moveTo>
                  <a:lnTo>
                    <a:pt x="5867187" y="0"/>
                  </a:lnTo>
                  <a:lnTo>
                    <a:pt x="5867187" y="1250575"/>
                  </a:lnTo>
                  <a:lnTo>
                    <a:pt x="0" y="125057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descr="preencoded.png" id="686" name="Google Shape;686;p17"/>
            <p:cNvSpPr/>
            <p:nvPr/>
          </p:nvSpPr>
          <p:spPr>
            <a:xfrm>
              <a:off x="304849" y="194606"/>
              <a:ext cx="5238169" cy="857250"/>
            </a:xfrm>
            <a:custGeom>
              <a:rect b="b" l="l" r="r" t="t"/>
              <a:pathLst>
                <a:path extrusionOk="0" h="857250" w="5238169">
                  <a:moveTo>
                    <a:pt x="0" y="0"/>
                  </a:moveTo>
                  <a:lnTo>
                    <a:pt x="5238169" y="0"/>
                  </a:lnTo>
                  <a:lnTo>
                    <a:pt x="5238169" y="857250"/>
                  </a:lnTo>
                  <a:lnTo>
                    <a:pt x="0" y="85725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-2834" l="0" r="0" t="-2835"/>
              </a:stretch>
            </a:blipFill>
            <a:ln>
              <a:noFill/>
            </a:ln>
          </p:spPr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What is MCP? ("USB-C for AI")</a:t>
            </a:r>
          </a:p>
        </p:txBody>
      </p:sp>
      <p:pic>
        <p:nvPicPr>
          <p:cNvPr id="3" name="Picture 2" descr="d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674628"/>
            <a:ext cx="17190720" cy="348638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9281160"/>
            <a:ext cx="17190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444C56"/>
                </a:solidFill>
              </a:rPr>
              <a:t>USB-C let any device use one port. MCP lets any tool plug into any AI the same way — it's the connector, not the brain.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0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preencoded.png" id="691" name="Google Shape;691;p19"/>
          <p:cNvSpPr/>
          <p:nvPr/>
        </p:nvSpPr>
        <p:spPr>
          <a:xfrm>
            <a:off x="8582" y="-552002"/>
            <a:ext cx="18288000" cy="11677172"/>
          </a:xfrm>
          <a:custGeom>
            <a:rect b="b" l="l" r="r" t="t"/>
            <a:pathLst>
              <a:path extrusionOk="0" h="15569564" w="24384000">
                <a:moveTo>
                  <a:pt x="0" y="0"/>
                </a:moveTo>
                <a:lnTo>
                  <a:pt x="24384000" y="0"/>
                </a:lnTo>
                <a:lnTo>
                  <a:pt x="24384000" y="15569564"/>
                </a:lnTo>
                <a:lnTo>
                  <a:pt x="0" y="1556956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953" r="-953" t="0"/>
            </a:stretch>
          </a:blipFill>
          <a:ln>
            <a:noFill/>
          </a:ln>
        </p:spPr>
      </p:sp>
      <p:sp>
        <p:nvSpPr>
          <p:cNvPr descr="preencoded.png" id="692" name="Google Shape;692;p19"/>
          <p:cNvSpPr/>
          <p:nvPr/>
        </p:nvSpPr>
        <p:spPr>
          <a:xfrm>
            <a:off x="10872788" y="-652005"/>
            <a:ext cx="3700462" cy="2528888"/>
          </a:xfrm>
          <a:custGeom>
            <a:rect b="b" l="l" r="r" t="t"/>
            <a:pathLst>
              <a:path extrusionOk="0" h="3371850" w="4933950">
                <a:moveTo>
                  <a:pt x="0" y="0"/>
                </a:moveTo>
                <a:lnTo>
                  <a:pt x="4933950" y="0"/>
                </a:lnTo>
                <a:lnTo>
                  <a:pt x="4933950" y="3371850"/>
                </a:lnTo>
                <a:lnTo>
                  <a:pt x="0" y="33718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60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descr="preencoded.png" id="693" name="Google Shape;693;p19"/>
          <p:cNvSpPr/>
          <p:nvPr/>
        </p:nvSpPr>
        <p:spPr>
          <a:xfrm>
            <a:off x="0" y="8210483"/>
            <a:ext cx="4743450" cy="2814638"/>
          </a:xfrm>
          <a:custGeom>
            <a:rect b="b" l="l" r="r" t="t"/>
            <a:pathLst>
              <a:path extrusionOk="0" h="3752850" w="6324600">
                <a:moveTo>
                  <a:pt x="0" y="0"/>
                </a:moveTo>
                <a:lnTo>
                  <a:pt x="6324600" y="0"/>
                </a:lnTo>
                <a:lnTo>
                  <a:pt x="6324600" y="3752850"/>
                </a:lnTo>
                <a:lnTo>
                  <a:pt x="0" y="37528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253" l="0" r="0" t="-253"/>
            </a:stretch>
          </a:blipFill>
          <a:ln>
            <a:noFill/>
          </a:ln>
        </p:spPr>
      </p:sp>
      <p:sp>
        <p:nvSpPr>
          <p:cNvPr descr="preencoded.png" id="694" name="Google Shape;694;p19"/>
          <p:cNvSpPr/>
          <p:nvPr/>
        </p:nvSpPr>
        <p:spPr>
          <a:xfrm>
            <a:off x="0" y="7167496"/>
            <a:ext cx="2443162" cy="3357562"/>
          </a:xfrm>
          <a:custGeom>
            <a:rect b="b" l="l" r="r" t="t"/>
            <a:pathLst>
              <a:path extrusionOk="0" h="4476750" w="3257550">
                <a:moveTo>
                  <a:pt x="0" y="0"/>
                </a:moveTo>
                <a:lnTo>
                  <a:pt x="3257550" y="0"/>
                </a:lnTo>
                <a:lnTo>
                  <a:pt x="3257550" y="4476750"/>
                </a:lnTo>
                <a:lnTo>
                  <a:pt x="0" y="44767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-212" l="0" r="0" t="-212"/>
            </a:stretch>
          </a:blipFill>
          <a:ln>
            <a:noFill/>
          </a:ln>
        </p:spPr>
      </p:sp>
      <p:grpSp>
        <p:nvGrpSpPr>
          <p:cNvPr id="695" name="Google Shape;695;p19"/>
          <p:cNvGrpSpPr/>
          <p:nvPr/>
        </p:nvGrpSpPr>
        <p:grpSpPr>
          <a:xfrm>
            <a:off x="571500" y="633869"/>
            <a:ext cx="3268266" cy="946547"/>
            <a:chOff x="0" y="-9525"/>
            <a:chExt cx="4357688" cy="1262064"/>
          </a:xfrm>
        </p:grpSpPr>
        <p:sp>
          <p:nvSpPr>
            <p:cNvPr id="696" name="Google Shape;696;p19"/>
            <p:cNvSpPr/>
            <p:nvPr/>
          </p:nvSpPr>
          <p:spPr>
            <a:xfrm>
              <a:off x="0" y="0"/>
              <a:ext cx="4357688" cy="1252539"/>
            </a:xfrm>
            <a:custGeom>
              <a:rect b="b" l="l" r="r" t="t"/>
              <a:pathLst>
                <a:path extrusionOk="0" h="1252539" w="4357688">
                  <a:moveTo>
                    <a:pt x="0" y="0"/>
                  </a:moveTo>
                  <a:lnTo>
                    <a:pt x="4357688" y="0"/>
                  </a:lnTo>
                  <a:lnTo>
                    <a:pt x="4357688" y="1252539"/>
                  </a:lnTo>
                  <a:lnTo>
                    <a:pt x="0" y="1252539"/>
                  </a:lnTo>
                  <a:close/>
                </a:path>
              </a:pathLst>
            </a:custGeom>
            <a:blipFill rotWithShape="1">
              <a:blip r:embed="rId7">
                <a:alphaModFix amt="0"/>
              </a:blip>
              <a:stretch>
                <a:fillRect b="-17789" l="0" r="0" t="-17789"/>
              </a:stretch>
            </a:blipFill>
            <a:ln>
              <a:noFill/>
            </a:ln>
          </p:spPr>
        </p:sp>
        <p:sp>
          <p:nvSpPr>
            <p:cNvPr id="697" name="Google Shape;697;p19"/>
            <p:cNvSpPr txBox="1"/>
            <p:nvPr/>
          </p:nvSpPr>
          <p:spPr>
            <a:xfrm>
              <a:off x="0" y="-9525"/>
              <a:ext cx="4357688" cy="12620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8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6300" u="none" cap="none" strike="noStrike">
                  <a:solidFill>
                    <a:srgbClr val="0F1B2C"/>
                  </a:solidFill>
                  <a:latin typeface="Roboto"/>
                  <a:ea typeface="Roboto"/>
                  <a:cs typeface="Roboto"/>
                  <a:sym typeface="Roboto"/>
                </a:rPr>
                <a:t>The MCP</a:t>
              </a:r>
              <a:endParaRPr/>
            </a:p>
          </p:txBody>
        </p:sp>
      </p:grpSp>
      <p:grpSp>
        <p:nvGrpSpPr>
          <p:cNvPr id="698" name="Google Shape;698;p19"/>
          <p:cNvGrpSpPr/>
          <p:nvPr/>
        </p:nvGrpSpPr>
        <p:grpSpPr>
          <a:xfrm>
            <a:off x="4036219" y="496445"/>
            <a:ext cx="6209882" cy="1221395"/>
            <a:chOff x="0" y="-9525"/>
            <a:chExt cx="8279842" cy="1628528"/>
          </a:xfrm>
        </p:grpSpPr>
        <p:sp>
          <p:nvSpPr>
            <p:cNvPr id="699" name="Google Shape;699;p19"/>
            <p:cNvSpPr/>
            <p:nvPr/>
          </p:nvSpPr>
          <p:spPr>
            <a:xfrm>
              <a:off x="0" y="0"/>
              <a:ext cx="8279842" cy="1619003"/>
            </a:xfrm>
            <a:custGeom>
              <a:rect b="b" l="l" r="r" t="t"/>
              <a:pathLst>
                <a:path extrusionOk="0" h="1619003" w="8279842">
                  <a:moveTo>
                    <a:pt x="0" y="0"/>
                  </a:moveTo>
                  <a:lnTo>
                    <a:pt x="8279842" y="0"/>
                  </a:lnTo>
                  <a:lnTo>
                    <a:pt x="8279842" y="1619003"/>
                  </a:lnTo>
                  <a:lnTo>
                    <a:pt x="0" y="1619003"/>
                  </a:lnTo>
                  <a:close/>
                </a:path>
              </a:pathLst>
            </a:custGeom>
            <a:blipFill rotWithShape="1">
              <a:blip r:embed="rId7">
                <a:alphaModFix amt="0"/>
              </a:blip>
              <a:stretch>
                <a:fillRect b="-24487" l="0" r="13893" t="-47122"/>
              </a:stretch>
            </a:blipFill>
            <a:ln>
              <a:noFill/>
            </a:ln>
          </p:spPr>
        </p:sp>
        <p:sp>
          <p:nvSpPr>
            <p:cNvPr id="700" name="Google Shape;700;p19"/>
            <p:cNvSpPr txBox="1"/>
            <p:nvPr/>
          </p:nvSpPr>
          <p:spPr>
            <a:xfrm>
              <a:off x="0" y="-9525"/>
              <a:ext cx="8279842" cy="16285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8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6300" u="none" cap="none" strike="noStrike">
                  <a:solidFill>
                    <a:srgbClr val="00AEEF"/>
                  </a:solidFill>
                  <a:latin typeface="Roboto"/>
                  <a:ea typeface="Roboto"/>
                  <a:cs typeface="Roboto"/>
                  <a:sym typeface="Roboto"/>
                </a:rPr>
                <a:t> Paradigm Shift</a:t>
              </a:r>
              <a:endParaRPr/>
            </a:p>
          </p:txBody>
        </p:sp>
      </p:grpSp>
      <p:grpSp>
        <p:nvGrpSpPr>
          <p:cNvPr id="701" name="Google Shape;701;p19"/>
          <p:cNvGrpSpPr/>
          <p:nvPr/>
        </p:nvGrpSpPr>
        <p:grpSpPr>
          <a:xfrm>
            <a:off x="571500" y="1645377"/>
            <a:ext cx="17145000" cy="432197"/>
            <a:chOff x="0" y="0"/>
            <a:chExt cx="22860000" cy="576262"/>
          </a:xfrm>
        </p:grpSpPr>
        <p:sp>
          <p:nvSpPr>
            <p:cNvPr id="702" name="Google Shape;702;p19"/>
            <p:cNvSpPr/>
            <p:nvPr/>
          </p:nvSpPr>
          <p:spPr>
            <a:xfrm>
              <a:off x="0" y="0"/>
              <a:ext cx="22860000" cy="576261"/>
            </a:xfrm>
            <a:custGeom>
              <a:rect b="b" l="l" r="r" t="t"/>
              <a:pathLst>
                <a:path extrusionOk="0" h="576261" w="22860000">
                  <a:moveTo>
                    <a:pt x="0" y="0"/>
                  </a:moveTo>
                  <a:lnTo>
                    <a:pt x="22860000" y="0"/>
                  </a:lnTo>
                  <a:lnTo>
                    <a:pt x="22860000" y="576261"/>
                  </a:lnTo>
                  <a:lnTo>
                    <a:pt x="0" y="576261"/>
                  </a:lnTo>
                  <a:close/>
                </a:path>
              </a:pathLst>
            </a:custGeom>
            <a:blipFill rotWithShape="1">
              <a:blip r:embed="rId7">
                <a:alphaModFix amt="0"/>
              </a:blip>
              <a:stretch>
                <a:fillRect b="-723036" l="0" r="0" t="-723036"/>
              </a:stretch>
            </a:blipFill>
            <a:ln>
              <a:noFill/>
            </a:ln>
          </p:spPr>
        </p:sp>
        <p:sp>
          <p:nvSpPr>
            <p:cNvPr id="703" name="Google Shape;703;p19"/>
            <p:cNvSpPr txBox="1"/>
            <p:nvPr/>
          </p:nvSpPr>
          <p:spPr>
            <a:xfrm>
              <a:off x="0" y="9525"/>
              <a:ext cx="22860000" cy="5667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4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-US" sz="2475" u="none" cap="none" strike="noStrike">
                  <a:solidFill>
                    <a:srgbClr val="0F1B2C"/>
                  </a:solidFill>
                  <a:latin typeface="Noto Sans"/>
                  <a:ea typeface="Noto Sans"/>
                  <a:cs typeface="Noto Sans"/>
                  <a:sym typeface="Noto Sans"/>
                </a:rPr>
                <a:t>A fundamental transformation in AI tool integration</a:t>
              </a:r>
              <a:endParaRPr/>
            </a:p>
          </p:txBody>
        </p:sp>
      </p:grpSp>
      <p:sp>
        <p:nvSpPr>
          <p:cNvPr id="704" name="Google Shape;704;p19"/>
          <p:cNvSpPr/>
          <p:nvPr/>
        </p:nvSpPr>
        <p:spPr>
          <a:xfrm>
            <a:off x="457200" y="2806236"/>
            <a:ext cx="2705100" cy="771525"/>
          </a:xfrm>
          <a:custGeom>
            <a:rect b="b" l="l" r="r" t="t"/>
            <a:pathLst>
              <a:path extrusionOk="0" h="1028700" w="3606800">
                <a:moveTo>
                  <a:pt x="0" y="0"/>
                </a:moveTo>
                <a:lnTo>
                  <a:pt x="3606800" y="0"/>
                </a:lnTo>
                <a:lnTo>
                  <a:pt x="3606800" y="1028700"/>
                </a:lnTo>
                <a:lnTo>
                  <a:pt x="0" y="1028700"/>
                </a:lnTo>
                <a:close/>
              </a:path>
            </a:pathLst>
          </a:custGeom>
          <a:solidFill>
            <a:srgbClr val="00AEEF"/>
          </a:solidFill>
          <a:ln>
            <a:noFill/>
          </a:ln>
        </p:spPr>
      </p:sp>
      <p:grpSp>
        <p:nvGrpSpPr>
          <p:cNvPr id="705" name="Google Shape;705;p19"/>
          <p:cNvGrpSpPr/>
          <p:nvPr/>
        </p:nvGrpSpPr>
        <p:grpSpPr>
          <a:xfrm>
            <a:off x="457200" y="2806236"/>
            <a:ext cx="2705082" cy="771526"/>
            <a:chOff x="0" y="0"/>
            <a:chExt cx="3606776" cy="1028701"/>
          </a:xfrm>
        </p:grpSpPr>
        <p:sp>
          <p:nvSpPr>
            <p:cNvPr id="706" name="Google Shape;706;p19"/>
            <p:cNvSpPr/>
            <p:nvPr/>
          </p:nvSpPr>
          <p:spPr>
            <a:xfrm>
              <a:off x="0" y="0"/>
              <a:ext cx="3606776" cy="1028701"/>
            </a:xfrm>
            <a:custGeom>
              <a:rect b="b" l="l" r="r" t="t"/>
              <a:pathLst>
                <a:path extrusionOk="0" h="1028701" w="3606776">
                  <a:moveTo>
                    <a:pt x="0" y="0"/>
                  </a:moveTo>
                  <a:lnTo>
                    <a:pt x="3606776" y="0"/>
                  </a:lnTo>
                  <a:lnTo>
                    <a:pt x="3606776" y="1028701"/>
                  </a:lnTo>
                  <a:lnTo>
                    <a:pt x="0" y="1028701"/>
                  </a:lnTo>
                  <a:close/>
                </a:path>
              </a:pathLst>
            </a:custGeom>
            <a:blipFill rotWithShape="1">
              <a:blip r:embed="rId7">
                <a:alphaModFix amt="0"/>
              </a:blip>
              <a:stretch>
                <a:fillRect b="-18317" l="0" r="0" t="-18317"/>
              </a:stretch>
            </a:blipFill>
            <a:ln>
              <a:noFill/>
            </a:ln>
          </p:spPr>
        </p:sp>
        <p:sp>
          <p:nvSpPr>
            <p:cNvPr id="707" name="Google Shape;707;p19"/>
            <p:cNvSpPr txBox="1"/>
            <p:nvPr/>
          </p:nvSpPr>
          <p:spPr>
            <a:xfrm>
              <a:off x="0" y="0"/>
              <a:ext cx="3606775" cy="10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3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091" u="none" cap="none" strike="noStrike">
                  <a:solidFill>
                    <a:srgbClr val="FFFFFF"/>
                  </a:solidFill>
                  <a:latin typeface="Noto Sans"/>
                  <a:ea typeface="Noto Sans"/>
                  <a:cs typeface="Noto Sans"/>
                  <a:sym typeface="Noto Sans"/>
                </a:rPr>
                <a:t>Development</a:t>
              </a:r>
              <a:endParaRPr/>
            </a:p>
          </p:txBody>
        </p:sp>
      </p:grpSp>
      <p:sp>
        <p:nvSpPr>
          <p:cNvPr id="708" name="Google Shape;708;p19"/>
          <p:cNvSpPr/>
          <p:nvPr/>
        </p:nvSpPr>
        <p:spPr>
          <a:xfrm>
            <a:off x="3390681" y="2420274"/>
            <a:ext cx="7106031" cy="1543431"/>
          </a:xfrm>
          <a:custGeom>
            <a:rect b="b" l="l" r="r" t="t"/>
            <a:pathLst>
              <a:path extrusionOk="0" h="2057908" w="9474708">
                <a:moveTo>
                  <a:pt x="0" y="0"/>
                </a:moveTo>
                <a:lnTo>
                  <a:pt x="9474708" y="0"/>
                </a:lnTo>
                <a:lnTo>
                  <a:pt x="9474708" y="2057908"/>
                </a:lnTo>
                <a:lnTo>
                  <a:pt x="0" y="2057908"/>
                </a:lnTo>
                <a:close/>
              </a:path>
            </a:pathLst>
          </a:custGeom>
          <a:solidFill>
            <a:srgbClr val="FFFFFF"/>
          </a:solidFill>
          <a:ln cap="sq" cmpd="sng" w="9525">
            <a:solidFill>
              <a:srgbClr val="00AEEF"/>
            </a:solidFill>
            <a:prstDash val="solid"/>
            <a:miter lim="8000"/>
            <a:headEnd len="sm" w="sm" type="none"/>
            <a:tailEnd len="sm" w="sm" type="none"/>
          </a:ln>
        </p:spPr>
      </p:sp>
      <p:grpSp>
        <p:nvGrpSpPr>
          <p:cNvPr id="709" name="Google Shape;709;p19"/>
          <p:cNvGrpSpPr/>
          <p:nvPr/>
        </p:nvGrpSpPr>
        <p:grpSpPr>
          <a:xfrm>
            <a:off x="3676631" y="2702652"/>
            <a:ext cx="3706322" cy="292894"/>
            <a:chOff x="0" y="0"/>
            <a:chExt cx="4941763" cy="390525"/>
          </a:xfrm>
        </p:grpSpPr>
        <p:sp>
          <p:nvSpPr>
            <p:cNvPr id="710" name="Google Shape;710;p19"/>
            <p:cNvSpPr/>
            <p:nvPr/>
          </p:nvSpPr>
          <p:spPr>
            <a:xfrm>
              <a:off x="0" y="0"/>
              <a:ext cx="4941763" cy="390525"/>
            </a:xfrm>
            <a:custGeom>
              <a:rect b="b" l="l" r="r" t="t"/>
              <a:pathLst>
                <a:path extrusionOk="0" h="390525" w="4941763">
                  <a:moveTo>
                    <a:pt x="0" y="0"/>
                  </a:moveTo>
                  <a:lnTo>
                    <a:pt x="4941763" y="0"/>
                  </a:lnTo>
                  <a:lnTo>
                    <a:pt x="4941763" y="390525"/>
                  </a:lnTo>
                  <a:lnTo>
                    <a:pt x="0" y="390525"/>
                  </a:lnTo>
                  <a:close/>
                </a:path>
              </a:pathLst>
            </a:custGeom>
            <a:blipFill rotWithShape="1">
              <a:blip r:embed="rId7">
                <a:alphaModFix amt="0"/>
              </a:blip>
              <a:stretch>
                <a:fillRect b="-196573" l="0" r="0" t="-196573"/>
              </a:stretch>
            </a:blipFill>
            <a:ln>
              <a:noFill/>
            </a:ln>
          </p:spPr>
        </p:sp>
        <p:sp>
          <p:nvSpPr>
            <p:cNvPr id="711" name="Google Shape;711;p19"/>
            <p:cNvSpPr txBox="1"/>
            <p:nvPr/>
          </p:nvSpPr>
          <p:spPr>
            <a:xfrm>
              <a:off x="0" y="0"/>
              <a:ext cx="4941760" cy="3905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1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69" u="none" cap="none" strike="noStrike">
                  <a:solidFill>
                    <a:srgbClr val="000000"/>
                  </a:solidFill>
                  <a:latin typeface="Noto Sans"/>
                  <a:ea typeface="Noto Sans"/>
                  <a:cs typeface="Noto Sans"/>
                  <a:sym typeface="Noto Sans"/>
                </a:rPr>
                <a:t> • Custom coding for each integration</a:t>
              </a:r>
              <a:endParaRPr/>
            </a:p>
          </p:txBody>
        </p:sp>
      </p:grpSp>
      <p:grpSp>
        <p:nvGrpSpPr>
          <p:cNvPr id="712" name="Google Shape;712;p19"/>
          <p:cNvGrpSpPr/>
          <p:nvPr/>
        </p:nvGrpSpPr>
        <p:grpSpPr>
          <a:xfrm>
            <a:off x="3676631" y="3045552"/>
            <a:ext cx="2793597" cy="292894"/>
            <a:chOff x="0" y="0"/>
            <a:chExt cx="3724796" cy="390525"/>
          </a:xfrm>
        </p:grpSpPr>
        <p:sp>
          <p:nvSpPr>
            <p:cNvPr id="713" name="Google Shape;713;p19"/>
            <p:cNvSpPr/>
            <p:nvPr/>
          </p:nvSpPr>
          <p:spPr>
            <a:xfrm>
              <a:off x="0" y="0"/>
              <a:ext cx="3724795" cy="390525"/>
            </a:xfrm>
            <a:custGeom>
              <a:rect b="b" l="l" r="r" t="t"/>
              <a:pathLst>
                <a:path extrusionOk="0" h="390525" w="3724795">
                  <a:moveTo>
                    <a:pt x="0" y="0"/>
                  </a:moveTo>
                  <a:lnTo>
                    <a:pt x="3724795" y="0"/>
                  </a:lnTo>
                  <a:lnTo>
                    <a:pt x="3724795" y="390525"/>
                  </a:lnTo>
                  <a:lnTo>
                    <a:pt x="0" y="390525"/>
                  </a:lnTo>
                  <a:close/>
                </a:path>
              </a:pathLst>
            </a:custGeom>
            <a:blipFill rotWithShape="1">
              <a:blip r:embed="rId7">
                <a:alphaModFix amt="0"/>
              </a:blip>
              <a:stretch>
                <a:fillRect b="-135846" l="0" r="0" t="-135846"/>
              </a:stretch>
            </a:blipFill>
            <a:ln>
              <a:noFill/>
            </a:ln>
          </p:spPr>
        </p:sp>
        <p:sp>
          <p:nvSpPr>
            <p:cNvPr id="714" name="Google Shape;714;p19"/>
            <p:cNvSpPr txBox="1"/>
            <p:nvPr/>
          </p:nvSpPr>
          <p:spPr>
            <a:xfrm>
              <a:off x="0" y="0"/>
              <a:ext cx="3724796" cy="3905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1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69" u="none" cap="none" strike="noStrike">
                  <a:solidFill>
                    <a:srgbClr val="000000"/>
                  </a:solidFill>
                  <a:latin typeface="Noto Sans"/>
                  <a:ea typeface="Noto Sans"/>
                  <a:cs typeface="Noto Sans"/>
                  <a:sym typeface="Noto Sans"/>
                </a:rPr>
                <a:t> • 150+ lines of code per tool</a:t>
              </a:r>
              <a:endParaRPr/>
            </a:p>
          </p:txBody>
        </p:sp>
      </p:grpSp>
      <p:grpSp>
        <p:nvGrpSpPr>
          <p:cNvPr id="715" name="Google Shape;715;p19"/>
          <p:cNvGrpSpPr/>
          <p:nvPr/>
        </p:nvGrpSpPr>
        <p:grpSpPr>
          <a:xfrm>
            <a:off x="3676631" y="3388452"/>
            <a:ext cx="3352707" cy="292894"/>
            <a:chOff x="0" y="0"/>
            <a:chExt cx="4470275" cy="390525"/>
          </a:xfrm>
        </p:grpSpPr>
        <p:sp>
          <p:nvSpPr>
            <p:cNvPr id="716" name="Google Shape;716;p19"/>
            <p:cNvSpPr/>
            <p:nvPr/>
          </p:nvSpPr>
          <p:spPr>
            <a:xfrm>
              <a:off x="0" y="0"/>
              <a:ext cx="4470275" cy="390525"/>
            </a:xfrm>
            <a:custGeom>
              <a:rect b="b" l="l" r="r" t="t"/>
              <a:pathLst>
                <a:path extrusionOk="0" h="390525" w="4470275">
                  <a:moveTo>
                    <a:pt x="0" y="0"/>
                  </a:moveTo>
                  <a:lnTo>
                    <a:pt x="4470275" y="0"/>
                  </a:lnTo>
                  <a:lnTo>
                    <a:pt x="4470275" y="390525"/>
                  </a:lnTo>
                  <a:lnTo>
                    <a:pt x="0" y="390525"/>
                  </a:lnTo>
                  <a:close/>
                </a:path>
              </a:pathLst>
            </a:custGeom>
            <a:blipFill rotWithShape="1">
              <a:blip r:embed="rId7">
                <a:alphaModFix amt="0"/>
              </a:blip>
              <a:stretch>
                <a:fillRect b="-173035" l="0" r="0" t="-173035"/>
              </a:stretch>
            </a:blipFill>
            <a:ln>
              <a:noFill/>
            </a:ln>
          </p:spPr>
        </p:sp>
        <p:sp>
          <p:nvSpPr>
            <p:cNvPr id="717" name="Google Shape;717;p19"/>
            <p:cNvSpPr txBox="1"/>
            <p:nvPr/>
          </p:nvSpPr>
          <p:spPr>
            <a:xfrm>
              <a:off x="0" y="0"/>
              <a:ext cx="4470273" cy="3905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1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69" u="none" cap="none" strike="noStrike">
                  <a:solidFill>
                    <a:srgbClr val="000000"/>
                  </a:solidFill>
                  <a:latin typeface="Noto Sans"/>
                  <a:ea typeface="Noto Sans"/>
                  <a:cs typeface="Noto Sans"/>
                  <a:sym typeface="Noto Sans"/>
                </a:rPr>
                <a:t> • Multiple authentication systems </a:t>
              </a:r>
              <a:endParaRPr/>
            </a:p>
          </p:txBody>
        </p:sp>
      </p:grpSp>
      <p:sp>
        <p:nvSpPr>
          <p:cNvPr id="718" name="Google Shape;718;p19"/>
          <p:cNvSpPr/>
          <p:nvPr/>
        </p:nvSpPr>
        <p:spPr>
          <a:xfrm>
            <a:off x="10724912" y="2420274"/>
            <a:ext cx="7106031" cy="1543431"/>
          </a:xfrm>
          <a:custGeom>
            <a:rect b="b" l="l" r="r" t="t"/>
            <a:pathLst>
              <a:path extrusionOk="0" h="2057908" w="9474708">
                <a:moveTo>
                  <a:pt x="0" y="0"/>
                </a:moveTo>
                <a:lnTo>
                  <a:pt x="9474708" y="0"/>
                </a:lnTo>
                <a:lnTo>
                  <a:pt x="9474708" y="2057908"/>
                </a:lnTo>
                <a:lnTo>
                  <a:pt x="0" y="2057908"/>
                </a:lnTo>
                <a:close/>
              </a:path>
            </a:pathLst>
          </a:custGeom>
          <a:solidFill>
            <a:srgbClr val="FFFFFF"/>
          </a:solidFill>
          <a:ln cap="sq" cmpd="sng" w="9525">
            <a:solidFill>
              <a:srgbClr val="00AEEF"/>
            </a:solidFill>
            <a:prstDash val="solid"/>
            <a:miter lim="8000"/>
            <a:headEnd len="sm" w="sm" type="none"/>
            <a:tailEnd len="sm" w="sm" type="none"/>
          </a:ln>
        </p:spPr>
      </p:sp>
      <p:grpSp>
        <p:nvGrpSpPr>
          <p:cNvPr id="719" name="Google Shape;719;p19"/>
          <p:cNvGrpSpPr/>
          <p:nvPr/>
        </p:nvGrpSpPr>
        <p:grpSpPr>
          <a:xfrm>
            <a:off x="11010862" y="2674077"/>
            <a:ext cx="4022436" cy="292894"/>
            <a:chOff x="0" y="0"/>
            <a:chExt cx="5363248" cy="390525"/>
          </a:xfrm>
        </p:grpSpPr>
        <p:sp>
          <p:nvSpPr>
            <p:cNvPr id="720" name="Google Shape;720;p19"/>
            <p:cNvSpPr/>
            <p:nvPr/>
          </p:nvSpPr>
          <p:spPr>
            <a:xfrm>
              <a:off x="0" y="0"/>
              <a:ext cx="5363246" cy="390525"/>
            </a:xfrm>
            <a:custGeom>
              <a:rect b="b" l="l" r="r" t="t"/>
              <a:pathLst>
                <a:path extrusionOk="0" h="390525" w="5363246">
                  <a:moveTo>
                    <a:pt x="0" y="0"/>
                  </a:moveTo>
                  <a:lnTo>
                    <a:pt x="5363246" y="0"/>
                  </a:lnTo>
                  <a:lnTo>
                    <a:pt x="5363246" y="390525"/>
                  </a:lnTo>
                  <a:lnTo>
                    <a:pt x="0" y="390525"/>
                  </a:lnTo>
                  <a:close/>
                </a:path>
              </a:pathLst>
            </a:custGeom>
            <a:blipFill rotWithShape="1">
              <a:blip r:embed="rId7">
                <a:alphaModFix amt="0"/>
              </a:blip>
              <a:stretch>
                <a:fillRect b="-217609" l="0" r="0" t="-217609"/>
              </a:stretch>
            </a:blipFill>
            <a:ln>
              <a:noFill/>
            </a:ln>
          </p:spPr>
        </p:sp>
        <p:sp>
          <p:nvSpPr>
            <p:cNvPr id="721" name="Google Shape;721;p19"/>
            <p:cNvSpPr txBox="1"/>
            <p:nvPr/>
          </p:nvSpPr>
          <p:spPr>
            <a:xfrm>
              <a:off x="0" y="0"/>
              <a:ext cx="5363248" cy="3905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1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69" u="none" cap="none" strike="noStrike">
                  <a:solidFill>
                    <a:srgbClr val="000000"/>
                  </a:solidFill>
                  <a:latin typeface="Noto Sans"/>
                  <a:ea typeface="Noto Sans"/>
                  <a:cs typeface="Noto Sans"/>
                  <a:sym typeface="Noto Sans"/>
                </a:rPr>
                <a:t> • Standardized protocol implementation</a:t>
              </a:r>
              <a:endParaRPr/>
            </a:p>
          </p:txBody>
        </p:sp>
      </p:grpSp>
      <p:grpSp>
        <p:nvGrpSpPr>
          <p:cNvPr id="722" name="Google Shape;722;p19"/>
          <p:cNvGrpSpPr/>
          <p:nvPr/>
        </p:nvGrpSpPr>
        <p:grpSpPr>
          <a:xfrm>
            <a:off x="11010862" y="3016977"/>
            <a:ext cx="3100502" cy="292894"/>
            <a:chOff x="0" y="0"/>
            <a:chExt cx="4134002" cy="390525"/>
          </a:xfrm>
        </p:grpSpPr>
        <p:sp>
          <p:nvSpPr>
            <p:cNvPr id="723" name="Google Shape;723;p19"/>
            <p:cNvSpPr/>
            <p:nvPr/>
          </p:nvSpPr>
          <p:spPr>
            <a:xfrm>
              <a:off x="0" y="0"/>
              <a:ext cx="4134000" cy="390525"/>
            </a:xfrm>
            <a:custGeom>
              <a:rect b="b" l="l" r="r" t="t"/>
              <a:pathLst>
                <a:path extrusionOk="0" h="390525" w="4134000">
                  <a:moveTo>
                    <a:pt x="0" y="0"/>
                  </a:moveTo>
                  <a:lnTo>
                    <a:pt x="4134000" y="0"/>
                  </a:lnTo>
                  <a:lnTo>
                    <a:pt x="4134000" y="390525"/>
                  </a:lnTo>
                  <a:lnTo>
                    <a:pt x="0" y="390525"/>
                  </a:lnTo>
                  <a:close/>
                </a:path>
              </a:pathLst>
            </a:custGeom>
            <a:blipFill rotWithShape="1">
              <a:blip r:embed="rId7">
                <a:alphaModFix amt="0"/>
              </a:blip>
              <a:stretch>
                <a:fillRect b="-156271" l="0" r="0" t="-156271"/>
              </a:stretch>
            </a:blipFill>
            <a:ln>
              <a:noFill/>
            </a:ln>
          </p:spPr>
        </p:sp>
        <p:sp>
          <p:nvSpPr>
            <p:cNvPr id="724" name="Google Shape;724;p19"/>
            <p:cNvSpPr txBox="1"/>
            <p:nvPr/>
          </p:nvSpPr>
          <p:spPr>
            <a:xfrm>
              <a:off x="0" y="0"/>
              <a:ext cx="4134002" cy="3905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1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69" u="none" cap="none" strike="noStrike">
                  <a:solidFill>
                    <a:srgbClr val="000000"/>
                  </a:solidFill>
                  <a:latin typeface="Noto Sans"/>
                  <a:ea typeface="Noto Sans"/>
                  <a:cs typeface="Noto Sans"/>
                  <a:sym typeface="Noto Sans"/>
                </a:rPr>
                <a:t> • 5 lines of code for connection</a:t>
              </a:r>
              <a:endParaRPr/>
            </a:p>
          </p:txBody>
        </p:sp>
      </p:grpSp>
      <p:grpSp>
        <p:nvGrpSpPr>
          <p:cNvPr id="725" name="Google Shape;725;p19"/>
          <p:cNvGrpSpPr/>
          <p:nvPr/>
        </p:nvGrpSpPr>
        <p:grpSpPr>
          <a:xfrm>
            <a:off x="11010862" y="3359877"/>
            <a:ext cx="2384450" cy="292894"/>
            <a:chOff x="0" y="0"/>
            <a:chExt cx="3179267" cy="390525"/>
          </a:xfrm>
        </p:grpSpPr>
        <p:sp>
          <p:nvSpPr>
            <p:cNvPr id="726" name="Google Shape;726;p19"/>
            <p:cNvSpPr/>
            <p:nvPr/>
          </p:nvSpPr>
          <p:spPr>
            <a:xfrm>
              <a:off x="0" y="0"/>
              <a:ext cx="3179267" cy="390525"/>
            </a:xfrm>
            <a:custGeom>
              <a:rect b="b" l="l" r="r" t="t"/>
              <a:pathLst>
                <a:path extrusionOk="0" h="390525" w="3179267">
                  <a:moveTo>
                    <a:pt x="0" y="0"/>
                  </a:moveTo>
                  <a:lnTo>
                    <a:pt x="3179267" y="0"/>
                  </a:lnTo>
                  <a:lnTo>
                    <a:pt x="3179267" y="390525"/>
                  </a:lnTo>
                  <a:lnTo>
                    <a:pt x="0" y="390525"/>
                  </a:lnTo>
                  <a:close/>
                </a:path>
              </a:pathLst>
            </a:custGeom>
            <a:blipFill rotWithShape="1">
              <a:blip r:embed="rId7">
                <a:alphaModFix amt="0"/>
              </a:blip>
              <a:stretch>
                <a:fillRect b="-108629" l="0" r="0" t="-108629"/>
              </a:stretch>
            </a:blipFill>
            <a:ln>
              <a:noFill/>
            </a:ln>
          </p:spPr>
        </p:sp>
        <p:sp>
          <p:nvSpPr>
            <p:cNvPr id="727" name="Google Shape;727;p19"/>
            <p:cNvSpPr txBox="1"/>
            <p:nvPr/>
          </p:nvSpPr>
          <p:spPr>
            <a:xfrm>
              <a:off x="0" y="0"/>
              <a:ext cx="3179267" cy="3905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1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69" u="none" cap="none" strike="noStrike">
                  <a:solidFill>
                    <a:srgbClr val="000000"/>
                  </a:solidFill>
                  <a:latin typeface="Noto Sans"/>
                  <a:ea typeface="Noto Sans"/>
                  <a:cs typeface="Noto Sans"/>
                  <a:sym typeface="Noto Sans"/>
                </a:rPr>
                <a:t> • Unified authentication </a:t>
              </a:r>
              <a:endParaRPr/>
            </a:p>
          </p:txBody>
        </p:sp>
      </p:grpSp>
      <p:sp>
        <p:nvSpPr>
          <p:cNvPr id="728" name="Google Shape;728;p19"/>
          <p:cNvSpPr/>
          <p:nvPr/>
        </p:nvSpPr>
        <p:spPr>
          <a:xfrm>
            <a:off x="457200" y="4577886"/>
            <a:ext cx="2705100" cy="771525"/>
          </a:xfrm>
          <a:custGeom>
            <a:rect b="b" l="l" r="r" t="t"/>
            <a:pathLst>
              <a:path extrusionOk="0" h="1028700" w="3606800">
                <a:moveTo>
                  <a:pt x="0" y="0"/>
                </a:moveTo>
                <a:lnTo>
                  <a:pt x="3606800" y="0"/>
                </a:lnTo>
                <a:lnTo>
                  <a:pt x="3606800" y="1028700"/>
                </a:lnTo>
                <a:lnTo>
                  <a:pt x="0" y="1028700"/>
                </a:lnTo>
                <a:close/>
              </a:path>
            </a:pathLst>
          </a:custGeom>
          <a:solidFill>
            <a:srgbClr val="00AEEF"/>
          </a:solidFill>
          <a:ln>
            <a:noFill/>
          </a:ln>
        </p:spPr>
      </p:sp>
      <p:grpSp>
        <p:nvGrpSpPr>
          <p:cNvPr id="729" name="Google Shape;729;p19"/>
          <p:cNvGrpSpPr/>
          <p:nvPr/>
        </p:nvGrpSpPr>
        <p:grpSpPr>
          <a:xfrm>
            <a:off x="457200" y="4577886"/>
            <a:ext cx="2705082" cy="771526"/>
            <a:chOff x="0" y="0"/>
            <a:chExt cx="3606776" cy="1028701"/>
          </a:xfrm>
        </p:grpSpPr>
        <p:sp>
          <p:nvSpPr>
            <p:cNvPr id="730" name="Google Shape;730;p19"/>
            <p:cNvSpPr/>
            <p:nvPr/>
          </p:nvSpPr>
          <p:spPr>
            <a:xfrm>
              <a:off x="0" y="0"/>
              <a:ext cx="3606776" cy="1028701"/>
            </a:xfrm>
            <a:custGeom>
              <a:rect b="b" l="l" r="r" t="t"/>
              <a:pathLst>
                <a:path extrusionOk="0" h="1028701" w="3606776">
                  <a:moveTo>
                    <a:pt x="0" y="0"/>
                  </a:moveTo>
                  <a:lnTo>
                    <a:pt x="3606776" y="0"/>
                  </a:lnTo>
                  <a:lnTo>
                    <a:pt x="3606776" y="1028701"/>
                  </a:lnTo>
                  <a:lnTo>
                    <a:pt x="0" y="1028701"/>
                  </a:lnTo>
                  <a:close/>
                </a:path>
              </a:pathLst>
            </a:custGeom>
            <a:blipFill rotWithShape="1">
              <a:blip r:embed="rId7">
                <a:alphaModFix amt="0"/>
              </a:blip>
              <a:stretch>
                <a:fillRect b="-18317" l="0" r="0" t="-18317"/>
              </a:stretch>
            </a:blipFill>
            <a:ln>
              <a:noFill/>
            </a:ln>
          </p:spPr>
        </p:sp>
        <p:sp>
          <p:nvSpPr>
            <p:cNvPr id="731" name="Google Shape;731;p19"/>
            <p:cNvSpPr txBox="1"/>
            <p:nvPr/>
          </p:nvSpPr>
          <p:spPr>
            <a:xfrm>
              <a:off x="0" y="0"/>
              <a:ext cx="3606775" cy="10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3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091" u="none" cap="none" strike="noStrike">
                  <a:solidFill>
                    <a:srgbClr val="FFFFFF"/>
                  </a:solidFill>
                  <a:latin typeface="Noto Sans"/>
                  <a:ea typeface="Noto Sans"/>
                  <a:cs typeface="Noto Sans"/>
                  <a:sym typeface="Noto Sans"/>
                </a:rPr>
                <a:t>Maintenance</a:t>
              </a:r>
              <a:endParaRPr/>
            </a:p>
          </p:txBody>
        </p:sp>
      </p:grpSp>
      <p:sp>
        <p:nvSpPr>
          <p:cNvPr id="732" name="Google Shape;732;p19"/>
          <p:cNvSpPr/>
          <p:nvPr/>
        </p:nvSpPr>
        <p:spPr>
          <a:xfrm>
            <a:off x="3390681" y="4191924"/>
            <a:ext cx="7106031" cy="1543431"/>
          </a:xfrm>
          <a:custGeom>
            <a:rect b="b" l="l" r="r" t="t"/>
            <a:pathLst>
              <a:path extrusionOk="0" h="2057908" w="9474708">
                <a:moveTo>
                  <a:pt x="0" y="0"/>
                </a:moveTo>
                <a:lnTo>
                  <a:pt x="9474708" y="0"/>
                </a:lnTo>
                <a:lnTo>
                  <a:pt x="9474708" y="2057908"/>
                </a:lnTo>
                <a:lnTo>
                  <a:pt x="0" y="2057908"/>
                </a:lnTo>
                <a:close/>
              </a:path>
            </a:pathLst>
          </a:custGeom>
          <a:solidFill>
            <a:srgbClr val="FFFFFF"/>
          </a:solidFill>
          <a:ln cap="sq" cmpd="sng" w="9525">
            <a:solidFill>
              <a:srgbClr val="00AEEF"/>
            </a:solidFill>
            <a:prstDash val="solid"/>
            <a:miter lim="8000"/>
            <a:headEnd len="sm" w="sm" type="none"/>
            <a:tailEnd len="sm" w="sm" type="none"/>
          </a:ln>
        </p:spPr>
      </p:sp>
      <p:grpSp>
        <p:nvGrpSpPr>
          <p:cNvPr id="733" name="Google Shape;733;p19"/>
          <p:cNvGrpSpPr/>
          <p:nvPr/>
        </p:nvGrpSpPr>
        <p:grpSpPr>
          <a:xfrm>
            <a:off x="3676631" y="4474302"/>
            <a:ext cx="3136050" cy="292894"/>
            <a:chOff x="0" y="0"/>
            <a:chExt cx="4181400" cy="390525"/>
          </a:xfrm>
        </p:grpSpPr>
        <p:sp>
          <p:nvSpPr>
            <p:cNvPr id="734" name="Google Shape;734;p19"/>
            <p:cNvSpPr/>
            <p:nvPr/>
          </p:nvSpPr>
          <p:spPr>
            <a:xfrm>
              <a:off x="0" y="0"/>
              <a:ext cx="4181400" cy="390525"/>
            </a:xfrm>
            <a:custGeom>
              <a:rect b="b" l="l" r="r" t="t"/>
              <a:pathLst>
                <a:path extrusionOk="0" h="390525" w="4181400">
                  <a:moveTo>
                    <a:pt x="0" y="0"/>
                  </a:moveTo>
                  <a:lnTo>
                    <a:pt x="4181400" y="0"/>
                  </a:lnTo>
                  <a:lnTo>
                    <a:pt x="4181400" y="390525"/>
                  </a:lnTo>
                  <a:lnTo>
                    <a:pt x="0" y="390525"/>
                  </a:lnTo>
                  <a:close/>
                </a:path>
              </a:pathLst>
            </a:custGeom>
            <a:blipFill rotWithShape="1">
              <a:blip r:embed="rId7">
                <a:alphaModFix amt="0"/>
              </a:blip>
              <a:stretch>
                <a:fillRect b="-158629" l="0" r="0" t="-158629"/>
              </a:stretch>
            </a:blipFill>
            <a:ln>
              <a:noFill/>
            </a:ln>
          </p:spPr>
        </p:sp>
        <p:sp>
          <p:nvSpPr>
            <p:cNvPr id="735" name="Google Shape;735;p19"/>
            <p:cNvSpPr txBox="1"/>
            <p:nvPr/>
          </p:nvSpPr>
          <p:spPr>
            <a:xfrm>
              <a:off x="0" y="0"/>
              <a:ext cx="4181399" cy="3905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1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69" u="none" cap="none" strike="noStrike">
                  <a:solidFill>
                    <a:srgbClr val="000000"/>
                  </a:solidFill>
                  <a:latin typeface="Noto Sans"/>
                  <a:ea typeface="Noto Sans"/>
                  <a:cs typeface="Noto Sans"/>
                  <a:sym typeface="Noto Sans"/>
                </a:rPr>
                <a:t> • Exponential complexity (N×M)</a:t>
              </a:r>
              <a:endParaRPr/>
            </a:p>
          </p:txBody>
        </p:sp>
      </p:grpSp>
      <p:grpSp>
        <p:nvGrpSpPr>
          <p:cNvPr id="736" name="Google Shape;736;p19"/>
          <p:cNvGrpSpPr/>
          <p:nvPr/>
        </p:nvGrpSpPr>
        <p:grpSpPr>
          <a:xfrm>
            <a:off x="3676631" y="4817202"/>
            <a:ext cx="2025701" cy="292894"/>
            <a:chOff x="0" y="0"/>
            <a:chExt cx="2700934" cy="390525"/>
          </a:xfrm>
        </p:grpSpPr>
        <p:sp>
          <p:nvSpPr>
            <p:cNvPr id="737" name="Google Shape;737;p19"/>
            <p:cNvSpPr/>
            <p:nvPr/>
          </p:nvSpPr>
          <p:spPr>
            <a:xfrm>
              <a:off x="0" y="0"/>
              <a:ext cx="2700933" cy="390525"/>
            </a:xfrm>
            <a:custGeom>
              <a:rect b="b" l="l" r="r" t="t"/>
              <a:pathLst>
                <a:path extrusionOk="0" h="390525" w="2700933">
                  <a:moveTo>
                    <a:pt x="0" y="0"/>
                  </a:moveTo>
                  <a:lnTo>
                    <a:pt x="2700933" y="0"/>
                  </a:lnTo>
                  <a:lnTo>
                    <a:pt x="2700933" y="390525"/>
                  </a:lnTo>
                  <a:lnTo>
                    <a:pt x="0" y="390525"/>
                  </a:lnTo>
                  <a:close/>
                </a:path>
              </a:pathLst>
            </a:custGeom>
            <a:blipFill rotWithShape="1">
              <a:blip r:embed="rId7">
                <a:alphaModFix amt="0"/>
              </a:blip>
              <a:stretch>
                <a:fillRect b="-84764" l="0" r="0" t="-84764"/>
              </a:stretch>
            </a:blipFill>
            <a:ln>
              <a:noFill/>
            </a:ln>
          </p:spPr>
        </p:sp>
        <p:sp>
          <p:nvSpPr>
            <p:cNvPr id="738" name="Google Shape;738;p19"/>
            <p:cNvSpPr txBox="1"/>
            <p:nvPr/>
          </p:nvSpPr>
          <p:spPr>
            <a:xfrm>
              <a:off x="0" y="0"/>
              <a:ext cx="2700934" cy="3905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1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69" u="none" cap="none" strike="noStrike">
                  <a:solidFill>
                    <a:srgbClr val="000000"/>
                  </a:solidFill>
                  <a:latin typeface="Noto Sans"/>
                  <a:ea typeface="Noto Sans"/>
                  <a:cs typeface="Noto Sans"/>
                  <a:sym typeface="Noto Sans"/>
                </a:rPr>
                <a:t> • Brittle integrations</a:t>
              </a:r>
              <a:endParaRPr/>
            </a:p>
          </p:txBody>
        </p:sp>
      </p:grpSp>
      <p:grpSp>
        <p:nvGrpSpPr>
          <p:cNvPr id="739" name="Google Shape;739;p19"/>
          <p:cNvGrpSpPr/>
          <p:nvPr/>
        </p:nvGrpSpPr>
        <p:grpSpPr>
          <a:xfrm>
            <a:off x="3676631" y="5160102"/>
            <a:ext cx="2834116" cy="292894"/>
            <a:chOff x="0" y="0"/>
            <a:chExt cx="3778822" cy="390525"/>
          </a:xfrm>
        </p:grpSpPr>
        <p:sp>
          <p:nvSpPr>
            <p:cNvPr id="740" name="Google Shape;740;p19"/>
            <p:cNvSpPr/>
            <p:nvPr/>
          </p:nvSpPr>
          <p:spPr>
            <a:xfrm>
              <a:off x="0" y="0"/>
              <a:ext cx="3778821" cy="390525"/>
            </a:xfrm>
            <a:custGeom>
              <a:rect b="b" l="l" r="r" t="t"/>
              <a:pathLst>
                <a:path extrusionOk="0" h="390525" w="3778821">
                  <a:moveTo>
                    <a:pt x="0" y="0"/>
                  </a:moveTo>
                  <a:lnTo>
                    <a:pt x="3778821" y="0"/>
                  </a:lnTo>
                  <a:lnTo>
                    <a:pt x="3778821" y="390525"/>
                  </a:lnTo>
                  <a:lnTo>
                    <a:pt x="0" y="390525"/>
                  </a:lnTo>
                  <a:close/>
                </a:path>
              </a:pathLst>
            </a:custGeom>
            <a:blipFill rotWithShape="1">
              <a:blip r:embed="rId7">
                <a:alphaModFix amt="0"/>
              </a:blip>
              <a:stretch>
                <a:fillRect b="-138537" l="0" r="0" t="-138537"/>
              </a:stretch>
            </a:blipFill>
            <a:ln>
              <a:noFill/>
            </a:ln>
          </p:spPr>
        </p:sp>
        <p:sp>
          <p:nvSpPr>
            <p:cNvPr id="741" name="Google Shape;741;p19"/>
            <p:cNvSpPr txBox="1"/>
            <p:nvPr/>
          </p:nvSpPr>
          <p:spPr>
            <a:xfrm>
              <a:off x="0" y="0"/>
              <a:ext cx="3778822" cy="3905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1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69" u="none" cap="none" strike="noStrike">
                  <a:solidFill>
                    <a:srgbClr val="000000"/>
                  </a:solidFill>
                  <a:latin typeface="Noto Sans"/>
                  <a:ea typeface="Noto Sans"/>
                  <a:cs typeface="Noto Sans"/>
                  <a:sym typeface="Noto Sans"/>
                </a:rPr>
                <a:t> • Constant updates required </a:t>
              </a:r>
              <a:endParaRPr/>
            </a:p>
          </p:txBody>
        </p:sp>
      </p:grpSp>
      <p:sp>
        <p:nvSpPr>
          <p:cNvPr id="742" name="Google Shape;742;p19"/>
          <p:cNvSpPr/>
          <p:nvPr/>
        </p:nvSpPr>
        <p:spPr>
          <a:xfrm>
            <a:off x="10724912" y="4191924"/>
            <a:ext cx="7106031" cy="1543431"/>
          </a:xfrm>
          <a:custGeom>
            <a:rect b="b" l="l" r="r" t="t"/>
            <a:pathLst>
              <a:path extrusionOk="0" h="2057908" w="9474708">
                <a:moveTo>
                  <a:pt x="0" y="0"/>
                </a:moveTo>
                <a:lnTo>
                  <a:pt x="9474708" y="0"/>
                </a:lnTo>
                <a:lnTo>
                  <a:pt x="9474708" y="2057908"/>
                </a:lnTo>
                <a:lnTo>
                  <a:pt x="0" y="2057908"/>
                </a:lnTo>
                <a:close/>
              </a:path>
            </a:pathLst>
          </a:custGeom>
          <a:solidFill>
            <a:srgbClr val="FFFFFF"/>
          </a:solidFill>
          <a:ln cap="sq" cmpd="sng" w="9525">
            <a:solidFill>
              <a:srgbClr val="00AEEF"/>
            </a:solidFill>
            <a:prstDash val="solid"/>
            <a:miter lim="8000"/>
            <a:headEnd len="sm" w="sm" type="none"/>
            <a:tailEnd len="sm" w="sm" type="none"/>
          </a:ln>
        </p:spPr>
      </p:sp>
      <p:grpSp>
        <p:nvGrpSpPr>
          <p:cNvPr id="743" name="Google Shape;743;p19"/>
          <p:cNvGrpSpPr/>
          <p:nvPr/>
        </p:nvGrpSpPr>
        <p:grpSpPr>
          <a:xfrm>
            <a:off x="11010862" y="4445727"/>
            <a:ext cx="2471461" cy="292894"/>
            <a:chOff x="0" y="0"/>
            <a:chExt cx="3295282" cy="390525"/>
          </a:xfrm>
        </p:grpSpPr>
        <p:sp>
          <p:nvSpPr>
            <p:cNvPr id="744" name="Google Shape;744;p19"/>
            <p:cNvSpPr/>
            <p:nvPr/>
          </p:nvSpPr>
          <p:spPr>
            <a:xfrm>
              <a:off x="0" y="0"/>
              <a:ext cx="3295277" cy="390525"/>
            </a:xfrm>
            <a:custGeom>
              <a:rect b="b" l="l" r="r" t="t"/>
              <a:pathLst>
                <a:path extrusionOk="0" h="390525" w="3295277">
                  <a:moveTo>
                    <a:pt x="0" y="0"/>
                  </a:moveTo>
                  <a:lnTo>
                    <a:pt x="3295277" y="0"/>
                  </a:lnTo>
                  <a:lnTo>
                    <a:pt x="3295277" y="390525"/>
                  </a:lnTo>
                  <a:lnTo>
                    <a:pt x="0" y="390525"/>
                  </a:lnTo>
                  <a:close/>
                </a:path>
              </a:pathLst>
            </a:custGeom>
            <a:blipFill rotWithShape="1">
              <a:blip r:embed="rId7">
                <a:alphaModFix amt="0"/>
              </a:blip>
              <a:stretch>
                <a:fillRect b="-114420" l="0" r="0" t="-114420"/>
              </a:stretch>
            </a:blipFill>
            <a:ln>
              <a:noFill/>
            </a:ln>
          </p:spPr>
        </p:sp>
        <p:sp>
          <p:nvSpPr>
            <p:cNvPr id="745" name="Google Shape;745;p19"/>
            <p:cNvSpPr txBox="1"/>
            <p:nvPr/>
          </p:nvSpPr>
          <p:spPr>
            <a:xfrm>
              <a:off x="0" y="0"/>
              <a:ext cx="3295282" cy="3905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1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69" u="none" cap="none" strike="noStrike">
                  <a:solidFill>
                    <a:srgbClr val="000000"/>
                  </a:solidFill>
                  <a:latin typeface="Noto Sans"/>
                  <a:ea typeface="Noto Sans"/>
                  <a:cs typeface="Noto Sans"/>
                  <a:sym typeface="Noto Sans"/>
                </a:rPr>
                <a:t> • Linear scalability (M+N)</a:t>
              </a:r>
              <a:endParaRPr/>
            </a:p>
          </p:txBody>
        </p:sp>
      </p:grpSp>
      <p:grpSp>
        <p:nvGrpSpPr>
          <p:cNvPr id="746" name="Google Shape;746;p19"/>
          <p:cNvGrpSpPr/>
          <p:nvPr/>
        </p:nvGrpSpPr>
        <p:grpSpPr>
          <a:xfrm>
            <a:off x="11010862" y="4788627"/>
            <a:ext cx="2264010" cy="292894"/>
            <a:chOff x="0" y="0"/>
            <a:chExt cx="3018680" cy="390525"/>
          </a:xfrm>
        </p:grpSpPr>
        <p:sp>
          <p:nvSpPr>
            <p:cNvPr id="747" name="Google Shape;747;p19"/>
            <p:cNvSpPr/>
            <p:nvPr/>
          </p:nvSpPr>
          <p:spPr>
            <a:xfrm>
              <a:off x="0" y="0"/>
              <a:ext cx="3018680" cy="390525"/>
            </a:xfrm>
            <a:custGeom>
              <a:rect b="b" l="l" r="r" t="t"/>
              <a:pathLst>
                <a:path extrusionOk="0" h="390525" w="3018680">
                  <a:moveTo>
                    <a:pt x="0" y="0"/>
                  </a:moveTo>
                  <a:lnTo>
                    <a:pt x="3018680" y="0"/>
                  </a:lnTo>
                  <a:lnTo>
                    <a:pt x="3018680" y="390525"/>
                  </a:lnTo>
                  <a:lnTo>
                    <a:pt x="0" y="390525"/>
                  </a:lnTo>
                  <a:close/>
                </a:path>
              </a:pathLst>
            </a:custGeom>
            <a:blipFill rotWithShape="1">
              <a:blip r:embed="rId7">
                <a:alphaModFix amt="0"/>
              </a:blip>
              <a:stretch>
                <a:fillRect b="-100611" l="0" r="0" t="-100611"/>
              </a:stretch>
            </a:blipFill>
            <a:ln>
              <a:noFill/>
            </a:ln>
          </p:spPr>
        </p:sp>
        <p:sp>
          <p:nvSpPr>
            <p:cNvPr id="748" name="Google Shape;748;p19"/>
            <p:cNvSpPr txBox="1"/>
            <p:nvPr/>
          </p:nvSpPr>
          <p:spPr>
            <a:xfrm>
              <a:off x="0" y="0"/>
              <a:ext cx="3018676" cy="3905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1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69" u="none" cap="none" strike="noStrike">
                  <a:solidFill>
                    <a:srgbClr val="000000"/>
                  </a:solidFill>
                  <a:latin typeface="Noto Sans"/>
                  <a:ea typeface="Noto Sans"/>
                  <a:cs typeface="Noto Sans"/>
                  <a:sym typeface="Noto Sans"/>
                </a:rPr>
                <a:t> • Resilient connections</a:t>
              </a:r>
              <a:endParaRPr/>
            </a:p>
          </p:txBody>
        </p:sp>
      </p:grpSp>
      <p:grpSp>
        <p:nvGrpSpPr>
          <p:cNvPr id="749" name="Google Shape;749;p19"/>
          <p:cNvGrpSpPr/>
          <p:nvPr/>
        </p:nvGrpSpPr>
        <p:grpSpPr>
          <a:xfrm>
            <a:off x="11010862" y="5157168"/>
            <a:ext cx="2872582" cy="241604"/>
            <a:chOff x="0" y="0"/>
            <a:chExt cx="3830109" cy="322139"/>
          </a:xfrm>
        </p:grpSpPr>
        <p:sp>
          <p:nvSpPr>
            <p:cNvPr id="750" name="Google Shape;750;p19"/>
            <p:cNvSpPr/>
            <p:nvPr/>
          </p:nvSpPr>
          <p:spPr>
            <a:xfrm>
              <a:off x="0" y="0"/>
              <a:ext cx="3830109" cy="322139"/>
            </a:xfrm>
            <a:custGeom>
              <a:rect b="b" l="l" r="r" t="t"/>
              <a:pathLst>
                <a:path extrusionOk="0" h="322139" w="3830109">
                  <a:moveTo>
                    <a:pt x="0" y="0"/>
                  </a:moveTo>
                  <a:lnTo>
                    <a:pt x="3830109" y="0"/>
                  </a:lnTo>
                  <a:lnTo>
                    <a:pt x="3830109" y="322139"/>
                  </a:lnTo>
                  <a:lnTo>
                    <a:pt x="0" y="322139"/>
                  </a:lnTo>
                  <a:close/>
                </a:path>
              </a:pathLst>
            </a:custGeom>
            <a:blipFill rotWithShape="1">
              <a:blip r:embed="rId7">
                <a:alphaModFix amt="0"/>
              </a:blip>
              <a:stretch>
                <a:fillRect b="-181674" l="0" r="0" t="-181674"/>
              </a:stretch>
            </a:blipFill>
            <a:ln>
              <a:noFill/>
            </a:ln>
          </p:spPr>
        </p:sp>
        <p:sp>
          <p:nvSpPr>
            <p:cNvPr id="751" name="Google Shape;751;p19"/>
            <p:cNvSpPr txBox="1"/>
            <p:nvPr/>
          </p:nvSpPr>
          <p:spPr>
            <a:xfrm>
              <a:off x="0" y="0"/>
              <a:ext cx="3830104" cy="32213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1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69" u="none" cap="none" strike="noStrike">
                  <a:solidFill>
                    <a:srgbClr val="000000"/>
                  </a:solidFill>
                  <a:latin typeface="Noto Sans"/>
                  <a:ea typeface="Noto Sans"/>
                  <a:cs typeface="Noto Sans"/>
                  <a:sym typeface="Noto Sans"/>
                </a:rPr>
                <a:t> • Less maintenance overhead </a:t>
              </a:r>
              <a:endParaRPr/>
            </a:p>
          </p:txBody>
        </p:sp>
      </p:grpSp>
      <p:sp>
        <p:nvSpPr>
          <p:cNvPr id="752" name="Google Shape;752;p19"/>
          <p:cNvSpPr/>
          <p:nvPr/>
        </p:nvSpPr>
        <p:spPr>
          <a:xfrm>
            <a:off x="457200" y="6349536"/>
            <a:ext cx="2705100" cy="771525"/>
          </a:xfrm>
          <a:custGeom>
            <a:rect b="b" l="l" r="r" t="t"/>
            <a:pathLst>
              <a:path extrusionOk="0" h="1028700" w="3606800">
                <a:moveTo>
                  <a:pt x="0" y="0"/>
                </a:moveTo>
                <a:lnTo>
                  <a:pt x="3606800" y="0"/>
                </a:lnTo>
                <a:lnTo>
                  <a:pt x="3606800" y="1028700"/>
                </a:lnTo>
                <a:lnTo>
                  <a:pt x="0" y="1028700"/>
                </a:lnTo>
                <a:close/>
              </a:path>
            </a:pathLst>
          </a:custGeom>
          <a:solidFill>
            <a:srgbClr val="00AEEF"/>
          </a:solidFill>
          <a:ln>
            <a:noFill/>
          </a:ln>
        </p:spPr>
      </p:sp>
      <p:grpSp>
        <p:nvGrpSpPr>
          <p:cNvPr id="753" name="Google Shape;753;p19"/>
          <p:cNvGrpSpPr/>
          <p:nvPr/>
        </p:nvGrpSpPr>
        <p:grpSpPr>
          <a:xfrm>
            <a:off x="457200" y="6349536"/>
            <a:ext cx="2705082" cy="771526"/>
            <a:chOff x="0" y="0"/>
            <a:chExt cx="3606776" cy="1028701"/>
          </a:xfrm>
        </p:grpSpPr>
        <p:sp>
          <p:nvSpPr>
            <p:cNvPr id="754" name="Google Shape;754;p19"/>
            <p:cNvSpPr/>
            <p:nvPr/>
          </p:nvSpPr>
          <p:spPr>
            <a:xfrm>
              <a:off x="0" y="0"/>
              <a:ext cx="3606776" cy="1028701"/>
            </a:xfrm>
            <a:custGeom>
              <a:rect b="b" l="l" r="r" t="t"/>
              <a:pathLst>
                <a:path extrusionOk="0" h="1028701" w="3606776">
                  <a:moveTo>
                    <a:pt x="0" y="0"/>
                  </a:moveTo>
                  <a:lnTo>
                    <a:pt x="3606776" y="0"/>
                  </a:lnTo>
                  <a:lnTo>
                    <a:pt x="3606776" y="1028701"/>
                  </a:lnTo>
                  <a:lnTo>
                    <a:pt x="0" y="1028701"/>
                  </a:lnTo>
                  <a:close/>
                </a:path>
              </a:pathLst>
            </a:custGeom>
            <a:blipFill rotWithShape="1">
              <a:blip r:embed="rId7">
                <a:alphaModFix amt="0"/>
              </a:blip>
              <a:stretch>
                <a:fillRect b="-18317" l="0" r="0" t="-18317"/>
              </a:stretch>
            </a:blipFill>
            <a:ln>
              <a:noFill/>
            </a:ln>
          </p:spPr>
        </p:sp>
        <p:sp>
          <p:nvSpPr>
            <p:cNvPr id="755" name="Google Shape;755;p19"/>
            <p:cNvSpPr txBox="1"/>
            <p:nvPr/>
          </p:nvSpPr>
          <p:spPr>
            <a:xfrm>
              <a:off x="0" y="0"/>
              <a:ext cx="3606775" cy="10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3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091" u="none" cap="none" strike="noStrike">
                  <a:solidFill>
                    <a:srgbClr val="FFFFFF"/>
                  </a:solidFill>
                  <a:latin typeface="Noto Sans"/>
                  <a:ea typeface="Noto Sans"/>
                  <a:cs typeface="Noto Sans"/>
                  <a:sym typeface="Noto Sans"/>
                </a:rPr>
                <a:t>Innovation</a:t>
              </a:r>
              <a:endParaRPr/>
            </a:p>
          </p:txBody>
        </p:sp>
      </p:grpSp>
      <p:sp>
        <p:nvSpPr>
          <p:cNvPr id="756" name="Google Shape;756;p19"/>
          <p:cNvSpPr/>
          <p:nvPr/>
        </p:nvSpPr>
        <p:spPr>
          <a:xfrm>
            <a:off x="3390681" y="5963574"/>
            <a:ext cx="7106031" cy="1543431"/>
          </a:xfrm>
          <a:custGeom>
            <a:rect b="b" l="l" r="r" t="t"/>
            <a:pathLst>
              <a:path extrusionOk="0" h="2057908" w="9474708">
                <a:moveTo>
                  <a:pt x="0" y="0"/>
                </a:moveTo>
                <a:lnTo>
                  <a:pt x="9474708" y="0"/>
                </a:lnTo>
                <a:lnTo>
                  <a:pt x="9474708" y="2057908"/>
                </a:lnTo>
                <a:lnTo>
                  <a:pt x="0" y="2057908"/>
                </a:lnTo>
                <a:close/>
              </a:path>
            </a:pathLst>
          </a:custGeom>
          <a:solidFill>
            <a:srgbClr val="FFFFFF"/>
          </a:solidFill>
          <a:ln cap="sq" cmpd="sng" w="9525">
            <a:solidFill>
              <a:srgbClr val="00AEEF"/>
            </a:solidFill>
            <a:prstDash val="solid"/>
            <a:miter lim="8000"/>
            <a:headEnd len="sm" w="sm" type="none"/>
            <a:tailEnd len="sm" w="sm" type="none"/>
          </a:ln>
        </p:spPr>
      </p:sp>
      <p:grpSp>
        <p:nvGrpSpPr>
          <p:cNvPr id="757" name="Google Shape;757;p19"/>
          <p:cNvGrpSpPr/>
          <p:nvPr/>
        </p:nvGrpSpPr>
        <p:grpSpPr>
          <a:xfrm>
            <a:off x="3676631" y="6245952"/>
            <a:ext cx="1720083" cy="292894"/>
            <a:chOff x="0" y="0"/>
            <a:chExt cx="2293443" cy="390525"/>
          </a:xfrm>
        </p:grpSpPr>
        <p:sp>
          <p:nvSpPr>
            <p:cNvPr id="758" name="Google Shape;758;p19"/>
            <p:cNvSpPr/>
            <p:nvPr/>
          </p:nvSpPr>
          <p:spPr>
            <a:xfrm>
              <a:off x="0" y="0"/>
              <a:ext cx="2293443" cy="390525"/>
            </a:xfrm>
            <a:custGeom>
              <a:rect b="b" l="l" r="r" t="t"/>
              <a:pathLst>
                <a:path extrusionOk="0" h="390525" w="2293443">
                  <a:moveTo>
                    <a:pt x="0" y="0"/>
                  </a:moveTo>
                  <a:lnTo>
                    <a:pt x="2293443" y="0"/>
                  </a:lnTo>
                  <a:lnTo>
                    <a:pt x="2293443" y="390525"/>
                  </a:lnTo>
                  <a:lnTo>
                    <a:pt x="0" y="390525"/>
                  </a:lnTo>
                  <a:close/>
                </a:path>
              </a:pathLst>
            </a:custGeom>
            <a:blipFill rotWithShape="1">
              <a:blip r:embed="rId7">
                <a:alphaModFix amt="0"/>
              </a:blip>
              <a:stretch>
                <a:fillRect b="-64428" l="0" r="0" t="-64431"/>
              </a:stretch>
            </a:blipFill>
            <a:ln>
              <a:noFill/>
            </a:ln>
          </p:spPr>
        </p:sp>
        <p:sp>
          <p:nvSpPr>
            <p:cNvPr id="759" name="Google Shape;759;p19"/>
            <p:cNvSpPr txBox="1"/>
            <p:nvPr/>
          </p:nvSpPr>
          <p:spPr>
            <a:xfrm>
              <a:off x="0" y="0"/>
              <a:ext cx="2293442" cy="3905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1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69" u="none" cap="none" strike="noStrike">
                  <a:solidFill>
                    <a:srgbClr val="000000"/>
                  </a:solidFill>
                  <a:latin typeface="Noto Sans"/>
                  <a:ea typeface="Noto Sans"/>
                  <a:cs typeface="Noto Sans"/>
                  <a:sym typeface="Noto Sans"/>
                </a:rPr>
                <a:t> • Siloed solutions</a:t>
              </a:r>
              <a:endParaRPr/>
            </a:p>
          </p:txBody>
        </p:sp>
      </p:grpSp>
      <p:grpSp>
        <p:nvGrpSpPr>
          <p:cNvPr id="760" name="Google Shape;760;p19"/>
          <p:cNvGrpSpPr/>
          <p:nvPr/>
        </p:nvGrpSpPr>
        <p:grpSpPr>
          <a:xfrm>
            <a:off x="3676631" y="6588852"/>
            <a:ext cx="1578657" cy="292894"/>
            <a:chOff x="0" y="0"/>
            <a:chExt cx="2104877" cy="390525"/>
          </a:xfrm>
        </p:grpSpPr>
        <p:sp>
          <p:nvSpPr>
            <p:cNvPr id="761" name="Google Shape;761;p19"/>
            <p:cNvSpPr/>
            <p:nvPr/>
          </p:nvSpPr>
          <p:spPr>
            <a:xfrm>
              <a:off x="0" y="0"/>
              <a:ext cx="2104877" cy="390525"/>
            </a:xfrm>
            <a:custGeom>
              <a:rect b="b" l="l" r="r" t="t"/>
              <a:pathLst>
                <a:path extrusionOk="0" h="390525" w="2104877">
                  <a:moveTo>
                    <a:pt x="0" y="0"/>
                  </a:moveTo>
                  <a:lnTo>
                    <a:pt x="2104877" y="0"/>
                  </a:lnTo>
                  <a:lnTo>
                    <a:pt x="2104877" y="390525"/>
                  </a:lnTo>
                  <a:lnTo>
                    <a:pt x="0" y="390525"/>
                  </a:lnTo>
                  <a:close/>
                </a:path>
              </a:pathLst>
            </a:custGeom>
            <a:blipFill rotWithShape="1">
              <a:blip r:embed="rId7">
                <a:alphaModFix amt="0"/>
              </a:blip>
              <a:stretch>
                <a:fillRect b="-55020" l="0" r="0" t="-55020"/>
              </a:stretch>
            </a:blipFill>
            <a:ln>
              <a:noFill/>
            </a:ln>
          </p:spPr>
        </p:sp>
        <p:sp>
          <p:nvSpPr>
            <p:cNvPr id="762" name="Google Shape;762;p19"/>
            <p:cNvSpPr txBox="1"/>
            <p:nvPr/>
          </p:nvSpPr>
          <p:spPr>
            <a:xfrm>
              <a:off x="0" y="0"/>
              <a:ext cx="2104873" cy="3905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1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69" u="none" cap="none" strike="noStrike">
                  <a:solidFill>
                    <a:srgbClr val="000000"/>
                  </a:solidFill>
                  <a:latin typeface="Noto Sans"/>
                  <a:ea typeface="Noto Sans"/>
                  <a:cs typeface="Noto Sans"/>
                  <a:sym typeface="Noto Sans"/>
                </a:rPr>
                <a:t> • Vendor lock-in</a:t>
              </a:r>
              <a:endParaRPr/>
            </a:p>
          </p:txBody>
        </p:sp>
      </p:grpSp>
      <p:grpSp>
        <p:nvGrpSpPr>
          <p:cNvPr id="763" name="Google Shape;763;p19"/>
          <p:cNvGrpSpPr/>
          <p:nvPr/>
        </p:nvGrpSpPr>
        <p:grpSpPr>
          <a:xfrm>
            <a:off x="3676631" y="6931752"/>
            <a:ext cx="2338630" cy="292894"/>
            <a:chOff x="0" y="0"/>
            <a:chExt cx="3118173" cy="390525"/>
          </a:xfrm>
        </p:grpSpPr>
        <p:sp>
          <p:nvSpPr>
            <p:cNvPr id="764" name="Google Shape;764;p19"/>
            <p:cNvSpPr/>
            <p:nvPr/>
          </p:nvSpPr>
          <p:spPr>
            <a:xfrm>
              <a:off x="0" y="0"/>
              <a:ext cx="3118173" cy="390525"/>
            </a:xfrm>
            <a:custGeom>
              <a:rect b="b" l="l" r="r" t="t"/>
              <a:pathLst>
                <a:path extrusionOk="0" h="390525" w="3118173">
                  <a:moveTo>
                    <a:pt x="0" y="0"/>
                  </a:moveTo>
                  <a:lnTo>
                    <a:pt x="3118173" y="0"/>
                  </a:lnTo>
                  <a:lnTo>
                    <a:pt x="3118173" y="390525"/>
                  </a:lnTo>
                  <a:lnTo>
                    <a:pt x="0" y="390525"/>
                  </a:lnTo>
                  <a:close/>
                </a:path>
              </a:pathLst>
            </a:custGeom>
            <a:blipFill rotWithShape="1">
              <a:blip r:embed="rId7">
                <a:alphaModFix amt="0"/>
              </a:blip>
              <a:stretch>
                <a:fillRect b="-105579" l="0" r="0" t="-105579"/>
              </a:stretch>
            </a:blipFill>
            <a:ln>
              <a:noFill/>
            </a:ln>
          </p:spPr>
        </p:sp>
        <p:sp>
          <p:nvSpPr>
            <p:cNvPr id="765" name="Google Shape;765;p19"/>
            <p:cNvSpPr txBox="1"/>
            <p:nvPr/>
          </p:nvSpPr>
          <p:spPr>
            <a:xfrm>
              <a:off x="0" y="0"/>
              <a:ext cx="3118168" cy="3905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1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69" u="none" cap="none" strike="noStrike">
                  <a:solidFill>
                    <a:srgbClr val="000000"/>
                  </a:solidFill>
                  <a:latin typeface="Noto Sans"/>
                  <a:ea typeface="Noto Sans"/>
                  <a:cs typeface="Noto Sans"/>
                  <a:sym typeface="Noto Sans"/>
                </a:rPr>
                <a:t> • Limited tool discovery </a:t>
              </a:r>
              <a:endParaRPr/>
            </a:p>
          </p:txBody>
        </p:sp>
      </p:grpSp>
      <p:sp>
        <p:nvSpPr>
          <p:cNvPr id="766" name="Google Shape;766;p19"/>
          <p:cNvSpPr/>
          <p:nvPr/>
        </p:nvSpPr>
        <p:spPr>
          <a:xfrm>
            <a:off x="10724912" y="5963574"/>
            <a:ext cx="7106031" cy="1543431"/>
          </a:xfrm>
          <a:custGeom>
            <a:rect b="b" l="l" r="r" t="t"/>
            <a:pathLst>
              <a:path extrusionOk="0" h="2057908" w="9474708">
                <a:moveTo>
                  <a:pt x="0" y="0"/>
                </a:moveTo>
                <a:lnTo>
                  <a:pt x="9474708" y="0"/>
                </a:lnTo>
                <a:lnTo>
                  <a:pt x="9474708" y="2057908"/>
                </a:lnTo>
                <a:lnTo>
                  <a:pt x="0" y="2057908"/>
                </a:lnTo>
                <a:close/>
              </a:path>
            </a:pathLst>
          </a:custGeom>
          <a:solidFill>
            <a:srgbClr val="FFFFFF"/>
          </a:solidFill>
          <a:ln cap="sq" cmpd="sng" w="9525">
            <a:solidFill>
              <a:srgbClr val="00AEEF"/>
            </a:solidFill>
            <a:prstDash val="solid"/>
            <a:miter lim="8000"/>
            <a:headEnd len="sm" w="sm" type="none"/>
            <a:tailEnd len="sm" w="sm" type="none"/>
          </a:ln>
        </p:spPr>
      </p:sp>
      <p:grpSp>
        <p:nvGrpSpPr>
          <p:cNvPr id="767" name="Google Shape;767;p19"/>
          <p:cNvGrpSpPr/>
          <p:nvPr/>
        </p:nvGrpSpPr>
        <p:grpSpPr>
          <a:xfrm>
            <a:off x="11010862" y="6217377"/>
            <a:ext cx="2743648" cy="292894"/>
            <a:chOff x="0" y="0"/>
            <a:chExt cx="3658197" cy="390525"/>
          </a:xfrm>
        </p:grpSpPr>
        <p:sp>
          <p:nvSpPr>
            <p:cNvPr id="768" name="Google Shape;768;p19"/>
            <p:cNvSpPr/>
            <p:nvPr/>
          </p:nvSpPr>
          <p:spPr>
            <a:xfrm>
              <a:off x="0" y="0"/>
              <a:ext cx="3658195" cy="390525"/>
            </a:xfrm>
            <a:custGeom>
              <a:rect b="b" l="l" r="r" t="t"/>
              <a:pathLst>
                <a:path extrusionOk="0" h="390525" w="3658195">
                  <a:moveTo>
                    <a:pt x="0" y="0"/>
                  </a:moveTo>
                  <a:lnTo>
                    <a:pt x="3658195" y="0"/>
                  </a:lnTo>
                  <a:lnTo>
                    <a:pt x="3658195" y="390525"/>
                  </a:lnTo>
                  <a:lnTo>
                    <a:pt x="0" y="390525"/>
                  </a:lnTo>
                  <a:close/>
                </a:path>
              </a:pathLst>
            </a:custGeom>
            <a:blipFill rotWithShape="1">
              <a:blip r:embed="rId7">
                <a:alphaModFix amt="0"/>
              </a:blip>
              <a:stretch>
                <a:fillRect b="-132522" l="0" r="0" t="-132522"/>
              </a:stretch>
            </a:blipFill>
            <a:ln>
              <a:noFill/>
            </a:ln>
          </p:spPr>
        </p:sp>
        <p:sp>
          <p:nvSpPr>
            <p:cNvPr id="769" name="Google Shape;769;p19"/>
            <p:cNvSpPr txBox="1"/>
            <p:nvPr/>
          </p:nvSpPr>
          <p:spPr>
            <a:xfrm>
              <a:off x="0" y="0"/>
              <a:ext cx="3658197" cy="3905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1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69" u="none" cap="none" strike="noStrike">
                  <a:solidFill>
                    <a:srgbClr val="000000"/>
                  </a:solidFill>
                  <a:latin typeface="Noto Sans"/>
                  <a:ea typeface="Noto Sans"/>
                  <a:cs typeface="Noto Sans"/>
                  <a:sym typeface="Noto Sans"/>
                </a:rPr>
                <a:t> • Interoperable ecosystems</a:t>
              </a:r>
              <a:endParaRPr/>
            </a:p>
          </p:txBody>
        </p:sp>
      </p:grpSp>
      <p:grpSp>
        <p:nvGrpSpPr>
          <p:cNvPr id="770" name="Google Shape;770;p19"/>
          <p:cNvGrpSpPr/>
          <p:nvPr/>
        </p:nvGrpSpPr>
        <p:grpSpPr>
          <a:xfrm>
            <a:off x="11010862" y="6560277"/>
            <a:ext cx="2354037" cy="292894"/>
            <a:chOff x="0" y="0"/>
            <a:chExt cx="3138716" cy="390525"/>
          </a:xfrm>
        </p:grpSpPr>
        <p:sp>
          <p:nvSpPr>
            <p:cNvPr id="771" name="Google Shape;771;p19"/>
            <p:cNvSpPr/>
            <p:nvPr/>
          </p:nvSpPr>
          <p:spPr>
            <a:xfrm>
              <a:off x="0" y="0"/>
              <a:ext cx="3138712" cy="390525"/>
            </a:xfrm>
            <a:custGeom>
              <a:rect b="b" l="l" r="r" t="t"/>
              <a:pathLst>
                <a:path extrusionOk="0" h="390525" w="3138712">
                  <a:moveTo>
                    <a:pt x="0" y="0"/>
                  </a:moveTo>
                  <a:lnTo>
                    <a:pt x="3138712" y="0"/>
                  </a:lnTo>
                  <a:lnTo>
                    <a:pt x="3138712" y="390525"/>
                  </a:lnTo>
                  <a:lnTo>
                    <a:pt x="0" y="390525"/>
                  </a:lnTo>
                  <a:close/>
                </a:path>
              </a:pathLst>
            </a:custGeom>
            <a:blipFill rotWithShape="1">
              <a:blip r:embed="rId7">
                <a:alphaModFix amt="0"/>
              </a:blip>
              <a:stretch>
                <a:fillRect b="-106602" l="0" r="0" t="-106602"/>
              </a:stretch>
            </a:blipFill>
            <a:ln>
              <a:noFill/>
            </a:ln>
          </p:spPr>
        </p:sp>
        <p:sp>
          <p:nvSpPr>
            <p:cNvPr id="772" name="Google Shape;772;p19"/>
            <p:cNvSpPr txBox="1"/>
            <p:nvPr/>
          </p:nvSpPr>
          <p:spPr>
            <a:xfrm>
              <a:off x="0" y="0"/>
              <a:ext cx="3138716" cy="3905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1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69" u="none" cap="none" strike="noStrike">
                  <a:solidFill>
                    <a:srgbClr val="000000"/>
                  </a:solidFill>
                  <a:latin typeface="Noto Sans"/>
                  <a:ea typeface="Noto Sans"/>
                  <a:cs typeface="Noto Sans"/>
                  <a:sym typeface="Noto Sans"/>
                </a:rPr>
                <a:t> • Vendor independence</a:t>
              </a:r>
              <a:endParaRPr/>
            </a:p>
          </p:txBody>
        </p:sp>
      </p:grpSp>
      <p:grpSp>
        <p:nvGrpSpPr>
          <p:cNvPr id="773" name="Google Shape;773;p19"/>
          <p:cNvGrpSpPr/>
          <p:nvPr/>
        </p:nvGrpSpPr>
        <p:grpSpPr>
          <a:xfrm>
            <a:off x="11010862" y="6903177"/>
            <a:ext cx="2462251" cy="292894"/>
            <a:chOff x="0" y="0"/>
            <a:chExt cx="3283001" cy="390525"/>
          </a:xfrm>
        </p:grpSpPr>
        <p:sp>
          <p:nvSpPr>
            <p:cNvPr id="774" name="Google Shape;774;p19"/>
            <p:cNvSpPr/>
            <p:nvPr/>
          </p:nvSpPr>
          <p:spPr>
            <a:xfrm>
              <a:off x="0" y="0"/>
              <a:ext cx="3283000" cy="390525"/>
            </a:xfrm>
            <a:custGeom>
              <a:rect b="b" l="l" r="r" t="t"/>
              <a:pathLst>
                <a:path extrusionOk="0" h="390525" w="3283000">
                  <a:moveTo>
                    <a:pt x="0" y="0"/>
                  </a:moveTo>
                  <a:lnTo>
                    <a:pt x="3283000" y="0"/>
                  </a:lnTo>
                  <a:lnTo>
                    <a:pt x="3283000" y="390525"/>
                  </a:lnTo>
                  <a:lnTo>
                    <a:pt x="0" y="390525"/>
                  </a:lnTo>
                  <a:close/>
                </a:path>
              </a:pathLst>
            </a:custGeom>
            <a:blipFill rotWithShape="1">
              <a:blip r:embed="rId7">
                <a:alphaModFix amt="0"/>
              </a:blip>
              <a:stretch>
                <a:fillRect b="-113806" l="0" r="0" t="-113806"/>
              </a:stretch>
            </a:blipFill>
            <a:ln>
              <a:noFill/>
            </a:ln>
          </p:spPr>
        </p:sp>
        <p:sp>
          <p:nvSpPr>
            <p:cNvPr id="775" name="Google Shape;775;p19"/>
            <p:cNvSpPr txBox="1"/>
            <p:nvPr/>
          </p:nvSpPr>
          <p:spPr>
            <a:xfrm>
              <a:off x="0" y="0"/>
              <a:ext cx="3283001" cy="3905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1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69" u="none" cap="none" strike="noStrike">
                  <a:solidFill>
                    <a:srgbClr val="000000"/>
                  </a:solidFill>
                  <a:latin typeface="Noto Sans"/>
                  <a:ea typeface="Noto Sans"/>
                  <a:cs typeface="Noto Sans"/>
                  <a:sym typeface="Noto Sans"/>
                </a:rPr>
                <a:t> • Dynamic tool discovery </a:t>
              </a:r>
              <a:endParaRPr/>
            </a:p>
          </p:txBody>
        </p:sp>
      </p:grpSp>
      <p:sp>
        <p:nvSpPr>
          <p:cNvPr id="776" name="Google Shape;776;p19"/>
          <p:cNvSpPr/>
          <p:nvPr/>
        </p:nvSpPr>
        <p:spPr>
          <a:xfrm>
            <a:off x="457200" y="8121186"/>
            <a:ext cx="2705100" cy="771525"/>
          </a:xfrm>
          <a:custGeom>
            <a:rect b="b" l="l" r="r" t="t"/>
            <a:pathLst>
              <a:path extrusionOk="0" h="1028700" w="3606800">
                <a:moveTo>
                  <a:pt x="0" y="0"/>
                </a:moveTo>
                <a:lnTo>
                  <a:pt x="3606800" y="0"/>
                </a:lnTo>
                <a:lnTo>
                  <a:pt x="3606800" y="1028700"/>
                </a:lnTo>
                <a:lnTo>
                  <a:pt x="0" y="1028700"/>
                </a:lnTo>
                <a:close/>
              </a:path>
            </a:pathLst>
          </a:custGeom>
          <a:solidFill>
            <a:srgbClr val="00AEEF"/>
          </a:solidFill>
          <a:ln>
            <a:noFill/>
          </a:ln>
        </p:spPr>
      </p:sp>
      <p:grpSp>
        <p:nvGrpSpPr>
          <p:cNvPr id="777" name="Google Shape;777;p19"/>
          <p:cNvGrpSpPr/>
          <p:nvPr/>
        </p:nvGrpSpPr>
        <p:grpSpPr>
          <a:xfrm>
            <a:off x="457200" y="8121186"/>
            <a:ext cx="2705082" cy="771526"/>
            <a:chOff x="0" y="0"/>
            <a:chExt cx="3606776" cy="1028701"/>
          </a:xfrm>
        </p:grpSpPr>
        <p:sp>
          <p:nvSpPr>
            <p:cNvPr id="778" name="Google Shape;778;p19"/>
            <p:cNvSpPr/>
            <p:nvPr/>
          </p:nvSpPr>
          <p:spPr>
            <a:xfrm>
              <a:off x="0" y="0"/>
              <a:ext cx="3606776" cy="1028701"/>
            </a:xfrm>
            <a:custGeom>
              <a:rect b="b" l="l" r="r" t="t"/>
              <a:pathLst>
                <a:path extrusionOk="0" h="1028701" w="3606776">
                  <a:moveTo>
                    <a:pt x="0" y="0"/>
                  </a:moveTo>
                  <a:lnTo>
                    <a:pt x="3606776" y="0"/>
                  </a:lnTo>
                  <a:lnTo>
                    <a:pt x="3606776" y="1028701"/>
                  </a:lnTo>
                  <a:lnTo>
                    <a:pt x="0" y="1028701"/>
                  </a:lnTo>
                  <a:close/>
                </a:path>
              </a:pathLst>
            </a:custGeom>
            <a:blipFill rotWithShape="1">
              <a:blip r:embed="rId7">
                <a:alphaModFix amt="0"/>
              </a:blip>
              <a:stretch>
                <a:fillRect b="-18317" l="0" r="0" t="-18317"/>
              </a:stretch>
            </a:blipFill>
            <a:ln>
              <a:noFill/>
            </a:ln>
          </p:spPr>
        </p:sp>
        <p:sp>
          <p:nvSpPr>
            <p:cNvPr id="779" name="Google Shape;779;p19"/>
            <p:cNvSpPr txBox="1"/>
            <p:nvPr/>
          </p:nvSpPr>
          <p:spPr>
            <a:xfrm>
              <a:off x="0" y="0"/>
              <a:ext cx="3606775" cy="10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3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091" u="none" cap="none" strike="noStrike">
                  <a:solidFill>
                    <a:srgbClr val="FFFFFF"/>
                  </a:solidFill>
                  <a:latin typeface="Noto Sans"/>
                  <a:ea typeface="Noto Sans"/>
                  <a:cs typeface="Noto Sans"/>
                  <a:sym typeface="Noto Sans"/>
                </a:rPr>
                <a:t>Adoption</a:t>
              </a:r>
              <a:endParaRPr/>
            </a:p>
          </p:txBody>
        </p:sp>
      </p:grpSp>
      <p:sp>
        <p:nvSpPr>
          <p:cNvPr id="780" name="Google Shape;780;p19"/>
          <p:cNvSpPr/>
          <p:nvPr/>
        </p:nvSpPr>
        <p:spPr>
          <a:xfrm>
            <a:off x="3390681" y="7735224"/>
            <a:ext cx="7106031" cy="1543431"/>
          </a:xfrm>
          <a:custGeom>
            <a:rect b="b" l="l" r="r" t="t"/>
            <a:pathLst>
              <a:path extrusionOk="0" h="2057908" w="9474708">
                <a:moveTo>
                  <a:pt x="0" y="0"/>
                </a:moveTo>
                <a:lnTo>
                  <a:pt x="9474708" y="0"/>
                </a:lnTo>
                <a:lnTo>
                  <a:pt x="9474708" y="2057908"/>
                </a:lnTo>
                <a:lnTo>
                  <a:pt x="0" y="2057908"/>
                </a:lnTo>
                <a:close/>
              </a:path>
            </a:pathLst>
          </a:custGeom>
          <a:solidFill>
            <a:srgbClr val="FFFFFF"/>
          </a:solidFill>
          <a:ln cap="sq" cmpd="sng" w="9525">
            <a:solidFill>
              <a:srgbClr val="00AEEF"/>
            </a:solidFill>
            <a:prstDash val="solid"/>
            <a:miter lim="8000"/>
            <a:headEnd len="sm" w="sm" type="none"/>
            <a:tailEnd len="sm" w="sm" type="none"/>
          </a:ln>
        </p:spPr>
      </p:sp>
      <p:grpSp>
        <p:nvGrpSpPr>
          <p:cNvPr id="781" name="Google Shape;781;p19"/>
          <p:cNvGrpSpPr/>
          <p:nvPr/>
        </p:nvGrpSpPr>
        <p:grpSpPr>
          <a:xfrm>
            <a:off x="3676631" y="8017602"/>
            <a:ext cx="2963094" cy="292894"/>
            <a:chOff x="0" y="0"/>
            <a:chExt cx="3950792" cy="390525"/>
          </a:xfrm>
        </p:grpSpPr>
        <p:sp>
          <p:nvSpPr>
            <p:cNvPr id="782" name="Google Shape;782;p19"/>
            <p:cNvSpPr/>
            <p:nvPr/>
          </p:nvSpPr>
          <p:spPr>
            <a:xfrm>
              <a:off x="0" y="0"/>
              <a:ext cx="3950792" cy="390525"/>
            </a:xfrm>
            <a:custGeom>
              <a:rect b="b" l="l" r="r" t="t"/>
              <a:pathLst>
                <a:path extrusionOk="0" h="390525" w="3950792">
                  <a:moveTo>
                    <a:pt x="0" y="0"/>
                  </a:moveTo>
                  <a:lnTo>
                    <a:pt x="3950792" y="0"/>
                  </a:lnTo>
                  <a:lnTo>
                    <a:pt x="3950792" y="390525"/>
                  </a:lnTo>
                  <a:lnTo>
                    <a:pt x="0" y="390525"/>
                  </a:lnTo>
                  <a:close/>
                </a:path>
              </a:pathLst>
            </a:custGeom>
            <a:blipFill rotWithShape="1">
              <a:blip r:embed="rId7">
                <a:alphaModFix amt="0"/>
              </a:blip>
              <a:stretch>
                <a:fillRect b="-147114" l="0" r="0" t="-147114"/>
              </a:stretch>
            </a:blipFill>
            <a:ln>
              <a:noFill/>
            </a:ln>
          </p:spPr>
        </p:sp>
        <p:sp>
          <p:nvSpPr>
            <p:cNvPr id="783" name="Google Shape;783;p19"/>
            <p:cNvSpPr txBox="1"/>
            <p:nvPr/>
          </p:nvSpPr>
          <p:spPr>
            <a:xfrm>
              <a:off x="0" y="0"/>
              <a:ext cx="3950792" cy="3905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1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69" u="none" cap="none" strike="noStrike">
                  <a:solidFill>
                    <a:srgbClr val="000000"/>
                  </a:solidFill>
                  <a:latin typeface="Noto Sans"/>
                  <a:ea typeface="Noto Sans"/>
                  <a:cs typeface="Noto Sans"/>
                  <a:sym typeface="Noto Sans"/>
                </a:rPr>
                <a:t> • Technical expertise required</a:t>
              </a:r>
              <a:endParaRPr/>
            </a:p>
          </p:txBody>
        </p:sp>
      </p:grpSp>
      <p:grpSp>
        <p:nvGrpSpPr>
          <p:cNvPr id="784" name="Google Shape;784;p19"/>
          <p:cNvGrpSpPr/>
          <p:nvPr/>
        </p:nvGrpSpPr>
        <p:grpSpPr>
          <a:xfrm>
            <a:off x="3676631" y="8360502"/>
            <a:ext cx="2211105" cy="292894"/>
            <a:chOff x="0" y="0"/>
            <a:chExt cx="2948140" cy="390525"/>
          </a:xfrm>
        </p:grpSpPr>
        <p:sp>
          <p:nvSpPr>
            <p:cNvPr id="785" name="Google Shape;785;p19"/>
            <p:cNvSpPr/>
            <p:nvPr/>
          </p:nvSpPr>
          <p:spPr>
            <a:xfrm>
              <a:off x="0" y="0"/>
              <a:ext cx="2948136" cy="390525"/>
            </a:xfrm>
            <a:custGeom>
              <a:rect b="b" l="l" r="r" t="t"/>
              <a:pathLst>
                <a:path extrusionOk="0" h="390525" w="2948136">
                  <a:moveTo>
                    <a:pt x="0" y="0"/>
                  </a:moveTo>
                  <a:lnTo>
                    <a:pt x="2948136" y="0"/>
                  </a:lnTo>
                  <a:lnTo>
                    <a:pt x="2948136" y="390525"/>
                  </a:lnTo>
                  <a:lnTo>
                    <a:pt x="0" y="390525"/>
                  </a:lnTo>
                  <a:close/>
                </a:path>
              </a:pathLst>
            </a:custGeom>
            <a:blipFill rotWithShape="1">
              <a:blip r:embed="rId7">
                <a:alphaModFix amt="0"/>
              </a:blip>
              <a:stretch>
                <a:fillRect b="-97093" l="0" r="0" t="-97093"/>
              </a:stretch>
            </a:blipFill>
            <a:ln>
              <a:noFill/>
            </a:ln>
          </p:spPr>
        </p:sp>
        <p:sp>
          <p:nvSpPr>
            <p:cNvPr id="786" name="Google Shape;786;p19"/>
            <p:cNvSpPr txBox="1"/>
            <p:nvPr/>
          </p:nvSpPr>
          <p:spPr>
            <a:xfrm>
              <a:off x="0" y="0"/>
              <a:ext cx="2948140" cy="3905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1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69" u="none" cap="none" strike="noStrike">
                  <a:solidFill>
                    <a:srgbClr val="000000"/>
                  </a:solidFill>
                  <a:latin typeface="Noto Sans"/>
                  <a:ea typeface="Noto Sans"/>
                  <a:cs typeface="Noto Sans"/>
                  <a:sym typeface="Noto Sans"/>
                </a:rPr>
                <a:t> • High barrier to entry</a:t>
              </a:r>
              <a:endParaRPr/>
            </a:p>
          </p:txBody>
        </p:sp>
      </p:grpSp>
      <p:grpSp>
        <p:nvGrpSpPr>
          <p:cNvPr id="787" name="Google Shape;787;p19"/>
          <p:cNvGrpSpPr/>
          <p:nvPr/>
        </p:nvGrpSpPr>
        <p:grpSpPr>
          <a:xfrm>
            <a:off x="3676631" y="8703402"/>
            <a:ext cx="2137155" cy="292894"/>
            <a:chOff x="0" y="0"/>
            <a:chExt cx="2849539" cy="390525"/>
          </a:xfrm>
        </p:grpSpPr>
        <p:sp>
          <p:nvSpPr>
            <p:cNvPr id="788" name="Google Shape;788;p19"/>
            <p:cNvSpPr/>
            <p:nvPr/>
          </p:nvSpPr>
          <p:spPr>
            <a:xfrm>
              <a:off x="0" y="0"/>
              <a:ext cx="2849539" cy="390525"/>
            </a:xfrm>
            <a:custGeom>
              <a:rect b="b" l="l" r="r" t="t"/>
              <a:pathLst>
                <a:path extrusionOk="0" h="390525" w="2849539">
                  <a:moveTo>
                    <a:pt x="0" y="0"/>
                  </a:moveTo>
                  <a:lnTo>
                    <a:pt x="2849539" y="0"/>
                  </a:lnTo>
                  <a:lnTo>
                    <a:pt x="2849539" y="390525"/>
                  </a:lnTo>
                  <a:lnTo>
                    <a:pt x="0" y="390525"/>
                  </a:lnTo>
                  <a:close/>
                </a:path>
              </a:pathLst>
            </a:custGeom>
            <a:blipFill rotWithShape="1">
              <a:blip r:embed="rId7">
                <a:alphaModFix amt="0"/>
              </a:blip>
              <a:stretch>
                <a:fillRect b="-92175" l="0" r="0" t="-92175"/>
              </a:stretch>
            </a:blipFill>
            <a:ln>
              <a:noFill/>
            </a:ln>
          </p:spPr>
        </p:sp>
        <p:sp>
          <p:nvSpPr>
            <p:cNvPr id="789" name="Google Shape;789;p19"/>
            <p:cNvSpPr txBox="1"/>
            <p:nvPr/>
          </p:nvSpPr>
          <p:spPr>
            <a:xfrm>
              <a:off x="0" y="0"/>
              <a:ext cx="2849537" cy="3905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1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69" u="none" cap="none" strike="noStrike">
                  <a:solidFill>
                    <a:srgbClr val="000000"/>
                  </a:solidFill>
                  <a:latin typeface="Noto Sans"/>
                  <a:ea typeface="Noto Sans"/>
                  <a:cs typeface="Noto Sans"/>
                  <a:sym typeface="Noto Sans"/>
                </a:rPr>
                <a:t> • Limited accessibility </a:t>
              </a:r>
              <a:endParaRPr/>
            </a:p>
          </p:txBody>
        </p:sp>
      </p:grpSp>
      <p:sp>
        <p:nvSpPr>
          <p:cNvPr id="790" name="Google Shape;790;p19"/>
          <p:cNvSpPr/>
          <p:nvPr/>
        </p:nvSpPr>
        <p:spPr>
          <a:xfrm>
            <a:off x="10724912" y="7735224"/>
            <a:ext cx="7106031" cy="1543431"/>
          </a:xfrm>
          <a:custGeom>
            <a:rect b="b" l="l" r="r" t="t"/>
            <a:pathLst>
              <a:path extrusionOk="0" h="2057908" w="9474708">
                <a:moveTo>
                  <a:pt x="0" y="0"/>
                </a:moveTo>
                <a:lnTo>
                  <a:pt x="9474708" y="0"/>
                </a:lnTo>
                <a:lnTo>
                  <a:pt x="9474708" y="2057908"/>
                </a:lnTo>
                <a:lnTo>
                  <a:pt x="0" y="2057908"/>
                </a:lnTo>
                <a:close/>
              </a:path>
            </a:pathLst>
          </a:custGeom>
          <a:solidFill>
            <a:srgbClr val="FFFFFF"/>
          </a:solidFill>
          <a:ln cap="sq" cmpd="sng" w="9525">
            <a:solidFill>
              <a:srgbClr val="00AEEF"/>
            </a:solidFill>
            <a:prstDash val="solid"/>
            <a:miter lim="8000"/>
            <a:headEnd len="sm" w="sm" type="none"/>
            <a:tailEnd len="sm" w="sm" type="none"/>
          </a:ln>
        </p:spPr>
      </p:sp>
      <p:grpSp>
        <p:nvGrpSpPr>
          <p:cNvPr id="791" name="Google Shape;791;p19"/>
          <p:cNvGrpSpPr/>
          <p:nvPr/>
        </p:nvGrpSpPr>
        <p:grpSpPr>
          <a:xfrm>
            <a:off x="11010862" y="7989027"/>
            <a:ext cx="2815476" cy="292894"/>
            <a:chOff x="0" y="0"/>
            <a:chExt cx="3753968" cy="390525"/>
          </a:xfrm>
        </p:grpSpPr>
        <p:sp>
          <p:nvSpPr>
            <p:cNvPr id="792" name="Google Shape;792;p19"/>
            <p:cNvSpPr/>
            <p:nvPr/>
          </p:nvSpPr>
          <p:spPr>
            <a:xfrm>
              <a:off x="0" y="0"/>
              <a:ext cx="3753965" cy="390525"/>
            </a:xfrm>
            <a:custGeom>
              <a:rect b="b" l="l" r="r" t="t"/>
              <a:pathLst>
                <a:path extrusionOk="0" h="390525" w="3753965">
                  <a:moveTo>
                    <a:pt x="0" y="0"/>
                  </a:moveTo>
                  <a:lnTo>
                    <a:pt x="3753965" y="0"/>
                  </a:lnTo>
                  <a:lnTo>
                    <a:pt x="3753965" y="390525"/>
                  </a:lnTo>
                  <a:lnTo>
                    <a:pt x="0" y="390525"/>
                  </a:lnTo>
                  <a:close/>
                </a:path>
              </a:pathLst>
            </a:custGeom>
            <a:blipFill rotWithShape="1">
              <a:blip r:embed="rId7">
                <a:alphaModFix amt="0"/>
              </a:blip>
              <a:stretch>
                <a:fillRect b="-137308" l="0" r="0" t="-137308"/>
              </a:stretch>
            </a:blipFill>
            <a:ln>
              <a:noFill/>
            </a:ln>
          </p:spPr>
        </p:sp>
        <p:sp>
          <p:nvSpPr>
            <p:cNvPr id="793" name="Google Shape;793;p19"/>
            <p:cNvSpPr txBox="1"/>
            <p:nvPr/>
          </p:nvSpPr>
          <p:spPr>
            <a:xfrm>
              <a:off x="0" y="0"/>
              <a:ext cx="3753968" cy="3905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1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69" u="none" cap="none" strike="noStrike">
                  <a:solidFill>
                    <a:srgbClr val="000000"/>
                  </a:solidFill>
                  <a:latin typeface="Noto Sans"/>
                  <a:ea typeface="Noto Sans"/>
                  <a:cs typeface="Noto Sans"/>
                  <a:sym typeface="Noto Sans"/>
                </a:rPr>
                <a:t> • Accessible AI development</a:t>
              </a:r>
              <a:endParaRPr/>
            </a:p>
          </p:txBody>
        </p:sp>
      </p:grpSp>
      <p:grpSp>
        <p:nvGrpSpPr>
          <p:cNvPr id="794" name="Google Shape;794;p19"/>
          <p:cNvGrpSpPr/>
          <p:nvPr/>
        </p:nvGrpSpPr>
        <p:grpSpPr>
          <a:xfrm>
            <a:off x="11010862" y="8331927"/>
            <a:ext cx="2709770" cy="292894"/>
            <a:chOff x="0" y="0"/>
            <a:chExt cx="3613027" cy="390525"/>
          </a:xfrm>
        </p:grpSpPr>
        <p:sp>
          <p:nvSpPr>
            <p:cNvPr id="795" name="Google Shape;795;p19"/>
            <p:cNvSpPr/>
            <p:nvPr/>
          </p:nvSpPr>
          <p:spPr>
            <a:xfrm>
              <a:off x="0" y="0"/>
              <a:ext cx="3613027" cy="390525"/>
            </a:xfrm>
            <a:custGeom>
              <a:rect b="b" l="l" r="r" t="t"/>
              <a:pathLst>
                <a:path extrusionOk="0" h="390525" w="3613027">
                  <a:moveTo>
                    <a:pt x="0" y="0"/>
                  </a:moveTo>
                  <a:lnTo>
                    <a:pt x="3613027" y="0"/>
                  </a:lnTo>
                  <a:lnTo>
                    <a:pt x="3613027" y="390525"/>
                  </a:lnTo>
                  <a:lnTo>
                    <a:pt x="0" y="390525"/>
                  </a:lnTo>
                  <a:close/>
                </a:path>
              </a:pathLst>
            </a:custGeom>
            <a:blipFill rotWithShape="1">
              <a:blip r:embed="rId7">
                <a:alphaModFix amt="0"/>
              </a:blip>
              <a:stretch>
                <a:fillRect b="-130271" l="0" r="0" t="-130271"/>
              </a:stretch>
            </a:blipFill>
            <a:ln>
              <a:noFill/>
            </a:ln>
          </p:spPr>
        </p:sp>
        <p:sp>
          <p:nvSpPr>
            <p:cNvPr id="796" name="Google Shape;796;p19"/>
            <p:cNvSpPr txBox="1"/>
            <p:nvPr/>
          </p:nvSpPr>
          <p:spPr>
            <a:xfrm>
              <a:off x="0" y="0"/>
              <a:ext cx="3613023" cy="3905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1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69" u="none" cap="none" strike="noStrike">
                  <a:solidFill>
                    <a:srgbClr val="000000"/>
                  </a:solidFill>
                  <a:latin typeface="Noto Sans"/>
                  <a:ea typeface="Noto Sans"/>
                  <a:cs typeface="Noto Sans"/>
                  <a:sym typeface="Noto Sans"/>
                </a:rPr>
                <a:t> • Democratized integration</a:t>
              </a:r>
              <a:endParaRPr/>
            </a:p>
          </p:txBody>
        </p:sp>
      </p:grpSp>
      <p:grpSp>
        <p:nvGrpSpPr>
          <p:cNvPr id="797" name="Google Shape;797;p19"/>
          <p:cNvGrpSpPr/>
          <p:nvPr/>
        </p:nvGrpSpPr>
        <p:grpSpPr>
          <a:xfrm>
            <a:off x="11010862" y="8674827"/>
            <a:ext cx="2284828" cy="292894"/>
            <a:chOff x="0" y="0"/>
            <a:chExt cx="3046438" cy="390525"/>
          </a:xfrm>
        </p:grpSpPr>
        <p:sp>
          <p:nvSpPr>
            <p:cNvPr id="798" name="Google Shape;798;p19"/>
            <p:cNvSpPr/>
            <p:nvPr/>
          </p:nvSpPr>
          <p:spPr>
            <a:xfrm>
              <a:off x="0" y="0"/>
              <a:ext cx="3046437" cy="390525"/>
            </a:xfrm>
            <a:custGeom>
              <a:rect b="b" l="l" r="r" t="t"/>
              <a:pathLst>
                <a:path extrusionOk="0" h="390525" w="3046437">
                  <a:moveTo>
                    <a:pt x="0" y="0"/>
                  </a:moveTo>
                  <a:lnTo>
                    <a:pt x="3046437" y="0"/>
                  </a:lnTo>
                  <a:lnTo>
                    <a:pt x="3046437" y="390525"/>
                  </a:lnTo>
                  <a:lnTo>
                    <a:pt x="0" y="390525"/>
                  </a:lnTo>
                  <a:close/>
                </a:path>
              </a:pathLst>
            </a:custGeom>
            <a:blipFill rotWithShape="1">
              <a:blip r:embed="rId7">
                <a:alphaModFix amt="0"/>
              </a:blip>
              <a:stretch>
                <a:fillRect b="-102003" l="0" r="0" t="-102003"/>
              </a:stretch>
            </a:blipFill>
            <a:ln>
              <a:noFill/>
            </a:ln>
          </p:spPr>
        </p:sp>
        <p:sp>
          <p:nvSpPr>
            <p:cNvPr id="799" name="Google Shape;799;p19"/>
            <p:cNvSpPr txBox="1"/>
            <p:nvPr/>
          </p:nvSpPr>
          <p:spPr>
            <a:xfrm>
              <a:off x="0" y="0"/>
              <a:ext cx="3046438" cy="3905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1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69" u="none" cap="none" strike="noStrike">
                  <a:solidFill>
                    <a:srgbClr val="000000"/>
                  </a:solidFill>
                  <a:latin typeface="Noto Sans"/>
                  <a:ea typeface="Noto Sans"/>
                  <a:cs typeface="Noto Sans"/>
                  <a:sym typeface="Noto Sans"/>
                </a:rPr>
                <a:t> • Broader participation </a:t>
              </a:r>
              <a:endParaRPr/>
            </a:p>
          </p:txBody>
        </p:sp>
      </p:grpSp>
      <p:grpSp>
        <p:nvGrpSpPr>
          <p:cNvPr id="800" name="Google Shape;800;p19"/>
          <p:cNvGrpSpPr/>
          <p:nvPr/>
        </p:nvGrpSpPr>
        <p:grpSpPr>
          <a:xfrm>
            <a:off x="6258544" y="2046875"/>
            <a:ext cx="1459001" cy="385762"/>
            <a:chOff x="0" y="0"/>
            <a:chExt cx="1945335" cy="514350"/>
          </a:xfrm>
        </p:grpSpPr>
        <p:sp>
          <p:nvSpPr>
            <p:cNvPr id="801" name="Google Shape;801;p19"/>
            <p:cNvSpPr/>
            <p:nvPr/>
          </p:nvSpPr>
          <p:spPr>
            <a:xfrm>
              <a:off x="0" y="0"/>
              <a:ext cx="1945333" cy="514349"/>
            </a:xfrm>
            <a:custGeom>
              <a:rect b="b" l="l" r="r" t="t"/>
              <a:pathLst>
                <a:path extrusionOk="0" h="514349" w="1945333">
                  <a:moveTo>
                    <a:pt x="0" y="0"/>
                  </a:moveTo>
                  <a:lnTo>
                    <a:pt x="1945333" y="0"/>
                  </a:lnTo>
                  <a:lnTo>
                    <a:pt x="1945333" y="514349"/>
                  </a:lnTo>
                  <a:lnTo>
                    <a:pt x="0" y="514349"/>
                  </a:lnTo>
                  <a:close/>
                </a:path>
              </a:pathLst>
            </a:custGeom>
            <a:blipFill rotWithShape="1">
              <a:blip r:embed="rId7">
                <a:alphaModFix amt="0"/>
              </a:blip>
              <a:stretch>
                <a:fillRect b="-23694" l="0" r="0" t="-23694"/>
              </a:stretch>
            </a:blipFill>
            <a:ln>
              <a:noFill/>
            </a:ln>
          </p:spPr>
        </p:sp>
        <p:sp>
          <p:nvSpPr>
            <p:cNvPr id="802" name="Google Shape;802;p19"/>
            <p:cNvSpPr txBox="1"/>
            <p:nvPr/>
          </p:nvSpPr>
          <p:spPr>
            <a:xfrm>
              <a:off x="0" y="0"/>
              <a:ext cx="1945335" cy="5143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5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884" u="none" cap="none" strike="noStrike">
                  <a:solidFill>
                    <a:srgbClr val="E55A46"/>
                  </a:solidFill>
                  <a:latin typeface="Noto Sans"/>
                  <a:ea typeface="Noto Sans"/>
                  <a:cs typeface="Noto Sans"/>
                  <a:sym typeface="Noto Sans"/>
                </a:rPr>
                <a:t>Before MCP</a:t>
              </a:r>
              <a:endParaRPr/>
            </a:p>
          </p:txBody>
        </p:sp>
      </p:grpSp>
      <p:grpSp>
        <p:nvGrpSpPr>
          <p:cNvPr id="803" name="Google Shape;803;p19"/>
          <p:cNvGrpSpPr/>
          <p:nvPr/>
        </p:nvGrpSpPr>
        <p:grpSpPr>
          <a:xfrm>
            <a:off x="13606443" y="2057610"/>
            <a:ext cx="1216726" cy="385762"/>
            <a:chOff x="0" y="0"/>
            <a:chExt cx="1622301" cy="514350"/>
          </a:xfrm>
        </p:grpSpPr>
        <p:sp>
          <p:nvSpPr>
            <p:cNvPr id="804" name="Google Shape;804;p19"/>
            <p:cNvSpPr/>
            <p:nvPr/>
          </p:nvSpPr>
          <p:spPr>
            <a:xfrm>
              <a:off x="0" y="0"/>
              <a:ext cx="1622301" cy="514349"/>
            </a:xfrm>
            <a:custGeom>
              <a:rect b="b" l="l" r="r" t="t"/>
              <a:pathLst>
                <a:path extrusionOk="0" h="514349" w="1622301">
                  <a:moveTo>
                    <a:pt x="0" y="0"/>
                  </a:moveTo>
                  <a:lnTo>
                    <a:pt x="1622301" y="0"/>
                  </a:lnTo>
                  <a:lnTo>
                    <a:pt x="1622301" y="514349"/>
                  </a:lnTo>
                  <a:lnTo>
                    <a:pt x="0" y="514349"/>
                  </a:lnTo>
                  <a:close/>
                </a:path>
              </a:pathLst>
            </a:custGeom>
            <a:blipFill rotWithShape="1">
              <a:blip r:embed="rId7">
                <a:alphaModFix amt="0"/>
              </a:blip>
              <a:stretch>
                <a:fillRect b="-11457" l="0" r="0" t="-11457"/>
              </a:stretch>
            </a:blipFill>
            <a:ln>
              <a:noFill/>
            </a:ln>
          </p:spPr>
        </p:sp>
        <p:sp>
          <p:nvSpPr>
            <p:cNvPr id="805" name="Google Shape;805;p19"/>
            <p:cNvSpPr txBox="1"/>
            <p:nvPr/>
          </p:nvSpPr>
          <p:spPr>
            <a:xfrm>
              <a:off x="0" y="0"/>
              <a:ext cx="1622298" cy="5143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5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884" u="none" cap="none" strike="noStrike">
                  <a:solidFill>
                    <a:srgbClr val="00AEEF"/>
                  </a:solidFill>
                  <a:latin typeface="Noto Sans"/>
                  <a:ea typeface="Noto Sans"/>
                  <a:cs typeface="Noto Sans"/>
                  <a:sym typeface="Noto Sans"/>
                </a:rPr>
                <a:t>With MCP</a:t>
              </a:r>
              <a:endParaRPr/>
            </a:p>
          </p:txBody>
        </p:sp>
      </p:grpSp>
      <p:grpSp>
        <p:nvGrpSpPr>
          <p:cNvPr id="806" name="Google Shape;806;p19"/>
          <p:cNvGrpSpPr/>
          <p:nvPr/>
        </p:nvGrpSpPr>
        <p:grpSpPr>
          <a:xfrm>
            <a:off x="342900" y="10235736"/>
            <a:ext cx="212527" cy="285750"/>
            <a:chOff x="0" y="-9525"/>
            <a:chExt cx="283368" cy="381000"/>
          </a:xfrm>
        </p:grpSpPr>
        <p:sp>
          <p:nvSpPr>
            <p:cNvPr id="807" name="Google Shape;807;p19"/>
            <p:cNvSpPr/>
            <p:nvPr/>
          </p:nvSpPr>
          <p:spPr>
            <a:xfrm>
              <a:off x="0" y="0"/>
              <a:ext cx="283368" cy="371475"/>
            </a:xfrm>
            <a:custGeom>
              <a:rect b="b" l="l" r="r" t="t"/>
              <a:pathLst>
                <a:path extrusionOk="0" h="371475" w="283368">
                  <a:moveTo>
                    <a:pt x="0" y="0"/>
                  </a:moveTo>
                  <a:lnTo>
                    <a:pt x="283368" y="0"/>
                  </a:lnTo>
                  <a:lnTo>
                    <a:pt x="283368" y="371475"/>
                  </a:lnTo>
                  <a:lnTo>
                    <a:pt x="0" y="371475"/>
                  </a:lnTo>
                  <a:close/>
                </a:path>
              </a:pathLst>
            </a:custGeom>
            <a:blipFill rotWithShape="1">
              <a:blip r:embed="rId7">
                <a:alphaModFix amt="0"/>
              </a:blip>
              <a:stretch>
                <a:fillRect b="0" l="-118199" r="-118196" t="0"/>
              </a:stretch>
            </a:blipFill>
            <a:ln>
              <a:noFill/>
            </a:ln>
          </p:spPr>
        </p:sp>
        <p:sp>
          <p:nvSpPr>
            <p:cNvPr id="808" name="Google Shape;808;p19"/>
            <p:cNvSpPr txBox="1"/>
            <p:nvPr/>
          </p:nvSpPr>
          <p:spPr>
            <a:xfrm>
              <a:off x="0" y="-9525"/>
              <a:ext cx="283362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1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359" u="none" cap="none" strike="noStrike">
                  <a:solidFill>
                    <a:srgbClr val="4B5563"/>
                  </a:solidFill>
                  <a:latin typeface="Noto Sans"/>
                  <a:ea typeface="Noto Sans"/>
                  <a:cs typeface="Noto Sans"/>
                  <a:sym typeface="Noto Sans"/>
                </a:rPr>
                <a:t>19</a:t>
              </a:r>
              <a:endParaRPr/>
            </a:p>
          </p:txBody>
        </p:sp>
      </p:grpSp>
      <p:grpSp>
        <p:nvGrpSpPr>
          <p:cNvPr id="809" name="Google Shape;809;p19"/>
          <p:cNvGrpSpPr/>
          <p:nvPr/>
        </p:nvGrpSpPr>
        <p:grpSpPr>
          <a:xfrm>
            <a:off x="4127354" y="10235736"/>
            <a:ext cx="3087719" cy="285750"/>
            <a:chOff x="0" y="-9525"/>
            <a:chExt cx="4116959" cy="381000"/>
          </a:xfrm>
        </p:grpSpPr>
        <p:sp>
          <p:nvSpPr>
            <p:cNvPr id="810" name="Google Shape;810;p19"/>
            <p:cNvSpPr/>
            <p:nvPr/>
          </p:nvSpPr>
          <p:spPr>
            <a:xfrm>
              <a:off x="0" y="0"/>
              <a:ext cx="4116957" cy="371475"/>
            </a:xfrm>
            <a:custGeom>
              <a:rect b="b" l="l" r="r" t="t"/>
              <a:pathLst>
                <a:path extrusionOk="0" h="371475" w="4116957">
                  <a:moveTo>
                    <a:pt x="0" y="0"/>
                  </a:moveTo>
                  <a:lnTo>
                    <a:pt x="4116957" y="0"/>
                  </a:lnTo>
                  <a:lnTo>
                    <a:pt x="4116957" y="371475"/>
                  </a:lnTo>
                  <a:lnTo>
                    <a:pt x="0" y="371475"/>
                  </a:lnTo>
                  <a:close/>
                </a:path>
              </a:pathLst>
            </a:custGeom>
            <a:blipFill rotWithShape="1">
              <a:blip r:embed="rId7">
                <a:alphaModFix amt="0"/>
              </a:blip>
              <a:stretch>
                <a:fillRect b="-165945" l="0" r="0" t="-165945"/>
              </a:stretch>
            </a:blipFill>
            <a:ln>
              <a:noFill/>
            </a:ln>
          </p:spPr>
        </p:sp>
        <p:sp>
          <p:nvSpPr>
            <p:cNvPr id="811" name="Google Shape;811;p19"/>
            <p:cNvSpPr txBox="1"/>
            <p:nvPr/>
          </p:nvSpPr>
          <p:spPr>
            <a:xfrm>
              <a:off x="0" y="-9525"/>
              <a:ext cx="4116959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1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359" u="none" cap="none" strike="noStrike">
                  <a:solidFill>
                    <a:srgbClr val="4B5563"/>
                  </a:solidFill>
                  <a:latin typeface="Noto Sans"/>
                  <a:ea typeface="Noto Sans"/>
                  <a:cs typeface="Noto Sans"/>
                  <a:sym typeface="Noto Sans"/>
                </a:rPr>
                <a:t>Criterion Proprietary &amp; Confidential</a:t>
              </a:r>
              <a:endParaRPr/>
            </a:p>
          </p:txBody>
        </p:sp>
      </p:grpSp>
      <p:grpSp>
        <p:nvGrpSpPr>
          <p:cNvPr id="812" name="Google Shape;812;p19"/>
          <p:cNvGrpSpPr/>
          <p:nvPr/>
        </p:nvGrpSpPr>
        <p:grpSpPr>
          <a:xfrm>
            <a:off x="13910662" y="9326299"/>
            <a:ext cx="4385920" cy="934847"/>
            <a:chOff x="0" y="0"/>
            <a:chExt cx="5847893" cy="1246463"/>
          </a:xfrm>
        </p:grpSpPr>
        <p:sp>
          <p:nvSpPr>
            <p:cNvPr id="813" name="Google Shape;813;p19"/>
            <p:cNvSpPr/>
            <p:nvPr/>
          </p:nvSpPr>
          <p:spPr>
            <a:xfrm>
              <a:off x="0" y="0"/>
              <a:ext cx="5847893" cy="1246463"/>
            </a:xfrm>
            <a:custGeom>
              <a:rect b="b" l="l" r="r" t="t"/>
              <a:pathLst>
                <a:path extrusionOk="0" h="1250575" w="5867187">
                  <a:moveTo>
                    <a:pt x="0" y="0"/>
                  </a:moveTo>
                  <a:lnTo>
                    <a:pt x="5867187" y="0"/>
                  </a:lnTo>
                  <a:lnTo>
                    <a:pt x="5867187" y="1250575"/>
                  </a:lnTo>
                  <a:lnTo>
                    <a:pt x="0" y="125057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descr="preencoded.png" id="814" name="Google Shape;814;p19"/>
            <p:cNvSpPr/>
            <p:nvPr/>
          </p:nvSpPr>
          <p:spPr>
            <a:xfrm>
              <a:off x="304849" y="194606"/>
              <a:ext cx="5238169" cy="857250"/>
            </a:xfrm>
            <a:custGeom>
              <a:rect b="b" l="l" r="r" t="t"/>
              <a:pathLst>
                <a:path extrusionOk="0" h="857250" w="5238169">
                  <a:moveTo>
                    <a:pt x="0" y="0"/>
                  </a:moveTo>
                  <a:lnTo>
                    <a:pt x="5238169" y="0"/>
                  </a:lnTo>
                  <a:lnTo>
                    <a:pt x="5238169" y="857250"/>
                  </a:lnTo>
                  <a:lnTo>
                    <a:pt x="0" y="85725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8">
                <a:alphaModFix/>
              </a:blip>
              <a:stretch>
                <a:fillRect b="-2834" l="0" r="0" t="-2835"/>
              </a:stretch>
            </a:blipFill>
            <a:ln>
              <a:noFill/>
            </a:ln>
          </p:spPr>
        </p:sp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8" name="Shape 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preencoded.png" id="819" name="Google Shape;819;p20"/>
          <p:cNvSpPr/>
          <p:nvPr/>
        </p:nvSpPr>
        <p:spPr>
          <a:xfrm>
            <a:off x="9525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descr="preencoded.png" id="820" name="Google Shape;820;p20"/>
          <p:cNvSpPr/>
          <p:nvPr/>
        </p:nvSpPr>
        <p:spPr>
          <a:xfrm>
            <a:off x="4643438" y="0"/>
            <a:ext cx="13644562" cy="7615238"/>
          </a:xfrm>
          <a:custGeom>
            <a:rect b="b" l="l" r="r" t="t"/>
            <a:pathLst>
              <a:path extrusionOk="0" h="10153650" w="18192750">
                <a:moveTo>
                  <a:pt x="0" y="0"/>
                </a:moveTo>
                <a:lnTo>
                  <a:pt x="18192750" y="0"/>
                </a:lnTo>
                <a:lnTo>
                  <a:pt x="18192750" y="10153650"/>
                </a:lnTo>
                <a:lnTo>
                  <a:pt x="0" y="101536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40000"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821" name="Google Shape;821;p20"/>
          <p:cNvGrpSpPr/>
          <p:nvPr/>
        </p:nvGrpSpPr>
        <p:grpSpPr>
          <a:xfrm>
            <a:off x="1571625" y="1707356"/>
            <a:ext cx="16373477" cy="350044"/>
            <a:chOff x="0" y="-9525"/>
            <a:chExt cx="21831302" cy="466725"/>
          </a:xfrm>
        </p:grpSpPr>
        <p:sp>
          <p:nvSpPr>
            <p:cNvPr id="822" name="Google Shape;822;p20"/>
            <p:cNvSpPr/>
            <p:nvPr/>
          </p:nvSpPr>
          <p:spPr>
            <a:xfrm>
              <a:off x="0" y="0"/>
              <a:ext cx="21831302" cy="457200"/>
            </a:xfrm>
            <a:custGeom>
              <a:rect b="b" l="l" r="r" t="t"/>
              <a:pathLst>
                <a:path extrusionOk="0" h="457200" w="21831302">
                  <a:moveTo>
                    <a:pt x="0" y="0"/>
                  </a:moveTo>
                  <a:lnTo>
                    <a:pt x="21831302" y="0"/>
                  </a:lnTo>
                  <a:lnTo>
                    <a:pt x="21831302" y="457200"/>
                  </a:lnTo>
                  <a:lnTo>
                    <a:pt x="0" y="457200"/>
                  </a:lnTo>
                  <a:close/>
                </a:path>
              </a:pathLst>
            </a:custGeom>
            <a:blipFill rotWithShape="1">
              <a:blip r:embed="rId5">
                <a:alphaModFix amt="0"/>
              </a:blip>
              <a:stretch>
                <a:fillRect b="-880405" l="0" r="0" t="-880405"/>
              </a:stretch>
            </a:blipFill>
            <a:ln>
              <a:noFill/>
            </a:ln>
          </p:spPr>
        </p:sp>
        <p:sp>
          <p:nvSpPr>
            <p:cNvPr id="823" name="Google Shape;823;p20"/>
            <p:cNvSpPr txBox="1"/>
            <p:nvPr/>
          </p:nvSpPr>
          <p:spPr>
            <a:xfrm>
              <a:off x="0" y="-9525"/>
              <a:ext cx="21831300" cy="4667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5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674" u="none" cap="none" strike="noStrike">
                  <a:solidFill>
                    <a:srgbClr val="B9C2CF"/>
                  </a:solidFill>
                  <a:latin typeface="Noto Sans"/>
                  <a:ea typeface="Noto Sans"/>
                  <a:cs typeface="Noto Sans"/>
                  <a:sym typeface="Noto Sans"/>
                </a:rPr>
                <a:t>Technical Deep Dive</a:t>
              </a:r>
              <a:endParaRPr/>
            </a:p>
          </p:txBody>
        </p:sp>
      </p:grpSp>
      <p:grpSp>
        <p:nvGrpSpPr>
          <p:cNvPr id="824" name="Google Shape;824;p20"/>
          <p:cNvGrpSpPr/>
          <p:nvPr/>
        </p:nvGrpSpPr>
        <p:grpSpPr>
          <a:xfrm>
            <a:off x="1571625" y="2628900"/>
            <a:ext cx="16373477" cy="960110"/>
            <a:chOff x="0" y="0"/>
            <a:chExt cx="21831302" cy="1280147"/>
          </a:xfrm>
        </p:grpSpPr>
        <p:sp>
          <p:nvSpPr>
            <p:cNvPr id="825" name="Google Shape;825;p20"/>
            <p:cNvSpPr/>
            <p:nvPr/>
          </p:nvSpPr>
          <p:spPr>
            <a:xfrm>
              <a:off x="0" y="0"/>
              <a:ext cx="21831302" cy="1280144"/>
            </a:xfrm>
            <a:custGeom>
              <a:rect b="b" l="l" r="r" t="t"/>
              <a:pathLst>
                <a:path extrusionOk="0" h="1280144" w="21831302">
                  <a:moveTo>
                    <a:pt x="0" y="0"/>
                  </a:moveTo>
                  <a:lnTo>
                    <a:pt x="21831302" y="0"/>
                  </a:lnTo>
                  <a:lnTo>
                    <a:pt x="21831302" y="1280144"/>
                  </a:lnTo>
                  <a:lnTo>
                    <a:pt x="0" y="1280144"/>
                  </a:lnTo>
                  <a:close/>
                </a:path>
              </a:pathLst>
            </a:custGeom>
            <a:blipFill rotWithShape="1">
              <a:blip r:embed="rId5">
                <a:alphaModFix amt="0"/>
              </a:blip>
              <a:stretch>
                <a:fillRect b="-282314" l="0" r="0" t="-282314"/>
              </a:stretch>
            </a:blipFill>
            <a:ln>
              <a:noFill/>
            </a:ln>
          </p:spPr>
        </p:sp>
        <p:sp>
          <p:nvSpPr>
            <p:cNvPr id="826" name="Google Shape;826;p20"/>
            <p:cNvSpPr txBox="1"/>
            <p:nvPr/>
          </p:nvSpPr>
          <p:spPr>
            <a:xfrm>
              <a:off x="0" y="0"/>
              <a:ext cx="21831300" cy="128014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7200" u="none" cap="none" strike="noStrike">
                  <a:solidFill>
                    <a:srgbClr val="FFFFFF"/>
                  </a:solidFill>
                  <a:latin typeface="Noto Sans"/>
                  <a:ea typeface="Noto Sans"/>
                  <a:cs typeface="Noto Sans"/>
                  <a:sym typeface="Noto Sans"/>
                </a:rPr>
                <a:t>Model Context</a:t>
              </a:r>
              <a:endParaRPr/>
            </a:p>
          </p:txBody>
        </p:sp>
      </p:grpSp>
      <p:grpSp>
        <p:nvGrpSpPr>
          <p:cNvPr id="827" name="Google Shape;827;p20"/>
          <p:cNvGrpSpPr/>
          <p:nvPr/>
        </p:nvGrpSpPr>
        <p:grpSpPr>
          <a:xfrm>
            <a:off x="1571625" y="3703310"/>
            <a:ext cx="16373477" cy="960110"/>
            <a:chOff x="0" y="0"/>
            <a:chExt cx="21831302" cy="1280147"/>
          </a:xfrm>
        </p:grpSpPr>
        <p:sp>
          <p:nvSpPr>
            <p:cNvPr id="828" name="Google Shape;828;p20"/>
            <p:cNvSpPr/>
            <p:nvPr/>
          </p:nvSpPr>
          <p:spPr>
            <a:xfrm>
              <a:off x="0" y="0"/>
              <a:ext cx="21831302" cy="1280144"/>
            </a:xfrm>
            <a:custGeom>
              <a:rect b="b" l="l" r="r" t="t"/>
              <a:pathLst>
                <a:path extrusionOk="0" h="1280144" w="21831302">
                  <a:moveTo>
                    <a:pt x="0" y="0"/>
                  </a:moveTo>
                  <a:lnTo>
                    <a:pt x="21831302" y="0"/>
                  </a:lnTo>
                  <a:lnTo>
                    <a:pt x="21831302" y="1280144"/>
                  </a:lnTo>
                  <a:lnTo>
                    <a:pt x="0" y="1280144"/>
                  </a:lnTo>
                  <a:close/>
                </a:path>
              </a:pathLst>
            </a:custGeom>
            <a:blipFill rotWithShape="1">
              <a:blip r:embed="rId5">
                <a:alphaModFix amt="0"/>
              </a:blip>
              <a:stretch>
                <a:fillRect b="-282314" l="0" r="0" t="-282314"/>
              </a:stretch>
            </a:blipFill>
            <a:ln>
              <a:noFill/>
            </a:ln>
          </p:spPr>
        </p:sp>
        <p:sp>
          <p:nvSpPr>
            <p:cNvPr id="829" name="Google Shape;829;p20"/>
            <p:cNvSpPr txBox="1"/>
            <p:nvPr/>
          </p:nvSpPr>
          <p:spPr>
            <a:xfrm>
              <a:off x="0" y="0"/>
              <a:ext cx="21831300" cy="128014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7200" u="none" cap="none" strike="noStrike">
                  <a:solidFill>
                    <a:srgbClr val="00AEEF"/>
                  </a:solidFill>
                  <a:latin typeface="Noto Sans"/>
                  <a:ea typeface="Noto Sans"/>
                  <a:cs typeface="Noto Sans"/>
                  <a:sym typeface="Noto Sans"/>
                </a:rPr>
                <a:t>Protocol</a:t>
              </a:r>
              <a:endParaRPr/>
            </a:p>
          </p:txBody>
        </p:sp>
      </p:grpSp>
      <p:grpSp>
        <p:nvGrpSpPr>
          <p:cNvPr id="830" name="Google Shape;830;p20"/>
          <p:cNvGrpSpPr/>
          <p:nvPr/>
        </p:nvGrpSpPr>
        <p:grpSpPr>
          <a:xfrm>
            <a:off x="1571625" y="5799277"/>
            <a:ext cx="12858750" cy="750094"/>
            <a:chOff x="0" y="-9525"/>
            <a:chExt cx="17145000" cy="1000125"/>
          </a:xfrm>
        </p:grpSpPr>
        <p:sp>
          <p:nvSpPr>
            <p:cNvPr id="831" name="Google Shape;831;p20"/>
            <p:cNvSpPr/>
            <p:nvPr/>
          </p:nvSpPr>
          <p:spPr>
            <a:xfrm>
              <a:off x="0" y="0"/>
              <a:ext cx="17145000" cy="990600"/>
            </a:xfrm>
            <a:custGeom>
              <a:rect b="b" l="l" r="r" t="t"/>
              <a:pathLst>
                <a:path extrusionOk="0" h="990600" w="17145000">
                  <a:moveTo>
                    <a:pt x="0" y="0"/>
                  </a:moveTo>
                  <a:lnTo>
                    <a:pt x="17145000" y="0"/>
                  </a:lnTo>
                  <a:lnTo>
                    <a:pt x="17145000" y="990600"/>
                  </a:lnTo>
                  <a:lnTo>
                    <a:pt x="0" y="990600"/>
                  </a:lnTo>
                  <a:close/>
                </a:path>
              </a:pathLst>
            </a:custGeom>
            <a:blipFill rotWithShape="1">
              <a:blip r:embed="rId5">
                <a:alphaModFix amt="0"/>
              </a:blip>
              <a:stretch>
                <a:fillRect b="-287246" l="0" r="0" t="-287246"/>
              </a:stretch>
            </a:blipFill>
            <a:ln>
              <a:noFill/>
            </a:ln>
          </p:spPr>
        </p:sp>
        <p:sp>
          <p:nvSpPr>
            <p:cNvPr id="832" name="Google Shape;832;p20"/>
            <p:cNvSpPr txBox="1"/>
            <p:nvPr/>
          </p:nvSpPr>
          <p:spPr>
            <a:xfrm>
              <a:off x="0" y="-9525"/>
              <a:ext cx="17145000" cy="10001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5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674" u="none" cap="none" strike="noStrike">
                  <a:solidFill>
                    <a:srgbClr val="B9C2CF"/>
                  </a:solidFill>
                  <a:latin typeface="Noto Sans"/>
                  <a:ea typeface="Noto Sans"/>
                  <a:cs typeface="Noto Sans"/>
                  <a:sym typeface="Noto Sans"/>
                </a:rPr>
                <a:t> A standardized protocol for connecting AI applications to external systems, built on JSON-RPC for seamless integration of tools, resources, and prompts. </a:t>
              </a:r>
              <a:endParaRPr/>
            </a:p>
          </p:txBody>
        </p:sp>
      </p:grpSp>
      <p:grpSp>
        <p:nvGrpSpPr>
          <p:cNvPr id="833" name="Google Shape;833;p20"/>
          <p:cNvGrpSpPr/>
          <p:nvPr/>
        </p:nvGrpSpPr>
        <p:grpSpPr>
          <a:xfrm>
            <a:off x="1571625" y="6885127"/>
            <a:ext cx="16373477" cy="579365"/>
            <a:chOff x="0" y="-9525"/>
            <a:chExt cx="21831302" cy="772487"/>
          </a:xfrm>
        </p:grpSpPr>
        <p:sp>
          <p:nvSpPr>
            <p:cNvPr id="834" name="Google Shape;834;p20"/>
            <p:cNvSpPr/>
            <p:nvPr/>
          </p:nvSpPr>
          <p:spPr>
            <a:xfrm>
              <a:off x="0" y="0"/>
              <a:ext cx="21831302" cy="762962"/>
            </a:xfrm>
            <a:custGeom>
              <a:rect b="b" l="l" r="r" t="t"/>
              <a:pathLst>
                <a:path extrusionOk="0" h="762962" w="21831302">
                  <a:moveTo>
                    <a:pt x="0" y="0"/>
                  </a:moveTo>
                  <a:lnTo>
                    <a:pt x="21831302" y="0"/>
                  </a:lnTo>
                  <a:lnTo>
                    <a:pt x="21831302" y="762962"/>
                  </a:lnTo>
                  <a:lnTo>
                    <a:pt x="0" y="762962"/>
                  </a:lnTo>
                  <a:close/>
                </a:path>
              </a:pathLst>
            </a:custGeom>
            <a:blipFill rotWithShape="1">
              <a:blip r:embed="rId5">
                <a:alphaModFix amt="0"/>
              </a:blip>
              <a:stretch>
                <a:fillRect b="-487500" l="0" r="0" t="-527576"/>
              </a:stretch>
            </a:blipFill>
            <a:ln>
              <a:noFill/>
            </a:ln>
          </p:spPr>
        </p:sp>
        <p:sp>
          <p:nvSpPr>
            <p:cNvPr id="835" name="Google Shape;835;p20"/>
            <p:cNvSpPr txBox="1"/>
            <p:nvPr/>
          </p:nvSpPr>
          <p:spPr>
            <a:xfrm>
              <a:off x="0" y="-9525"/>
              <a:ext cx="21831300" cy="7724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5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674" u="none" cap="none" strike="noStrike">
                  <a:solidFill>
                    <a:srgbClr val="00AEEF"/>
                  </a:solidFill>
                  <a:latin typeface="Noto Sans"/>
                  <a:ea typeface="Noto Sans"/>
                  <a:cs typeface="Noto Sans"/>
                  <a:sym typeface="Noto Sans"/>
                </a:rPr>
                <a:t> Protocol Version: 2026-07-28</a:t>
              </a:r>
              <a:endParaRPr/>
            </a:p>
            <a:p>
              <a:pPr indent="0" lvl="0" marL="0" marR="0" rtl="0" algn="l">
                <a:lnSpc>
                  <a:spcPct val="11995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0" sz="1674" u="none" cap="none" strike="noStrike">
                <a:solidFill>
                  <a:srgbClr val="00AEEF"/>
                </a:solidFill>
                <a:latin typeface="Noto Sans"/>
                <a:ea typeface="Noto Sans"/>
                <a:cs typeface="Noto Sans"/>
                <a:sym typeface="Noto Sans"/>
              </a:endParaRPr>
            </a:p>
          </p:txBody>
        </p:sp>
      </p:grpSp>
      <p:sp>
        <p:nvSpPr>
          <p:cNvPr descr="preencoded.png" id="836" name="Google Shape;836;p20"/>
          <p:cNvSpPr/>
          <p:nvPr/>
        </p:nvSpPr>
        <p:spPr>
          <a:xfrm>
            <a:off x="8972550" y="7472362"/>
            <a:ext cx="3257550" cy="2100262"/>
          </a:xfrm>
          <a:custGeom>
            <a:rect b="b" l="l" r="r" t="t"/>
            <a:pathLst>
              <a:path extrusionOk="0" h="2800350" w="4343400">
                <a:moveTo>
                  <a:pt x="0" y="0"/>
                </a:moveTo>
                <a:lnTo>
                  <a:pt x="4343400" y="0"/>
                </a:lnTo>
                <a:lnTo>
                  <a:pt x="4343400" y="2800350"/>
                </a:lnTo>
                <a:lnTo>
                  <a:pt x="0" y="28003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 amt="60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37" name="Google Shape;837;p20"/>
          <p:cNvSpPr/>
          <p:nvPr/>
        </p:nvSpPr>
        <p:spPr>
          <a:xfrm>
            <a:off x="0" y="8972550"/>
            <a:ext cx="18288000" cy="1314450"/>
          </a:xfrm>
          <a:custGeom>
            <a:rect b="b" l="l" r="r" t="t"/>
            <a:pathLst>
              <a:path extrusionOk="0" h="1752600" w="24384000">
                <a:moveTo>
                  <a:pt x="0" y="0"/>
                </a:moveTo>
                <a:lnTo>
                  <a:pt x="24384000" y="0"/>
                </a:lnTo>
                <a:lnTo>
                  <a:pt x="24384000" y="1752600"/>
                </a:lnTo>
                <a:lnTo>
                  <a:pt x="0" y="17526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descr="preencoded.png" id="838" name="Google Shape;838;p20"/>
          <p:cNvSpPr/>
          <p:nvPr/>
        </p:nvSpPr>
        <p:spPr>
          <a:xfrm>
            <a:off x="13924007" y="9308306"/>
            <a:ext cx="3792474" cy="642938"/>
          </a:xfrm>
          <a:custGeom>
            <a:rect b="b" l="l" r="r" t="t"/>
            <a:pathLst>
              <a:path extrusionOk="0" h="857250" w="5056632">
                <a:moveTo>
                  <a:pt x="0" y="0"/>
                </a:moveTo>
                <a:lnTo>
                  <a:pt x="5056632" y="0"/>
                </a:lnTo>
                <a:lnTo>
                  <a:pt x="5056632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-1002" l="0" r="0" t="-1004"/>
            </a:stretch>
          </a:blipFill>
          <a:ln>
            <a:noFill/>
          </a:ln>
        </p:spPr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42" name="Shape 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preencoded.png" id="843" name="Google Shape;843;p21"/>
          <p:cNvSpPr/>
          <p:nvPr/>
        </p:nvSpPr>
        <p:spPr>
          <a:xfrm>
            <a:off x="0" y="0"/>
            <a:ext cx="18288000" cy="10327004"/>
          </a:xfrm>
          <a:custGeom>
            <a:rect b="b" l="l" r="r" t="t"/>
            <a:pathLst>
              <a:path extrusionOk="0" h="13769339" w="24384000">
                <a:moveTo>
                  <a:pt x="0" y="0"/>
                </a:moveTo>
                <a:lnTo>
                  <a:pt x="24384000" y="0"/>
                </a:lnTo>
                <a:lnTo>
                  <a:pt x="24384000" y="13769339"/>
                </a:lnTo>
                <a:lnTo>
                  <a:pt x="0" y="1376933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-194" r="-194" t="0"/>
            </a:stretch>
          </a:blipFill>
          <a:ln>
            <a:noFill/>
          </a:ln>
        </p:spPr>
      </p:sp>
      <p:sp>
        <p:nvSpPr>
          <p:cNvPr id="844" name="Google Shape;844;p21"/>
          <p:cNvSpPr txBox="1"/>
          <p:nvPr/>
        </p:nvSpPr>
        <p:spPr>
          <a:xfrm>
            <a:off x="762000" y="571500"/>
            <a:ext cx="11430000" cy="14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00AEEF"/>
                </a:solidFill>
                <a:latin typeface="Noto Sans"/>
                <a:ea typeface="Noto Sans"/>
                <a:cs typeface="Noto Sans"/>
                <a:sym typeface="Noto Sans"/>
              </a:rPr>
              <a:t>MCP</a:t>
            </a:r>
            <a:endParaRPr b="1" sz="1600">
              <a:solidFill>
                <a:srgbClr val="00AEEF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lang="en-US" sz="4200">
                <a:solidFill>
                  <a:srgbClr val="0F1B2C"/>
                </a:solidFill>
                <a:latin typeface="Noto Sans ExtraBold"/>
                <a:ea typeface="Noto Sans ExtraBold"/>
                <a:cs typeface="Noto Sans ExtraBold"/>
                <a:sym typeface="Noto Sans ExtraBold"/>
              </a:rPr>
              <a:t>Protocol Architecture</a:t>
            </a:r>
            <a:endParaRPr b="0" sz="4200">
              <a:solidFill>
                <a:srgbClr val="0F1B2C"/>
              </a:solidFill>
              <a:latin typeface="Noto Sans ExtraBold"/>
              <a:ea typeface="Noto Sans ExtraBold"/>
              <a:cs typeface="Noto Sans ExtraBold"/>
              <a:sym typeface="Noto Sans ExtraBold"/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b="0" i="1" lang="en-US" sz="1800">
                <a:solidFill>
                  <a:srgbClr val="475569"/>
                </a:solidFill>
                <a:latin typeface="Noto Sans"/>
                <a:ea typeface="Noto Sans"/>
                <a:cs typeface="Noto Sans"/>
                <a:sym typeface="Noto Sans"/>
              </a:rPr>
              <a:t>Technical components and protocol layers</a:t>
            </a:r>
            <a:endParaRPr b="0" i="1" sz="1800">
              <a:solidFill>
                <a:srgbClr val="475569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grpSp>
        <p:nvGrpSpPr>
          <p:cNvPr id="845" name="Google Shape;845;p21"/>
          <p:cNvGrpSpPr/>
          <p:nvPr/>
        </p:nvGrpSpPr>
        <p:grpSpPr>
          <a:xfrm>
            <a:off x="762000" y="2286000"/>
            <a:ext cx="7810500" cy="5905500"/>
            <a:chOff x="0" y="0"/>
            <a:chExt cx="7810500" cy="5905500"/>
          </a:xfrm>
        </p:grpSpPr>
        <p:sp>
          <p:nvSpPr>
            <p:cNvPr id="846" name="Google Shape;846;p21"/>
            <p:cNvSpPr txBox="1"/>
            <p:nvPr/>
          </p:nvSpPr>
          <p:spPr>
            <a:xfrm>
              <a:off x="0" y="0"/>
              <a:ext cx="7810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200">
                  <a:solidFill>
                    <a:srgbClr val="0F1B2C"/>
                  </a:solidFill>
                  <a:latin typeface="Noto Sans"/>
                  <a:ea typeface="Noto Sans"/>
                  <a:cs typeface="Noto Sans"/>
                  <a:sym typeface="Noto Sans"/>
                </a:rPr>
                <a:t>Core Components</a:t>
              </a:r>
              <a:endParaRPr b="1" sz="2200">
                <a:solidFill>
                  <a:srgbClr val="0F1B2C"/>
                </a:solidFill>
                <a:latin typeface="Noto Sans"/>
                <a:ea typeface="Noto Sans"/>
                <a:cs typeface="Noto Sans"/>
                <a:sym typeface="Noto Sans"/>
              </a:endParaRPr>
            </a:p>
          </p:txBody>
        </p:sp>
        <p:grpSp>
          <p:nvGrpSpPr>
            <p:cNvPr id="847" name="Google Shape;847;p21"/>
            <p:cNvGrpSpPr/>
            <p:nvPr/>
          </p:nvGrpSpPr>
          <p:grpSpPr>
            <a:xfrm>
              <a:off x="0" y="476250"/>
              <a:ext cx="7810500" cy="1809600"/>
              <a:chOff x="0" y="0"/>
              <a:chExt cx="7810500" cy="1809600"/>
            </a:xfrm>
          </p:grpSpPr>
          <p:sp>
            <p:nvSpPr>
              <p:cNvPr id="848" name="Google Shape;848;p21"/>
              <p:cNvSpPr/>
              <p:nvPr/>
            </p:nvSpPr>
            <p:spPr>
              <a:xfrm>
                <a:off x="0" y="0"/>
                <a:ext cx="7810500" cy="1809600"/>
              </a:xfrm>
              <a:prstGeom prst="roundRect">
                <a:avLst>
                  <a:gd fmla="val 6315" name="adj"/>
                </a:avLst>
              </a:prstGeom>
              <a:solidFill>
                <a:srgbClr val="FFFFFF"/>
              </a:solidFill>
              <a:ln cap="flat" cmpd="sng" w="19050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9" name="Google Shape;849;p21"/>
              <p:cNvSpPr/>
              <p:nvPr/>
            </p:nvSpPr>
            <p:spPr>
              <a:xfrm>
                <a:off x="0" y="0"/>
                <a:ext cx="76200" cy="1809600"/>
              </a:xfrm>
              <a:prstGeom prst="roundRect">
                <a:avLst>
                  <a:gd fmla="val 50000" name="adj"/>
                </a:avLst>
              </a:prstGeom>
              <a:solidFill>
                <a:srgbClr val="00AEE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0" name="Google Shape;850;p21"/>
              <p:cNvSpPr txBox="1"/>
              <p:nvPr/>
            </p:nvSpPr>
            <p:spPr>
              <a:xfrm>
                <a:off x="285750" y="190500"/>
                <a:ext cx="7239000" cy="1428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200">
                    <a:solidFill>
                      <a:srgbClr val="FFFFFF"/>
                    </a:solidFill>
                    <a:latin typeface="Noto Sans"/>
                    <a:ea typeface="Noto Sans"/>
                    <a:cs typeface="Noto Sans"/>
                    <a:sym typeface="Noto Sans"/>
                  </a:rPr>
                  <a:t>Host</a:t>
                </a:r>
                <a:r>
                  <a:rPr lang="en-US">
                    <a:latin typeface="Noto Sans"/>
                    <a:ea typeface="Noto Sans"/>
                    <a:cs typeface="Noto Sans"/>
                    <a:sym typeface="Noto Sans"/>
                  </a:rPr>
                  <a:t> </a:t>
                </a:r>
                <a:r>
                  <a:rPr i="1" lang="en-US" sz="1100">
                    <a:solidFill>
                      <a:srgbClr val="64748B"/>
                    </a:solidFill>
                    <a:latin typeface="Noto Sans"/>
                    <a:ea typeface="Noto Sans"/>
                    <a:cs typeface="Noto Sans"/>
                    <a:sym typeface="Noto Sans"/>
                  </a:rPr>
                  <a:t>User-facing AI Application</a:t>
                </a:r>
                <a:endParaRPr>
                  <a:latin typeface="Noto Sans"/>
                  <a:ea typeface="Noto Sans"/>
                  <a:cs typeface="Noto Sans"/>
                  <a:sym typeface="Noto Sans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0" lang="en-US" sz="1400">
                    <a:solidFill>
                      <a:srgbClr val="1E293B"/>
                    </a:solidFill>
                    <a:latin typeface="Noto Sans"/>
                    <a:ea typeface="Noto Sans"/>
                    <a:cs typeface="Noto Sans"/>
                    <a:sym typeface="Noto Sans"/>
                  </a:rPr>
                  <a:t>The user-facing AI application that orchestrates interactions between users, LLMs, and external tools.</a:t>
                </a:r>
                <a:endParaRPr b="0" sz="1400">
                  <a:solidFill>
                    <a:srgbClr val="1E293B"/>
                  </a:solidFill>
                  <a:latin typeface="Noto Sans"/>
                  <a:ea typeface="Noto Sans"/>
                  <a:cs typeface="Noto Sans"/>
                  <a:sym typeface="Noto Sans"/>
                </a:endParaRPr>
              </a:p>
              <a:p>
                <a:pPr indent="0" lvl="0" marL="0" rtl="0" algn="l">
                  <a:spcBef>
                    <a:spcPts val="750"/>
                  </a:spcBef>
                  <a:spcAft>
                    <a:spcPts val="0"/>
                  </a:spcAft>
                  <a:buNone/>
                </a:pPr>
                <a:r>
                  <a:rPr b="0" lang="en-US" sz="1200">
                    <a:solidFill>
                      <a:srgbClr val="00AEEF"/>
                    </a:solidFill>
                    <a:latin typeface="Noto Sans SemiBold"/>
                    <a:ea typeface="Noto Sans SemiBold"/>
                    <a:cs typeface="Noto Sans SemiBold"/>
                    <a:sym typeface="Noto Sans SemiBold"/>
                  </a:rPr>
                  <a:t>Examples: Claude Desktop, Cursor IDE</a:t>
                </a:r>
                <a:endParaRPr b="0" sz="1200">
                  <a:solidFill>
                    <a:srgbClr val="00AEEF"/>
                  </a:solidFill>
                  <a:latin typeface="Noto Sans SemiBold"/>
                  <a:ea typeface="Noto Sans SemiBold"/>
                  <a:cs typeface="Noto Sans SemiBold"/>
                  <a:sym typeface="Noto Sans SemiBold"/>
                </a:endParaRPr>
              </a:p>
            </p:txBody>
          </p:sp>
        </p:grpSp>
        <p:grpSp>
          <p:nvGrpSpPr>
            <p:cNvPr id="851" name="Google Shape;851;p21"/>
            <p:cNvGrpSpPr/>
            <p:nvPr/>
          </p:nvGrpSpPr>
          <p:grpSpPr>
            <a:xfrm>
              <a:off x="0" y="2476500"/>
              <a:ext cx="7810500" cy="1524000"/>
              <a:chOff x="0" y="0"/>
              <a:chExt cx="7810500" cy="1524000"/>
            </a:xfrm>
          </p:grpSpPr>
          <p:sp>
            <p:nvSpPr>
              <p:cNvPr id="852" name="Google Shape;852;p21"/>
              <p:cNvSpPr/>
              <p:nvPr/>
            </p:nvSpPr>
            <p:spPr>
              <a:xfrm>
                <a:off x="0" y="0"/>
                <a:ext cx="7810500" cy="1524000"/>
              </a:xfrm>
              <a:prstGeom prst="roundRect">
                <a:avLst>
                  <a:gd fmla="val 7500" name="adj"/>
                </a:avLst>
              </a:prstGeom>
              <a:solidFill>
                <a:srgbClr val="FFFFFF"/>
              </a:solidFill>
              <a:ln cap="flat" cmpd="sng" w="19050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3" name="Google Shape;853;p21"/>
              <p:cNvSpPr/>
              <p:nvPr/>
            </p:nvSpPr>
            <p:spPr>
              <a:xfrm>
                <a:off x="0" y="0"/>
                <a:ext cx="76200" cy="1524000"/>
              </a:xfrm>
              <a:prstGeom prst="roundRect">
                <a:avLst>
                  <a:gd fmla="val 50000" name="adj"/>
                </a:avLst>
              </a:prstGeom>
              <a:solidFill>
                <a:srgbClr val="00AEE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4" name="Google Shape;854;p21"/>
              <p:cNvSpPr txBox="1"/>
              <p:nvPr/>
            </p:nvSpPr>
            <p:spPr>
              <a:xfrm>
                <a:off x="285750" y="190500"/>
                <a:ext cx="7239000" cy="1143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200">
                    <a:solidFill>
                      <a:srgbClr val="FFFFFF"/>
                    </a:solidFill>
                    <a:latin typeface="Noto Sans"/>
                    <a:ea typeface="Noto Sans"/>
                    <a:cs typeface="Noto Sans"/>
                    <a:sym typeface="Noto Sans"/>
                  </a:rPr>
                  <a:t>Client</a:t>
                </a:r>
                <a:r>
                  <a:rPr lang="en-US">
                    <a:latin typeface="Noto Sans"/>
                    <a:ea typeface="Noto Sans"/>
                    <a:cs typeface="Noto Sans"/>
                    <a:sym typeface="Noto Sans"/>
                  </a:rPr>
                  <a:t> </a:t>
                </a:r>
                <a:r>
                  <a:rPr i="1" lang="en-US" sz="1100">
                    <a:solidFill>
                      <a:srgbClr val="64748B"/>
                    </a:solidFill>
                    <a:latin typeface="Noto Sans"/>
                    <a:ea typeface="Noto Sans"/>
                    <a:cs typeface="Noto Sans"/>
                    <a:sym typeface="Noto Sans"/>
                  </a:rPr>
                  <a:t>Internal Connector</a:t>
                </a:r>
                <a:endParaRPr>
                  <a:latin typeface="Noto Sans"/>
                  <a:ea typeface="Noto Sans"/>
                  <a:cs typeface="Noto Sans"/>
                  <a:sym typeface="Noto Sans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0" lang="en-US" sz="1400">
                    <a:solidFill>
                      <a:srgbClr val="1E293B"/>
                    </a:solidFill>
                    <a:latin typeface="Noto Sans"/>
                    <a:ea typeface="Noto Sans"/>
                    <a:cs typeface="Noto Sans"/>
                    <a:sym typeface="Noto Sans"/>
                  </a:rPr>
                  <a:t>A component within the Host that maintains a 1:1 connection with a Server, handling MCP communication details.</a:t>
                </a:r>
                <a:endParaRPr b="0" sz="1400">
                  <a:solidFill>
                    <a:srgbClr val="1E293B"/>
                  </a:solidFill>
                  <a:latin typeface="Noto Sans"/>
                  <a:ea typeface="Noto Sans"/>
                  <a:cs typeface="Noto Sans"/>
                  <a:sym typeface="Noto Sans"/>
                </a:endParaRPr>
              </a:p>
            </p:txBody>
          </p:sp>
        </p:grpSp>
        <p:grpSp>
          <p:nvGrpSpPr>
            <p:cNvPr id="855" name="Google Shape;855;p21"/>
            <p:cNvGrpSpPr/>
            <p:nvPr/>
          </p:nvGrpSpPr>
          <p:grpSpPr>
            <a:xfrm>
              <a:off x="0" y="4191000"/>
              <a:ext cx="7810500" cy="1714500"/>
              <a:chOff x="0" y="0"/>
              <a:chExt cx="7810500" cy="1714500"/>
            </a:xfrm>
          </p:grpSpPr>
          <p:sp>
            <p:nvSpPr>
              <p:cNvPr id="856" name="Google Shape;856;p21"/>
              <p:cNvSpPr/>
              <p:nvPr/>
            </p:nvSpPr>
            <p:spPr>
              <a:xfrm>
                <a:off x="0" y="0"/>
                <a:ext cx="7810500" cy="1714500"/>
              </a:xfrm>
              <a:prstGeom prst="roundRect">
                <a:avLst>
                  <a:gd fmla="val 6666" name="adj"/>
                </a:avLst>
              </a:prstGeom>
              <a:solidFill>
                <a:srgbClr val="FFFFFF"/>
              </a:solidFill>
              <a:ln cap="flat" cmpd="sng" w="19050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7" name="Google Shape;857;p21"/>
              <p:cNvSpPr/>
              <p:nvPr/>
            </p:nvSpPr>
            <p:spPr>
              <a:xfrm>
                <a:off x="0" y="0"/>
                <a:ext cx="76200" cy="1714500"/>
              </a:xfrm>
              <a:prstGeom prst="roundRect">
                <a:avLst>
                  <a:gd fmla="val 50000" name="adj"/>
                </a:avLst>
              </a:prstGeom>
              <a:solidFill>
                <a:srgbClr val="00AEE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8" name="Google Shape;858;p21"/>
              <p:cNvSpPr txBox="1"/>
              <p:nvPr/>
            </p:nvSpPr>
            <p:spPr>
              <a:xfrm>
                <a:off x="285750" y="190500"/>
                <a:ext cx="7239000" cy="1333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200">
                    <a:solidFill>
                      <a:srgbClr val="FFFFFF"/>
                    </a:solidFill>
                    <a:latin typeface="Noto Sans"/>
                    <a:ea typeface="Noto Sans"/>
                    <a:cs typeface="Noto Sans"/>
                    <a:sym typeface="Noto Sans"/>
                  </a:rPr>
                  <a:t>Server</a:t>
                </a:r>
                <a:r>
                  <a:rPr lang="en-US">
                    <a:latin typeface="Noto Sans"/>
                    <a:ea typeface="Noto Sans"/>
                    <a:cs typeface="Noto Sans"/>
                    <a:sym typeface="Noto Sans"/>
                  </a:rPr>
                  <a:t> </a:t>
                </a:r>
                <a:r>
                  <a:rPr i="1" lang="en-US" sz="1100">
                    <a:solidFill>
                      <a:srgbClr val="64748B"/>
                    </a:solidFill>
                    <a:latin typeface="Noto Sans"/>
                    <a:ea typeface="Noto Sans"/>
                    <a:cs typeface="Noto Sans"/>
                    <a:sym typeface="Noto Sans"/>
                  </a:rPr>
                  <a:t>Capability Provider</a:t>
                </a:r>
                <a:endParaRPr>
                  <a:latin typeface="Noto Sans"/>
                  <a:ea typeface="Noto Sans"/>
                  <a:cs typeface="Noto Sans"/>
                  <a:sym typeface="Noto Sans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0" lang="en-US" sz="1400">
                    <a:solidFill>
                      <a:srgbClr val="1E293B"/>
                    </a:solidFill>
                    <a:latin typeface="Noto Sans"/>
                    <a:ea typeface="Noto Sans"/>
                    <a:cs typeface="Noto Sans"/>
                    <a:sym typeface="Noto Sans"/>
                  </a:rPr>
                  <a:t>An external program that exposes capabilities (Tools, Resources, Prompts) via the MCP protocol.</a:t>
                </a:r>
                <a:endParaRPr b="0" sz="1400">
                  <a:solidFill>
                    <a:srgbClr val="1E293B"/>
                  </a:solidFill>
                  <a:latin typeface="Noto Sans"/>
                  <a:ea typeface="Noto Sans"/>
                  <a:cs typeface="Noto Sans"/>
                  <a:sym typeface="Noto Sans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0" lang="en-US" sz="1200">
                    <a:solidFill>
                      <a:srgbClr val="64748B"/>
                    </a:solidFill>
                    <a:latin typeface="Noto Sans Medium"/>
                    <a:ea typeface="Noto Sans Medium"/>
                    <a:cs typeface="Noto Sans Medium"/>
                    <a:sym typeface="Noto Sans Medium"/>
                  </a:rPr>
                  <a:t>Deployment: Can run locally or remotely.</a:t>
                </a:r>
                <a:endParaRPr b="0" sz="1200">
                  <a:solidFill>
                    <a:srgbClr val="64748B"/>
                  </a:solidFill>
                  <a:latin typeface="Noto Sans Medium"/>
                  <a:ea typeface="Noto Sans Medium"/>
                  <a:cs typeface="Noto Sans Medium"/>
                  <a:sym typeface="Noto Sans Medium"/>
                </a:endParaRPr>
              </a:p>
            </p:txBody>
          </p:sp>
        </p:grpSp>
      </p:grpSp>
      <p:grpSp>
        <p:nvGrpSpPr>
          <p:cNvPr id="859" name="Google Shape;859;p21"/>
          <p:cNvGrpSpPr/>
          <p:nvPr/>
        </p:nvGrpSpPr>
        <p:grpSpPr>
          <a:xfrm>
            <a:off x="8953500" y="2286000"/>
            <a:ext cx="8572500" cy="5905650"/>
            <a:chOff x="0" y="0"/>
            <a:chExt cx="8572500" cy="5905650"/>
          </a:xfrm>
        </p:grpSpPr>
        <p:sp>
          <p:nvSpPr>
            <p:cNvPr id="860" name="Google Shape;860;p21"/>
            <p:cNvSpPr txBox="1"/>
            <p:nvPr/>
          </p:nvSpPr>
          <p:spPr>
            <a:xfrm>
              <a:off x="0" y="0"/>
              <a:ext cx="8572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200">
                  <a:solidFill>
                    <a:srgbClr val="0F1B2C"/>
                  </a:solidFill>
                  <a:latin typeface="Noto Sans"/>
                  <a:ea typeface="Noto Sans"/>
                  <a:cs typeface="Noto Sans"/>
                  <a:sym typeface="Noto Sans"/>
                </a:rPr>
                <a:t>Protocol Layers</a:t>
              </a:r>
              <a:endParaRPr b="1" sz="2200">
                <a:solidFill>
                  <a:srgbClr val="0F1B2C"/>
                </a:solidFill>
                <a:latin typeface="Noto Sans"/>
                <a:ea typeface="Noto Sans"/>
                <a:cs typeface="Noto Sans"/>
                <a:sym typeface="Noto Sans"/>
              </a:endParaRPr>
            </a:p>
          </p:txBody>
        </p:sp>
        <p:grpSp>
          <p:nvGrpSpPr>
            <p:cNvPr id="861" name="Google Shape;861;p21"/>
            <p:cNvGrpSpPr/>
            <p:nvPr/>
          </p:nvGrpSpPr>
          <p:grpSpPr>
            <a:xfrm>
              <a:off x="0" y="476250"/>
              <a:ext cx="8572500" cy="2667000"/>
              <a:chOff x="0" y="0"/>
              <a:chExt cx="8572500" cy="2667000"/>
            </a:xfrm>
          </p:grpSpPr>
          <p:sp>
            <p:nvSpPr>
              <p:cNvPr id="862" name="Google Shape;862;p21"/>
              <p:cNvSpPr/>
              <p:nvPr/>
            </p:nvSpPr>
            <p:spPr>
              <a:xfrm>
                <a:off x="0" y="0"/>
                <a:ext cx="8572500" cy="2667000"/>
              </a:xfrm>
              <a:prstGeom prst="roundRect">
                <a:avLst>
                  <a:gd fmla="val 4285" name="adj"/>
                </a:avLst>
              </a:prstGeom>
              <a:solidFill>
                <a:srgbClr val="FFFFFF"/>
              </a:solidFill>
              <a:ln cap="flat" cmpd="sng" w="19050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3" name="Google Shape;863;p21"/>
              <p:cNvSpPr/>
              <p:nvPr/>
            </p:nvSpPr>
            <p:spPr>
              <a:xfrm>
                <a:off x="0" y="0"/>
                <a:ext cx="8572500" cy="476400"/>
              </a:xfrm>
              <a:custGeom>
                <a:rect b="b" l="l" r="r" t="t"/>
                <a:pathLst>
                  <a:path extrusionOk="0" h="120000" w="120000">
                    <a:moveTo>
                      <a:pt x="0" y="28800"/>
                    </a:moveTo>
                    <a:cubicBezTo>
                      <a:pt x="0" y="12893"/>
                      <a:pt x="716" y="0"/>
                      <a:pt x="1600" y="0"/>
                    </a:cubicBezTo>
                    <a:lnTo>
                      <a:pt x="118400" y="0"/>
                    </a:lnTo>
                    <a:cubicBezTo>
                      <a:pt x="119284" y="0"/>
                      <a:pt x="120000" y="12893"/>
                      <a:pt x="120000" y="28800"/>
                    </a:cubicBezTo>
                    <a:lnTo>
                      <a:pt x="120000" y="120000"/>
                    </a:lnTo>
                    <a:lnTo>
                      <a:pt x="0" y="120000"/>
                    </a:lnTo>
                    <a:close/>
                  </a:path>
                </a:pathLst>
              </a:custGeom>
              <a:solidFill>
                <a:srgbClr val="0F1B2C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4" name="Google Shape;864;p21"/>
              <p:cNvSpPr txBox="1"/>
              <p:nvPr/>
            </p:nvSpPr>
            <p:spPr>
              <a:xfrm>
                <a:off x="228600" y="95250"/>
                <a:ext cx="80964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500">
                    <a:solidFill>
                      <a:srgbClr val="00AEEF"/>
                    </a:solidFill>
                    <a:latin typeface="Noto Sans"/>
                    <a:ea typeface="Noto Sans"/>
                    <a:cs typeface="Noto Sans"/>
                    <a:sym typeface="Noto Sans"/>
                  </a:rPr>
                  <a:t>Data Layer </a:t>
                </a:r>
                <a:r>
                  <a:rPr b="0" lang="en-US" sz="1200">
                    <a:solidFill>
                      <a:srgbClr val="94A3B8"/>
                    </a:solidFill>
                    <a:latin typeface="Noto Sans"/>
                    <a:ea typeface="Noto Sans"/>
                    <a:cs typeface="Noto Sans"/>
                    <a:sym typeface="Noto Sans"/>
                  </a:rPr>
                  <a:t>— Client-Server Communication (JSON-RPC)</a:t>
                </a:r>
                <a:endParaRPr>
                  <a:latin typeface="Noto Sans"/>
                  <a:ea typeface="Noto Sans"/>
                  <a:cs typeface="Noto Sans"/>
                  <a:sym typeface="Noto Sans"/>
                </a:endParaRPr>
              </a:p>
            </p:txBody>
          </p:sp>
          <p:sp>
            <p:nvSpPr>
              <p:cNvPr id="865" name="Google Shape;865;p21"/>
              <p:cNvSpPr txBox="1"/>
              <p:nvPr/>
            </p:nvSpPr>
            <p:spPr>
              <a:xfrm>
                <a:off x="228600" y="619125"/>
                <a:ext cx="8096400" cy="1905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1300">
                    <a:solidFill>
                      <a:srgbClr val="475569"/>
                    </a:solidFill>
                    <a:latin typeface="Noto Sans"/>
                    <a:ea typeface="Noto Sans"/>
                    <a:cs typeface="Noto Sans"/>
                    <a:sym typeface="Noto Sans"/>
                  </a:rPr>
                  <a:t>Defines the JSON-RPC based protocol for client-server communication:</a:t>
                </a:r>
                <a:endParaRPr b="0" sz="1300">
                  <a:solidFill>
                    <a:srgbClr val="475569"/>
                  </a:solidFill>
                  <a:latin typeface="Noto Sans"/>
                  <a:ea typeface="Noto Sans"/>
                  <a:cs typeface="Noto Sans"/>
                  <a:sym typeface="Noto Sans"/>
                </a:endParaRPr>
              </a:p>
              <a:p>
                <a:pPr indent="0" lvl="0" marL="0" rtl="0" algn="l">
                  <a:spcBef>
                    <a:spcPts val="1050"/>
                  </a:spcBef>
                  <a:spcAft>
                    <a:spcPts val="0"/>
                  </a:spcAft>
                  <a:buNone/>
                </a:pPr>
                <a:r>
                  <a:rPr b="1" lang="en-US" sz="1300">
                    <a:solidFill>
                      <a:srgbClr val="0F1B2C"/>
                    </a:solidFill>
                    <a:highlight>
                      <a:srgbClr val="F1F5F9"/>
                    </a:highlight>
                    <a:latin typeface="Noto Sans"/>
                    <a:ea typeface="Noto Sans"/>
                    <a:cs typeface="Noto Sans"/>
                    <a:sym typeface="Noto Sans"/>
                  </a:rPr>
                  <a:t>Lifecycle</a:t>
                </a:r>
                <a:r>
                  <a:rPr lang="en-US">
                    <a:highlight>
                      <a:srgbClr val="F1F5F9"/>
                    </a:highlight>
                    <a:latin typeface="Noto Sans"/>
                    <a:ea typeface="Noto Sans"/>
                    <a:cs typeface="Noto Sans"/>
                    <a:sym typeface="Noto Sans"/>
                  </a:rPr>
                  <a:t> </a:t>
                </a:r>
                <a:r>
                  <a:rPr lang="en-US" sz="1300">
                    <a:solidFill>
                      <a:srgbClr val="334155"/>
                    </a:solidFill>
                    <a:highlight>
                      <a:srgbClr val="F1F5F9"/>
                    </a:highlight>
                    <a:latin typeface="Noto Sans"/>
                    <a:ea typeface="Noto Sans"/>
                    <a:cs typeface="Noto Sans"/>
                    <a:sym typeface="Noto Sans"/>
                  </a:rPr>
                  <a:t>Connection initialization and termination</a:t>
                </a:r>
                <a:endParaRPr>
                  <a:highlight>
                    <a:srgbClr val="F1F5F9"/>
                  </a:highlight>
                  <a:latin typeface="Noto Sans"/>
                  <a:ea typeface="Noto Sans"/>
                  <a:cs typeface="Noto Sans"/>
                  <a:sym typeface="Noto Sans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300">
                    <a:solidFill>
                      <a:srgbClr val="0F1B2C"/>
                    </a:solidFill>
                    <a:highlight>
                      <a:srgbClr val="F1F5F9"/>
                    </a:highlight>
                    <a:latin typeface="Noto Sans"/>
                    <a:ea typeface="Noto Sans"/>
                    <a:cs typeface="Noto Sans"/>
                    <a:sym typeface="Noto Sans"/>
                  </a:rPr>
                  <a:t>Primitives</a:t>
                </a:r>
                <a:r>
                  <a:rPr lang="en-US">
                    <a:highlight>
                      <a:srgbClr val="F1F5F9"/>
                    </a:highlight>
                    <a:latin typeface="Noto Sans"/>
                    <a:ea typeface="Noto Sans"/>
                    <a:cs typeface="Noto Sans"/>
                    <a:sym typeface="Noto Sans"/>
                  </a:rPr>
                  <a:t> </a:t>
                </a:r>
                <a:r>
                  <a:rPr lang="en-US" sz="1300">
                    <a:solidFill>
                      <a:srgbClr val="334155"/>
                    </a:solidFill>
                    <a:highlight>
                      <a:srgbClr val="F1F5F9"/>
                    </a:highlight>
                    <a:latin typeface="Noto Sans"/>
                    <a:ea typeface="Noto Sans"/>
                    <a:cs typeface="Noto Sans"/>
                    <a:sym typeface="Noto Sans"/>
                  </a:rPr>
                  <a:t>Core data structures and messages</a:t>
                </a:r>
                <a:endParaRPr>
                  <a:highlight>
                    <a:srgbClr val="F1F5F9"/>
                  </a:highlight>
                  <a:latin typeface="Noto Sans"/>
                  <a:ea typeface="Noto Sans"/>
                  <a:cs typeface="Noto Sans"/>
                  <a:sym typeface="Noto Sans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300">
                    <a:solidFill>
                      <a:srgbClr val="0F1B2C"/>
                    </a:solidFill>
                    <a:highlight>
                      <a:srgbClr val="F1F5F9"/>
                    </a:highlight>
                    <a:latin typeface="Noto Sans"/>
                    <a:ea typeface="Noto Sans"/>
                    <a:cs typeface="Noto Sans"/>
                    <a:sym typeface="Noto Sans"/>
                  </a:rPr>
                  <a:t>Notifications</a:t>
                </a:r>
                <a:r>
                  <a:rPr lang="en-US">
                    <a:highlight>
                      <a:srgbClr val="F1F5F9"/>
                    </a:highlight>
                    <a:latin typeface="Noto Sans"/>
                    <a:ea typeface="Noto Sans"/>
                    <a:cs typeface="Noto Sans"/>
                    <a:sym typeface="Noto Sans"/>
                  </a:rPr>
                  <a:t> </a:t>
                </a:r>
                <a:r>
                  <a:rPr lang="en-US" sz="1300">
                    <a:solidFill>
                      <a:srgbClr val="334155"/>
                    </a:solidFill>
                    <a:highlight>
                      <a:srgbClr val="F1F5F9"/>
                    </a:highlight>
                    <a:latin typeface="Noto Sans"/>
                    <a:ea typeface="Noto Sans"/>
                    <a:cs typeface="Noto Sans"/>
                    <a:sym typeface="Noto Sans"/>
                  </a:rPr>
                  <a:t>Asynchronous event updates</a:t>
                </a:r>
                <a:endParaRPr>
                  <a:highlight>
                    <a:srgbClr val="F1F5F9"/>
                  </a:highlight>
                  <a:latin typeface="Noto Sans"/>
                  <a:ea typeface="Noto Sans"/>
                  <a:cs typeface="Noto Sans"/>
                  <a:sym typeface="Noto Sans"/>
                </a:endParaRPr>
              </a:p>
            </p:txBody>
          </p:sp>
        </p:grpSp>
        <p:grpSp>
          <p:nvGrpSpPr>
            <p:cNvPr id="866" name="Google Shape;866;p21"/>
            <p:cNvGrpSpPr/>
            <p:nvPr/>
          </p:nvGrpSpPr>
          <p:grpSpPr>
            <a:xfrm>
              <a:off x="0" y="3333750"/>
              <a:ext cx="8572500" cy="2571900"/>
              <a:chOff x="0" y="0"/>
              <a:chExt cx="8572500" cy="2571900"/>
            </a:xfrm>
          </p:grpSpPr>
          <p:sp>
            <p:nvSpPr>
              <p:cNvPr id="867" name="Google Shape;867;p21"/>
              <p:cNvSpPr/>
              <p:nvPr/>
            </p:nvSpPr>
            <p:spPr>
              <a:xfrm>
                <a:off x="0" y="0"/>
                <a:ext cx="8572500" cy="2571900"/>
              </a:xfrm>
              <a:prstGeom prst="roundRect">
                <a:avLst>
                  <a:gd fmla="val 4444" name="adj"/>
                </a:avLst>
              </a:prstGeom>
              <a:solidFill>
                <a:srgbClr val="FFFFFF"/>
              </a:solidFill>
              <a:ln cap="flat" cmpd="sng" w="19050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8" name="Google Shape;868;p21"/>
              <p:cNvSpPr/>
              <p:nvPr/>
            </p:nvSpPr>
            <p:spPr>
              <a:xfrm>
                <a:off x="0" y="0"/>
                <a:ext cx="8572500" cy="476400"/>
              </a:xfrm>
              <a:custGeom>
                <a:rect b="b" l="l" r="r" t="t"/>
                <a:pathLst>
                  <a:path extrusionOk="0" h="120000" w="120000">
                    <a:moveTo>
                      <a:pt x="0" y="28800"/>
                    </a:moveTo>
                    <a:cubicBezTo>
                      <a:pt x="0" y="12893"/>
                      <a:pt x="716" y="0"/>
                      <a:pt x="1600" y="0"/>
                    </a:cubicBezTo>
                    <a:lnTo>
                      <a:pt x="118400" y="0"/>
                    </a:lnTo>
                    <a:cubicBezTo>
                      <a:pt x="119284" y="0"/>
                      <a:pt x="120000" y="12893"/>
                      <a:pt x="120000" y="28800"/>
                    </a:cubicBezTo>
                    <a:lnTo>
                      <a:pt x="120000" y="120000"/>
                    </a:lnTo>
                    <a:lnTo>
                      <a:pt x="0" y="120000"/>
                    </a:lnTo>
                    <a:close/>
                  </a:path>
                </a:pathLst>
              </a:custGeom>
              <a:solidFill>
                <a:srgbClr val="0F1B2C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9" name="Google Shape;869;p21"/>
              <p:cNvSpPr txBox="1"/>
              <p:nvPr/>
            </p:nvSpPr>
            <p:spPr>
              <a:xfrm>
                <a:off x="228600" y="95250"/>
                <a:ext cx="80964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500">
                    <a:solidFill>
                      <a:srgbClr val="00AEEF"/>
                    </a:solidFill>
                    <a:latin typeface="Noto Sans"/>
                    <a:ea typeface="Noto Sans"/>
                    <a:cs typeface="Noto Sans"/>
                    <a:sym typeface="Noto Sans"/>
                  </a:rPr>
                  <a:t>Transport Layer </a:t>
                </a:r>
                <a:r>
                  <a:rPr b="0" lang="en-US" sz="1200">
                    <a:solidFill>
                      <a:srgbClr val="94A3B8"/>
                    </a:solidFill>
                    <a:latin typeface="Noto Sans"/>
                    <a:ea typeface="Noto Sans"/>
                    <a:cs typeface="Noto Sans"/>
                    <a:sym typeface="Noto Sans"/>
                  </a:rPr>
                  <a:t>— Communication Mechanisms</a:t>
                </a:r>
                <a:endParaRPr>
                  <a:latin typeface="Noto Sans"/>
                  <a:ea typeface="Noto Sans"/>
                  <a:cs typeface="Noto Sans"/>
                  <a:sym typeface="Noto Sans"/>
                </a:endParaRPr>
              </a:p>
            </p:txBody>
          </p:sp>
          <p:sp>
            <p:nvSpPr>
              <p:cNvPr id="870" name="Google Shape;870;p21"/>
              <p:cNvSpPr txBox="1"/>
              <p:nvPr/>
            </p:nvSpPr>
            <p:spPr>
              <a:xfrm>
                <a:off x="228600" y="619125"/>
                <a:ext cx="8096400" cy="1809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1300">
                    <a:solidFill>
                      <a:srgbClr val="475569"/>
                    </a:solidFill>
                    <a:latin typeface="Noto Sans"/>
                    <a:ea typeface="Noto Sans"/>
                    <a:cs typeface="Noto Sans"/>
                    <a:sym typeface="Noto Sans"/>
                  </a:rPr>
                  <a:t>Defines the communication mechanisms between clients and servers:</a:t>
                </a:r>
                <a:endParaRPr b="0" sz="1300">
                  <a:solidFill>
                    <a:srgbClr val="475569"/>
                  </a:solidFill>
                  <a:latin typeface="Noto Sans"/>
                  <a:ea typeface="Noto Sans"/>
                  <a:cs typeface="Noto Sans"/>
                  <a:sym typeface="Noto Sans"/>
                </a:endParaRPr>
              </a:p>
              <a:p>
                <a:pPr indent="0" lvl="0" marL="0" rtl="0" algn="l">
                  <a:spcBef>
                    <a:spcPts val="1050"/>
                  </a:spcBef>
                  <a:spcAft>
                    <a:spcPts val="0"/>
                  </a:spcAft>
                  <a:buNone/>
                </a:pPr>
                <a:r>
                  <a:rPr b="1" lang="en-US" sz="1300">
                    <a:solidFill>
                      <a:srgbClr val="0F1B2C"/>
                    </a:solidFill>
                    <a:highlight>
                      <a:srgbClr val="F1F5F9"/>
                    </a:highlight>
                    <a:latin typeface="Noto Sans"/>
                    <a:ea typeface="Noto Sans"/>
                    <a:cs typeface="Noto Sans"/>
                    <a:sym typeface="Noto Sans"/>
                  </a:rPr>
                  <a:t>Stdio</a:t>
                </a:r>
                <a:r>
                  <a:rPr lang="en-US">
                    <a:highlight>
                      <a:srgbClr val="F1F5F9"/>
                    </a:highlight>
                    <a:latin typeface="Noto Sans"/>
                    <a:ea typeface="Noto Sans"/>
                    <a:cs typeface="Noto Sans"/>
                    <a:sym typeface="Noto Sans"/>
                  </a:rPr>
                  <a:t> </a:t>
                </a:r>
                <a:r>
                  <a:rPr lang="en-US" sz="1300">
                    <a:solidFill>
                      <a:srgbClr val="334155"/>
                    </a:solidFill>
                    <a:highlight>
                      <a:srgbClr val="F1F5F9"/>
                    </a:highlight>
                    <a:latin typeface="Noto Sans"/>
                    <a:ea typeface="Noto Sans"/>
                    <a:cs typeface="Noto Sans"/>
                    <a:sym typeface="Noto Sans"/>
                  </a:rPr>
                  <a:t>Local process communication via standard I/O</a:t>
                </a:r>
                <a:endParaRPr>
                  <a:highlight>
                    <a:srgbClr val="F1F5F9"/>
                  </a:highlight>
                  <a:latin typeface="Noto Sans"/>
                  <a:ea typeface="Noto Sans"/>
                  <a:cs typeface="Noto Sans"/>
                  <a:sym typeface="Noto Sans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300">
                    <a:solidFill>
                      <a:srgbClr val="0F1B2C"/>
                    </a:solidFill>
                    <a:highlight>
                      <a:srgbClr val="F1F5F9"/>
                    </a:highlight>
                    <a:latin typeface="Noto Sans"/>
                    <a:ea typeface="Noto Sans"/>
                    <a:cs typeface="Noto Sans"/>
                    <a:sym typeface="Noto Sans"/>
                  </a:rPr>
                  <a:t>Streamable HTTP</a:t>
                </a:r>
                <a:r>
                  <a:rPr lang="en-US">
                    <a:highlight>
                      <a:srgbClr val="F1F5F9"/>
                    </a:highlight>
                    <a:latin typeface="Noto Sans"/>
                    <a:ea typeface="Noto Sans"/>
                    <a:cs typeface="Noto Sans"/>
                    <a:sym typeface="Noto Sans"/>
                  </a:rPr>
                  <a:t> </a:t>
                </a:r>
                <a:r>
                  <a:rPr lang="en-US" sz="1300">
                    <a:solidFill>
                      <a:srgbClr val="334155"/>
                    </a:solidFill>
                    <a:highlight>
                      <a:srgbClr val="F1F5F9"/>
                    </a:highlight>
                    <a:latin typeface="Noto Sans"/>
                    <a:ea typeface="Noto Sans"/>
                    <a:cs typeface="Noto Sans"/>
                    <a:sym typeface="Noto Sans"/>
                  </a:rPr>
                  <a:t>Remote communication with Streamable HTTP</a:t>
                </a:r>
                <a:endParaRPr>
                  <a:highlight>
                    <a:srgbClr val="F1F5F9"/>
                  </a:highlight>
                  <a:latin typeface="Noto Sans"/>
                  <a:ea typeface="Noto Sans"/>
                  <a:cs typeface="Noto Sans"/>
                  <a:sym typeface="Noto Sans"/>
                </a:endParaRPr>
              </a:p>
            </p:txBody>
          </p:sp>
        </p:grpSp>
      </p:grpSp>
      <p:grpSp>
        <p:nvGrpSpPr>
          <p:cNvPr id="871" name="Google Shape;871;p21"/>
          <p:cNvGrpSpPr/>
          <p:nvPr/>
        </p:nvGrpSpPr>
        <p:grpSpPr>
          <a:xfrm>
            <a:off x="14287500" y="9334500"/>
            <a:ext cx="3238500" cy="400200"/>
            <a:chOff x="0" y="0"/>
            <a:chExt cx="3238500" cy="400200"/>
          </a:xfrm>
        </p:grpSpPr>
        <p:sp>
          <p:nvSpPr>
            <p:cNvPr id="872" name="Google Shape;872;p21"/>
            <p:cNvSpPr/>
            <p:nvPr/>
          </p:nvSpPr>
          <p:spPr>
            <a:xfrm>
              <a:off x="0" y="0"/>
              <a:ext cx="3238500" cy="400200"/>
            </a:xfrm>
            <a:prstGeom prst="roundRect">
              <a:avLst>
                <a:gd fmla="val 19047" name="adj"/>
              </a:avLst>
            </a:prstGeom>
            <a:solidFill>
              <a:srgbClr val="0F1B2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3" name="Google Shape;873;p21"/>
            <p:cNvSpPr txBox="1"/>
            <p:nvPr/>
          </p:nvSpPr>
          <p:spPr>
            <a:xfrm>
              <a:off x="0" y="0"/>
              <a:ext cx="32385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00AEEF"/>
                  </a:solidFill>
                  <a:latin typeface="Noto Sans"/>
                  <a:ea typeface="Noto Sans"/>
                  <a:cs typeface="Noto Sans"/>
                  <a:sym typeface="Noto Sans"/>
                </a:rPr>
                <a:t>Protocol Version: 2026-07-28</a:t>
              </a:r>
              <a:endParaRPr>
                <a:latin typeface="Noto Sans"/>
                <a:ea typeface="Noto Sans"/>
                <a:cs typeface="Noto Sans"/>
                <a:sym typeface="Noto Sans"/>
              </a:endParaRPr>
            </a:p>
          </p:txBody>
        </p:sp>
      </p:grp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>
                <a:solidFill>
                  <a:srgbClr val="0F1B2C"/>
                </a:solidFill>
                <a:latin typeface="Noto Sans"/>
              </a:rPr>
              <a:t>MCP Protocol Architecture (Host / Client / Server + layers)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508760"/>
            <a:ext cx="17007840" cy="1783080"/>
          </a:xfrm>
          <a:prstGeom prst="roundRect">
            <a:avLst>
              <a:gd name="adj" fmla="val 5000"/>
            </a:avLst>
          </a:prstGeom>
          <a:solidFill>
            <a:srgbClr val="0F1B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618488"/>
            <a:ext cx="1655064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1" i="0">
                <a:solidFill>
                  <a:srgbClr val="00AEEF"/>
                </a:solidFill>
                <a:latin typeface="Noto Sans"/>
              </a:rPr>
              <a:t>HOST — AI application  (LibreChat · Claude Desktop · Cursor)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1560" y="2167128"/>
            <a:ext cx="3017520" cy="868680"/>
          </a:xfrm>
          <a:prstGeom prst="roundRect">
            <a:avLst>
              <a:gd name="adj" fmla="val 16000"/>
            </a:avLst>
          </a:prstGeom>
          <a:solidFill>
            <a:srgbClr val="F8FAFC"/>
          </a:solidFill>
          <a:ln w="15875">
            <a:solidFill>
              <a:srgbClr val="00AE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250" b="1" i="0">
                <a:solidFill>
                  <a:srgbClr val="0F1B2C"/>
                </a:solidFill>
                <a:latin typeface="Noto Sans"/>
              </a:rPr>
              <a:t>MCP Client A</a:t>
            </a:r>
          </a:p>
          <a:p>
            <a:pPr algn="ctr"/>
            <a:r>
              <a:rPr sz="950" b="0" i="0">
                <a:solidFill>
                  <a:srgbClr val="64748B"/>
                </a:solidFill>
                <a:latin typeface="Noto Sans"/>
              </a:rPr>
              <a:t>1:1 connector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2167128"/>
            <a:ext cx="3657600" cy="868680"/>
          </a:xfrm>
          <a:prstGeom prst="roundRect">
            <a:avLst>
              <a:gd name="adj" fmla="val 16000"/>
            </a:avLst>
          </a:prstGeom>
          <a:solidFill>
            <a:srgbClr val="00A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300" b="1" i="0">
                <a:solidFill>
                  <a:srgbClr val="FFFFFF"/>
                </a:solidFill>
                <a:latin typeface="Noto Sans"/>
              </a:rPr>
              <a:t>LLM</a:t>
            </a:r>
          </a:p>
          <a:p>
            <a:pPr algn="ctr"/>
            <a:r>
              <a:rPr sz="950" b="0" i="0">
                <a:solidFill>
                  <a:srgbClr val="EAF7FD"/>
                </a:solidFill>
                <a:latin typeface="Noto Sans"/>
              </a:rPr>
              <a:t>reasons · picks tools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218920" y="2167128"/>
            <a:ext cx="3017520" cy="868680"/>
          </a:xfrm>
          <a:prstGeom prst="roundRect">
            <a:avLst>
              <a:gd name="adj" fmla="val 16000"/>
            </a:avLst>
          </a:prstGeom>
          <a:solidFill>
            <a:srgbClr val="F8FAFC"/>
          </a:solidFill>
          <a:ln w="15875">
            <a:solidFill>
              <a:srgbClr val="00AE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250" b="1" i="0">
                <a:solidFill>
                  <a:srgbClr val="0F1B2C"/>
                </a:solidFill>
                <a:latin typeface="Noto Sans"/>
              </a:rPr>
              <a:t>MCP Client B</a:t>
            </a:r>
          </a:p>
          <a:p>
            <a:pPr algn="ctr"/>
            <a:r>
              <a:rPr sz="950" b="0" i="0">
                <a:solidFill>
                  <a:srgbClr val="64748B"/>
                </a:solidFill>
                <a:latin typeface="Noto Sans"/>
              </a:rPr>
              <a:t>1:1 connector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069080" y="2601468"/>
            <a:ext cx="3246120" cy="0"/>
          </a:xfrm>
          <a:prstGeom prst="line">
            <a:avLst/>
          </a:prstGeom>
          <a:ln w="15875">
            <a:solidFill>
              <a:srgbClr val="38BDF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0972800" y="2601468"/>
            <a:ext cx="3246120" cy="0"/>
          </a:xfrm>
          <a:prstGeom prst="line">
            <a:avLst/>
          </a:prstGeom>
          <a:ln w="15875">
            <a:solidFill>
              <a:srgbClr val="38BDF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40080" y="3977639"/>
            <a:ext cx="10058400" cy="25146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" y="3977639"/>
            <a:ext cx="10058400" cy="566928"/>
          </a:xfrm>
          <a:prstGeom prst="roundRect">
            <a:avLst>
              <a:gd name="adj" fmla="val 4500"/>
            </a:avLst>
          </a:prstGeom>
          <a:solidFill>
            <a:srgbClr val="0F1B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250" b="1" i="0">
                <a:solidFill>
                  <a:srgbClr val="FFFFFF"/>
                </a:solidFill>
                <a:latin typeface="Noto Sans"/>
              </a:rPr>
              <a:t>SERVER 1 — Router MCP server (ours)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0119" y="4754879"/>
            <a:ext cx="2956560" cy="1508760"/>
          </a:xfrm>
          <a:prstGeom prst="roundRect">
            <a:avLst>
              <a:gd name="adj" fmla="val 9000"/>
            </a:avLst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124711" y="4937759"/>
            <a:ext cx="201168" cy="201168"/>
          </a:xfrm>
          <a:prstGeom prst="roundRect">
            <a:avLst>
              <a:gd name="adj" fmla="val 50000"/>
            </a:avLst>
          </a:prstGeom>
          <a:solidFill>
            <a:srgbClr val="00A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17319" y="4882895"/>
            <a:ext cx="240792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250" b="1" i="0">
                <a:solidFill>
                  <a:srgbClr val="0F1B2C"/>
                </a:solidFill>
                <a:latin typeface="Noto Sans"/>
              </a:rPr>
              <a:t>Tools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4711" y="5321807"/>
            <a:ext cx="2627376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50" b="0" i="0">
                <a:solidFill>
                  <a:srgbClr val="334155"/>
                </a:solidFill>
                <a:latin typeface="Noto Sans"/>
              </a:rPr>
              <a:t>get_interfaces · configure_interface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1" y="5879592"/>
            <a:ext cx="2627376" cy="320040"/>
          </a:xfrm>
          <a:prstGeom prst="rect">
            <a:avLst/>
          </a:prstGeom>
          <a:noFill/>
        </p:spPr>
        <p:txBody>
          <a:bodyPr wrap="square" anchor="b" lIns="50800" rIns="50800" tIns="25400" bIns="25400">
            <a:spAutoFit/>
          </a:bodyPr>
          <a:lstStyle/>
          <a:p>
            <a:pPr algn="l"/>
            <a:r>
              <a:rPr sz="850" b="0" i="1">
                <a:solidFill>
                  <a:srgbClr val="64748B"/>
                </a:solidFill>
                <a:latin typeface="Noto Sans"/>
              </a:rPr>
              <a:t>controlled by the MODEL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91000" y="4754879"/>
            <a:ext cx="2956560" cy="1508760"/>
          </a:xfrm>
          <a:prstGeom prst="roundRect">
            <a:avLst>
              <a:gd name="adj" fmla="val 9000"/>
            </a:avLst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355592" y="4937759"/>
            <a:ext cx="201168" cy="201168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48200" y="4882895"/>
            <a:ext cx="240792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250" b="1" i="0">
                <a:solidFill>
                  <a:srgbClr val="0F1B2C"/>
                </a:solidFill>
                <a:latin typeface="Noto Sans"/>
              </a:rPr>
              <a:t>Resources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55592" y="5321807"/>
            <a:ext cx="2627376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50" b="0" i="0">
                <a:solidFill>
                  <a:srgbClr val="334155"/>
                </a:solidFill>
                <a:latin typeface="Noto Sans"/>
              </a:rPr>
              <a:t>router://running-config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55592" y="5879592"/>
            <a:ext cx="2627376" cy="320040"/>
          </a:xfrm>
          <a:prstGeom prst="rect">
            <a:avLst/>
          </a:prstGeom>
          <a:noFill/>
        </p:spPr>
        <p:txBody>
          <a:bodyPr wrap="square" anchor="b" lIns="50800" rIns="50800" tIns="25400" bIns="25400">
            <a:spAutoFit/>
          </a:bodyPr>
          <a:lstStyle/>
          <a:p>
            <a:pPr algn="l"/>
            <a:r>
              <a:rPr sz="850" b="0" i="1">
                <a:solidFill>
                  <a:srgbClr val="64748B"/>
                </a:solidFill>
                <a:latin typeface="Noto Sans"/>
              </a:rPr>
              <a:t>controlled by the APP / USER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21880" y="4754879"/>
            <a:ext cx="2956560" cy="1508760"/>
          </a:xfrm>
          <a:prstGeom prst="roundRect">
            <a:avLst>
              <a:gd name="adj" fmla="val 9000"/>
            </a:avLst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586472" y="4937759"/>
            <a:ext cx="201168" cy="201168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79080" y="4882895"/>
            <a:ext cx="240792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250" b="1" i="0">
                <a:solidFill>
                  <a:srgbClr val="0F1B2C"/>
                </a:solidFill>
                <a:latin typeface="Noto Sans"/>
              </a:rPr>
              <a:t>Prompts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6472" y="5321807"/>
            <a:ext cx="2627376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50" b="0" i="0">
                <a:solidFill>
                  <a:srgbClr val="334155"/>
                </a:solidFill>
                <a:latin typeface="Noto Sans"/>
              </a:rPr>
              <a:t>/troubleshoot_interface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6472" y="5879592"/>
            <a:ext cx="2627376" cy="320040"/>
          </a:xfrm>
          <a:prstGeom prst="rect">
            <a:avLst/>
          </a:prstGeom>
          <a:noFill/>
        </p:spPr>
        <p:txBody>
          <a:bodyPr wrap="square" anchor="b" lIns="50800" rIns="50800" tIns="25400" bIns="25400">
            <a:spAutoFit/>
          </a:bodyPr>
          <a:lstStyle/>
          <a:p>
            <a:pPr algn="l"/>
            <a:r>
              <a:rPr sz="850" b="0" i="1">
                <a:solidFill>
                  <a:srgbClr val="64748B"/>
                </a:solidFill>
                <a:latin typeface="Noto Sans"/>
              </a:rPr>
              <a:t>controlled by the USER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1155680" y="3977639"/>
            <a:ext cx="6492240" cy="25146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11155680" y="3977639"/>
            <a:ext cx="6492240" cy="566928"/>
          </a:xfrm>
          <a:prstGeom prst="roundRect">
            <a:avLst>
              <a:gd name="adj" fmla="val 4500"/>
            </a:avLst>
          </a:prstGeom>
          <a:solidFill>
            <a:srgbClr val="1E2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Noto Sans"/>
              </a:rPr>
              <a:t>SERVER 2 — another MCP server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1521440" y="4846320"/>
            <a:ext cx="5760720" cy="1371600"/>
          </a:xfrm>
          <a:prstGeom prst="roundRect">
            <a:avLst>
              <a:gd name="adj" fmla="val 7000"/>
            </a:avLst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200" b="1" i="0">
                <a:solidFill>
                  <a:srgbClr val="0F1B2C"/>
                </a:solidFill>
                <a:latin typeface="Noto Sans"/>
              </a:rPr>
              <a:t>Tools · Resources · Prompts</a:t>
            </a:r>
          </a:p>
          <a:p>
            <a:pPr algn="ctr"/>
            <a:r>
              <a:rPr sz="950" b="0" i="1">
                <a:solidFill>
                  <a:srgbClr val="64748B"/>
                </a:solidFill>
                <a:latin typeface="Noto Sans"/>
              </a:rPr>
              <a:t>same protocol, built once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2560320" y="3035808"/>
            <a:ext cx="3108960" cy="941831"/>
          </a:xfrm>
          <a:prstGeom prst="line">
            <a:avLst/>
          </a:prstGeom>
          <a:ln w="31750">
            <a:solidFill>
              <a:srgbClr val="00AEE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2926080" y="3323844"/>
            <a:ext cx="2194560" cy="3200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000" b="1" i="0">
                <a:solidFill>
                  <a:srgbClr val="00AEEF"/>
                </a:solidFill>
                <a:latin typeface="Noto Sans"/>
              </a:rPr>
              <a:t>MCP · 1:1</a:t>
            </a:r>
          </a:p>
        </p:txBody>
      </p:sp>
      <p:cxnSp>
        <p:nvCxnSpPr>
          <p:cNvPr id="32" name="Connector 31"/>
          <p:cNvCxnSpPr/>
          <p:nvPr/>
        </p:nvCxnSpPr>
        <p:spPr>
          <a:xfrm flipH="1">
            <a:off x="14356080" y="3035808"/>
            <a:ext cx="1371600" cy="941831"/>
          </a:xfrm>
          <a:prstGeom prst="line">
            <a:avLst/>
          </a:prstGeom>
          <a:ln w="31750">
            <a:solidFill>
              <a:srgbClr val="00AEE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14630400" y="3323844"/>
            <a:ext cx="2194560" cy="3200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000" b="1" i="0">
                <a:solidFill>
                  <a:srgbClr val="00AEEF"/>
                </a:solidFill>
                <a:latin typeface="Noto Sans"/>
              </a:rPr>
              <a:t>MCP · 1:1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" y="6858000"/>
            <a:ext cx="17007840" cy="173736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68680" y="6949440"/>
            <a:ext cx="1655064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50" b="1" i="0">
                <a:solidFill>
                  <a:srgbClr val="0F1B2C"/>
                </a:solidFill>
                <a:latin typeface="Noto Sans"/>
              </a:rPr>
              <a:t>Every Client ↔ Server link runs on two layers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60119" y="7424927"/>
            <a:ext cx="7955280" cy="960120"/>
          </a:xfrm>
          <a:prstGeom prst="roundRect">
            <a:avLst>
              <a:gd name="adj" fmla="val 7000"/>
            </a:avLst>
          </a:prstGeom>
          <a:solidFill>
            <a:srgbClr val="0F1B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200" b="1" i="0">
                <a:solidFill>
                  <a:srgbClr val="00AEEF"/>
                </a:solidFill>
                <a:latin typeface="Noto Sans"/>
              </a:rPr>
              <a:t>DATA LAYER — JSON-RPC 2.0</a:t>
            </a:r>
          </a:p>
          <a:p>
            <a:pPr algn="ctr"/>
            <a:r>
              <a:rPr sz="950" b="0" i="0">
                <a:solidFill>
                  <a:srgbClr val="CBD5E1"/>
                </a:solidFill>
                <a:latin typeface="Noto Sans"/>
              </a:rPr>
              <a:t>lifecycle · tools / resources / prompts · notifications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372600" y="7424927"/>
            <a:ext cx="7955280" cy="960120"/>
          </a:xfrm>
          <a:prstGeom prst="roundRect">
            <a:avLst>
              <a:gd name="adj" fmla="val 7000"/>
            </a:avLst>
          </a:prstGeom>
          <a:solidFill>
            <a:srgbClr val="00A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Noto Sans"/>
              </a:rPr>
              <a:t>TRANSPORT LAYER</a:t>
            </a:r>
          </a:p>
          <a:p>
            <a:pPr algn="ctr"/>
            <a:r>
              <a:rPr sz="950" b="0" i="0">
                <a:solidFill>
                  <a:srgbClr val="EAF7FD"/>
                </a:solidFill>
                <a:latin typeface="Noto Sans"/>
              </a:rPr>
              <a:t>stdio (local subprocess) · Streamable HTTP (remote: POST + SSE)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5669280" y="6492240"/>
            <a:ext cx="0" cy="365760"/>
          </a:xfrm>
          <a:prstGeom prst="line">
            <a:avLst/>
          </a:prstGeom>
          <a:ln w="19050">
            <a:solidFill>
              <a:srgbClr val="00AEEF"/>
            </a:solidFill>
            <a:prstDash val="sys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5852160" y="6510528"/>
            <a:ext cx="1828800" cy="2743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50" b="0" i="1">
                <a:solidFill>
                  <a:srgbClr val="64748B"/>
                </a:solidFill>
                <a:latin typeface="Noto Sans"/>
              </a:rPr>
              <a:t>runs on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0080" y="8796528"/>
            <a:ext cx="17007840" cy="566928"/>
          </a:xfrm>
          <a:prstGeom prst="roundRect">
            <a:avLst>
              <a:gd name="adj" fmla="val 9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050" b="0" i="0">
                <a:solidFill>
                  <a:srgbClr val="334155"/>
                </a:solidFill>
                <a:latin typeface="Noto Sans"/>
              </a:rPr>
              <a:t>In the lab:  LibreChat  →  Streamable HTTP  →  :8000/mcp (Bearer)  →  MCP server  →  SSH  →  Router1 (172.18.2.6)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77" name="Shape 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" name="Google Shape;878;p18"/>
          <p:cNvSpPr txBox="1"/>
          <p:nvPr/>
        </p:nvSpPr>
        <p:spPr>
          <a:xfrm>
            <a:off x="762000" y="666750"/>
            <a:ext cx="114300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00AEEF"/>
                </a:solidFill>
                <a:latin typeface="Noto Sans"/>
                <a:ea typeface="Noto Sans"/>
                <a:cs typeface="Noto Sans"/>
                <a:sym typeface="Noto Sans"/>
              </a:rPr>
              <a:t>MCP</a:t>
            </a:r>
            <a:endParaRPr b="1" sz="1600">
              <a:solidFill>
                <a:srgbClr val="00AEEF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lang="en-US" sz="4200">
                <a:solidFill>
                  <a:srgbClr val="0F1B2C"/>
                </a:solidFill>
                <a:latin typeface="Noto Sans"/>
                <a:ea typeface="Noto Sans"/>
                <a:cs typeface="Noto Sans"/>
                <a:sym typeface="Noto Sans"/>
              </a:rPr>
              <a:t>Core Capabilities</a:t>
            </a:r>
            <a:endParaRPr b="1" sz="4200">
              <a:solidFill>
                <a:srgbClr val="0F1B2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1" lang="en-US" sz="1800">
                <a:solidFill>
                  <a:srgbClr val="475569"/>
                </a:solidFill>
                <a:latin typeface="Noto Sans"/>
                <a:ea typeface="Noto Sans"/>
                <a:cs typeface="Noto Sans"/>
                <a:sym typeface="Noto Sans"/>
              </a:rPr>
              <a:t>Standardized protocol primitives for AI-tool integration</a:t>
            </a:r>
            <a:endParaRPr b="0" i="1" sz="1800">
              <a:solidFill>
                <a:srgbClr val="475569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grpSp>
        <p:nvGrpSpPr>
          <p:cNvPr id="879" name="Google Shape;879;p18"/>
          <p:cNvGrpSpPr/>
          <p:nvPr/>
        </p:nvGrpSpPr>
        <p:grpSpPr>
          <a:xfrm>
            <a:off x="762000" y="2476500"/>
            <a:ext cx="5143500" cy="6286500"/>
            <a:chOff x="0" y="0"/>
            <a:chExt cx="5143500" cy="6286500"/>
          </a:xfrm>
        </p:grpSpPr>
        <p:sp>
          <p:nvSpPr>
            <p:cNvPr id="880" name="Google Shape;880;p18"/>
            <p:cNvSpPr/>
            <p:nvPr/>
          </p:nvSpPr>
          <p:spPr>
            <a:xfrm>
              <a:off x="0" y="0"/>
              <a:ext cx="5143500" cy="6286500"/>
            </a:xfrm>
            <a:prstGeom prst="roundRect">
              <a:avLst>
                <a:gd fmla="val 2962" name="adj"/>
              </a:avLst>
            </a:prstGeom>
            <a:solidFill>
              <a:srgbClr val="FFFFFF"/>
            </a:solidFill>
            <a:ln cap="flat" cmpd="sng" w="190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1" name="Google Shape;881;p18"/>
            <p:cNvSpPr/>
            <p:nvPr/>
          </p:nvSpPr>
          <p:spPr>
            <a:xfrm>
              <a:off x="0" y="0"/>
              <a:ext cx="5143500" cy="1047900"/>
            </a:xfrm>
            <a:custGeom>
              <a:rect b="b" l="l" r="r" t="t"/>
              <a:pathLst>
                <a:path extrusionOk="0" h="120000" w="120000">
                  <a:moveTo>
                    <a:pt x="0" y="17455"/>
                  </a:moveTo>
                  <a:cubicBezTo>
                    <a:pt x="0" y="7811"/>
                    <a:pt x="1591" y="0"/>
                    <a:pt x="3556" y="0"/>
                  </a:cubicBezTo>
                  <a:lnTo>
                    <a:pt x="116444" y="0"/>
                  </a:lnTo>
                  <a:cubicBezTo>
                    <a:pt x="118409" y="0"/>
                    <a:pt x="120000" y="7811"/>
                    <a:pt x="120000" y="17455"/>
                  </a:cubicBezTo>
                  <a:lnTo>
                    <a:pt x="12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0F1B2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2" name="Google Shape;882;p18"/>
            <p:cNvSpPr txBox="1"/>
            <p:nvPr/>
          </p:nvSpPr>
          <p:spPr>
            <a:xfrm>
              <a:off x="285750" y="228600"/>
              <a:ext cx="4572000" cy="6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>
                  <a:solidFill>
                    <a:srgbClr val="00AEEF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build </a:t>
              </a:r>
              <a:r>
                <a:rPr b="1" lang="en-US" sz="2600">
                  <a:solidFill>
                    <a:srgbClr val="FFFFFF"/>
                  </a:solidFill>
                  <a:latin typeface="Noto Sans"/>
                  <a:ea typeface="Noto Sans"/>
                  <a:cs typeface="Noto Sans"/>
                  <a:sym typeface="Noto Sans"/>
                </a:rPr>
                <a:t>Tools</a:t>
              </a:r>
              <a:endParaRPr>
                <a:latin typeface="Noto Sans"/>
                <a:ea typeface="Noto Sans"/>
                <a:cs typeface="Noto Sans"/>
                <a:sym typeface="Noto Sans"/>
              </a:endParaRPr>
            </a:p>
          </p:txBody>
        </p:sp>
        <p:sp>
          <p:nvSpPr>
            <p:cNvPr id="883" name="Google Shape;883;p18"/>
            <p:cNvSpPr txBox="1"/>
            <p:nvPr/>
          </p:nvSpPr>
          <p:spPr>
            <a:xfrm>
              <a:off x="304800" y="1333500"/>
              <a:ext cx="4533900" cy="4572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0F1B2C"/>
                  </a:solidFill>
                  <a:latin typeface="Noto Sans"/>
                  <a:ea typeface="Noto Sans"/>
                  <a:cs typeface="Noto Sans"/>
                  <a:sym typeface="Noto Sans"/>
                </a:rPr>
                <a:t>Function calling and execution</a:t>
              </a:r>
              <a:endParaRPr b="1" sz="1600">
                <a:solidFill>
                  <a:srgbClr val="0F1B2C"/>
                </a:solidFill>
                <a:latin typeface="Noto Sans"/>
                <a:ea typeface="Noto Sans"/>
                <a:cs typeface="Noto Sans"/>
                <a:sym typeface="Noto San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64748B"/>
                  </a:solidFill>
                  <a:latin typeface="Noto Sans"/>
                  <a:ea typeface="Noto Sans"/>
                  <a:cs typeface="Noto Sans"/>
                  <a:sym typeface="Noto Sans"/>
                </a:rPr>
                <a:t>Execute client-side logic and deterministic operations</a:t>
              </a:r>
              <a:endParaRPr b="0" sz="1200">
                <a:solidFill>
                  <a:srgbClr val="64748B"/>
                </a:solidFill>
                <a:latin typeface="Noto Sans"/>
                <a:ea typeface="Noto Sans"/>
                <a:cs typeface="Noto Sans"/>
                <a:sym typeface="Noto Sans"/>
              </a:endParaRPr>
            </a:p>
            <a:p>
              <a:pPr indent="0" lvl="0" marL="0" rtl="0" algn="l">
                <a:spcBef>
                  <a:spcPts val="220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0F1B2C"/>
                  </a:solidFill>
                  <a:latin typeface="Noto Sans"/>
                  <a:ea typeface="Noto Sans"/>
                  <a:cs typeface="Noto Sans"/>
                  <a:sym typeface="Noto Sans"/>
                </a:rPr>
                <a:t>Dynamic tool discovery</a:t>
              </a:r>
              <a:endParaRPr b="1" sz="1600">
                <a:solidFill>
                  <a:srgbClr val="0F1B2C"/>
                </a:solidFill>
                <a:latin typeface="Noto Sans"/>
                <a:ea typeface="Noto Sans"/>
                <a:cs typeface="Noto Sans"/>
                <a:sym typeface="Noto San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64748B"/>
                  </a:solidFill>
                  <a:latin typeface="Noto Sans"/>
                  <a:ea typeface="Noto Sans"/>
                  <a:cs typeface="Noto Sans"/>
                  <a:sym typeface="Noto Sans"/>
                </a:rPr>
                <a:t>Runtime capability inspection and real-time listing</a:t>
              </a:r>
              <a:endParaRPr b="0" sz="1200">
                <a:solidFill>
                  <a:srgbClr val="64748B"/>
                </a:solidFill>
                <a:latin typeface="Noto Sans"/>
                <a:ea typeface="Noto Sans"/>
                <a:cs typeface="Noto Sans"/>
                <a:sym typeface="Noto Sans"/>
              </a:endParaRPr>
            </a:p>
            <a:p>
              <a:pPr indent="0" lvl="0" marL="0" rtl="0" algn="l">
                <a:spcBef>
                  <a:spcPts val="220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0F1B2C"/>
                  </a:solidFill>
                  <a:latin typeface="Noto Sans"/>
                  <a:ea typeface="Noto Sans"/>
                  <a:cs typeface="Noto Sans"/>
                  <a:sym typeface="Noto Sans"/>
                </a:rPr>
                <a:t>Structured input/output schemas</a:t>
              </a:r>
              <a:endParaRPr b="1" sz="1600">
                <a:solidFill>
                  <a:srgbClr val="0F1B2C"/>
                </a:solidFill>
                <a:latin typeface="Noto Sans"/>
                <a:ea typeface="Noto Sans"/>
                <a:cs typeface="Noto Sans"/>
                <a:sym typeface="Noto San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64748B"/>
                  </a:solidFill>
                  <a:latin typeface="Noto Sans"/>
                  <a:ea typeface="Noto Sans"/>
                  <a:cs typeface="Noto Sans"/>
                  <a:sym typeface="Noto Sans"/>
                </a:rPr>
                <a:t>JSON Schema validation for robust type safety</a:t>
              </a:r>
              <a:endParaRPr b="0" sz="1200">
                <a:solidFill>
                  <a:srgbClr val="64748B"/>
                </a:solidFill>
                <a:latin typeface="Noto Sans"/>
                <a:ea typeface="Noto Sans"/>
                <a:cs typeface="Noto Sans"/>
                <a:sym typeface="Noto Sans"/>
              </a:endParaRPr>
            </a:p>
            <a:p>
              <a:pPr indent="0" lvl="0" marL="0" rtl="0" algn="l">
                <a:spcBef>
                  <a:spcPts val="220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0F1B2C"/>
                  </a:solidFill>
                  <a:latin typeface="Noto Sans"/>
                  <a:ea typeface="Noto Sans"/>
                  <a:cs typeface="Noto Sans"/>
                  <a:sym typeface="Noto Sans"/>
                </a:rPr>
                <a:t>Multi-modal result types</a:t>
              </a:r>
              <a:endParaRPr b="1" sz="1600">
                <a:solidFill>
                  <a:srgbClr val="0F1B2C"/>
                </a:solidFill>
                <a:latin typeface="Noto Sans"/>
                <a:ea typeface="Noto Sans"/>
                <a:cs typeface="Noto Sans"/>
                <a:sym typeface="Noto San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64748B"/>
                  </a:solidFill>
                  <a:latin typeface="Noto Sans"/>
                  <a:ea typeface="Noto Sans"/>
                  <a:cs typeface="Noto Sans"/>
                  <a:sym typeface="Noto Sans"/>
                </a:rPr>
                <a:t>Support for text, image, and embedded content responses</a:t>
              </a:r>
              <a:endParaRPr b="0" sz="1200">
                <a:solidFill>
                  <a:srgbClr val="64748B"/>
                </a:solidFill>
                <a:latin typeface="Noto Sans"/>
                <a:ea typeface="Noto Sans"/>
                <a:cs typeface="Noto Sans"/>
                <a:sym typeface="Noto Sans"/>
              </a:endParaRPr>
            </a:p>
          </p:txBody>
        </p:sp>
      </p:grpSp>
      <p:grpSp>
        <p:nvGrpSpPr>
          <p:cNvPr id="884" name="Google Shape;884;p18"/>
          <p:cNvGrpSpPr/>
          <p:nvPr/>
        </p:nvGrpSpPr>
        <p:grpSpPr>
          <a:xfrm>
            <a:off x="6572250" y="2476500"/>
            <a:ext cx="5143500" cy="6286500"/>
            <a:chOff x="0" y="0"/>
            <a:chExt cx="5143500" cy="6286500"/>
          </a:xfrm>
        </p:grpSpPr>
        <p:sp>
          <p:nvSpPr>
            <p:cNvPr id="885" name="Google Shape;885;p18"/>
            <p:cNvSpPr/>
            <p:nvPr/>
          </p:nvSpPr>
          <p:spPr>
            <a:xfrm>
              <a:off x="0" y="0"/>
              <a:ext cx="5143500" cy="6286500"/>
            </a:xfrm>
            <a:prstGeom prst="roundRect">
              <a:avLst>
                <a:gd fmla="val 2962" name="adj"/>
              </a:avLst>
            </a:prstGeom>
            <a:solidFill>
              <a:srgbClr val="FFFFFF"/>
            </a:solidFill>
            <a:ln cap="flat" cmpd="sng" w="190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6" name="Google Shape;886;p18"/>
            <p:cNvSpPr/>
            <p:nvPr/>
          </p:nvSpPr>
          <p:spPr>
            <a:xfrm>
              <a:off x="0" y="0"/>
              <a:ext cx="5143500" cy="1047900"/>
            </a:xfrm>
            <a:custGeom>
              <a:rect b="b" l="l" r="r" t="t"/>
              <a:pathLst>
                <a:path extrusionOk="0" h="120000" w="120000">
                  <a:moveTo>
                    <a:pt x="0" y="17455"/>
                  </a:moveTo>
                  <a:cubicBezTo>
                    <a:pt x="0" y="7811"/>
                    <a:pt x="1591" y="0"/>
                    <a:pt x="3556" y="0"/>
                  </a:cubicBezTo>
                  <a:lnTo>
                    <a:pt x="116444" y="0"/>
                  </a:lnTo>
                  <a:cubicBezTo>
                    <a:pt x="118409" y="0"/>
                    <a:pt x="120000" y="7811"/>
                    <a:pt x="120000" y="17455"/>
                  </a:cubicBezTo>
                  <a:lnTo>
                    <a:pt x="12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0F1B2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7" name="Google Shape;887;p18"/>
            <p:cNvSpPr txBox="1"/>
            <p:nvPr/>
          </p:nvSpPr>
          <p:spPr>
            <a:xfrm>
              <a:off x="285750" y="228600"/>
              <a:ext cx="4572000" cy="6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>
                  <a:solidFill>
                    <a:srgbClr val="00AEEF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folder_open </a:t>
              </a:r>
              <a:r>
                <a:rPr b="1" lang="en-US" sz="2600">
                  <a:solidFill>
                    <a:srgbClr val="FFFFFF"/>
                  </a:solidFill>
                  <a:latin typeface="Noto Sans"/>
                  <a:ea typeface="Noto Sans"/>
                  <a:cs typeface="Noto Sans"/>
                  <a:sym typeface="Noto Sans"/>
                </a:rPr>
                <a:t>Resources</a:t>
              </a:r>
              <a:endParaRPr>
                <a:latin typeface="Noto Sans"/>
                <a:ea typeface="Noto Sans"/>
                <a:cs typeface="Noto Sans"/>
                <a:sym typeface="Noto Sans"/>
              </a:endParaRPr>
            </a:p>
          </p:txBody>
        </p:sp>
        <p:sp>
          <p:nvSpPr>
            <p:cNvPr id="888" name="Google Shape;888;p18"/>
            <p:cNvSpPr txBox="1"/>
            <p:nvPr/>
          </p:nvSpPr>
          <p:spPr>
            <a:xfrm>
              <a:off x="304800" y="1333500"/>
              <a:ext cx="4533900" cy="4572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0F1B2C"/>
                  </a:solidFill>
                  <a:latin typeface="Noto Sans"/>
                  <a:ea typeface="Noto Sans"/>
                  <a:cs typeface="Noto Sans"/>
                  <a:sym typeface="Noto Sans"/>
                </a:rPr>
                <a:t>Contextual data access</a:t>
              </a:r>
              <a:endParaRPr b="1" sz="1600">
                <a:solidFill>
                  <a:srgbClr val="0F1B2C"/>
                </a:solidFill>
                <a:latin typeface="Noto Sans"/>
                <a:ea typeface="Noto Sans"/>
                <a:cs typeface="Noto Sans"/>
                <a:sym typeface="Noto San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64748B"/>
                  </a:solidFill>
                  <a:latin typeface="Noto Sans"/>
                  <a:ea typeface="Noto Sans"/>
                  <a:cs typeface="Noto Sans"/>
                  <a:sym typeface="Noto Sans"/>
                </a:rPr>
                <a:t>Expose files, logs, and live application data to models</a:t>
              </a:r>
              <a:endParaRPr b="0" sz="1200">
                <a:solidFill>
                  <a:srgbClr val="64748B"/>
                </a:solidFill>
                <a:latin typeface="Noto Sans"/>
                <a:ea typeface="Noto Sans"/>
                <a:cs typeface="Noto Sans"/>
                <a:sym typeface="Noto Sans"/>
              </a:endParaRPr>
            </a:p>
            <a:p>
              <a:pPr indent="0" lvl="0" marL="0" rtl="0" algn="l">
                <a:spcBef>
                  <a:spcPts val="220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0F1B2C"/>
                  </a:solidFill>
                  <a:latin typeface="Noto Sans"/>
                  <a:ea typeface="Noto Sans"/>
                  <a:cs typeface="Noto Sans"/>
                  <a:sym typeface="Noto Sans"/>
                </a:rPr>
                <a:t>File and database integration</a:t>
              </a:r>
              <a:endParaRPr b="1" sz="1600">
                <a:solidFill>
                  <a:srgbClr val="0F1B2C"/>
                </a:solidFill>
                <a:latin typeface="Noto Sans"/>
                <a:ea typeface="Noto Sans"/>
                <a:cs typeface="Noto Sans"/>
                <a:sym typeface="Noto San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64748B"/>
                  </a:solidFill>
                  <a:latin typeface="Noto Sans"/>
                  <a:ea typeface="Noto Sans"/>
                  <a:cs typeface="Noto Sans"/>
                  <a:sym typeface="Noto Sans"/>
                </a:rPr>
                <a:t>Standardized URI patterns for heterogeneous sources</a:t>
              </a:r>
              <a:endParaRPr b="0" sz="1200">
                <a:solidFill>
                  <a:srgbClr val="64748B"/>
                </a:solidFill>
                <a:latin typeface="Noto Sans"/>
                <a:ea typeface="Noto Sans"/>
                <a:cs typeface="Noto Sans"/>
                <a:sym typeface="Noto Sans"/>
              </a:endParaRPr>
            </a:p>
            <a:p>
              <a:pPr indent="0" lvl="0" marL="0" rtl="0" algn="l">
                <a:spcBef>
                  <a:spcPts val="220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0F1B2C"/>
                  </a:solidFill>
                  <a:latin typeface="Noto Sans"/>
                  <a:ea typeface="Noto Sans"/>
                  <a:cs typeface="Noto Sans"/>
                  <a:sym typeface="Noto Sans"/>
                </a:rPr>
                <a:t>Real-time resource updates</a:t>
              </a:r>
              <a:endParaRPr b="1" sz="1600">
                <a:solidFill>
                  <a:srgbClr val="0F1B2C"/>
                </a:solidFill>
                <a:latin typeface="Noto Sans"/>
                <a:ea typeface="Noto Sans"/>
                <a:cs typeface="Noto Sans"/>
                <a:sym typeface="Noto San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64748B"/>
                  </a:solidFill>
                  <a:latin typeface="Noto Sans"/>
                  <a:ea typeface="Noto Sans"/>
                  <a:cs typeface="Noto Sans"/>
                  <a:sym typeface="Noto Sans"/>
                </a:rPr>
                <a:t>Dynamic content updates during active session streams</a:t>
              </a:r>
              <a:endParaRPr b="0" sz="1200">
                <a:solidFill>
                  <a:srgbClr val="64748B"/>
                </a:solidFill>
                <a:latin typeface="Noto Sans"/>
                <a:ea typeface="Noto Sans"/>
                <a:cs typeface="Noto Sans"/>
                <a:sym typeface="Noto Sans"/>
              </a:endParaRPr>
            </a:p>
            <a:p>
              <a:pPr indent="0" lvl="0" marL="0" rtl="0" algn="l">
                <a:spcBef>
                  <a:spcPts val="220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0F1B2C"/>
                  </a:solidFill>
                  <a:latin typeface="Noto Sans"/>
                  <a:ea typeface="Noto Sans"/>
                  <a:cs typeface="Noto Sans"/>
                  <a:sym typeface="Noto Sans"/>
                </a:rPr>
                <a:t>Subscription-based notifications</a:t>
              </a:r>
              <a:endParaRPr b="1" sz="1600">
                <a:solidFill>
                  <a:srgbClr val="0F1B2C"/>
                </a:solidFill>
                <a:latin typeface="Noto Sans"/>
                <a:ea typeface="Noto Sans"/>
                <a:cs typeface="Noto Sans"/>
                <a:sym typeface="Noto San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64748B"/>
                  </a:solidFill>
                  <a:latin typeface="Noto Sans"/>
                  <a:ea typeface="Noto Sans"/>
                  <a:cs typeface="Noto Sans"/>
                  <a:sym typeface="Noto Sans"/>
                </a:rPr>
                <a:t>Client event listeners for underlying data changes</a:t>
              </a:r>
              <a:endParaRPr b="0" sz="1200">
                <a:solidFill>
                  <a:srgbClr val="64748B"/>
                </a:solidFill>
                <a:latin typeface="Noto Sans"/>
                <a:ea typeface="Noto Sans"/>
                <a:cs typeface="Noto Sans"/>
                <a:sym typeface="Noto Sans"/>
              </a:endParaRPr>
            </a:p>
          </p:txBody>
        </p:sp>
      </p:grpSp>
      <p:grpSp>
        <p:nvGrpSpPr>
          <p:cNvPr id="889" name="Google Shape;889;p18"/>
          <p:cNvGrpSpPr/>
          <p:nvPr/>
        </p:nvGrpSpPr>
        <p:grpSpPr>
          <a:xfrm>
            <a:off x="12382500" y="2476500"/>
            <a:ext cx="5143500" cy="6286500"/>
            <a:chOff x="0" y="0"/>
            <a:chExt cx="5143500" cy="6286500"/>
          </a:xfrm>
        </p:grpSpPr>
        <p:sp>
          <p:nvSpPr>
            <p:cNvPr id="890" name="Google Shape;890;p18"/>
            <p:cNvSpPr/>
            <p:nvPr/>
          </p:nvSpPr>
          <p:spPr>
            <a:xfrm>
              <a:off x="0" y="0"/>
              <a:ext cx="5143500" cy="6286500"/>
            </a:xfrm>
            <a:prstGeom prst="roundRect">
              <a:avLst>
                <a:gd fmla="val 2962" name="adj"/>
              </a:avLst>
            </a:prstGeom>
            <a:solidFill>
              <a:srgbClr val="FFFFFF"/>
            </a:solidFill>
            <a:ln cap="flat" cmpd="sng" w="190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1" name="Google Shape;891;p18"/>
            <p:cNvSpPr/>
            <p:nvPr/>
          </p:nvSpPr>
          <p:spPr>
            <a:xfrm>
              <a:off x="0" y="0"/>
              <a:ext cx="5143500" cy="1047900"/>
            </a:xfrm>
            <a:custGeom>
              <a:rect b="b" l="l" r="r" t="t"/>
              <a:pathLst>
                <a:path extrusionOk="0" h="120000" w="120000">
                  <a:moveTo>
                    <a:pt x="0" y="17455"/>
                  </a:moveTo>
                  <a:cubicBezTo>
                    <a:pt x="0" y="7811"/>
                    <a:pt x="1591" y="0"/>
                    <a:pt x="3556" y="0"/>
                  </a:cubicBezTo>
                  <a:lnTo>
                    <a:pt x="116444" y="0"/>
                  </a:lnTo>
                  <a:cubicBezTo>
                    <a:pt x="118409" y="0"/>
                    <a:pt x="120000" y="7811"/>
                    <a:pt x="120000" y="17455"/>
                  </a:cubicBezTo>
                  <a:lnTo>
                    <a:pt x="12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0F1B2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2" name="Google Shape;892;p18"/>
            <p:cNvSpPr txBox="1"/>
            <p:nvPr/>
          </p:nvSpPr>
          <p:spPr>
            <a:xfrm>
              <a:off x="285750" y="228600"/>
              <a:ext cx="4572000" cy="6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>
                  <a:solidFill>
                    <a:srgbClr val="00AEEF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terminal </a:t>
              </a:r>
              <a:r>
                <a:rPr b="1" lang="en-US" sz="2600">
                  <a:solidFill>
                    <a:srgbClr val="FFFFFF"/>
                  </a:solidFill>
                  <a:latin typeface="Noto Sans"/>
                  <a:ea typeface="Noto Sans"/>
                  <a:cs typeface="Noto Sans"/>
                  <a:sym typeface="Noto Sans"/>
                </a:rPr>
                <a:t>Prompts</a:t>
              </a:r>
              <a:endParaRPr>
                <a:latin typeface="Noto Sans"/>
                <a:ea typeface="Noto Sans"/>
                <a:cs typeface="Noto Sans"/>
                <a:sym typeface="Noto Sans"/>
              </a:endParaRPr>
            </a:p>
          </p:txBody>
        </p:sp>
        <p:sp>
          <p:nvSpPr>
            <p:cNvPr id="893" name="Google Shape;893;p18"/>
            <p:cNvSpPr txBox="1"/>
            <p:nvPr/>
          </p:nvSpPr>
          <p:spPr>
            <a:xfrm>
              <a:off x="304800" y="1333500"/>
              <a:ext cx="4533900" cy="4572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0F1B2C"/>
                  </a:solidFill>
                  <a:latin typeface="Noto Sans"/>
                  <a:ea typeface="Noto Sans"/>
                  <a:cs typeface="Noto Sans"/>
                  <a:sym typeface="Noto Sans"/>
                </a:rPr>
                <a:t>Template management</a:t>
              </a:r>
              <a:endParaRPr b="1" sz="1600">
                <a:solidFill>
                  <a:srgbClr val="0F1B2C"/>
                </a:solidFill>
                <a:latin typeface="Noto Sans"/>
                <a:ea typeface="Noto Sans"/>
                <a:cs typeface="Noto Sans"/>
                <a:sym typeface="Noto San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64748B"/>
                  </a:solidFill>
                  <a:latin typeface="Noto Sans"/>
                  <a:ea typeface="Noto Sans"/>
                  <a:cs typeface="Noto Sans"/>
                  <a:sym typeface="Noto Sans"/>
                </a:rPr>
                <a:t>Pre-designed prompt templates with standardized formats</a:t>
              </a:r>
              <a:endParaRPr b="0" sz="1200">
                <a:solidFill>
                  <a:srgbClr val="64748B"/>
                </a:solidFill>
                <a:latin typeface="Noto Sans"/>
                <a:ea typeface="Noto Sans"/>
                <a:cs typeface="Noto Sans"/>
                <a:sym typeface="Noto Sans"/>
              </a:endParaRPr>
            </a:p>
            <a:p>
              <a:pPr indent="0" lvl="0" marL="0" rtl="0" algn="l">
                <a:spcBef>
                  <a:spcPts val="220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0F1B2C"/>
                  </a:solidFill>
                  <a:latin typeface="Noto Sans"/>
                  <a:ea typeface="Noto Sans"/>
                  <a:cs typeface="Noto Sans"/>
                  <a:sym typeface="Noto Sans"/>
                </a:rPr>
                <a:t>Reusable prompt libraries</a:t>
              </a:r>
              <a:endParaRPr b="1" sz="1600">
                <a:solidFill>
                  <a:srgbClr val="0F1B2C"/>
                </a:solidFill>
                <a:latin typeface="Noto Sans"/>
                <a:ea typeface="Noto Sans"/>
                <a:cs typeface="Noto Sans"/>
                <a:sym typeface="Noto San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64748B"/>
                  </a:solidFill>
                  <a:latin typeface="Noto Sans"/>
                  <a:ea typeface="Noto Sans"/>
                  <a:cs typeface="Noto Sans"/>
                  <a:sym typeface="Noto Sans"/>
                </a:rPr>
                <a:t>Centralized workflows shared across tools and applications</a:t>
              </a:r>
              <a:endParaRPr b="0" sz="1200">
                <a:solidFill>
                  <a:srgbClr val="64748B"/>
                </a:solidFill>
                <a:latin typeface="Noto Sans"/>
                <a:ea typeface="Noto Sans"/>
                <a:cs typeface="Noto Sans"/>
                <a:sym typeface="Noto Sans"/>
              </a:endParaRPr>
            </a:p>
            <a:p>
              <a:pPr indent="0" lvl="0" marL="0" rtl="0" algn="l">
                <a:spcBef>
                  <a:spcPts val="220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0F1B2C"/>
                  </a:solidFill>
                  <a:latin typeface="Noto Sans"/>
                  <a:ea typeface="Noto Sans"/>
                  <a:cs typeface="Noto Sans"/>
                  <a:sym typeface="Noto Sans"/>
                </a:rPr>
                <a:t>Parameterized interactions</a:t>
              </a:r>
              <a:endParaRPr b="1" sz="1600">
                <a:solidFill>
                  <a:srgbClr val="0F1B2C"/>
                </a:solidFill>
                <a:latin typeface="Noto Sans"/>
                <a:ea typeface="Noto Sans"/>
                <a:cs typeface="Noto Sans"/>
                <a:sym typeface="Noto San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64748B"/>
                  </a:solidFill>
                  <a:latin typeface="Noto Sans"/>
                  <a:ea typeface="Noto Sans"/>
                  <a:cs typeface="Noto Sans"/>
                  <a:sym typeface="Noto Sans"/>
                </a:rPr>
                <a:t>Dynamic argument injection for context customization</a:t>
              </a:r>
              <a:endParaRPr b="0" sz="1200">
                <a:solidFill>
                  <a:srgbClr val="64748B"/>
                </a:solidFill>
                <a:latin typeface="Noto Sans"/>
                <a:ea typeface="Noto Sans"/>
                <a:cs typeface="Noto Sans"/>
                <a:sym typeface="Noto Sans"/>
              </a:endParaRPr>
            </a:p>
            <a:p>
              <a:pPr indent="0" lvl="0" marL="0" rtl="0" algn="l">
                <a:spcBef>
                  <a:spcPts val="220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0F1B2C"/>
                  </a:solidFill>
                  <a:latin typeface="Noto Sans"/>
                  <a:ea typeface="Noto Sans"/>
                  <a:cs typeface="Noto Sans"/>
                  <a:sym typeface="Noto Sans"/>
                </a:rPr>
                <a:t>LLM-agnostic design</a:t>
              </a:r>
              <a:endParaRPr b="1" sz="1600">
                <a:solidFill>
                  <a:srgbClr val="0F1B2C"/>
                </a:solidFill>
                <a:latin typeface="Noto Sans"/>
                <a:ea typeface="Noto Sans"/>
                <a:cs typeface="Noto Sans"/>
                <a:sym typeface="Noto San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64748B"/>
                  </a:solidFill>
                  <a:latin typeface="Noto Sans"/>
                  <a:ea typeface="Noto Sans"/>
                  <a:cs typeface="Noto Sans"/>
                  <a:sym typeface="Noto Sans"/>
                </a:rPr>
                <a:t>Universal prompt compatibility across model providers</a:t>
              </a:r>
              <a:endParaRPr b="0" sz="1200">
                <a:solidFill>
                  <a:srgbClr val="64748B"/>
                </a:solidFill>
                <a:latin typeface="Noto Sans"/>
                <a:ea typeface="Noto Sans"/>
                <a:cs typeface="Noto Sans"/>
                <a:sym typeface="Noto Sans"/>
              </a:endParaRPr>
            </a:p>
          </p:txBody>
        </p:sp>
      </p:grpSp>
      <p:sp>
        <p:nvSpPr>
          <p:cNvPr id="894" name="Google Shape;894;p18"/>
          <p:cNvSpPr txBox="1"/>
          <p:nvPr/>
        </p:nvSpPr>
        <p:spPr>
          <a:xfrm>
            <a:off x="14839950" y="9391650"/>
            <a:ext cx="26670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600">
              <a:solidFill>
                <a:srgbClr val="0F1B2C"/>
              </a:solidFill>
              <a:latin typeface="Noto Sans ExtraBold"/>
              <a:ea typeface="Noto Sans ExtraBold"/>
              <a:cs typeface="Noto Sans ExtraBold"/>
              <a:sym typeface="Noto Sans ExtraBold"/>
            </a:endParaRPr>
          </a:p>
        </p:txBody>
      </p:sp>
      <p:sp>
        <p:nvSpPr>
          <p:cNvPr descr="preencoded.png" id="895" name="Google Shape;895;p18"/>
          <p:cNvSpPr/>
          <p:nvPr/>
        </p:nvSpPr>
        <p:spPr>
          <a:xfrm>
            <a:off x="14444605" y="9572625"/>
            <a:ext cx="3500438" cy="600075"/>
          </a:xfrm>
          <a:custGeom>
            <a:rect b="b" l="l" r="r" t="t"/>
            <a:pathLst>
              <a:path extrusionOk="0" h="800100" w="4667250">
                <a:moveTo>
                  <a:pt x="0" y="0"/>
                </a:moveTo>
                <a:lnTo>
                  <a:pt x="4667250" y="0"/>
                </a:lnTo>
                <a:lnTo>
                  <a:pt x="4667250" y="800100"/>
                </a:lnTo>
                <a:lnTo>
                  <a:pt x="0" y="8001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-200" r="-21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9" name="Shape 8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preencoded.png" id="900" name="Google Shape;900;p22"/>
          <p:cNvSpPr/>
          <p:nvPr/>
        </p:nvSpPr>
        <p:spPr>
          <a:xfrm>
            <a:off x="0" y="-1844688"/>
            <a:ext cx="18288000" cy="12259818"/>
          </a:xfrm>
          <a:custGeom>
            <a:rect b="b" l="l" r="r" t="t"/>
            <a:pathLst>
              <a:path extrusionOk="0" h="16346424" w="24384000">
                <a:moveTo>
                  <a:pt x="0" y="0"/>
                </a:moveTo>
                <a:lnTo>
                  <a:pt x="24384000" y="0"/>
                </a:lnTo>
                <a:lnTo>
                  <a:pt x="24384000" y="16346424"/>
                </a:lnTo>
                <a:lnTo>
                  <a:pt x="0" y="163464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3" l="0" r="0" t="-53"/>
            </a:stretch>
          </a:blipFill>
          <a:ln>
            <a:noFill/>
          </a:ln>
        </p:spPr>
      </p:sp>
      <p:sp>
        <p:nvSpPr>
          <p:cNvPr descr="preencoded.png" id="901" name="Google Shape;901;p22"/>
          <p:cNvSpPr/>
          <p:nvPr/>
        </p:nvSpPr>
        <p:spPr>
          <a:xfrm>
            <a:off x="7758112" y="-1844688"/>
            <a:ext cx="10529888" cy="6129338"/>
          </a:xfrm>
          <a:custGeom>
            <a:rect b="b" l="l" r="r" t="t"/>
            <a:pathLst>
              <a:path extrusionOk="0" h="8172450" w="14039850">
                <a:moveTo>
                  <a:pt x="0" y="0"/>
                </a:moveTo>
                <a:lnTo>
                  <a:pt x="14039850" y="0"/>
                </a:lnTo>
                <a:lnTo>
                  <a:pt x="14039850" y="8172450"/>
                </a:lnTo>
                <a:lnTo>
                  <a:pt x="0" y="81724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descr="preencoded.png" id="902" name="Google Shape;902;p22"/>
          <p:cNvSpPr/>
          <p:nvPr/>
        </p:nvSpPr>
        <p:spPr>
          <a:xfrm>
            <a:off x="0" y="8529209"/>
            <a:ext cx="5915025" cy="1885950"/>
          </a:xfrm>
          <a:custGeom>
            <a:rect b="b" l="l" r="r" t="t"/>
            <a:pathLst>
              <a:path extrusionOk="0" h="2514600" w="7886700">
                <a:moveTo>
                  <a:pt x="0" y="0"/>
                </a:moveTo>
                <a:lnTo>
                  <a:pt x="7886700" y="0"/>
                </a:lnTo>
                <a:lnTo>
                  <a:pt x="7886700" y="2514600"/>
                </a:lnTo>
                <a:lnTo>
                  <a:pt x="0" y="2514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378" l="0" r="0" t="-378"/>
            </a:stretch>
          </a:blipFill>
          <a:ln>
            <a:noFill/>
          </a:ln>
        </p:spPr>
      </p:sp>
      <p:sp>
        <p:nvSpPr>
          <p:cNvPr descr="preencoded.png" id="903" name="Google Shape;903;p22"/>
          <p:cNvSpPr/>
          <p:nvPr/>
        </p:nvSpPr>
        <p:spPr>
          <a:xfrm>
            <a:off x="0" y="7529084"/>
            <a:ext cx="4443413" cy="2386013"/>
          </a:xfrm>
          <a:custGeom>
            <a:rect b="b" l="l" r="r" t="t"/>
            <a:pathLst>
              <a:path extrusionOk="0" h="3181350" w="5924550">
                <a:moveTo>
                  <a:pt x="0" y="0"/>
                </a:moveTo>
                <a:lnTo>
                  <a:pt x="5924550" y="0"/>
                </a:lnTo>
                <a:lnTo>
                  <a:pt x="5924550" y="3181350"/>
                </a:lnTo>
                <a:lnTo>
                  <a:pt x="0" y="31813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-299" l="0" r="0" t="-299"/>
            </a:stretch>
          </a:blipFill>
          <a:ln>
            <a:noFill/>
          </a:ln>
        </p:spPr>
      </p:sp>
      <p:sp>
        <p:nvSpPr>
          <p:cNvPr descr="preencoded.png" id="904" name="Google Shape;904;p22"/>
          <p:cNvSpPr/>
          <p:nvPr/>
        </p:nvSpPr>
        <p:spPr>
          <a:xfrm>
            <a:off x="5143500" y="9114996"/>
            <a:ext cx="3257550" cy="1300163"/>
          </a:xfrm>
          <a:custGeom>
            <a:rect b="b" l="l" r="r" t="t"/>
            <a:pathLst>
              <a:path extrusionOk="0" h="1733550" w="4343400">
                <a:moveTo>
                  <a:pt x="0" y="0"/>
                </a:moveTo>
                <a:lnTo>
                  <a:pt x="4343400" y="0"/>
                </a:lnTo>
                <a:lnTo>
                  <a:pt x="4343400" y="1733550"/>
                </a:lnTo>
                <a:lnTo>
                  <a:pt x="0" y="17335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 amt="70000"/>
            </a:blip>
            <a:stretch>
              <a:fillRect b="-549" l="0" r="0" t="-549"/>
            </a:stretch>
          </a:blipFill>
          <a:ln>
            <a:noFill/>
          </a:ln>
        </p:spPr>
      </p:sp>
      <p:sp>
        <p:nvSpPr>
          <p:cNvPr id="905" name="Google Shape;905;p22"/>
          <p:cNvSpPr/>
          <p:nvPr/>
        </p:nvSpPr>
        <p:spPr>
          <a:xfrm>
            <a:off x="0" y="0"/>
            <a:ext cx="6477000" cy="10287000"/>
          </a:xfrm>
          <a:prstGeom prst="rect">
            <a:avLst/>
          </a:prstGeom>
          <a:solidFill>
            <a:srgbClr val="0F1B2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06" name="Google Shape;906;p22"/>
          <p:cNvGrpSpPr/>
          <p:nvPr/>
        </p:nvGrpSpPr>
        <p:grpSpPr>
          <a:xfrm>
            <a:off x="762000" y="2095500"/>
            <a:ext cx="4953000" cy="5715000"/>
            <a:chOff x="0" y="0"/>
            <a:chExt cx="4953000" cy="5715000"/>
          </a:xfrm>
        </p:grpSpPr>
        <p:sp>
          <p:nvSpPr>
            <p:cNvPr id="907" name="Google Shape;907;p22"/>
            <p:cNvSpPr/>
            <p:nvPr/>
          </p:nvSpPr>
          <p:spPr>
            <a:xfrm>
              <a:off x="0" y="0"/>
              <a:ext cx="4953000" cy="5715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8" name="Google Shape;908;p22"/>
            <p:cNvSpPr txBox="1"/>
            <p:nvPr/>
          </p:nvSpPr>
          <p:spPr>
            <a:xfrm>
              <a:off x="0" y="0"/>
              <a:ext cx="4953000" cy="571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00AEEF"/>
                  </a:solidFill>
                  <a:latin typeface="Roboto"/>
                  <a:ea typeface="Roboto"/>
                  <a:cs typeface="Roboto"/>
                  <a:sym typeface="Roboto"/>
                </a:rPr>
                <a:t>JSON-RPC 2.0 </a:t>
              </a:r>
              <a:r>
                <a:rPr b="0" lang="en-US" sz="1200">
                  <a:solidFill>
                    <a:srgbClr val="94A3B8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(Part 1 &amp; 2)</a:t>
              </a:r>
              <a:endParaRPr b="1" sz="1400">
                <a:solidFill>
                  <a:srgbClr val="00AEE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1800"/>
                </a:spcBef>
                <a:spcAft>
                  <a:spcPts val="0"/>
                </a:spcAft>
                <a:buNone/>
              </a:pPr>
              <a:r>
                <a:rPr b="1" lang="en-US" sz="40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The Technical Foundation</a:t>
              </a:r>
              <a:endParaRPr b="1" sz="4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n-US" sz="1600">
                  <a:solidFill>
                    <a:srgbClr val="94A3B8"/>
                  </a:solidFill>
                  <a:latin typeface="Roboto"/>
                  <a:ea typeface="Roboto"/>
                  <a:cs typeface="Roboto"/>
                  <a:sym typeface="Roboto"/>
                </a:rPr>
                <a:t>MCP's communication protocol implementation</a:t>
              </a:r>
              <a:endParaRPr b="0" sz="1600">
                <a:solidFill>
                  <a:srgbClr val="94A3B8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400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00AEEF"/>
                  </a:solidFill>
                  <a:latin typeface="Roboto"/>
                  <a:ea typeface="Roboto"/>
                  <a:cs typeface="Roboto"/>
                  <a:sym typeface="Roboto"/>
                </a:rPr>
                <a:t>SPECIFICATION</a:t>
              </a:r>
              <a:endParaRPr b="1" sz="1100">
                <a:solidFill>
                  <a:srgbClr val="00AEE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CBD5E1"/>
                  </a:solidFill>
                  <a:latin typeface="Roboto"/>
                  <a:ea typeface="Roboto"/>
                  <a:cs typeface="Roboto"/>
                  <a:sym typeface="Roboto"/>
                </a:rPr>
                <a:t>Protocol Version: 2026-07-28</a:t>
              </a:r>
              <a:endParaRPr b="0" sz="1300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909" name="Google Shape;909;p22"/>
          <p:cNvGrpSpPr/>
          <p:nvPr/>
        </p:nvGrpSpPr>
        <p:grpSpPr>
          <a:xfrm>
            <a:off x="6953250" y="857250"/>
            <a:ext cx="5143500" cy="7810500"/>
            <a:chOff x="0" y="0"/>
            <a:chExt cx="5143500" cy="7810500"/>
          </a:xfrm>
        </p:grpSpPr>
        <p:sp>
          <p:nvSpPr>
            <p:cNvPr id="910" name="Google Shape;910;p22"/>
            <p:cNvSpPr/>
            <p:nvPr/>
          </p:nvSpPr>
          <p:spPr>
            <a:xfrm>
              <a:off x="0" y="0"/>
              <a:ext cx="5143500" cy="7810500"/>
            </a:xfrm>
            <a:prstGeom prst="roundRect">
              <a:avLst>
                <a:gd fmla="val 2222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1" name="Google Shape;911;p22"/>
            <p:cNvSpPr txBox="1"/>
            <p:nvPr/>
          </p:nvSpPr>
          <p:spPr>
            <a:xfrm>
              <a:off x="285750" y="228600"/>
              <a:ext cx="45720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200">
                  <a:solidFill>
                    <a:srgbClr val="00AEEF"/>
                  </a:solidFill>
                  <a:latin typeface="Noto Sans"/>
                  <a:ea typeface="Noto Sans"/>
                  <a:cs typeface="Noto Sans"/>
                  <a:sym typeface="Noto Sans"/>
                </a:rPr>
                <a:t>1. Requests</a:t>
              </a:r>
              <a:endParaRPr b="1" sz="2200">
                <a:solidFill>
                  <a:srgbClr val="00AEEF"/>
                </a:solidFill>
                <a:latin typeface="Noto Sans"/>
                <a:ea typeface="Noto Sans"/>
                <a:cs typeface="Noto Sans"/>
                <a:sym typeface="Noto Sans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475569"/>
                  </a:solidFill>
                  <a:latin typeface="Noto Sans"/>
                  <a:ea typeface="Noto Sans"/>
                  <a:cs typeface="Noto Sans"/>
                  <a:sym typeface="Noto Sans"/>
                </a:rPr>
                <a:t>Sent from Client to Server to initiate an operation. Includes an ID, method name, and parameters.</a:t>
              </a:r>
              <a:endParaRPr b="0" sz="1300">
                <a:solidFill>
                  <a:srgbClr val="475569"/>
                </a:solidFill>
                <a:latin typeface="Noto Sans"/>
                <a:ea typeface="Noto Sans"/>
                <a:cs typeface="Noto Sans"/>
                <a:sym typeface="Noto Sans"/>
              </a:endParaRPr>
            </a:p>
          </p:txBody>
        </p:sp>
        <p:grpSp>
          <p:nvGrpSpPr>
            <p:cNvPr id="912" name="Google Shape;912;p22"/>
            <p:cNvGrpSpPr/>
            <p:nvPr/>
          </p:nvGrpSpPr>
          <p:grpSpPr>
            <a:xfrm>
              <a:off x="190500" y="1428750"/>
              <a:ext cx="4762500" cy="6096000"/>
              <a:chOff x="0" y="0"/>
              <a:chExt cx="4762500" cy="6096000"/>
            </a:xfrm>
          </p:grpSpPr>
          <p:sp>
            <p:nvSpPr>
              <p:cNvPr id="913" name="Google Shape;913;p22"/>
              <p:cNvSpPr/>
              <p:nvPr/>
            </p:nvSpPr>
            <p:spPr>
              <a:xfrm>
                <a:off x="0" y="0"/>
                <a:ext cx="4762500" cy="6096000"/>
              </a:xfrm>
              <a:prstGeom prst="roundRect">
                <a:avLst>
                  <a:gd fmla="val 2000" name="adj"/>
                </a:avLst>
              </a:prstGeom>
              <a:solidFill>
                <a:srgbClr val="1E293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4" name="Google Shape;914;p22"/>
              <p:cNvSpPr/>
              <p:nvPr/>
            </p:nvSpPr>
            <p:spPr>
              <a:xfrm>
                <a:off x="0" y="0"/>
                <a:ext cx="4762500" cy="362100"/>
              </a:xfrm>
              <a:custGeom>
                <a:rect b="b" l="l" r="r" t="t"/>
                <a:pathLst>
                  <a:path extrusionOk="0" h="120000" w="120000">
                    <a:moveTo>
                      <a:pt x="0" y="31579"/>
                    </a:moveTo>
                    <a:cubicBezTo>
                      <a:pt x="0" y="14138"/>
                      <a:pt x="1074" y="0"/>
                      <a:pt x="2400" y="0"/>
                    </a:cubicBezTo>
                    <a:lnTo>
                      <a:pt x="117600" y="0"/>
                    </a:lnTo>
                    <a:cubicBezTo>
                      <a:pt x="118926" y="0"/>
                      <a:pt x="120000" y="14138"/>
                      <a:pt x="120000" y="31579"/>
                    </a:cubicBezTo>
                    <a:lnTo>
                      <a:pt x="120000" y="120000"/>
                    </a:lnTo>
                    <a:lnTo>
                      <a:pt x="0" y="120000"/>
                    </a:lnTo>
                    <a:close/>
                  </a:path>
                </a:pathLst>
              </a:custGeom>
              <a:solidFill>
                <a:srgbClr val="0F172A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5" name="Google Shape;915;p22"/>
              <p:cNvSpPr/>
              <p:nvPr/>
            </p:nvSpPr>
            <p:spPr>
              <a:xfrm>
                <a:off x="138113" y="128588"/>
                <a:ext cx="104700" cy="104700"/>
              </a:xfrm>
              <a:prstGeom prst="ellipse">
                <a:avLst/>
              </a:prstGeom>
              <a:solidFill>
                <a:srgbClr val="EF4444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6" name="Google Shape;916;p22"/>
              <p:cNvSpPr/>
              <p:nvPr/>
            </p:nvSpPr>
            <p:spPr>
              <a:xfrm>
                <a:off x="309563" y="128588"/>
                <a:ext cx="104700" cy="104700"/>
              </a:xfrm>
              <a:prstGeom prst="ellipse">
                <a:avLst/>
              </a:prstGeom>
              <a:solidFill>
                <a:srgbClr val="F59E0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7" name="Google Shape;917;p22"/>
              <p:cNvSpPr/>
              <p:nvPr/>
            </p:nvSpPr>
            <p:spPr>
              <a:xfrm>
                <a:off x="481013" y="128588"/>
                <a:ext cx="104700" cy="104700"/>
              </a:xfrm>
              <a:prstGeom prst="ellipse">
                <a:avLst/>
              </a:prstGeom>
              <a:solidFill>
                <a:srgbClr val="10B981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8" name="Google Shape;918;p22"/>
              <p:cNvSpPr txBox="1"/>
              <p:nvPr/>
            </p:nvSpPr>
            <p:spPr>
              <a:xfrm>
                <a:off x="762000" y="76200"/>
                <a:ext cx="3238500" cy="209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100">
                    <a:solidFill>
                      <a:srgbClr val="94A3B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request_payload.json</a:t>
                </a:r>
                <a:endParaRPr sz="1100">
                  <a:solidFill>
                    <a:srgbClr val="94A3B8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  <p:sp>
            <p:nvSpPr>
              <p:cNvPr id="919" name="Google Shape;919;p22"/>
              <p:cNvSpPr txBox="1"/>
              <p:nvPr/>
            </p:nvSpPr>
            <p:spPr>
              <a:xfrm>
                <a:off x="228600" y="495300"/>
                <a:ext cx="4305300" cy="5410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1350">
                    <a:solidFill>
                      <a:srgbClr val="38BDF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{</a:t>
                </a:r>
                <a:endParaRPr b="0" sz="1350">
                  <a:solidFill>
                    <a:srgbClr val="38BDF8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0" lang="en-US" sz="1350">
                    <a:solidFill>
                      <a:srgbClr val="7DD3FC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"jsonrpc"</a:t>
                </a:r>
                <a:r>
                  <a:rPr b="0" lang="en-US" sz="1350">
                    <a:solidFill>
                      <a:srgbClr val="38BDF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: </a:t>
                </a:r>
                <a:r>
                  <a:rPr b="0" lang="en-US" sz="1350">
                    <a:solidFill>
                      <a:srgbClr val="FDE047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"2.0"</a:t>
                </a:r>
                <a:r>
                  <a:rPr b="0" lang="en-US" sz="1350">
                    <a:solidFill>
                      <a:srgbClr val="38BDF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,</a:t>
                </a:r>
                <a:endParaRPr b="0" sz="1350">
                  <a:solidFill>
                    <a:srgbClr val="38BDF8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0" lang="en-US" sz="1350">
                    <a:solidFill>
                      <a:srgbClr val="7DD3FC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"id"</a:t>
                </a:r>
                <a:r>
                  <a:rPr b="0" lang="en-US" sz="1350">
                    <a:solidFill>
                      <a:srgbClr val="38BDF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: </a:t>
                </a:r>
                <a:r>
                  <a:rPr b="0" lang="en-US" sz="1350">
                    <a:solidFill>
                      <a:srgbClr val="F97316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1</a:t>
                </a:r>
                <a:r>
                  <a:rPr b="0" lang="en-US" sz="1350">
                    <a:solidFill>
                      <a:srgbClr val="38BDF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,</a:t>
                </a:r>
                <a:endParaRPr b="0" sz="1350">
                  <a:solidFill>
                    <a:srgbClr val="38BDF8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0" lang="en-US" sz="1350">
                    <a:solidFill>
                      <a:srgbClr val="7DD3FC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"method"</a:t>
                </a:r>
                <a:r>
                  <a:rPr b="0" lang="en-US" sz="1350">
                    <a:solidFill>
                      <a:srgbClr val="38BDF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: </a:t>
                </a:r>
                <a:r>
                  <a:rPr b="0" lang="en-US" sz="1350">
                    <a:solidFill>
                      <a:srgbClr val="4ADE8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"tools/call"</a:t>
                </a:r>
                <a:r>
                  <a:rPr b="0" lang="en-US" sz="1350">
                    <a:solidFill>
                      <a:srgbClr val="38BDF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,</a:t>
                </a:r>
                <a:endParaRPr b="0" sz="1350">
                  <a:solidFill>
                    <a:srgbClr val="38BDF8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0" lang="en-US" sz="1350">
                    <a:solidFill>
                      <a:srgbClr val="7DD3FC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"params"</a:t>
                </a:r>
                <a:r>
                  <a:rPr b="0" lang="en-US" sz="1350">
                    <a:solidFill>
                      <a:srgbClr val="38BDF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: {</a:t>
                </a:r>
                <a:endParaRPr b="0" sz="1350">
                  <a:solidFill>
                    <a:srgbClr val="38BDF8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0" lang="en-US" sz="1350">
                    <a:solidFill>
                      <a:srgbClr val="7DD3FC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"name"</a:t>
                </a:r>
                <a:r>
                  <a:rPr b="0" lang="en-US" sz="1350">
                    <a:solidFill>
                      <a:srgbClr val="38BDF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: </a:t>
                </a:r>
                <a:r>
                  <a:rPr b="0" lang="en-US" sz="1350">
                    <a:solidFill>
                      <a:srgbClr val="4ADE8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"weather"</a:t>
                </a:r>
                <a:r>
                  <a:rPr b="0" lang="en-US" sz="1350">
                    <a:solidFill>
                      <a:srgbClr val="38BDF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,</a:t>
                </a:r>
                <a:endParaRPr b="0" sz="1350">
                  <a:solidFill>
                    <a:srgbClr val="38BDF8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0" lang="en-US" sz="1350">
                    <a:solidFill>
                      <a:srgbClr val="7DD3FC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"arguments"</a:t>
                </a:r>
                <a:r>
                  <a:rPr b="0" lang="en-US" sz="1350">
                    <a:solidFill>
                      <a:srgbClr val="38BDF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: {</a:t>
                </a:r>
                <a:endParaRPr b="0" sz="1350">
                  <a:solidFill>
                    <a:srgbClr val="38BDF8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0" lang="en-US" sz="1350">
                    <a:solidFill>
                      <a:srgbClr val="7DD3FC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"location"</a:t>
                </a:r>
                <a:r>
                  <a:rPr b="0" lang="en-US" sz="1350">
                    <a:solidFill>
                      <a:srgbClr val="38BDF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: </a:t>
                </a:r>
                <a:r>
                  <a:rPr b="0" lang="en-US" sz="1350">
                    <a:solidFill>
                      <a:srgbClr val="4ADE8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"San Francisco"</a:t>
                </a:r>
                <a:endParaRPr b="0" sz="1350">
                  <a:solidFill>
                    <a:srgbClr val="38BDF8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0" lang="en-US" sz="1350">
                    <a:solidFill>
                      <a:srgbClr val="38BDF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}</a:t>
                </a:r>
                <a:endParaRPr b="0" sz="1350">
                  <a:solidFill>
                    <a:srgbClr val="38BDF8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0" lang="en-US" sz="1350">
                    <a:solidFill>
                      <a:srgbClr val="38BDF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}</a:t>
                </a:r>
                <a:endParaRPr b="0" sz="1350">
                  <a:solidFill>
                    <a:srgbClr val="38BDF8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0" lang="en-US" sz="1350">
                    <a:solidFill>
                      <a:srgbClr val="38BDF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}</a:t>
                </a:r>
                <a:endParaRPr b="0" sz="1350">
                  <a:solidFill>
                    <a:srgbClr val="38BDF8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</p:grpSp>
      <p:grpSp>
        <p:nvGrpSpPr>
          <p:cNvPr id="920" name="Google Shape;920;p22"/>
          <p:cNvGrpSpPr/>
          <p:nvPr/>
        </p:nvGrpSpPr>
        <p:grpSpPr>
          <a:xfrm>
            <a:off x="12477750" y="857250"/>
            <a:ext cx="5143500" cy="7810500"/>
            <a:chOff x="0" y="0"/>
            <a:chExt cx="5143500" cy="7810500"/>
          </a:xfrm>
        </p:grpSpPr>
        <p:sp>
          <p:nvSpPr>
            <p:cNvPr id="921" name="Google Shape;921;p22"/>
            <p:cNvSpPr/>
            <p:nvPr/>
          </p:nvSpPr>
          <p:spPr>
            <a:xfrm>
              <a:off x="0" y="0"/>
              <a:ext cx="5143500" cy="7810500"/>
            </a:xfrm>
            <a:prstGeom prst="roundRect">
              <a:avLst>
                <a:gd fmla="val 2222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2" name="Google Shape;922;p22"/>
            <p:cNvSpPr txBox="1"/>
            <p:nvPr/>
          </p:nvSpPr>
          <p:spPr>
            <a:xfrm>
              <a:off x="285750" y="228600"/>
              <a:ext cx="45720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200">
                  <a:solidFill>
                    <a:srgbClr val="00AEEF"/>
                  </a:solidFill>
                  <a:latin typeface="Noto Sans"/>
                  <a:ea typeface="Noto Sans"/>
                  <a:cs typeface="Noto Sans"/>
                  <a:sym typeface="Noto Sans"/>
                </a:rPr>
                <a:t>2. Responses</a:t>
              </a:r>
              <a:endParaRPr b="1" sz="2200">
                <a:solidFill>
                  <a:srgbClr val="00AEEF"/>
                </a:solidFill>
                <a:latin typeface="Noto Sans"/>
                <a:ea typeface="Noto Sans"/>
                <a:cs typeface="Noto Sans"/>
                <a:sym typeface="Noto Sans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475569"/>
                  </a:solidFill>
                  <a:latin typeface="Noto Sans"/>
                  <a:ea typeface="Noto Sans"/>
                  <a:cs typeface="Noto Sans"/>
                  <a:sym typeface="Noto Sans"/>
                </a:rPr>
                <a:t>Sent from Server to Client in reply to a Request. Includes the same ID and either a result or an error.</a:t>
              </a:r>
              <a:endParaRPr b="0" sz="1300">
                <a:solidFill>
                  <a:srgbClr val="475569"/>
                </a:solidFill>
                <a:latin typeface="Noto Sans"/>
                <a:ea typeface="Noto Sans"/>
                <a:cs typeface="Noto Sans"/>
                <a:sym typeface="Noto Sans"/>
              </a:endParaRPr>
            </a:p>
          </p:txBody>
        </p:sp>
        <p:grpSp>
          <p:nvGrpSpPr>
            <p:cNvPr id="923" name="Google Shape;923;p22"/>
            <p:cNvGrpSpPr/>
            <p:nvPr/>
          </p:nvGrpSpPr>
          <p:grpSpPr>
            <a:xfrm>
              <a:off x="190500" y="1428750"/>
              <a:ext cx="4762500" cy="6096000"/>
              <a:chOff x="0" y="0"/>
              <a:chExt cx="4762500" cy="6096000"/>
            </a:xfrm>
          </p:grpSpPr>
          <p:sp>
            <p:nvSpPr>
              <p:cNvPr id="924" name="Google Shape;924;p22"/>
              <p:cNvSpPr/>
              <p:nvPr/>
            </p:nvSpPr>
            <p:spPr>
              <a:xfrm>
                <a:off x="0" y="0"/>
                <a:ext cx="4762500" cy="6096000"/>
              </a:xfrm>
              <a:prstGeom prst="roundRect">
                <a:avLst>
                  <a:gd fmla="val 2000" name="adj"/>
                </a:avLst>
              </a:prstGeom>
              <a:solidFill>
                <a:srgbClr val="1E293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5" name="Google Shape;925;p22"/>
              <p:cNvSpPr/>
              <p:nvPr/>
            </p:nvSpPr>
            <p:spPr>
              <a:xfrm>
                <a:off x="0" y="0"/>
                <a:ext cx="4762500" cy="362100"/>
              </a:xfrm>
              <a:custGeom>
                <a:rect b="b" l="l" r="r" t="t"/>
                <a:pathLst>
                  <a:path extrusionOk="0" h="120000" w="120000">
                    <a:moveTo>
                      <a:pt x="0" y="31579"/>
                    </a:moveTo>
                    <a:cubicBezTo>
                      <a:pt x="0" y="14138"/>
                      <a:pt x="1074" y="0"/>
                      <a:pt x="2400" y="0"/>
                    </a:cubicBezTo>
                    <a:lnTo>
                      <a:pt x="117600" y="0"/>
                    </a:lnTo>
                    <a:cubicBezTo>
                      <a:pt x="118926" y="0"/>
                      <a:pt x="120000" y="14138"/>
                      <a:pt x="120000" y="31579"/>
                    </a:cubicBezTo>
                    <a:lnTo>
                      <a:pt x="120000" y="120000"/>
                    </a:lnTo>
                    <a:lnTo>
                      <a:pt x="0" y="120000"/>
                    </a:lnTo>
                    <a:close/>
                  </a:path>
                </a:pathLst>
              </a:custGeom>
              <a:solidFill>
                <a:srgbClr val="0F172A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6" name="Google Shape;926;p22"/>
              <p:cNvSpPr/>
              <p:nvPr/>
            </p:nvSpPr>
            <p:spPr>
              <a:xfrm>
                <a:off x="138113" y="128588"/>
                <a:ext cx="104700" cy="104700"/>
              </a:xfrm>
              <a:prstGeom prst="ellipse">
                <a:avLst/>
              </a:prstGeom>
              <a:solidFill>
                <a:srgbClr val="EF4444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7" name="Google Shape;927;p22"/>
              <p:cNvSpPr/>
              <p:nvPr/>
            </p:nvSpPr>
            <p:spPr>
              <a:xfrm>
                <a:off x="309563" y="128588"/>
                <a:ext cx="104700" cy="104700"/>
              </a:xfrm>
              <a:prstGeom prst="ellipse">
                <a:avLst/>
              </a:prstGeom>
              <a:solidFill>
                <a:srgbClr val="F59E0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8" name="Google Shape;928;p22"/>
              <p:cNvSpPr/>
              <p:nvPr/>
            </p:nvSpPr>
            <p:spPr>
              <a:xfrm>
                <a:off x="481013" y="128588"/>
                <a:ext cx="104700" cy="104700"/>
              </a:xfrm>
              <a:prstGeom prst="ellipse">
                <a:avLst/>
              </a:prstGeom>
              <a:solidFill>
                <a:srgbClr val="10B981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9" name="Google Shape;929;p22"/>
              <p:cNvSpPr txBox="1"/>
              <p:nvPr/>
            </p:nvSpPr>
            <p:spPr>
              <a:xfrm>
                <a:off x="762000" y="76200"/>
                <a:ext cx="3238500" cy="209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100">
                    <a:solidFill>
                      <a:srgbClr val="94A3B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response_payload.json</a:t>
                </a:r>
                <a:endParaRPr sz="1100">
                  <a:solidFill>
                    <a:srgbClr val="94A3B8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  <p:sp>
            <p:nvSpPr>
              <p:cNvPr id="930" name="Google Shape;930;p22"/>
              <p:cNvSpPr txBox="1"/>
              <p:nvPr/>
            </p:nvSpPr>
            <p:spPr>
              <a:xfrm>
                <a:off x="228600" y="495300"/>
                <a:ext cx="4305300" cy="5410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1350">
                    <a:solidFill>
                      <a:srgbClr val="38BDF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{</a:t>
                </a:r>
                <a:endParaRPr b="0" sz="1350">
                  <a:solidFill>
                    <a:srgbClr val="38BDF8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0" lang="en-US" sz="1350">
                    <a:solidFill>
                      <a:srgbClr val="7DD3FC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"jsonrpc"</a:t>
                </a:r>
                <a:r>
                  <a:rPr b="0" lang="en-US" sz="1350">
                    <a:solidFill>
                      <a:srgbClr val="38BDF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: </a:t>
                </a:r>
                <a:r>
                  <a:rPr b="0" lang="en-US" sz="1350">
                    <a:solidFill>
                      <a:srgbClr val="FDE047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"2.0"</a:t>
                </a:r>
                <a:r>
                  <a:rPr b="0" lang="en-US" sz="1350">
                    <a:solidFill>
                      <a:srgbClr val="38BDF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,</a:t>
                </a:r>
                <a:endParaRPr b="0" sz="1350">
                  <a:solidFill>
                    <a:srgbClr val="38BDF8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0" lang="en-US" sz="1350">
                    <a:solidFill>
                      <a:srgbClr val="7DD3FC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"id"</a:t>
                </a:r>
                <a:r>
                  <a:rPr b="0" lang="en-US" sz="1350">
                    <a:solidFill>
                      <a:srgbClr val="38BDF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: </a:t>
                </a:r>
                <a:r>
                  <a:rPr b="0" lang="en-US" sz="1350">
                    <a:solidFill>
                      <a:srgbClr val="F97316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1</a:t>
                </a:r>
                <a:r>
                  <a:rPr b="0" lang="en-US" sz="1350">
                    <a:solidFill>
                      <a:srgbClr val="38BDF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,</a:t>
                </a:r>
                <a:endParaRPr b="0" sz="1350">
                  <a:solidFill>
                    <a:srgbClr val="38BDF8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0" lang="en-US" sz="1350">
                    <a:solidFill>
                      <a:srgbClr val="7DD3FC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"result"</a:t>
                </a:r>
                <a:r>
                  <a:rPr b="0" lang="en-US" sz="1350">
                    <a:solidFill>
                      <a:srgbClr val="38BDF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: {</a:t>
                </a:r>
                <a:endParaRPr b="0" sz="1350">
                  <a:solidFill>
                    <a:srgbClr val="38BDF8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0" lang="en-US" sz="1350">
                    <a:solidFill>
                      <a:srgbClr val="7DD3FC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"temperature"</a:t>
                </a:r>
                <a:r>
                  <a:rPr b="0" lang="en-US" sz="1350">
                    <a:solidFill>
                      <a:srgbClr val="38BDF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: </a:t>
                </a:r>
                <a:r>
                  <a:rPr b="0" lang="en-US" sz="1350">
                    <a:solidFill>
                      <a:srgbClr val="F97316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62</a:t>
                </a:r>
                <a:r>
                  <a:rPr b="0" lang="en-US" sz="1350">
                    <a:solidFill>
                      <a:srgbClr val="38BDF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,</a:t>
                </a:r>
                <a:endParaRPr b="0" sz="1350">
                  <a:solidFill>
                    <a:srgbClr val="38BDF8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0" lang="en-US" sz="1350">
                    <a:solidFill>
                      <a:srgbClr val="7DD3FC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"conditions"</a:t>
                </a:r>
                <a:r>
                  <a:rPr b="0" lang="en-US" sz="1350">
                    <a:solidFill>
                      <a:srgbClr val="38BDF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: </a:t>
                </a:r>
                <a:r>
                  <a:rPr b="0" lang="en-US" sz="1350">
                    <a:solidFill>
                      <a:srgbClr val="4ADE8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"Partly cloudy"</a:t>
                </a:r>
                <a:endParaRPr b="0" sz="1350">
                  <a:solidFill>
                    <a:srgbClr val="38BDF8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0" lang="en-US" sz="1350">
                    <a:solidFill>
                      <a:srgbClr val="38BDF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}</a:t>
                </a:r>
                <a:endParaRPr b="0" sz="1350">
                  <a:solidFill>
                    <a:srgbClr val="38BDF8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0" lang="en-US" sz="1350">
                    <a:solidFill>
                      <a:srgbClr val="38BDF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}</a:t>
                </a:r>
                <a:endParaRPr b="0" sz="1350">
                  <a:solidFill>
                    <a:srgbClr val="38BDF8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</p:grpSp>
      <p:sp>
        <p:nvSpPr>
          <p:cNvPr id="931" name="Google Shape;931;p22"/>
          <p:cNvSpPr/>
          <p:nvPr/>
        </p:nvSpPr>
        <p:spPr>
          <a:xfrm>
            <a:off x="0" y="9572196"/>
            <a:ext cx="18288000" cy="14288"/>
          </a:xfrm>
          <a:custGeom>
            <a:rect b="b" l="l" r="r" t="t"/>
            <a:pathLst>
              <a:path extrusionOk="0" h="19050" w="24384000">
                <a:moveTo>
                  <a:pt x="0" y="0"/>
                </a:moveTo>
                <a:lnTo>
                  <a:pt x="24384000" y="0"/>
                </a:lnTo>
                <a:lnTo>
                  <a:pt x="24384000" y="19050"/>
                </a:lnTo>
                <a:lnTo>
                  <a:pt x="0" y="19050"/>
                </a:lnTo>
                <a:close/>
              </a:path>
            </a:pathLst>
          </a:custGeom>
          <a:solidFill>
            <a:srgbClr val="E5E7EB"/>
          </a:solidFill>
          <a:ln>
            <a:noFill/>
          </a:ln>
        </p:spPr>
      </p:sp>
      <p:sp>
        <p:nvSpPr>
          <p:cNvPr descr="preencoded.png" id="932" name="Google Shape;932;p22"/>
          <p:cNvSpPr/>
          <p:nvPr/>
        </p:nvSpPr>
        <p:spPr>
          <a:xfrm>
            <a:off x="14444605" y="9700784"/>
            <a:ext cx="3500438" cy="600075"/>
          </a:xfrm>
          <a:custGeom>
            <a:rect b="b" l="l" r="r" t="t"/>
            <a:pathLst>
              <a:path extrusionOk="0" h="800100" w="4667250">
                <a:moveTo>
                  <a:pt x="0" y="0"/>
                </a:moveTo>
                <a:lnTo>
                  <a:pt x="4667250" y="0"/>
                </a:lnTo>
                <a:lnTo>
                  <a:pt x="4667250" y="800100"/>
                </a:lnTo>
                <a:lnTo>
                  <a:pt x="0" y="8001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-982" l="0" r="0" t="-982"/>
            </a:stretch>
          </a:blipFill>
          <a:ln>
            <a:noFill/>
          </a:ln>
        </p:spPr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6" name="Shape 9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preencoded.png" id="937" name="Google Shape;937;p23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descr="preencoded.png" id="938" name="Google Shape;938;p23"/>
          <p:cNvSpPr/>
          <p:nvPr/>
        </p:nvSpPr>
        <p:spPr>
          <a:xfrm>
            <a:off x="7758112" y="0"/>
            <a:ext cx="10529888" cy="6129338"/>
          </a:xfrm>
          <a:custGeom>
            <a:rect b="b" l="l" r="r" t="t"/>
            <a:pathLst>
              <a:path extrusionOk="0" h="8172450" w="14039850">
                <a:moveTo>
                  <a:pt x="0" y="0"/>
                </a:moveTo>
                <a:lnTo>
                  <a:pt x="14039850" y="0"/>
                </a:lnTo>
                <a:lnTo>
                  <a:pt x="14039850" y="8172450"/>
                </a:lnTo>
                <a:lnTo>
                  <a:pt x="0" y="81724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descr="preencoded.png" id="939" name="Google Shape;939;p23"/>
          <p:cNvSpPr/>
          <p:nvPr/>
        </p:nvSpPr>
        <p:spPr>
          <a:xfrm>
            <a:off x="0" y="8401050"/>
            <a:ext cx="5915025" cy="1885950"/>
          </a:xfrm>
          <a:custGeom>
            <a:rect b="b" l="l" r="r" t="t"/>
            <a:pathLst>
              <a:path extrusionOk="0" h="2514600" w="7886700">
                <a:moveTo>
                  <a:pt x="0" y="0"/>
                </a:moveTo>
                <a:lnTo>
                  <a:pt x="7886700" y="0"/>
                </a:lnTo>
                <a:lnTo>
                  <a:pt x="7886700" y="2514600"/>
                </a:lnTo>
                <a:lnTo>
                  <a:pt x="0" y="2514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descr="preencoded.png" id="940" name="Google Shape;940;p23"/>
          <p:cNvSpPr/>
          <p:nvPr/>
        </p:nvSpPr>
        <p:spPr>
          <a:xfrm>
            <a:off x="0" y="7400925"/>
            <a:ext cx="4443413" cy="2386013"/>
          </a:xfrm>
          <a:custGeom>
            <a:rect b="b" l="l" r="r" t="t"/>
            <a:pathLst>
              <a:path extrusionOk="0" h="3181350" w="5924550">
                <a:moveTo>
                  <a:pt x="0" y="0"/>
                </a:moveTo>
                <a:lnTo>
                  <a:pt x="5924550" y="0"/>
                </a:lnTo>
                <a:lnTo>
                  <a:pt x="5924550" y="3181350"/>
                </a:lnTo>
                <a:lnTo>
                  <a:pt x="0" y="31813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descr="preencoded.png" id="941" name="Google Shape;941;p23"/>
          <p:cNvSpPr/>
          <p:nvPr/>
        </p:nvSpPr>
        <p:spPr>
          <a:xfrm>
            <a:off x="5143500" y="8986838"/>
            <a:ext cx="3257550" cy="1300163"/>
          </a:xfrm>
          <a:custGeom>
            <a:rect b="b" l="l" r="r" t="t"/>
            <a:pathLst>
              <a:path extrusionOk="0" h="1733550" w="4343400">
                <a:moveTo>
                  <a:pt x="0" y="0"/>
                </a:moveTo>
                <a:lnTo>
                  <a:pt x="4343400" y="0"/>
                </a:lnTo>
                <a:lnTo>
                  <a:pt x="4343400" y="1733550"/>
                </a:lnTo>
                <a:lnTo>
                  <a:pt x="0" y="17335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 amt="70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42" name="Google Shape;942;p23"/>
          <p:cNvSpPr/>
          <p:nvPr/>
        </p:nvSpPr>
        <p:spPr>
          <a:xfrm>
            <a:off x="0" y="0"/>
            <a:ext cx="6477000" cy="10287000"/>
          </a:xfrm>
          <a:prstGeom prst="rect">
            <a:avLst/>
          </a:prstGeom>
          <a:solidFill>
            <a:srgbClr val="0F1B2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3" name="Google Shape;943;p23"/>
          <p:cNvSpPr txBox="1"/>
          <p:nvPr/>
        </p:nvSpPr>
        <p:spPr>
          <a:xfrm>
            <a:off x="762000" y="2095500"/>
            <a:ext cx="4953000" cy="57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00AEEF"/>
                </a:solidFill>
                <a:latin typeface="Roboto"/>
                <a:ea typeface="Roboto"/>
                <a:cs typeface="Roboto"/>
                <a:sym typeface="Roboto"/>
              </a:rPr>
              <a:t>JSON-RPC 2.0</a:t>
            </a:r>
            <a:r>
              <a:rPr lang="en-US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0" lang="en-US" sz="1200">
                <a:solidFill>
                  <a:srgbClr val="94A3B8"/>
                </a:solidFill>
                <a:latin typeface="Roboto Medium"/>
                <a:ea typeface="Roboto Medium"/>
                <a:cs typeface="Roboto Medium"/>
                <a:sym typeface="Roboto Medium"/>
              </a:rPr>
              <a:t>(Part 3 of 3)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The Technical Foundation</a:t>
            </a:r>
            <a:endParaRPr b="1" sz="40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94A3B8"/>
                </a:solidFill>
                <a:latin typeface="Roboto"/>
                <a:ea typeface="Roboto"/>
                <a:cs typeface="Roboto"/>
                <a:sym typeface="Roboto"/>
              </a:rPr>
              <a:t>MCP's communication protocol implementation</a:t>
            </a:r>
            <a:endParaRPr b="0" sz="1600">
              <a:solidFill>
                <a:srgbClr val="94A3B8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300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00AEEF"/>
                </a:solidFill>
                <a:latin typeface="Roboto"/>
                <a:ea typeface="Roboto"/>
                <a:cs typeface="Roboto"/>
                <a:sym typeface="Roboto"/>
              </a:rPr>
              <a:t>SPECIFICATION</a:t>
            </a:r>
            <a:endParaRPr b="1" sz="1100">
              <a:solidFill>
                <a:srgbClr val="00AEE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Protocol Version: 2026-07-28</a:t>
            </a:r>
            <a:endParaRPr sz="1300">
              <a:solidFill>
                <a:srgbClr val="CBD5E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44" name="Google Shape;944;p23"/>
          <p:cNvSpPr txBox="1"/>
          <p:nvPr/>
        </p:nvSpPr>
        <p:spPr>
          <a:xfrm>
            <a:off x="7239000" y="952500"/>
            <a:ext cx="100965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0F1B2C"/>
                </a:solidFill>
                <a:latin typeface="Noto Sans"/>
                <a:ea typeface="Noto Sans"/>
                <a:cs typeface="Noto Sans"/>
                <a:sym typeface="Noto Sans"/>
              </a:rPr>
              <a:t>3. Notifications</a:t>
            </a:r>
            <a:endParaRPr b="1" sz="3200">
              <a:solidFill>
                <a:srgbClr val="0F1B2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475569"/>
                </a:solidFill>
                <a:latin typeface="Noto Sans"/>
                <a:ea typeface="Noto Sans"/>
                <a:cs typeface="Noto Sans"/>
                <a:sym typeface="Noto Sans"/>
              </a:rPr>
              <a:t>One-way messages that don't require a response. Used primarily for real-time updates or asynchronous events.</a:t>
            </a:r>
            <a:endParaRPr b="0" sz="1600">
              <a:solidFill>
                <a:srgbClr val="475569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grpSp>
        <p:nvGrpSpPr>
          <p:cNvPr id="945" name="Google Shape;945;p23"/>
          <p:cNvGrpSpPr/>
          <p:nvPr/>
        </p:nvGrpSpPr>
        <p:grpSpPr>
          <a:xfrm>
            <a:off x="7239000" y="2381250"/>
            <a:ext cx="10096500" cy="3429000"/>
            <a:chOff x="0" y="0"/>
            <a:chExt cx="10096500" cy="3429000"/>
          </a:xfrm>
        </p:grpSpPr>
        <p:sp>
          <p:nvSpPr>
            <p:cNvPr id="946" name="Google Shape;946;p23"/>
            <p:cNvSpPr/>
            <p:nvPr/>
          </p:nvSpPr>
          <p:spPr>
            <a:xfrm>
              <a:off x="0" y="0"/>
              <a:ext cx="10096500" cy="3429000"/>
            </a:xfrm>
            <a:prstGeom prst="roundRect">
              <a:avLst>
                <a:gd fmla="val 3333" name="adj"/>
              </a:avLst>
            </a:prstGeom>
            <a:solidFill>
              <a:srgbClr val="1E293B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7" name="Google Shape;947;p23"/>
            <p:cNvSpPr/>
            <p:nvPr/>
          </p:nvSpPr>
          <p:spPr>
            <a:xfrm>
              <a:off x="0" y="0"/>
              <a:ext cx="10096500" cy="419100"/>
            </a:xfrm>
            <a:custGeom>
              <a:rect b="b" l="l" r="r" t="t"/>
              <a:pathLst>
                <a:path extrusionOk="0" h="120000" w="120000">
                  <a:moveTo>
                    <a:pt x="0" y="32727"/>
                  </a:moveTo>
                  <a:cubicBezTo>
                    <a:pt x="0" y="14645"/>
                    <a:pt x="608" y="0"/>
                    <a:pt x="1358" y="0"/>
                  </a:cubicBezTo>
                  <a:lnTo>
                    <a:pt x="118642" y="0"/>
                  </a:lnTo>
                  <a:cubicBezTo>
                    <a:pt x="119392" y="0"/>
                    <a:pt x="120000" y="14645"/>
                    <a:pt x="120000" y="32727"/>
                  </a:cubicBezTo>
                  <a:lnTo>
                    <a:pt x="12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0F172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8" name="Google Shape;948;p23"/>
            <p:cNvSpPr/>
            <p:nvPr/>
          </p:nvSpPr>
          <p:spPr>
            <a:xfrm>
              <a:off x="171450" y="152400"/>
              <a:ext cx="114300" cy="114300"/>
            </a:xfrm>
            <a:prstGeom prst="ellipse">
              <a:avLst/>
            </a:prstGeom>
            <a:solidFill>
              <a:srgbClr val="EF44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9" name="Google Shape;949;p23"/>
            <p:cNvSpPr/>
            <p:nvPr/>
          </p:nvSpPr>
          <p:spPr>
            <a:xfrm>
              <a:off x="361950" y="152400"/>
              <a:ext cx="114300" cy="114300"/>
            </a:xfrm>
            <a:prstGeom prst="ellipse">
              <a:avLst/>
            </a:prstGeom>
            <a:solidFill>
              <a:srgbClr val="F59E0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0" name="Google Shape;950;p23"/>
            <p:cNvSpPr/>
            <p:nvPr/>
          </p:nvSpPr>
          <p:spPr>
            <a:xfrm>
              <a:off x="552450" y="152400"/>
              <a:ext cx="114300" cy="114300"/>
            </a:xfrm>
            <a:prstGeom prst="ellipse">
              <a:avLst/>
            </a:prstGeom>
            <a:solidFill>
              <a:srgbClr val="10B98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1" name="Google Shape;951;p23"/>
            <p:cNvSpPr txBox="1"/>
            <p:nvPr/>
          </p:nvSpPr>
          <p:spPr>
            <a:xfrm>
              <a:off x="857250" y="95250"/>
              <a:ext cx="2857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94A3B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notification_payload.json</a:t>
              </a:r>
              <a:endParaRPr sz="1100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952" name="Google Shape;952;p23"/>
            <p:cNvSpPr txBox="1"/>
            <p:nvPr/>
          </p:nvSpPr>
          <p:spPr>
            <a:xfrm>
              <a:off x="304800" y="609600"/>
              <a:ext cx="9486900" cy="2571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>
                  <a:solidFill>
                    <a:srgbClr val="38BDF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{</a:t>
              </a:r>
              <a:endParaRPr sz="1500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-US" sz="1500">
                  <a:solidFill>
                    <a:srgbClr val="7DD3F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"jsonrpc"</a:t>
              </a:r>
              <a:r>
                <a:rPr lang="en-US" sz="1500">
                  <a:solidFill>
                    <a:srgbClr val="38BDF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: </a:t>
              </a:r>
              <a:r>
                <a:rPr lang="en-US" sz="1500">
                  <a:solidFill>
                    <a:srgbClr val="FDE047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"2.0"</a:t>
              </a:r>
              <a:r>
                <a:rPr lang="en-US" sz="1500">
                  <a:solidFill>
                    <a:srgbClr val="38BDF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,</a:t>
              </a:r>
              <a:endParaRPr sz="1500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-US" sz="1500">
                  <a:solidFill>
                    <a:srgbClr val="7DD3F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"method"</a:t>
              </a:r>
              <a:r>
                <a:rPr lang="en-US" sz="1500">
                  <a:solidFill>
                    <a:srgbClr val="38BDF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: </a:t>
              </a:r>
              <a:r>
                <a:rPr lang="en-US" sz="1500">
                  <a:solidFill>
                    <a:srgbClr val="4ADE8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"notifications/tools/list_changed"</a:t>
              </a:r>
              <a:endParaRPr sz="1500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-US" sz="1500">
                  <a:solidFill>
                    <a:srgbClr val="38BDF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}</a:t>
              </a:r>
              <a:endParaRPr sz="1500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grpSp>
        <p:nvGrpSpPr>
          <p:cNvPr id="953" name="Google Shape;953;p23"/>
          <p:cNvGrpSpPr/>
          <p:nvPr/>
        </p:nvGrpSpPr>
        <p:grpSpPr>
          <a:xfrm>
            <a:off x="7239000" y="6096000"/>
            <a:ext cx="10096650" cy="2095500"/>
            <a:chOff x="0" y="0"/>
            <a:chExt cx="10096650" cy="2095500"/>
          </a:xfrm>
        </p:grpSpPr>
        <p:grpSp>
          <p:nvGrpSpPr>
            <p:cNvPr id="954" name="Google Shape;954;p23"/>
            <p:cNvGrpSpPr/>
            <p:nvPr/>
          </p:nvGrpSpPr>
          <p:grpSpPr>
            <a:xfrm>
              <a:off x="0" y="0"/>
              <a:ext cx="4857900" cy="2095500"/>
              <a:chOff x="0" y="0"/>
              <a:chExt cx="4857900" cy="2095500"/>
            </a:xfrm>
          </p:grpSpPr>
          <p:sp>
            <p:nvSpPr>
              <p:cNvPr id="955" name="Google Shape;955;p23"/>
              <p:cNvSpPr/>
              <p:nvPr/>
            </p:nvSpPr>
            <p:spPr>
              <a:xfrm>
                <a:off x="0" y="0"/>
                <a:ext cx="4857900" cy="2095500"/>
              </a:xfrm>
              <a:prstGeom prst="roundRect">
                <a:avLst>
                  <a:gd fmla="val 5454" name="adj"/>
                </a:avLst>
              </a:prstGeom>
              <a:solidFill>
                <a:srgbClr val="F8FAFC"/>
              </a:solidFill>
              <a:ln cap="flat" cmpd="sng" w="14300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6" name="Google Shape;956;p23"/>
              <p:cNvSpPr txBox="1"/>
              <p:nvPr/>
            </p:nvSpPr>
            <p:spPr>
              <a:xfrm>
                <a:off x="285750" y="228600"/>
                <a:ext cx="4286400" cy="1638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200">
                    <a:solidFill>
                      <a:srgbClr val="00AEEF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do_not_disturb_on</a:t>
                </a:r>
                <a:r>
                  <a:rPr lang="en-US">
                    <a:latin typeface="Noto Sans"/>
                    <a:ea typeface="Noto Sans"/>
                    <a:cs typeface="Noto Sans"/>
                    <a:sym typeface="Noto Sans"/>
                  </a:rPr>
                  <a:t> </a:t>
                </a:r>
                <a:r>
                  <a:rPr b="1" lang="en-US" sz="1600">
                    <a:solidFill>
                      <a:srgbClr val="0F1B2C"/>
                    </a:solidFill>
                    <a:latin typeface="Noto Sans"/>
                    <a:ea typeface="Noto Sans"/>
                    <a:cs typeface="Noto Sans"/>
                    <a:sym typeface="Noto Sans"/>
                  </a:rPr>
                  <a:t>No Request ID</a:t>
                </a:r>
                <a:endParaRPr>
                  <a:latin typeface="Noto Sans"/>
                  <a:ea typeface="Noto Sans"/>
                  <a:cs typeface="Noto Sans"/>
                  <a:sym typeface="Noto Sans"/>
                </a:endParaRPr>
              </a:p>
              <a:p>
                <a:pPr indent="0" lvl="0" marL="0" rtl="0" algn="l">
                  <a:spcBef>
                    <a:spcPts val="900"/>
                  </a:spcBef>
                  <a:spcAft>
                    <a:spcPts val="0"/>
                  </a:spcAft>
                  <a:buNone/>
                </a:pPr>
                <a:r>
                  <a:rPr lang="en-US" sz="1300">
                    <a:solidFill>
                      <a:srgbClr val="475569"/>
                    </a:solidFill>
                    <a:latin typeface="Noto Sans"/>
                    <a:ea typeface="Noto Sans"/>
                    <a:cs typeface="Noto Sans"/>
                    <a:sym typeface="Noto Sans"/>
                  </a:rPr>
                  <a:t>Notifications omit the </a:t>
                </a:r>
                <a:r>
                  <a:rPr b="1" lang="en-US" sz="1300">
                    <a:solidFill>
                      <a:srgbClr val="0F1B2C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"id"</a:t>
                </a:r>
                <a:r>
                  <a:rPr lang="en-US" sz="1300">
                    <a:solidFill>
                      <a:srgbClr val="475569"/>
                    </a:solidFill>
                    <a:latin typeface="Noto Sans"/>
                    <a:ea typeface="Noto Sans"/>
                    <a:cs typeface="Noto Sans"/>
                    <a:sym typeface="Noto Sans"/>
                  </a:rPr>
                  <a:t> field entirely. This explicitly signals that no response or acknowledgment is expected from the receiver.</a:t>
                </a:r>
                <a:endParaRPr sz="1300">
                  <a:solidFill>
                    <a:srgbClr val="475569"/>
                  </a:solidFill>
                  <a:latin typeface="Noto Sans"/>
                  <a:ea typeface="Noto Sans"/>
                  <a:cs typeface="Noto Sans"/>
                  <a:sym typeface="Noto Sans"/>
                </a:endParaRPr>
              </a:p>
            </p:txBody>
          </p:sp>
        </p:grpSp>
        <p:grpSp>
          <p:nvGrpSpPr>
            <p:cNvPr id="957" name="Google Shape;957;p23"/>
            <p:cNvGrpSpPr/>
            <p:nvPr/>
          </p:nvGrpSpPr>
          <p:grpSpPr>
            <a:xfrm>
              <a:off x="5238750" y="0"/>
              <a:ext cx="4857900" cy="2095500"/>
              <a:chOff x="0" y="0"/>
              <a:chExt cx="4857900" cy="2095500"/>
            </a:xfrm>
          </p:grpSpPr>
          <p:sp>
            <p:nvSpPr>
              <p:cNvPr id="958" name="Google Shape;958;p23"/>
              <p:cNvSpPr/>
              <p:nvPr/>
            </p:nvSpPr>
            <p:spPr>
              <a:xfrm>
                <a:off x="0" y="0"/>
                <a:ext cx="4857900" cy="2095500"/>
              </a:xfrm>
              <a:prstGeom prst="roundRect">
                <a:avLst>
                  <a:gd fmla="val 5454" name="adj"/>
                </a:avLst>
              </a:prstGeom>
              <a:solidFill>
                <a:srgbClr val="F8FAFC"/>
              </a:solidFill>
              <a:ln cap="flat" cmpd="sng" w="14300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9" name="Google Shape;959;p23"/>
              <p:cNvSpPr txBox="1"/>
              <p:nvPr/>
            </p:nvSpPr>
            <p:spPr>
              <a:xfrm>
                <a:off x="285750" y="228600"/>
                <a:ext cx="4286400" cy="1638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200">
                    <a:solidFill>
                      <a:srgbClr val="00AEEF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sensors</a:t>
                </a:r>
                <a:r>
                  <a:rPr lang="en-US">
                    <a:latin typeface="Noto Sans"/>
                    <a:ea typeface="Noto Sans"/>
                    <a:cs typeface="Noto Sans"/>
                    <a:sym typeface="Noto Sans"/>
                  </a:rPr>
                  <a:t> </a:t>
                </a:r>
                <a:r>
                  <a:rPr b="1" lang="en-US" sz="1600">
                    <a:solidFill>
                      <a:srgbClr val="0F1B2C"/>
                    </a:solidFill>
                    <a:latin typeface="Noto Sans"/>
                    <a:ea typeface="Noto Sans"/>
                    <a:cs typeface="Noto Sans"/>
                    <a:sym typeface="Noto Sans"/>
                  </a:rPr>
                  <a:t>Event-Driven Updates</a:t>
                </a:r>
                <a:endParaRPr>
                  <a:latin typeface="Noto Sans"/>
                  <a:ea typeface="Noto Sans"/>
                  <a:cs typeface="Noto Sans"/>
                  <a:sym typeface="Noto Sans"/>
                </a:endParaRPr>
              </a:p>
              <a:p>
                <a:pPr indent="0" lvl="0" marL="0" rtl="0" algn="l">
                  <a:spcBef>
                    <a:spcPts val="900"/>
                  </a:spcBef>
                  <a:spcAft>
                    <a:spcPts val="0"/>
                  </a:spcAft>
                  <a:buNone/>
                </a:pPr>
                <a:r>
                  <a:rPr lang="en-US" sz="1300">
                    <a:solidFill>
                      <a:srgbClr val="475569"/>
                    </a:solidFill>
                    <a:latin typeface="Noto Sans"/>
                    <a:ea typeface="Noto Sans"/>
                    <a:cs typeface="Noto Sans"/>
                    <a:sym typeface="Noto Sans"/>
                  </a:rPr>
                  <a:t>Enables real-time client sync when server capabilities, resources, or tool definitions change dynamically during an active session.</a:t>
                </a:r>
                <a:endParaRPr sz="1300">
                  <a:solidFill>
                    <a:srgbClr val="475569"/>
                  </a:solidFill>
                  <a:latin typeface="Noto Sans"/>
                  <a:ea typeface="Noto Sans"/>
                  <a:cs typeface="Noto Sans"/>
                  <a:sym typeface="Noto Sans"/>
                </a:endParaRPr>
              </a:p>
            </p:txBody>
          </p:sp>
        </p:grpSp>
      </p:grpSp>
      <p:sp>
        <p:nvSpPr>
          <p:cNvPr id="960" name="Google Shape;960;p23"/>
          <p:cNvSpPr/>
          <p:nvPr/>
        </p:nvSpPr>
        <p:spPr>
          <a:xfrm>
            <a:off x="0" y="9444038"/>
            <a:ext cx="18288000" cy="14288"/>
          </a:xfrm>
          <a:custGeom>
            <a:rect b="b" l="l" r="r" t="t"/>
            <a:pathLst>
              <a:path extrusionOk="0" h="19050" w="24384000">
                <a:moveTo>
                  <a:pt x="0" y="0"/>
                </a:moveTo>
                <a:lnTo>
                  <a:pt x="24384000" y="0"/>
                </a:lnTo>
                <a:lnTo>
                  <a:pt x="24384000" y="19050"/>
                </a:lnTo>
                <a:lnTo>
                  <a:pt x="0" y="19050"/>
                </a:lnTo>
                <a:close/>
              </a:path>
            </a:pathLst>
          </a:custGeom>
          <a:solidFill>
            <a:srgbClr val="E5E7EB"/>
          </a:solidFill>
          <a:ln>
            <a:noFill/>
          </a:ln>
        </p:spPr>
      </p:sp>
      <p:sp>
        <p:nvSpPr>
          <p:cNvPr descr="preencoded.png" id="961" name="Google Shape;961;p23"/>
          <p:cNvSpPr/>
          <p:nvPr/>
        </p:nvSpPr>
        <p:spPr>
          <a:xfrm>
            <a:off x="14444605" y="9572625"/>
            <a:ext cx="3500438" cy="600075"/>
          </a:xfrm>
          <a:custGeom>
            <a:rect b="b" l="l" r="r" t="t"/>
            <a:pathLst>
              <a:path extrusionOk="0" h="800100" w="4667250">
                <a:moveTo>
                  <a:pt x="0" y="0"/>
                </a:moveTo>
                <a:lnTo>
                  <a:pt x="4667250" y="0"/>
                </a:lnTo>
                <a:lnTo>
                  <a:pt x="4667250" y="800100"/>
                </a:lnTo>
                <a:lnTo>
                  <a:pt x="0" y="8001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-204" r="-204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JSON-RPC 2.0 Message Types</a:t>
            </a:r>
          </a:p>
        </p:txBody>
      </p:sp>
      <p:pic>
        <p:nvPicPr>
          <p:cNvPr id="3" name="Picture 2" descr="d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2784" y="1600200"/>
            <a:ext cx="11962432" cy="7635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9281160"/>
            <a:ext cx="17190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444C56"/>
                </a:solidFill>
              </a:rPr>
              <a:t>Requests carry an `id`; the matching response echoes it. Notifications drop the `id` entirely — fire-and-forget, used for live updates.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65" name="Shape 9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6" name="Google Shape;966;p24"/>
          <p:cNvSpPr txBox="1"/>
          <p:nvPr/>
        </p:nvSpPr>
        <p:spPr>
          <a:xfrm>
            <a:off x="952500" y="619125"/>
            <a:ext cx="11430000" cy="104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800">
                <a:solidFill>
                  <a:srgbClr val="0F1B2C"/>
                </a:solidFill>
                <a:latin typeface="Roboto"/>
                <a:ea typeface="Roboto"/>
                <a:cs typeface="Roboto"/>
                <a:sym typeface="Roboto"/>
              </a:rPr>
              <a:t>MCP Transport </a:t>
            </a:r>
            <a:r>
              <a:rPr b="1" lang="en-US" sz="3800">
                <a:solidFill>
                  <a:srgbClr val="00AEEF"/>
                </a:solidFill>
                <a:latin typeface="Roboto"/>
                <a:ea typeface="Roboto"/>
                <a:cs typeface="Roboto"/>
                <a:sym typeface="Roboto"/>
              </a:rPr>
              <a:t>Mechanisms</a:t>
            </a:r>
            <a:endParaRPr b="1" sz="3800">
              <a:solidFill>
                <a:srgbClr val="0F1B2C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64748B"/>
                </a:solidFill>
                <a:latin typeface="Roboto"/>
                <a:ea typeface="Roboto"/>
                <a:cs typeface="Roboto"/>
                <a:sym typeface="Roboto"/>
              </a:rPr>
              <a:t>Technical implementation of communication channels</a:t>
            </a:r>
            <a:endParaRPr b="0" sz="1600">
              <a:solidFill>
                <a:srgbClr val="64748B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967" name="Google Shape;967;p24"/>
          <p:cNvGrpSpPr/>
          <p:nvPr/>
        </p:nvGrpSpPr>
        <p:grpSpPr>
          <a:xfrm>
            <a:off x="952500" y="1905000"/>
            <a:ext cx="7905900" cy="6953400"/>
            <a:chOff x="0" y="0"/>
            <a:chExt cx="7905900" cy="6953400"/>
          </a:xfrm>
        </p:grpSpPr>
        <p:sp>
          <p:nvSpPr>
            <p:cNvPr id="968" name="Google Shape;968;p24"/>
            <p:cNvSpPr/>
            <p:nvPr/>
          </p:nvSpPr>
          <p:spPr>
            <a:xfrm>
              <a:off x="0" y="0"/>
              <a:ext cx="7905900" cy="6953400"/>
            </a:xfrm>
            <a:prstGeom prst="roundRect">
              <a:avLst>
                <a:gd fmla="val 2191" name="adj"/>
              </a:avLst>
            </a:prstGeom>
            <a:solidFill>
              <a:srgbClr val="FFFFFF"/>
            </a:solidFill>
            <a:ln cap="flat" cmpd="sng" w="190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9" name="Google Shape;969;p24"/>
            <p:cNvSpPr/>
            <p:nvPr/>
          </p:nvSpPr>
          <p:spPr>
            <a:xfrm>
              <a:off x="0" y="0"/>
              <a:ext cx="7905900" cy="1238400"/>
            </a:xfrm>
            <a:custGeom>
              <a:rect b="b" l="l" r="r" t="t"/>
              <a:pathLst>
                <a:path extrusionOk="0" h="120000" w="120000">
                  <a:moveTo>
                    <a:pt x="0" y="14769"/>
                  </a:moveTo>
                  <a:cubicBezTo>
                    <a:pt x="0" y="6612"/>
                    <a:pt x="1036" y="0"/>
                    <a:pt x="2313" y="0"/>
                  </a:cubicBezTo>
                  <a:lnTo>
                    <a:pt x="117687" y="0"/>
                  </a:lnTo>
                  <a:cubicBezTo>
                    <a:pt x="118964" y="1"/>
                    <a:pt x="120000" y="6613"/>
                    <a:pt x="120000" y="14769"/>
                  </a:cubicBezTo>
                  <a:lnTo>
                    <a:pt x="12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0F1B2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0" name="Google Shape;970;p24"/>
            <p:cNvSpPr txBox="1"/>
            <p:nvPr/>
          </p:nvSpPr>
          <p:spPr>
            <a:xfrm>
              <a:off x="381000" y="228600"/>
              <a:ext cx="6381900" cy="78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00AEEF"/>
                  </a:solidFill>
                  <a:latin typeface="Noto Sans"/>
                  <a:ea typeface="Noto Sans"/>
                  <a:cs typeface="Noto Sans"/>
                  <a:sym typeface="Noto Sans"/>
                </a:rPr>
                <a:t>LOCAL COMMUNICATION</a:t>
              </a:r>
              <a:endParaRPr b="1" sz="1100">
                <a:solidFill>
                  <a:srgbClr val="00AEEF"/>
                </a:solidFill>
                <a:latin typeface="Noto Sans"/>
                <a:ea typeface="Noto Sans"/>
                <a:cs typeface="Noto Sans"/>
                <a:sym typeface="Noto Sans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FFFFFF"/>
                  </a:solidFill>
                  <a:latin typeface="Noto Sans"/>
                  <a:ea typeface="Noto Sans"/>
                  <a:cs typeface="Noto Sans"/>
                  <a:sym typeface="Noto Sans"/>
                </a:rPr>
                <a:t>Stdio Transport</a:t>
              </a:r>
              <a:endParaRPr b="1" sz="24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endParaRPr>
            </a:p>
          </p:txBody>
        </p:sp>
        <p:sp>
          <p:nvSpPr>
            <p:cNvPr id="971" name="Google Shape;971;p24"/>
            <p:cNvSpPr txBox="1"/>
            <p:nvPr/>
          </p:nvSpPr>
          <p:spPr>
            <a:xfrm>
              <a:off x="6953250" y="380111"/>
              <a:ext cx="571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rgbClr val="00AEEF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terminal</a:t>
              </a:r>
              <a:endParaRPr sz="3200">
                <a:solidFill>
                  <a:srgbClr val="00AEEF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972" name="Google Shape;972;p24"/>
            <p:cNvSpPr txBox="1"/>
            <p:nvPr/>
          </p:nvSpPr>
          <p:spPr>
            <a:xfrm>
              <a:off x="381000" y="1476375"/>
              <a:ext cx="71439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rgbClr val="334155"/>
                  </a:solidFill>
                  <a:latin typeface="Noto Sans"/>
                  <a:ea typeface="Noto Sans"/>
                  <a:cs typeface="Noto Sans"/>
                  <a:sym typeface="Noto Sans"/>
                </a:rPr>
                <a:t>Client and Server run on the same machine via standard input/output streams.</a:t>
              </a:r>
              <a:endParaRPr sz="1400">
                <a:solidFill>
                  <a:srgbClr val="334155"/>
                </a:solidFill>
                <a:latin typeface="Noto Sans"/>
                <a:ea typeface="Noto Sans"/>
                <a:cs typeface="Noto Sans"/>
                <a:sym typeface="Noto Sans"/>
              </a:endParaRPr>
            </a:p>
          </p:txBody>
        </p:sp>
        <p:grpSp>
          <p:nvGrpSpPr>
            <p:cNvPr id="973" name="Google Shape;973;p24"/>
            <p:cNvGrpSpPr/>
            <p:nvPr/>
          </p:nvGrpSpPr>
          <p:grpSpPr>
            <a:xfrm>
              <a:off x="381000" y="2333625"/>
              <a:ext cx="7143900" cy="1809600"/>
              <a:chOff x="0" y="0"/>
              <a:chExt cx="7143900" cy="1809600"/>
            </a:xfrm>
          </p:grpSpPr>
          <p:sp>
            <p:nvSpPr>
              <p:cNvPr id="974" name="Google Shape;974;p24"/>
              <p:cNvSpPr/>
              <p:nvPr/>
            </p:nvSpPr>
            <p:spPr>
              <a:xfrm>
                <a:off x="0" y="0"/>
                <a:ext cx="7143900" cy="1809600"/>
              </a:xfrm>
              <a:prstGeom prst="roundRect">
                <a:avLst>
                  <a:gd fmla="val 6315" name="adj"/>
                </a:avLst>
              </a:prstGeom>
              <a:solidFill>
                <a:srgbClr val="F0F4F8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5" name="Google Shape;975;p24"/>
              <p:cNvSpPr txBox="1"/>
              <p:nvPr/>
            </p:nvSpPr>
            <p:spPr>
              <a:xfrm>
                <a:off x="285750" y="209550"/>
                <a:ext cx="6572400" cy="1390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600">
                    <a:solidFill>
                      <a:srgbClr val="00AEEF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settings_suggest </a:t>
                </a:r>
                <a:r>
                  <a:rPr b="1" lang="en-US" sz="1300">
                    <a:solidFill>
                      <a:srgbClr val="0F1B2C"/>
                    </a:solidFill>
                    <a:latin typeface="Noto Sans"/>
                    <a:ea typeface="Noto Sans"/>
                    <a:cs typeface="Noto Sans"/>
                    <a:sym typeface="Noto Sans"/>
                  </a:rPr>
                  <a:t>Implementation</a:t>
                </a:r>
                <a:endParaRPr b="1" sz="1300">
                  <a:solidFill>
                    <a:srgbClr val="0F1B2C"/>
                  </a:solidFill>
                  <a:latin typeface="Noto Sans"/>
                  <a:ea typeface="Noto Sans"/>
                  <a:cs typeface="Noto Sans"/>
                  <a:sym typeface="Noto Sans"/>
                </a:endParaRPr>
              </a:p>
              <a:p>
                <a:pPr indent="0" lvl="0" marL="0" rtl="0" algn="l">
                  <a:spcBef>
                    <a:spcPts val="750"/>
                  </a:spcBef>
                  <a:spcAft>
                    <a:spcPts val="0"/>
                  </a:spcAft>
                  <a:buNone/>
                </a:pPr>
                <a:r>
                  <a:rPr b="0" lang="en-US" sz="1400">
                    <a:solidFill>
                      <a:srgbClr val="334155"/>
                    </a:solidFill>
                    <a:latin typeface="Noto Sans"/>
                    <a:ea typeface="Noto Sans"/>
                    <a:cs typeface="Noto Sans"/>
                    <a:sym typeface="Noto Sans"/>
                  </a:rPr>
                  <a:t>Server launched as subprocess by Host. Client writes to stdin and reads from stdout.</a:t>
                </a:r>
                <a:endParaRPr b="0" sz="1400">
                  <a:solidFill>
                    <a:srgbClr val="334155"/>
                  </a:solidFill>
                  <a:latin typeface="Noto Sans"/>
                  <a:ea typeface="Noto Sans"/>
                  <a:cs typeface="Noto Sans"/>
                  <a:sym typeface="Noto Sans"/>
                </a:endParaRPr>
              </a:p>
            </p:txBody>
          </p:sp>
        </p:grpSp>
        <p:grpSp>
          <p:nvGrpSpPr>
            <p:cNvPr id="976" name="Google Shape;976;p24"/>
            <p:cNvGrpSpPr/>
            <p:nvPr/>
          </p:nvGrpSpPr>
          <p:grpSpPr>
            <a:xfrm>
              <a:off x="381000" y="4429125"/>
              <a:ext cx="7143900" cy="2047800"/>
              <a:chOff x="0" y="0"/>
              <a:chExt cx="7143900" cy="2047800"/>
            </a:xfrm>
          </p:grpSpPr>
          <p:sp>
            <p:nvSpPr>
              <p:cNvPr id="977" name="Google Shape;977;p24"/>
              <p:cNvSpPr/>
              <p:nvPr/>
            </p:nvSpPr>
            <p:spPr>
              <a:xfrm>
                <a:off x="0" y="0"/>
                <a:ext cx="7143900" cy="2047800"/>
              </a:xfrm>
              <a:prstGeom prst="roundRect">
                <a:avLst>
                  <a:gd fmla="val 5581" name="adj"/>
                </a:avLst>
              </a:prstGeom>
              <a:solidFill>
                <a:srgbClr val="F8FAFC"/>
              </a:solidFill>
              <a:ln cap="flat" cmpd="sng" w="14300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8" name="Google Shape;978;p24"/>
              <p:cNvSpPr txBox="1"/>
              <p:nvPr/>
            </p:nvSpPr>
            <p:spPr>
              <a:xfrm>
                <a:off x="285750" y="209550"/>
                <a:ext cx="6572400" cy="161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600">
                    <a:solidFill>
                      <a:srgbClr val="00AEEF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speed </a:t>
                </a:r>
                <a:r>
                  <a:rPr b="1" lang="en-US" sz="1300">
                    <a:solidFill>
                      <a:srgbClr val="0F1B2C"/>
                    </a:solidFill>
                    <a:latin typeface="Noto Sans"/>
                    <a:ea typeface="Noto Sans"/>
                    <a:cs typeface="Noto Sans"/>
                    <a:sym typeface="Noto Sans"/>
                  </a:rPr>
                  <a:t>Technical Benefits</a:t>
                </a:r>
                <a:endParaRPr b="1" sz="1300">
                  <a:solidFill>
                    <a:srgbClr val="0F1B2C"/>
                  </a:solidFill>
                  <a:latin typeface="Noto Sans"/>
                  <a:ea typeface="Noto Sans"/>
                  <a:cs typeface="Noto Sans"/>
                  <a:sym typeface="Noto Sans"/>
                </a:endParaRPr>
              </a:p>
              <a:p>
                <a:pPr indent="-317500" lvl="0" marL="457200" rtl="0" algn="l">
                  <a:spcBef>
                    <a:spcPts val="900"/>
                  </a:spcBef>
                  <a:spcAft>
                    <a:spcPts val="0"/>
                  </a:spcAft>
                  <a:buClr>
                    <a:srgbClr val="1E293B"/>
                  </a:buClr>
                  <a:buSzPts val="1400"/>
                  <a:buFont typeface="Noto Sans"/>
                  <a:buChar char="●"/>
                </a:pPr>
                <a:r>
                  <a:rPr b="0" lang="en-US" sz="1400">
                    <a:solidFill>
                      <a:srgbClr val="1E293B"/>
                    </a:solidFill>
                    <a:latin typeface="Noto Sans Medium"/>
                    <a:ea typeface="Noto Sans Medium"/>
                    <a:cs typeface="Noto Sans Medium"/>
                    <a:sym typeface="Noto Sans Medium"/>
                  </a:rPr>
                  <a:t>No network config</a:t>
                </a:r>
                <a:endParaRPr b="0" sz="1400">
                  <a:solidFill>
                    <a:srgbClr val="1E293B"/>
                  </a:solidFill>
                  <a:latin typeface="Noto Sans Medium"/>
                  <a:ea typeface="Noto Sans Medium"/>
                  <a:cs typeface="Noto Sans Medium"/>
                  <a:sym typeface="Noto Sans Medium"/>
                </a:endParaRPr>
              </a:p>
              <a:p>
                <a:pPr indent="-317500" lvl="0" marL="457200" rtl="0" algn="l">
                  <a:spcBef>
                    <a:spcPts val="600"/>
                  </a:spcBef>
                  <a:spcAft>
                    <a:spcPts val="0"/>
                  </a:spcAft>
                  <a:buClr>
                    <a:srgbClr val="1E293B"/>
                  </a:buClr>
                  <a:buSzPts val="1400"/>
                  <a:buFont typeface="Noto Sans"/>
                  <a:buChar char="●"/>
                </a:pPr>
                <a:r>
                  <a:rPr b="0" lang="en-US" sz="1400">
                    <a:solidFill>
                      <a:srgbClr val="1E293B"/>
                    </a:solidFill>
                    <a:latin typeface="Noto Sans Medium"/>
                    <a:ea typeface="Noto Sans Medium"/>
                    <a:cs typeface="Noto Sans Medium"/>
                    <a:sym typeface="Noto Sans Medium"/>
                  </a:rPr>
                  <a:t>Low latency</a:t>
                </a:r>
                <a:endParaRPr b="0" sz="1400">
                  <a:solidFill>
                    <a:srgbClr val="1E293B"/>
                  </a:solidFill>
                  <a:latin typeface="Noto Sans Medium"/>
                  <a:ea typeface="Noto Sans Medium"/>
                  <a:cs typeface="Noto Sans Medium"/>
                  <a:sym typeface="Noto Sans Medium"/>
                </a:endParaRPr>
              </a:p>
            </p:txBody>
          </p:sp>
        </p:grpSp>
      </p:grpSp>
      <p:grpSp>
        <p:nvGrpSpPr>
          <p:cNvPr id="979" name="Google Shape;979;p24"/>
          <p:cNvGrpSpPr/>
          <p:nvPr/>
        </p:nvGrpSpPr>
        <p:grpSpPr>
          <a:xfrm>
            <a:off x="9429750" y="1905000"/>
            <a:ext cx="7905900" cy="6953400"/>
            <a:chOff x="0" y="0"/>
            <a:chExt cx="7905900" cy="6953400"/>
          </a:xfrm>
        </p:grpSpPr>
        <p:sp>
          <p:nvSpPr>
            <p:cNvPr id="980" name="Google Shape;980;p24"/>
            <p:cNvSpPr/>
            <p:nvPr/>
          </p:nvSpPr>
          <p:spPr>
            <a:xfrm>
              <a:off x="0" y="0"/>
              <a:ext cx="7905900" cy="6953400"/>
            </a:xfrm>
            <a:prstGeom prst="roundRect">
              <a:avLst>
                <a:gd fmla="val 2191" name="adj"/>
              </a:avLst>
            </a:prstGeom>
            <a:solidFill>
              <a:srgbClr val="FFFFFF"/>
            </a:solidFill>
            <a:ln cap="flat" cmpd="sng" w="190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1" name="Google Shape;981;p24"/>
            <p:cNvSpPr/>
            <p:nvPr/>
          </p:nvSpPr>
          <p:spPr>
            <a:xfrm>
              <a:off x="0" y="0"/>
              <a:ext cx="7905900" cy="1238400"/>
            </a:xfrm>
            <a:custGeom>
              <a:rect b="b" l="l" r="r" t="t"/>
              <a:pathLst>
                <a:path extrusionOk="0" h="120000" w="120000">
                  <a:moveTo>
                    <a:pt x="0" y="14769"/>
                  </a:moveTo>
                  <a:cubicBezTo>
                    <a:pt x="0" y="6612"/>
                    <a:pt x="1036" y="0"/>
                    <a:pt x="2313" y="0"/>
                  </a:cubicBezTo>
                  <a:lnTo>
                    <a:pt x="117687" y="0"/>
                  </a:lnTo>
                  <a:cubicBezTo>
                    <a:pt x="118964" y="1"/>
                    <a:pt x="120000" y="6613"/>
                    <a:pt x="120000" y="14769"/>
                  </a:cubicBezTo>
                  <a:lnTo>
                    <a:pt x="12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00AEE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2" name="Google Shape;982;p24"/>
            <p:cNvSpPr txBox="1"/>
            <p:nvPr/>
          </p:nvSpPr>
          <p:spPr>
            <a:xfrm>
              <a:off x="381000" y="228600"/>
              <a:ext cx="6381900" cy="78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0F1B2C"/>
                  </a:solidFill>
                  <a:latin typeface="Noto Sans"/>
                  <a:ea typeface="Noto Sans"/>
                  <a:cs typeface="Noto Sans"/>
                  <a:sym typeface="Noto Sans"/>
                </a:rPr>
                <a:t>REMOTE COMMUNICATION</a:t>
              </a:r>
              <a:endParaRPr b="1" sz="1100">
                <a:solidFill>
                  <a:srgbClr val="0F1B2C"/>
                </a:solidFill>
                <a:latin typeface="Noto Sans"/>
                <a:ea typeface="Noto Sans"/>
                <a:cs typeface="Noto Sans"/>
                <a:sym typeface="Noto Sans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FFFFFF"/>
                  </a:solidFill>
                  <a:latin typeface="Noto Sans"/>
                  <a:ea typeface="Noto Sans"/>
                  <a:cs typeface="Noto Sans"/>
                  <a:sym typeface="Noto Sans"/>
                </a:rPr>
                <a:t>Streamable HTTP Transport</a:t>
              </a:r>
              <a:endParaRPr b="1" sz="24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endParaRPr>
            </a:p>
          </p:txBody>
        </p:sp>
        <p:sp>
          <p:nvSpPr>
            <p:cNvPr id="983" name="Google Shape;983;p24"/>
            <p:cNvSpPr txBox="1"/>
            <p:nvPr/>
          </p:nvSpPr>
          <p:spPr>
            <a:xfrm>
              <a:off x="6953250" y="380111"/>
              <a:ext cx="571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rgbClr val="FFFFFF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cloud_queue</a:t>
              </a:r>
              <a:endParaRPr sz="3200">
                <a:solidFill>
                  <a:srgbClr val="FFFFFF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984" name="Google Shape;984;p24"/>
            <p:cNvSpPr txBox="1"/>
            <p:nvPr/>
          </p:nvSpPr>
          <p:spPr>
            <a:xfrm>
              <a:off x="381000" y="1476375"/>
              <a:ext cx="71439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rgbClr val="334155"/>
                  </a:solidFill>
                  <a:latin typeface="Noto Sans"/>
                  <a:ea typeface="Noto Sans"/>
                  <a:cs typeface="Noto Sans"/>
                  <a:sym typeface="Noto Sans"/>
                </a:rPr>
                <a:t>Client and Server might be on different machines using HTTP POST with Server-Sent Events.</a:t>
              </a:r>
              <a:endParaRPr sz="1400">
                <a:solidFill>
                  <a:srgbClr val="334155"/>
                </a:solidFill>
                <a:latin typeface="Noto Sans"/>
                <a:ea typeface="Noto Sans"/>
                <a:cs typeface="Noto Sans"/>
                <a:sym typeface="Noto Sans"/>
              </a:endParaRPr>
            </a:p>
          </p:txBody>
        </p:sp>
        <p:grpSp>
          <p:nvGrpSpPr>
            <p:cNvPr id="985" name="Google Shape;985;p24"/>
            <p:cNvGrpSpPr/>
            <p:nvPr/>
          </p:nvGrpSpPr>
          <p:grpSpPr>
            <a:xfrm>
              <a:off x="381000" y="2333625"/>
              <a:ext cx="7143900" cy="1809600"/>
              <a:chOff x="0" y="0"/>
              <a:chExt cx="7143900" cy="1809600"/>
            </a:xfrm>
          </p:grpSpPr>
          <p:sp>
            <p:nvSpPr>
              <p:cNvPr id="986" name="Google Shape;986;p24"/>
              <p:cNvSpPr/>
              <p:nvPr/>
            </p:nvSpPr>
            <p:spPr>
              <a:xfrm>
                <a:off x="0" y="0"/>
                <a:ext cx="7143900" cy="1809600"/>
              </a:xfrm>
              <a:prstGeom prst="roundRect">
                <a:avLst>
                  <a:gd fmla="val 6315" name="adj"/>
                </a:avLst>
              </a:prstGeom>
              <a:solidFill>
                <a:srgbClr val="F0F4F8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7" name="Google Shape;987;p24"/>
              <p:cNvSpPr txBox="1"/>
              <p:nvPr/>
            </p:nvSpPr>
            <p:spPr>
              <a:xfrm>
                <a:off x="285750" y="209550"/>
                <a:ext cx="6572400" cy="1390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600">
                    <a:solidFill>
                      <a:srgbClr val="00AEEF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swap_horiz </a:t>
                </a:r>
                <a:r>
                  <a:rPr b="1" lang="en-US" sz="1300">
                    <a:solidFill>
                      <a:srgbClr val="0F1B2C"/>
                    </a:solidFill>
                    <a:latin typeface="Noto Sans"/>
                    <a:ea typeface="Noto Sans"/>
                    <a:cs typeface="Noto Sans"/>
                    <a:sym typeface="Noto Sans"/>
                  </a:rPr>
                  <a:t>Implementation</a:t>
                </a:r>
                <a:endParaRPr b="1" sz="1300">
                  <a:solidFill>
                    <a:srgbClr val="0F1B2C"/>
                  </a:solidFill>
                  <a:latin typeface="Noto Sans"/>
                  <a:ea typeface="Noto Sans"/>
                  <a:cs typeface="Noto Sans"/>
                  <a:sym typeface="Noto Sans"/>
                </a:endParaRPr>
              </a:p>
              <a:p>
                <a:pPr indent="0" lvl="0" marL="0" rtl="0" algn="l">
                  <a:spcBef>
                    <a:spcPts val="750"/>
                  </a:spcBef>
                  <a:spcAft>
                    <a:spcPts val="0"/>
                  </a:spcAft>
                  <a:buNone/>
                </a:pPr>
                <a:r>
                  <a:rPr b="0" lang="en-US" sz="1400">
                    <a:solidFill>
                      <a:srgbClr val="334155"/>
                    </a:solidFill>
                    <a:latin typeface="Noto Sans"/>
                    <a:ea typeface="Noto Sans"/>
                    <a:cs typeface="Noto Sans"/>
                    <a:sym typeface="Noto Sans"/>
                  </a:rPr>
                  <a:t>Client sends requests via HTTP POST. Server uses SSE for streaming responses and notifications.</a:t>
                </a:r>
                <a:endParaRPr b="0" sz="1400">
                  <a:solidFill>
                    <a:srgbClr val="334155"/>
                  </a:solidFill>
                  <a:latin typeface="Noto Sans"/>
                  <a:ea typeface="Noto Sans"/>
                  <a:cs typeface="Noto Sans"/>
                  <a:sym typeface="Noto Sans"/>
                </a:endParaRPr>
              </a:p>
            </p:txBody>
          </p:sp>
        </p:grpSp>
        <p:grpSp>
          <p:nvGrpSpPr>
            <p:cNvPr id="988" name="Google Shape;988;p24"/>
            <p:cNvGrpSpPr/>
            <p:nvPr/>
          </p:nvGrpSpPr>
          <p:grpSpPr>
            <a:xfrm>
              <a:off x="381000" y="4429125"/>
              <a:ext cx="7143900" cy="2047800"/>
              <a:chOff x="0" y="0"/>
              <a:chExt cx="7143900" cy="2047800"/>
            </a:xfrm>
          </p:grpSpPr>
          <p:sp>
            <p:nvSpPr>
              <p:cNvPr id="989" name="Google Shape;989;p24"/>
              <p:cNvSpPr/>
              <p:nvPr/>
            </p:nvSpPr>
            <p:spPr>
              <a:xfrm>
                <a:off x="0" y="0"/>
                <a:ext cx="7143900" cy="2047800"/>
              </a:xfrm>
              <a:prstGeom prst="roundRect">
                <a:avLst>
                  <a:gd fmla="val 5581" name="adj"/>
                </a:avLst>
              </a:prstGeom>
              <a:solidFill>
                <a:srgbClr val="F8FAFC"/>
              </a:solidFill>
              <a:ln cap="flat" cmpd="sng" w="14300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0" name="Google Shape;990;p24"/>
              <p:cNvSpPr txBox="1"/>
              <p:nvPr/>
            </p:nvSpPr>
            <p:spPr>
              <a:xfrm>
                <a:off x="285750" y="209550"/>
                <a:ext cx="6572400" cy="161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600">
                    <a:solidFill>
                      <a:srgbClr val="00AEEF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verified_user </a:t>
                </a:r>
                <a:r>
                  <a:rPr b="1" lang="en-US" sz="1300">
                    <a:solidFill>
                      <a:srgbClr val="0F1B2C"/>
                    </a:solidFill>
                    <a:latin typeface="Noto Sans"/>
                    <a:ea typeface="Noto Sans"/>
                    <a:cs typeface="Noto Sans"/>
                    <a:sym typeface="Noto Sans"/>
                  </a:rPr>
                  <a:t>Authentication Methods</a:t>
                </a:r>
                <a:endParaRPr b="1" sz="1300">
                  <a:solidFill>
                    <a:srgbClr val="0F1B2C"/>
                  </a:solidFill>
                  <a:latin typeface="Noto Sans"/>
                  <a:ea typeface="Noto Sans"/>
                  <a:cs typeface="Noto Sans"/>
                  <a:sym typeface="Noto Sans"/>
                </a:endParaRPr>
              </a:p>
              <a:p>
                <a:pPr indent="-317500" lvl="0" marL="457200" rtl="0" algn="l">
                  <a:spcBef>
                    <a:spcPts val="900"/>
                  </a:spcBef>
                  <a:spcAft>
                    <a:spcPts val="0"/>
                  </a:spcAft>
                  <a:buClr>
                    <a:srgbClr val="1E293B"/>
                  </a:buClr>
                  <a:buSzPts val="1400"/>
                  <a:buFont typeface="Noto Sans"/>
                  <a:buChar char="●"/>
                </a:pPr>
                <a:r>
                  <a:rPr b="0" lang="en-US" sz="1400">
                    <a:solidFill>
                      <a:srgbClr val="1E293B"/>
                    </a:solidFill>
                    <a:latin typeface="Noto Sans Medium"/>
                    <a:ea typeface="Noto Sans Medium"/>
                    <a:cs typeface="Noto Sans Medium"/>
                    <a:sym typeface="Noto Sans Medium"/>
                  </a:rPr>
                  <a:t>Bearer tokens</a:t>
                </a:r>
                <a:endParaRPr b="0" sz="1400">
                  <a:solidFill>
                    <a:srgbClr val="1E293B"/>
                  </a:solidFill>
                  <a:latin typeface="Noto Sans Medium"/>
                  <a:ea typeface="Noto Sans Medium"/>
                  <a:cs typeface="Noto Sans Medium"/>
                  <a:sym typeface="Noto Sans Medium"/>
                </a:endParaRPr>
              </a:p>
              <a:p>
                <a:pPr indent="-317500" lvl="0" marL="457200" rtl="0" algn="l">
                  <a:spcBef>
                    <a:spcPts val="450"/>
                  </a:spcBef>
                  <a:spcAft>
                    <a:spcPts val="0"/>
                  </a:spcAft>
                  <a:buClr>
                    <a:srgbClr val="1E293B"/>
                  </a:buClr>
                  <a:buSzPts val="1400"/>
                  <a:buFont typeface="Noto Sans"/>
                  <a:buChar char="●"/>
                </a:pPr>
                <a:r>
                  <a:rPr b="0" lang="en-US" sz="1400">
                    <a:solidFill>
                      <a:srgbClr val="1E293B"/>
                    </a:solidFill>
                    <a:latin typeface="Noto Sans Medium"/>
                    <a:ea typeface="Noto Sans Medium"/>
                    <a:cs typeface="Noto Sans Medium"/>
                    <a:sym typeface="Noto Sans Medium"/>
                  </a:rPr>
                  <a:t>API keys</a:t>
                </a:r>
                <a:endParaRPr b="0" sz="1400">
                  <a:solidFill>
                    <a:srgbClr val="1E293B"/>
                  </a:solidFill>
                  <a:latin typeface="Noto Sans Medium"/>
                  <a:ea typeface="Noto Sans Medium"/>
                  <a:cs typeface="Noto Sans Medium"/>
                  <a:sym typeface="Noto Sans Medium"/>
                </a:endParaRPr>
              </a:p>
              <a:p>
                <a:pPr indent="-317500" lvl="0" marL="457200" rtl="0" algn="l">
                  <a:spcBef>
                    <a:spcPts val="450"/>
                  </a:spcBef>
                  <a:spcAft>
                    <a:spcPts val="0"/>
                  </a:spcAft>
                  <a:buClr>
                    <a:srgbClr val="1E293B"/>
                  </a:buClr>
                  <a:buSzPts val="1400"/>
                  <a:buFont typeface="Noto Sans"/>
                  <a:buChar char="●"/>
                </a:pPr>
                <a:r>
                  <a:rPr b="0" lang="en-US" sz="1400">
                    <a:solidFill>
                      <a:srgbClr val="1E293B"/>
                    </a:solidFill>
                    <a:latin typeface="Noto Sans Medium"/>
                    <a:ea typeface="Noto Sans Medium"/>
                    <a:cs typeface="Noto Sans Medium"/>
                    <a:sym typeface="Noto Sans Medium"/>
                  </a:rPr>
                  <a:t>OAuth</a:t>
                </a:r>
                <a:endParaRPr b="0" sz="1400">
                  <a:solidFill>
                    <a:srgbClr val="1E293B"/>
                  </a:solidFill>
                  <a:latin typeface="Noto Sans Medium"/>
                  <a:ea typeface="Noto Sans Medium"/>
                  <a:cs typeface="Noto Sans Medium"/>
                  <a:sym typeface="Noto Sans Medium"/>
                </a:endParaRPr>
              </a:p>
            </p:txBody>
          </p:sp>
        </p:grpSp>
      </p:grpSp>
      <p:sp>
        <p:nvSpPr>
          <p:cNvPr id="991" name="Google Shape;991;p24"/>
          <p:cNvSpPr/>
          <p:nvPr/>
        </p:nvSpPr>
        <p:spPr>
          <a:xfrm>
            <a:off x="0" y="9416186"/>
            <a:ext cx="18288000" cy="14288"/>
          </a:xfrm>
          <a:custGeom>
            <a:rect b="b" l="l" r="r" t="t"/>
            <a:pathLst>
              <a:path extrusionOk="0" h="19050" w="24384000">
                <a:moveTo>
                  <a:pt x="0" y="0"/>
                </a:moveTo>
                <a:lnTo>
                  <a:pt x="24384000" y="0"/>
                </a:lnTo>
                <a:lnTo>
                  <a:pt x="24384000" y="19050"/>
                </a:lnTo>
                <a:lnTo>
                  <a:pt x="0" y="19050"/>
                </a:lnTo>
                <a:close/>
              </a:path>
            </a:pathLst>
          </a:custGeom>
          <a:solidFill>
            <a:srgbClr val="E5E7EB"/>
          </a:solidFill>
          <a:ln>
            <a:noFill/>
          </a:ln>
        </p:spPr>
      </p:sp>
      <p:sp>
        <p:nvSpPr>
          <p:cNvPr descr="preencoded.png" id="992" name="Google Shape;992;p24"/>
          <p:cNvSpPr/>
          <p:nvPr/>
        </p:nvSpPr>
        <p:spPr>
          <a:xfrm>
            <a:off x="14444605" y="9544774"/>
            <a:ext cx="3500438" cy="600075"/>
          </a:xfrm>
          <a:custGeom>
            <a:rect b="b" l="l" r="r" t="t"/>
            <a:pathLst>
              <a:path extrusionOk="0" h="800100" w="4667250">
                <a:moveTo>
                  <a:pt x="0" y="0"/>
                </a:moveTo>
                <a:lnTo>
                  <a:pt x="4667250" y="0"/>
                </a:lnTo>
                <a:lnTo>
                  <a:pt x="4667250" y="800100"/>
                </a:lnTo>
                <a:lnTo>
                  <a:pt x="0" y="8001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982" l="0" r="0" t="-982"/>
            </a:stretch>
          </a:blipFill>
          <a:ln>
            <a:noFill/>
          </a:ln>
        </p:spPr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Transport Mechanisms (stdio vs Streamable HTTP)</a:t>
            </a:r>
          </a:p>
        </p:txBody>
      </p:sp>
      <p:pic>
        <p:nvPicPr>
          <p:cNvPr id="3" name="Picture 2" descr="d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751373"/>
            <a:ext cx="17190720" cy="333289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9281160"/>
            <a:ext cx="17190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444C56"/>
                </a:solidFill>
              </a:rPr>
              <a:t>stdio = server runs as a local subprocess (I/O over pipes). Streamable HTTP = client and server on different machines, POST + SSE, authenticated. Our workshop server runs HTTP at `:8000/mcp` with a bearer token.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6" name="Shape 9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preencoded.png" id="997" name="Google Shape;997;p25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98" name="Google Shape;998;p25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9" name="Google Shape;999;p25"/>
          <p:cNvSpPr txBox="1"/>
          <p:nvPr/>
        </p:nvSpPr>
        <p:spPr>
          <a:xfrm>
            <a:off x="952500" y="666750"/>
            <a:ext cx="11430000" cy="952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800">
                <a:solidFill>
                  <a:srgbClr val="0F1B2C"/>
                </a:solidFill>
                <a:latin typeface="Roboto"/>
                <a:ea typeface="Roboto"/>
                <a:cs typeface="Roboto"/>
                <a:sym typeface="Roboto"/>
              </a:rPr>
              <a:t>MCP Protocol </a:t>
            </a:r>
            <a:r>
              <a:rPr b="1" lang="en-US" sz="3800">
                <a:solidFill>
                  <a:srgbClr val="00AEEF"/>
                </a:solidFill>
                <a:latin typeface="Roboto"/>
                <a:ea typeface="Roboto"/>
                <a:cs typeface="Roboto"/>
                <a:sym typeface="Roboto"/>
              </a:rPr>
              <a:t>Lifecycle</a:t>
            </a:r>
            <a:r>
              <a:rPr b="1" lang="en-US" sz="3800">
                <a:solidFill>
                  <a:srgbClr val="0F1B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0" lang="en-US" sz="2000">
                <a:solidFill>
                  <a:srgbClr val="6B7280"/>
                </a:solidFill>
                <a:latin typeface="Roboto"/>
                <a:ea typeface="Roboto"/>
                <a:cs typeface="Roboto"/>
                <a:sym typeface="Roboto"/>
              </a:rPr>
              <a:t>(Phase 1 &amp; 2)</a:t>
            </a:r>
            <a:endParaRPr b="1" sz="3800">
              <a:solidFill>
                <a:srgbClr val="0F1B2C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Technical sequence of protocol interactions — Initialization &amp; Discovery</a:t>
            </a:r>
            <a:endParaRPr b="0" sz="1600">
              <a:solidFill>
                <a:srgbClr val="4B556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000" name="Google Shape;1000;p25"/>
          <p:cNvGrpSpPr/>
          <p:nvPr/>
        </p:nvGrpSpPr>
        <p:grpSpPr>
          <a:xfrm>
            <a:off x="952500" y="2000250"/>
            <a:ext cx="16383000" cy="3238500"/>
            <a:chOff x="0" y="0"/>
            <a:chExt cx="16383000" cy="3238500"/>
          </a:xfrm>
        </p:grpSpPr>
        <p:sp>
          <p:nvSpPr>
            <p:cNvPr id="1001" name="Google Shape;1001;p25"/>
            <p:cNvSpPr/>
            <p:nvPr/>
          </p:nvSpPr>
          <p:spPr>
            <a:xfrm>
              <a:off x="0" y="0"/>
              <a:ext cx="16383000" cy="3238500"/>
            </a:xfrm>
            <a:prstGeom prst="roundRect">
              <a:avLst>
                <a:gd fmla="val 3529" name="adj"/>
              </a:avLst>
            </a:prstGeom>
            <a:solidFill>
              <a:srgbClr val="FFFFFF"/>
            </a:solidFill>
            <a:ln cap="flat" cmpd="sng" w="190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2" name="Google Shape;1002;p25"/>
            <p:cNvSpPr/>
            <p:nvPr/>
          </p:nvSpPr>
          <p:spPr>
            <a:xfrm>
              <a:off x="0" y="0"/>
              <a:ext cx="2667000" cy="3238500"/>
            </a:xfrm>
            <a:prstGeom prst="roundRect">
              <a:avLst>
                <a:gd fmla="val 4285" name="adj"/>
              </a:avLst>
            </a:prstGeom>
            <a:solidFill>
              <a:srgbClr val="00AEE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3" name="Google Shape;1003;p25"/>
            <p:cNvSpPr/>
            <p:nvPr/>
          </p:nvSpPr>
          <p:spPr>
            <a:xfrm>
              <a:off x="2476500" y="0"/>
              <a:ext cx="190500" cy="3238500"/>
            </a:xfrm>
            <a:prstGeom prst="rect">
              <a:avLst/>
            </a:prstGeom>
            <a:solidFill>
              <a:srgbClr val="00AEE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4" name="Google Shape;1004;p25"/>
            <p:cNvSpPr txBox="1"/>
            <p:nvPr/>
          </p:nvSpPr>
          <p:spPr>
            <a:xfrm>
              <a:off x="0" y="0"/>
              <a:ext cx="2667000" cy="323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38125" lIns="238125" spcFirstLastPara="1" rIns="238125" wrap="square" tIns="2381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4800">
                  <a:solidFill>
                    <a:srgbClr val="FFFFFF"/>
                  </a:solidFill>
                  <a:latin typeface="Noto Sans ExtraBold"/>
                  <a:ea typeface="Noto Sans ExtraBold"/>
                  <a:cs typeface="Noto Sans ExtraBold"/>
                  <a:sym typeface="Noto Sans ExtraBold"/>
                </a:rPr>
                <a:t>01</a:t>
              </a:r>
              <a:endParaRPr b="0" sz="4800">
                <a:solidFill>
                  <a:srgbClr val="FFFFFF"/>
                </a:solidFill>
                <a:latin typeface="Noto Sans ExtraBold"/>
                <a:ea typeface="Noto Sans ExtraBold"/>
                <a:cs typeface="Noto Sans ExtraBold"/>
                <a:sym typeface="Noto Sans ExtraBold"/>
              </a:endParaRPr>
            </a:p>
            <a:p>
              <a:pPr indent="0" lvl="0" marL="0" rtl="0" algn="ctr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1" lang="en-US" sz="2200">
                  <a:solidFill>
                    <a:srgbClr val="FFFFFF"/>
                  </a:solidFill>
                  <a:latin typeface="Noto Sans"/>
                  <a:ea typeface="Noto Sans"/>
                  <a:cs typeface="Noto Sans"/>
                  <a:sym typeface="Noto Sans"/>
                </a:rPr>
                <a:t>Initialization</a:t>
              </a:r>
              <a:endParaRPr b="1" sz="22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endParaRPr>
            </a:p>
          </p:txBody>
        </p:sp>
        <p:sp>
          <p:nvSpPr>
            <p:cNvPr id="1005" name="Google Shape;1005;p25"/>
            <p:cNvSpPr txBox="1"/>
            <p:nvPr/>
          </p:nvSpPr>
          <p:spPr>
            <a:xfrm>
              <a:off x="3048000" y="238125"/>
              <a:ext cx="128589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800">
                  <a:solidFill>
                    <a:srgbClr val="0F1B2C"/>
                  </a:solidFill>
                  <a:latin typeface="Noto Sans SemiBold"/>
                  <a:ea typeface="Noto Sans SemiBold"/>
                  <a:cs typeface="Noto Sans SemiBold"/>
                  <a:sym typeface="Noto Sans SemiBold"/>
                </a:rPr>
                <a:t>Client connects to Server and they exchange protocol versions and capabilities.</a:t>
              </a:r>
              <a:endParaRPr b="0" sz="1800">
                <a:solidFill>
                  <a:srgbClr val="0F1B2C"/>
                </a:solidFill>
                <a:latin typeface="Noto Sans SemiBold"/>
                <a:ea typeface="Noto Sans SemiBold"/>
                <a:cs typeface="Noto Sans SemiBold"/>
                <a:sym typeface="Noto Sans SemiBold"/>
              </a:endParaRPr>
            </a:p>
          </p:txBody>
        </p:sp>
        <p:grpSp>
          <p:nvGrpSpPr>
            <p:cNvPr id="1006" name="Google Shape;1006;p25"/>
            <p:cNvGrpSpPr/>
            <p:nvPr/>
          </p:nvGrpSpPr>
          <p:grpSpPr>
            <a:xfrm>
              <a:off x="3048000" y="809625"/>
              <a:ext cx="12858900" cy="2143200"/>
              <a:chOff x="0" y="0"/>
              <a:chExt cx="12858900" cy="2143200"/>
            </a:xfrm>
          </p:grpSpPr>
          <p:sp>
            <p:nvSpPr>
              <p:cNvPr id="1007" name="Google Shape;1007;p25"/>
              <p:cNvSpPr/>
              <p:nvPr/>
            </p:nvSpPr>
            <p:spPr>
              <a:xfrm>
                <a:off x="0" y="0"/>
                <a:ext cx="12858900" cy="2143200"/>
              </a:xfrm>
              <a:prstGeom prst="roundRect">
                <a:avLst>
                  <a:gd fmla="val 3555" name="adj"/>
                </a:avLst>
              </a:prstGeom>
              <a:solidFill>
                <a:srgbClr val="1E293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8" name="Google Shape;1008;p25"/>
              <p:cNvSpPr txBox="1"/>
              <p:nvPr/>
            </p:nvSpPr>
            <p:spPr>
              <a:xfrm>
                <a:off x="238125" y="190500"/>
                <a:ext cx="12382500" cy="176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1350">
                    <a:solidFill>
                      <a:srgbClr val="94A3B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// Client → Server</a:t>
                </a:r>
                <a:endParaRPr b="0" sz="1350">
                  <a:solidFill>
                    <a:srgbClr val="94A3B8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0" lang="en-US" sz="1350">
                    <a:solidFill>
                      <a:srgbClr val="38BDF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{ </a:t>
                </a:r>
                <a:r>
                  <a:rPr b="0" lang="en-US" sz="1350">
                    <a:solidFill>
                      <a:srgbClr val="F1F5F9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"jsonrpc"</a:t>
                </a:r>
                <a:r>
                  <a:rPr b="0" lang="en-US" sz="1350">
                    <a:solidFill>
                      <a:srgbClr val="38BDF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: </a:t>
                </a:r>
                <a:r>
                  <a:rPr b="0" lang="en-US" sz="1350">
                    <a:solidFill>
                      <a:srgbClr val="FDE047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"2.0"</a:t>
                </a:r>
                <a:r>
                  <a:rPr b="0" lang="en-US" sz="1350">
                    <a:solidFill>
                      <a:srgbClr val="38BDF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, </a:t>
                </a:r>
                <a:r>
                  <a:rPr b="0" lang="en-US" sz="1350">
                    <a:solidFill>
                      <a:srgbClr val="F1F5F9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"id"</a:t>
                </a:r>
                <a:r>
                  <a:rPr b="0" lang="en-US" sz="1350">
                    <a:solidFill>
                      <a:srgbClr val="38BDF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: </a:t>
                </a:r>
                <a:r>
                  <a:rPr b="0" lang="en-US" sz="1350">
                    <a:solidFill>
                      <a:srgbClr val="F97316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1</a:t>
                </a:r>
                <a:r>
                  <a:rPr b="0" lang="en-US" sz="1350">
                    <a:solidFill>
                      <a:srgbClr val="38BDF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, </a:t>
                </a:r>
                <a:r>
                  <a:rPr b="0" lang="en-US" sz="1350">
                    <a:solidFill>
                      <a:srgbClr val="F1F5F9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"method"</a:t>
                </a:r>
                <a:r>
                  <a:rPr b="0" lang="en-US" sz="1350">
                    <a:solidFill>
                      <a:srgbClr val="38BDF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: </a:t>
                </a:r>
                <a:r>
                  <a:rPr b="0" lang="en-US" sz="1350">
                    <a:solidFill>
                      <a:srgbClr val="4ADE8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"initialize"</a:t>
                </a:r>
                <a:r>
                  <a:rPr b="0" lang="en-US" sz="1350">
                    <a:solidFill>
                      <a:srgbClr val="38BDF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,</a:t>
                </a:r>
                <a:endParaRPr b="0" sz="1350">
                  <a:solidFill>
                    <a:srgbClr val="94A3B8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en-US" sz="1350">
                    <a:solidFill>
                      <a:srgbClr val="F1F5F9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"params"</a:t>
                </a:r>
                <a:r>
                  <a:rPr b="0" lang="en-US" sz="1350">
                    <a:solidFill>
                      <a:srgbClr val="38BDF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: { </a:t>
                </a:r>
                <a:r>
                  <a:rPr b="0" lang="en-US" sz="1350">
                    <a:solidFill>
                      <a:srgbClr val="F1F5F9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"protocolVersion"</a:t>
                </a:r>
                <a:r>
                  <a:rPr b="0" lang="en-US" sz="1350">
                    <a:solidFill>
                      <a:srgbClr val="38BDF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: </a:t>
                </a:r>
                <a:r>
                  <a:rPr b="0" lang="en-US" sz="1350">
                    <a:solidFill>
                      <a:srgbClr val="4ADE8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"2025-06-18"</a:t>
                </a:r>
                <a:r>
                  <a:rPr b="0" lang="en-US" sz="1350">
                    <a:solidFill>
                      <a:srgbClr val="38BDF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,</a:t>
                </a:r>
                <a:endParaRPr b="0" sz="1350">
                  <a:solidFill>
                    <a:srgbClr val="94A3B8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600"/>
                  </a:spcAft>
                  <a:buNone/>
                </a:pPr>
                <a:r>
                  <a:rPr b="0" lang="en-US" sz="1350">
                    <a:solidFill>
                      <a:srgbClr val="F1F5F9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"capabilities"</a:t>
                </a:r>
                <a:r>
                  <a:rPr b="0" lang="en-US" sz="1350">
                    <a:solidFill>
                      <a:srgbClr val="38BDF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: { </a:t>
                </a:r>
                <a:r>
                  <a:rPr b="0" lang="en-US" sz="1350">
                    <a:solidFill>
                      <a:srgbClr val="F1F5F9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"sampling"</a:t>
                </a:r>
                <a:r>
                  <a:rPr b="0" lang="en-US" sz="1350">
                    <a:solidFill>
                      <a:srgbClr val="38BDF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: {} } } }</a:t>
                </a:r>
                <a:endParaRPr b="0" sz="1350">
                  <a:solidFill>
                    <a:srgbClr val="94A3B8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</p:grpSp>
      <p:grpSp>
        <p:nvGrpSpPr>
          <p:cNvPr id="1009" name="Google Shape;1009;p25"/>
          <p:cNvGrpSpPr/>
          <p:nvPr/>
        </p:nvGrpSpPr>
        <p:grpSpPr>
          <a:xfrm>
            <a:off x="2209800" y="5238750"/>
            <a:ext cx="152400" cy="343050"/>
            <a:chOff x="19050" y="0"/>
            <a:chExt cx="152400" cy="343050"/>
          </a:xfrm>
        </p:grpSpPr>
        <p:sp>
          <p:nvSpPr>
            <p:cNvPr id="1010" name="Google Shape;1010;p25"/>
            <p:cNvSpPr/>
            <p:nvPr/>
          </p:nvSpPr>
          <p:spPr>
            <a:xfrm>
              <a:off x="76200" y="0"/>
              <a:ext cx="38100" cy="247800"/>
            </a:xfrm>
            <a:prstGeom prst="rect">
              <a:avLst/>
            </a:prstGeom>
            <a:solidFill>
              <a:srgbClr val="00AEE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1" name="Google Shape;1011;p25"/>
            <p:cNvSpPr/>
            <p:nvPr/>
          </p:nvSpPr>
          <p:spPr>
            <a:xfrm>
              <a:off x="19050" y="247650"/>
              <a:ext cx="152400" cy="954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120000" y="0"/>
                  </a:lnTo>
                  <a:lnTo>
                    <a:pt x="60000" y="120000"/>
                  </a:lnTo>
                  <a:close/>
                </a:path>
              </a:pathLst>
            </a:custGeom>
            <a:solidFill>
              <a:srgbClr val="00AEE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12" name="Google Shape;1012;p25"/>
          <p:cNvGrpSpPr/>
          <p:nvPr/>
        </p:nvGrpSpPr>
        <p:grpSpPr>
          <a:xfrm>
            <a:off x="952500" y="5667375"/>
            <a:ext cx="16383000" cy="3333900"/>
            <a:chOff x="0" y="0"/>
            <a:chExt cx="16383000" cy="3333900"/>
          </a:xfrm>
        </p:grpSpPr>
        <p:sp>
          <p:nvSpPr>
            <p:cNvPr id="1013" name="Google Shape;1013;p25"/>
            <p:cNvSpPr/>
            <p:nvPr/>
          </p:nvSpPr>
          <p:spPr>
            <a:xfrm>
              <a:off x="0" y="0"/>
              <a:ext cx="16383000" cy="3333900"/>
            </a:xfrm>
            <a:prstGeom prst="roundRect">
              <a:avLst>
                <a:gd fmla="val 3428" name="adj"/>
              </a:avLst>
            </a:prstGeom>
            <a:solidFill>
              <a:srgbClr val="FFFFFF"/>
            </a:solidFill>
            <a:ln cap="flat" cmpd="sng" w="190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4" name="Google Shape;1014;p25"/>
            <p:cNvSpPr/>
            <p:nvPr/>
          </p:nvSpPr>
          <p:spPr>
            <a:xfrm>
              <a:off x="0" y="0"/>
              <a:ext cx="2667000" cy="3333900"/>
            </a:xfrm>
            <a:prstGeom prst="roundRect">
              <a:avLst>
                <a:gd fmla="val 4285" name="adj"/>
              </a:avLst>
            </a:prstGeom>
            <a:solidFill>
              <a:srgbClr val="0F1B2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5" name="Google Shape;1015;p25"/>
            <p:cNvSpPr/>
            <p:nvPr/>
          </p:nvSpPr>
          <p:spPr>
            <a:xfrm>
              <a:off x="2476500" y="0"/>
              <a:ext cx="190500" cy="3333900"/>
            </a:xfrm>
            <a:prstGeom prst="rect">
              <a:avLst/>
            </a:prstGeom>
            <a:solidFill>
              <a:srgbClr val="0F1B2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6" name="Google Shape;1016;p25"/>
            <p:cNvSpPr txBox="1"/>
            <p:nvPr/>
          </p:nvSpPr>
          <p:spPr>
            <a:xfrm>
              <a:off x="0" y="0"/>
              <a:ext cx="2667000" cy="333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38125" lIns="238125" spcFirstLastPara="1" rIns="238125" wrap="square" tIns="2381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4800">
                  <a:solidFill>
                    <a:srgbClr val="00AEEF"/>
                  </a:solidFill>
                  <a:latin typeface="Noto Sans ExtraBold"/>
                  <a:ea typeface="Noto Sans ExtraBold"/>
                  <a:cs typeface="Noto Sans ExtraBold"/>
                  <a:sym typeface="Noto Sans ExtraBold"/>
                </a:rPr>
                <a:t>02</a:t>
              </a:r>
              <a:endParaRPr b="0" sz="4800">
                <a:solidFill>
                  <a:srgbClr val="00AEEF"/>
                </a:solidFill>
                <a:latin typeface="Noto Sans ExtraBold"/>
                <a:ea typeface="Noto Sans ExtraBold"/>
                <a:cs typeface="Noto Sans ExtraBold"/>
                <a:sym typeface="Noto Sans ExtraBold"/>
              </a:endParaRPr>
            </a:p>
            <a:p>
              <a:pPr indent="0" lvl="0" marL="0" rtl="0" algn="ctr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1" lang="en-US" sz="2200">
                  <a:solidFill>
                    <a:srgbClr val="FFFFFF"/>
                  </a:solidFill>
                  <a:latin typeface="Noto Sans"/>
                  <a:ea typeface="Noto Sans"/>
                  <a:cs typeface="Noto Sans"/>
                  <a:sym typeface="Noto Sans"/>
                </a:rPr>
                <a:t>Discovery</a:t>
              </a:r>
              <a:endParaRPr b="1" sz="22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endParaRPr>
            </a:p>
          </p:txBody>
        </p:sp>
        <p:sp>
          <p:nvSpPr>
            <p:cNvPr id="1017" name="Google Shape;1017;p25"/>
            <p:cNvSpPr txBox="1"/>
            <p:nvPr/>
          </p:nvSpPr>
          <p:spPr>
            <a:xfrm>
              <a:off x="3048000" y="238125"/>
              <a:ext cx="128589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800">
                  <a:solidFill>
                    <a:srgbClr val="0F1B2C"/>
                  </a:solidFill>
                  <a:latin typeface="Noto Sans SemiBold"/>
                  <a:ea typeface="Noto Sans SemiBold"/>
                  <a:cs typeface="Noto Sans SemiBold"/>
                  <a:sym typeface="Noto Sans SemiBold"/>
                </a:rPr>
                <a:t>Client requests information about available capabilities (tools, resources, prompts).</a:t>
              </a:r>
              <a:endParaRPr b="0" sz="1800">
                <a:solidFill>
                  <a:srgbClr val="0F1B2C"/>
                </a:solidFill>
                <a:latin typeface="Noto Sans SemiBold"/>
                <a:ea typeface="Noto Sans SemiBold"/>
                <a:cs typeface="Noto Sans SemiBold"/>
                <a:sym typeface="Noto Sans SemiBold"/>
              </a:endParaRPr>
            </a:p>
          </p:txBody>
        </p:sp>
        <p:grpSp>
          <p:nvGrpSpPr>
            <p:cNvPr id="1018" name="Google Shape;1018;p25"/>
            <p:cNvGrpSpPr/>
            <p:nvPr/>
          </p:nvGrpSpPr>
          <p:grpSpPr>
            <a:xfrm>
              <a:off x="3048000" y="809625"/>
              <a:ext cx="12858900" cy="2238300"/>
              <a:chOff x="0" y="0"/>
              <a:chExt cx="12858900" cy="2238300"/>
            </a:xfrm>
          </p:grpSpPr>
          <p:sp>
            <p:nvSpPr>
              <p:cNvPr id="1019" name="Google Shape;1019;p25"/>
              <p:cNvSpPr/>
              <p:nvPr/>
            </p:nvSpPr>
            <p:spPr>
              <a:xfrm>
                <a:off x="0" y="0"/>
                <a:ext cx="12858900" cy="2238300"/>
              </a:xfrm>
              <a:prstGeom prst="roundRect">
                <a:avLst>
                  <a:gd fmla="val 3404" name="adj"/>
                </a:avLst>
              </a:prstGeom>
              <a:solidFill>
                <a:srgbClr val="1E293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0" name="Google Shape;1020;p25"/>
              <p:cNvSpPr txBox="1"/>
              <p:nvPr/>
            </p:nvSpPr>
            <p:spPr>
              <a:xfrm>
                <a:off x="238125" y="190500"/>
                <a:ext cx="12382500" cy="1857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1350">
                    <a:solidFill>
                      <a:srgbClr val="94A3B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// Client → Server</a:t>
                </a:r>
                <a:endParaRPr b="0" sz="1350">
                  <a:solidFill>
                    <a:srgbClr val="94A3B8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indent="0" lvl="0" marL="0" rtl="0" algn="l">
                  <a:spcBef>
                    <a:spcPts val="800"/>
                  </a:spcBef>
                  <a:spcAft>
                    <a:spcPts val="800"/>
                  </a:spcAft>
                  <a:buNone/>
                </a:pPr>
                <a:r>
                  <a:rPr b="0" lang="en-US" sz="1350">
                    <a:solidFill>
                      <a:srgbClr val="38BDF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{ </a:t>
                </a:r>
                <a:r>
                  <a:rPr b="0" lang="en-US" sz="1350">
                    <a:solidFill>
                      <a:srgbClr val="F1F5F9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"jsonrpc"</a:t>
                </a:r>
                <a:r>
                  <a:rPr b="0" lang="en-US" sz="1350">
                    <a:solidFill>
                      <a:srgbClr val="38BDF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: </a:t>
                </a:r>
                <a:r>
                  <a:rPr b="0" lang="en-US" sz="1350">
                    <a:solidFill>
                      <a:srgbClr val="FDE047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"2.0"</a:t>
                </a:r>
                <a:r>
                  <a:rPr b="0" lang="en-US" sz="1350">
                    <a:solidFill>
                      <a:srgbClr val="38BDF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, </a:t>
                </a:r>
                <a:r>
                  <a:rPr b="0" lang="en-US" sz="1350">
                    <a:solidFill>
                      <a:srgbClr val="F1F5F9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"id"</a:t>
                </a:r>
                <a:r>
                  <a:rPr b="0" lang="en-US" sz="1350">
                    <a:solidFill>
                      <a:srgbClr val="38BDF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: </a:t>
                </a:r>
                <a:r>
                  <a:rPr b="0" lang="en-US" sz="1350">
                    <a:solidFill>
                      <a:srgbClr val="F97316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2</a:t>
                </a:r>
                <a:r>
                  <a:rPr b="0" lang="en-US" sz="1350">
                    <a:solidFill>
                      <a:srgbClr val="38BDF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, </a:t>
                </a:r>
                <a:r>
                  <a:rPr b="0" lang="en-US" sz="1350">
                    <a:solidFill>
                      <a:srgbClr val="F1F5F9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"method"</a:t>
                </a:r>
                <a:r>
                  <a:rPr b="0" lang="en-US" sz="1350">
                    <a:solidFill>
                      <a:srgbClr val="38BDF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: </a:t>
                </a:r>
                <a:r>
                  <a:rPr b="0" lang="en-US" sz="1350">
                    <a:solidFill>
                      <a:srgbClr val="4ADE8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"tools/list"</a:t>
                </a:r>
                <a:r>
                  <a:rPr b="0" lang="en-US" sz="1350">
                    <a:solidFill>
                      <a:srgbClr val="38BDF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}</a:t>
                </a:r>
                <a:endParaRPr b="0" sz="1350">
                  <a:solidFill>
                    <a:srgbClr val="94A3B8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</p:grpSp>
      <p:sp>
        <p:nvSpPr>
          <p:cNvPr id="1021" name="Google Shape;1021;p25"/>
          <p:cNvSpPr/>
          <p:nvPr/>
        </p:nvSpPr>
        <p:spPr>
          <a:xfrm>
            <a:off x="0" y="9444038"/>
            <a:ext cx="18288000" cy="14288"/>
          </a:xfrm>
          <a:custGeom>
            <a:rect b="b" l="l" r="r" t="t"/>
            <a:pathLst>
              <a:path extrusionOk="0" h="19050" w="24384000">
                <a:moveTo>
                  <a:pt x="0" y="0"/>
                </a:moveTo>
                <a:lnTo>
                  <a:pt x="24384000" y="0"/>
                </a:lnTo>
                <a:lnTo>
                  <a:pt x="24384000" y="19050"/>
                </a:lnTo>
                <a:lnTo>
                  <a:pt x="0" y="19050"/>
                </a:lnTo>
                <a:close/>
              </a:path>
            </a:pathLst>
          </a:custGeom>
          <a:solidFill>
            <a:srgbClr val="E5E7EB"/>
          </a:solidFill>
          <a:ln>
            <a:noFill/>
          </a:ln>
        </p:spPr>
      </p:sp>
      <p:sp>
        <p:nvSpPr>
          <p:cNvPr descr="preencoded.png" id="1022" name="Google Shape;1022;p25"/>
          <p:cNvSpPr/>
          <p:nvPr/>
        </p:nvSpPr>
        <p:spPr>
          <a:xfrm>
            <a:off x="14444605" y="9572625"/>
            <a:ext cx="3500438" cy="600075"/>
          </a:xfrm>
          <a:custGeom>
            <a:rect b="b" l="l" r="r" t="t"/>
            <a:pathLst>
              <a:path extrusionOk="0" h="800100" w="4667250">
                <a:moveTo>
                  <a:pt x="0" y="0"/>
                </a:moveTo>
                <a:lnTo>
                  <a:pt x="4667250" y="0"/>
                </a:lnTo>
                <a:lnTo>
                  <a:pt x="4667250" y="800100"/>
                </a:lnTo>
                <a:lnTo>
                  <a:pt x="0" y="8001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-204" r="-204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6" name="Shape 1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preencoded.png" id="1027" name="Google Shape;1027;p26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28" name="Google Shape;1028;p26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9" name="Google Shape;1029;p26"/>
          <p:cNvSpPr txBox="1"/>
          <p:nvPr/>
        </p:nvSpPr>
        <p:spPr>
          <a:xfrm>
            <a:off x="952500" y="666750"/>
            <a:ext cx="114300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800">
                <a:solidFill>
                  <a:srgbClr val="0F1B2C"/>
                </a:solidFill>
                <a:latin typeface="Roboto"/>
                <a:ea typeface="Roboto"/>
                <a:cs typeface="Roboto"/>
                <a:sym typeface="Roboto"/>
              </a:rPr>
              <a:t>MCP Protocol </a:t>
            </a:r>
            <a:r>
              <a:rPr b="1" lang="en-US" sz="3800">
                <a:solidFill>
                  <a:srgbClr val="00AEEF"/>
                </a:solidFill>
                <a:latin typeface="Roboto"/>
                <a:ea typeface="Roboto"/>
                <a:cs typeface="Roboto"/>
                <a:sym typeface="Roboto"/>
              </a:rPr>
              <a:t>Lifecycle</a:t>
            </a:r>
            <a:r>
              <a:rPr b="1" lang="en-US" sz="3800">
                <a:solidFill>
                  <a:srgbClr val="0F1B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0" lang="en-US" sz="2000">
                <a:solidFill>
                  <a:srgbClr val="6B7280"/>
                </a:solidFill>
                <a:latin typeface="Roboto"/>
                <a:ea typeface="Roboto"/>
                <a:cs typeface="Roboto"/>
                <a:sym typeface="Roboto"/>
              </a:rPr>
              <a:t>(continued)</a:t>
            </a:r>
            <a:endParaRPr b="1" sz="3800">
              <a:solidFill>
                <a:srgbClr val="0F1B2C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375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Technical sequence of protocol interactions — Phase 3 &amp; 4</a:t>
            </a:r>
            <a:endParaRPr b="0" sz="1600">
              <a:solidFill>
                <a:srgbClr val="4B556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030" name="Google Shape;1030;p26"/>
          <p:cNvGrpSpPr/>
          <p:nvPr/>
        </p:nvGrpSpPr>
        <p:grpSpPr>
          <a:xfrm>
            <a:off x="952500" y="2000250"/>
            <a:ext cx="16383000" cy="3238500"/>
            <a:chOff x="0" y="0"/>
            <a:chExt cx="16383000" cy="3238500"/>
          </a:xfrm>
        </p:grpSpPr>
        <p:sp>
          <p:nvSpPr>
            <p:cNvPr id="1031" name="Google Shape;1031;p26"/>
            <p:cNvSpPr/>
            <p:nvPr/>
          </p:nvSpPr>
          <p:spPr>
            <a:xfrm>
              <a:off x="0" y="0"/>
              <a:ext cx="16383000" cy="3238500"/>
            </a:xfrm>
            <a:prstGeom prst="roundRect">
              <a:avLst>
                <a:gd fmla="val 3529" name="adj"/>
              </a:avLst>
            </a:prstGeom>
            <a:solidFill>
              <a:srgbClr val="FFFFFF"/>
            </a:solidFill>
            <a:ln cap="flat" cmpd="sng" w="190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2" name="Google Shape;1032;p26"/>
            <p:cNvSpPr/>
            <p:nvPr/>
          </p:nvSpPr>
          <p:spPr>
            <a:xfrm>
              <a:off x="0" y="0"/>
              <a:ext cx="2667000" cy="3238500"/>
            </a:xfrm>
            <a:prstGeom prst="roundRect">
              <a:avLst>
                <a:gd fmla="val 4285" name="adj"/>
              </a:avLst>
            </a:prstGeom>
            <a:solidFill>
              <a:srgbClr val="00AEE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3" name="Google Shape;1033;p26"/>
            <p:cNvSpPr/>
            <p:nvPr/>
          </p:nvSpPr>
          <p:spPr>
            <a:xfrm>
              <a:off x="2476500" y="0"/>
              <a:ext cx="190500" cy="3238500"/>
            </a:xfrm>
            <a:prstGeom prst="rect">
              <a:avLst/>
            </a:prstGeom>
            <a:solidFill>
              <a:srgbClr val="00AEE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4" name="Google Shape;1034;p26"/>
            <p:cNvSpPr txBox="1"/>
            <p:nvPr/>
          </p:nvSpPr>
          <p:spPr>
            <a:xfrm>
              <a:off x="0" y="0"/>
              <a:ext cx="2667000" cy="323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38125" lIns="238125" spcFirstLastPara="1" rIns="238125" wrap="square" tIns="2381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4800">
                  <a:solidFill>
                    <a:srgbClr val="FFFFFF"/>
                  </a:solidFill>
                  <a:latin typeface="Noto Sans ExtraBold"/>
                  <a:ea typeface="Noto Sans ExtraBold"/>
                  <a:cs typeface="Noto Sans ExtraBold"/>
                  <a:sym typeface="Noto Sans ExtraBold"/>
                </a:rPr>
                <a:t>03</a:t>
              </a:r>
              <a:endParaRPr b="0" sz="4800">
                <a:solidFill>
                  <a:srgbClr val="FFFFFF"/>
                </a:solidFill>
                <a:latin typeface="Noto Sans ExtraBold"/>
                <a:ea typeface="Noto Sans ExtraBold"/>
                <a:cs typeface="Noto Sans ExtraBold"/>
                <a:sym typeface="Noto Sans ExtraBold"/>
              </a:endParaRPr>
            </a:p>
            <a:p>
              <a:pPr indent="0" lvl="0" marL="0" rtl="0" algn="ctr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1" lang="en-US" sz="2200">
                  <a:solidFill>
                    <a:srgbClr val="FFFFFF"/>
                  </a:solidFill>
                  <a:latin typeface="Noto Sans"/>
                  <a:ea typeface="Noto Sans"/>
                  <a:cs typeface="Noto Sans"/>
                  <a:sym typeface="Noto Sans"/>
                </a:rPr>
                <a:t>Execution</a:t>
              </a:r>
              <a:endParaRPr b="1" sz="22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endParaRPr>
            </a:p>
          </p:txBody>
        </p:sp>
        <p:sp>
          <p:nvSpPr>
            <p:cNvPr id="1035" name="Google Shape;1035;p26"/>
            <p:cNvSpPr txBox="1"/>
            <p:nvPr/>
          </p:nvSpPr>
          <p:spPr>
            <a:xfrm>
              <a:off x="3048000" y="238125"/>
              <a:ext cx="128589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800">
                  <a:solidFill>
                    <a:srgbClr val="0F1B2C"/>
                  </a:solidFill>
                  <a:latin typeface="Noto Sans SemiBold"/>
                  <a:ea typeface="Noto Sans SemiBold"/>
                  <a:cs typeface="Noto Sans SemiBold"/>
                  <a:sym typeface="Noto Sans SemiBold"/>
                </a:rPr>
                <a:t>Client invokes capabilities based on the Host's needs.</a:t>
              </a:r>
              <a:endParaRPr b="0" sz="1800">
                <a:solidFill>
                  <a:srgbClr val="0F1B2C"/>
                </a:solidFill>
                <a:latin typeface="Noto Sans SemiBold"/>
                <a:ea typeface="Noto Sans SemiBold"/>
                <a:cs typeface="Noto Sans SemiBold"/>
                <a:sym typeface="Noto Sans SemiBold"/>
              </a:endParaRPr>
            </a:p>
          </p:txBody>
        </p:sp>
        <p:grpSp>
          <p:nvGrpSpPr>
            <p:cNvPr id="1036" name="Google Shape;1036;p26"/>
            <p:cNvGrpSpPr/>
            <p:nvPr/>
          </p:nvGrpSpPr>
          <p:grpSpPr>
            <a:xfrm>
              <a:off x="3048000" y="809625"/>
              <a:ext cx="12858900" cy="2143200"/>
              <a:chOff x="0" y="0"/>
              <a:chExt cx="12858900" cy="2143200"/>
            </a:xfrm>
          </p:grpSpPr>
          <p:sp>
            <p:nvSpPr>
              <p:cNvPr id="1037" name="Google Shape;1037;p26"/>
              <p:cNvSpPr/>
              <p:nvPr/>
            </p:nvSpPr>
            <p:spPr>
              <a:xfrm>
                <a:off x="0" y="0"/>
                <a:ext cx="12858900" cy="2143200"/>
              </a:xfrm>
              <a:prstGeom prst="roundRect">
                <a:avLst>
                  <a:gd fmla="val 3555" name="adj"/>
                </a:avLst>
              </a:prstGeom>
              <a:solidFill>
                <a:srgbClr val="1E293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8" name="Google Shape;1038;p26"/>
              <p:cNvSpPr txBox="1"/>
              <p:nvPr/>
            </p:nvSpPr>
            <p:spPr>
              <a:xfrm>
                <a:off x="238125" y="190500"/>
                <a:ext cx="12382500" cy="176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1350">
                    <a:solidFill>
                      <a:srgbClr val="94A3B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// Client → Server</a:t>
                </a:r>
                <a:endParaRPr b="0" sz="1350">
                  <a:solidFill>
                    <a:srgbClr val="94A3B8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lang="en-US" sz="1350">
                    <a:solidFill>
                      <a:srgbClr val="38BDF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{ </a:t>
                </a:r>
                <a:r>
                  <a:rPr lang="en-US" sz="1350">
                    <a:solidFill>
                      <a:srgbClr val="F1F5F9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"jsonrpc"</a:t>
                </a:r>
                <a:r>
                  <a:rPr lang="en-US" sz="1350">
                    <a:solidFill>
                      <a:srgbClr val="38BDF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: </a:t>
                </a:r>
                <a:r>
                  <a:rPr lang="en-US" sz="1350">
                    <a:solidFill>
                      <a:srgbClr val="FDE047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"2.0"</a:t>
                </a:r>
                <a:r>
                  <a:rPr lang="en-US" sz="1350">
                    <a:solidFill>
                      <a:srgbClr val="38BDF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, </a:t>
                </a:r>
                <a:r>
                  <a:rPr lang="en-US" sz="1350">
                    <a:solidFill>
                      <a:srgbClr val="F1F5F9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"id"</a:t>
                </a:r>
                <a:r>
                  <a:rPr lang="en-US" sz="1350">
                    <a:solidFill>
                      <a:srgbClr val="38BDF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: </a:t>
                </a:r>
                <a:r>
                  <a:rPr lang="en-US" sz="1350">
                    <a:solidFill>
                      <a:srgbClr val="F97316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3</a:t>
                </a:r>
                <a:r>
                  <a:rPr lang="en-US" sz="1350">
                    <a:solidFill>
                      <a:srgbClr val="38BDF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, </a:t>
                </a:r>
                <a:r>
                  <a:rPr lang="en-US" sz="1350">
                    <a:solidFill>
                      <a:srgbClr val="F1F5F9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"method"</a:t>
                </a:r>
                <a:r>
                  <a:rPr lang="en-US" sz="1350">
                    <a:solidFill>
                      <a:srgbClr val="38BDF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: </a:t>
                </a:r>
                <a:r>
                  <a:rPr lang="en-US" sz="1350">
                    <a:solidFill>
                      <a:srgbClr val="4ADE8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"tools/call"</a:t>
                </a:r>
                <a:r>
                  <a:rPr lang="en-US" sz="1350">
                    <a:solidFill>
                      <a:srgbClr val="38BDF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,</a:t>
                </a:r>
                <a:endParaRPr sz="1350">
                  <a:solidFill>
                    <a:srgbClr val="38BDF8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lang="en-US" sz="1350">
                    <a:solidFill>
                      <a:srgbClr val="F1F5F9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"params"</a:t>
                </a:r>
                <a:r>
                  <a:rPr lang="en-US" sz="1350">
                    <a:solidFill>
                      <a:srgbClr val="38BDF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: { </a:t>
                </a:r>
                <a:r>
                  <a:rPr lang="en-US" sz="1350">
                    <a:solidFill>
                      <a:srgbClr val="F1F5F9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"name"</a:t>
                </a:r>
                <a:r>
                  <a:rPr lang="en-US" sz="1350">
                    <a:solidFill>
                      <a:srgbClr val="38BDF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: </a:t>
                </a:r>
                <a:r>
                  <a:rPr lang="en-US" sz="1350">
                    <a:solidFill>
                      <a:srgbClr val="4ADE8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"weather"</a:t>
                </a:r>
                <a:r>
                  <a:rPr lang="en-US" sz="1350">
                    <a:solidFill>
                      <a:srgbClr val="38BDF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,</a:t>
                </a:r>
                <a:endParaRPr sz="1350">
                  <a:solidFill>
                    <a:srgbClr val="38BDF8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lang="en-US" sz="1350">
                    <a:solidFill>
                      <a:srgbClr val="F1F5F9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"arguments"</a:t>
                </a:r>
                <a:r>
                  <a:rPr lang="en-US" sz="1350">
                    <a:solidFill>
                      <a:srgbClr val="38BDF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: { </a:t>
                </a:r>
                <a:r>
                  <a:rPr lang="en-US" sz="1350">
                    <a:solidFill>
                      <a:srgbClr val="F1F5F9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"location"</a:t>
                </a:r>
                <a:r>
                  <a:rPr lang="en-US" sz="1350">
                    <a:solidFill>
                      <a:srgbClr val="38BDF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: </a:t>
                </a:r>
                <a:r>
                  <a:rPr lang="en-US" sz="1350">
                    <a:solidFill>
                      <a:srgbClr val="4ADE8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"San Francisco"</a:t>
                </a:r>
                <a:r>
                  <a:rPr lang="en-US" sz="1350">
                    <a:solidFill>
                      <a:srgbClr val="38BDF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} } }</a:t>
                </a:r>
                <a:endParaRPr sz="1350">
                  <a:solidFill>
                    <a:srgbClr val="38BDF8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</p:grpSp>
      <p:sp>
        <p:nvSpPr>
          <p:cNvPr id="1039" name="Google Shape;1039;p26"/>
          <p:cNvSpPr/>
          <p:nvPr/>
        </p:nvSpPr>
        <p:spPr>
          <a:xfrm>
            <a:off x="0" y="9444038"/>
            <a:ext cx="18288000" cy="14288"/>
          </a:xfrm>
          <a:custGeom>
            <a:rect b="b" l="l" r="r" t="t"/>
            <a:pathLst>
              <a:path extrusionOk="0" h="19050" w="24384000">
                <a:moveTo>
                  <a:pt x="0" y="0"/>
                </a:moveTo>
                <a:lnTo>
                  <a:pt x="24384000" y="0"/>
                </a:lnTo>
                <a:lnTo>
                  <a:pt x="24384000" y="19050"/>
                </a:lnTo>
                <a:lnTo>
                  <a:pt x="0" y="19050"/>
                </a:lnTo>
                <a:close/>
              </a:path>
            </a:pathLst>
          </a:custGeom>
          <a:solidFill>
            <a:srgbClr val="E5E7EB"/>
          </a:solidFill>
          <a:ln>
            <a:noFill/>
          </a:ln>
        </p:spPr>
      </p:sp>
      <p:grpSp>
        <p:nvGrpSpPr>
          <p:cNvPr id="1040" name="Google Shape;1040;p26"/>
          <p:cNvGrpSpPr/>
          <p:nvPr/>
        </p:nvGrpSpPr>
        <p:grpSpPr>
          <a:xfrm>
            <a:off x="2209800" y="5238750"/>
            <a:ext cx="152400" cy="362100"/>
            <a:chOff x="19050" y="0"/>
            <a:chExt cx="152400" cy="362100"/>
          </a:xfrm>
        </p:grpSpPr>
        <p:pic>
          <p:nvPicPr>
            <p:cNvPr id="1041" name="Google Shape;1041;p2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0" y="0"/>
              <a:ext cx="38100" cy="247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42" name="Google Shape;1042;p26"/>
            <p:cNvSpPr/>
            <p:nvPr/>
          </p:nvSpPr>
          <p:spPr>
            <a:xfrm>
              <a:off x="19050" y="266700"/>
              <a:ext cx="152400" cy="954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120000" y="0"/>
                  </a:lnTo>
                  <a:lnTo>
                    <a:pt x="60000" y="120000"/>
                  </a:lnTo>
                  <a:close/>
                </a:path>
              </a:pathLst>
            </a:custGeom>
            <a:solidFill>
              <a:srgbClr val="00AEE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descr="preencoded.png" id="1043" name="Google Shape;1043;p26"/>
          <p:cNvSpPr/>
          <p:nvPr/>
        </p:nvSpPr>
        <p:spPr>
          <a:xfrm>
            <a:off x="14444605" y="9572625"/>
            <a:ext cx="3500438" cy="600075"/>
          </a:xfrm>
          <a:custGeom>
            <a:rect b="b" l="l" r="r" t="t"/>
            <a:pathLst>
              <a:path extrusionOk="0" h="800100" w="4667250">
                <a:moveTo>
                  <a:pt x="0" y="0"/>
                </a:moveTo>
                <a:lnTo>
                  <a:pt x="4667250" y="0"/>
                </a:lnTo>
                <a:lnTo>
                  <a:pt x="4667250" y="800100"/>
                </a:lnTo>
                <a:lnTo>
                  <a:pt x="0" y="8001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-204" r="-204" t="0"/>
            </a:stretch>
          </a:blipFill>
          <a:ln>
            <a:noFill/>
          </a:ln>
        </p:spPr>
      </p:sp>
      <p:grpSp>
        <p:nvGrpSpPr>
          <p:cNvPr id="1044" name="Google Shape;1044;p26"/>
          <p:cNvGrpSpPr/>
          <p:nvPr/>
        </p:nvGrpSpPr>
        <p:grpSpPr>
          <a:xfrm>
            <a:off x="952500" y="5667375"/>
            <a:ext cx="16383000" cy="3333900"/>
            <a:chOff x="0" y="0"/>
            <a:chExt cx="16383000" cy="3333900"/>
          </a:xfrm>
        </p:grpSpPr>
        <p:sp>
          <p:nvSpPr>
            <p:cNvPr id="1045" name="Google Shape;1045;p26"/>
            <p:cNvSpPr/>
            <p:nvPr/>
          </p:nvSpPr>
          <p:spPr>
            <a:xfrm>
              <a:off x="0" y="0"/>
              <a:ext cx="16383000" cy="3333900"/>
            </a:xfrm>
            <a:prstGeom prst="roundRect">
              <a:avLst>
                <a:gd fmla="val 3428" name="adj"/>
              </a:avLst>
            </a:prstGeom>
            <a:solidFill>
              <a:srgbClr val="FFFFFF"/>
            </a:solidFill>
            <a:ln cap="flat" cmpd="sng" w="190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6" name="Google Shape;1046;p26"/>
            <p:cNvSpPr/>
            <p:nvPr/>
          </p:nvSpPr>
          <p:spPr>
            <a:xfrm>
              <a:off x="0" y="0"/>
              <a:ext cx="2667000" cy="3333900"/>
            </a:xfrm>
            <a:prstGeom prst="roundRect">
              <a:avLst>
                <a:gd fmla="val 4285" name="adj"/>
              </a:avLst>
            </a:prstGeom>
            <a:solidFill>
              <a:srgbClr val="0F1B2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7" name="Google Shape;1047;p26"/>
            <p:cNvSpPr/>
            <p:nvPr/>
          </p:nvSpPr>
          <p:spPr>
            <a:xfrm>
              <a:off x="2476500" y="0"/>
              <a:ext cx="190500" cy="3333900"/>
            </a:xfrm>
            <a:prstGeom prst="rect">
              <a:avLst/>
            </a:prstGeom>
            <a:solidFill>
              <a:srgbClr val="0F1B2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8" name="Google Shape;1048;p26"/>
            <p:cNvSpPr txBox="1"/>
            <p:nvPr/>
          </p:nvSpPr>
          <p:spPr>
            <a:xfrm>
              <a:off x="0" y="0"/>
              <a:ext cx="2667000" cy="333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38125" lIns="238125" spcFirstLastPara="1" rIns="238125" wrap="square" tIns="2381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4800">
                  <a:solidFill>
                    <a:srgbClr val="00AEEF"/>
                  </a:solidFill>
                  <a:latin typeface="Noto Sans ExtraBold"/>
                  <a:ea typeface="Noto Sans ExtraBold"/>
                  <a:cs typeface="Noto Sans ExtraBold"/>
                  <a:sym typeface="Noto Sans ExtraBold"/>
                </a:rPr>
                <a:t>04</a:t>
              </a:r>
              <a:endParaRPr b="0" sz="4800">
                <a:solidFill>
                  <a:srgbClr val="00AEEF"/>
                </a:solidFill>
                <a:latin typeface="Noto Sans ExtraBold"/>
                <a:ea typeface="Noto Sans ExtraBold"/>
                <a:cs typeface="Noto Sans ExtraBold"/>
                <a:sym typeface="Noto Sans ExtraBold"/>
              </a:endParaRPr>
            </a:p>
            <a:p>
              <a:pPr indent="0" lvl="0" marL="0" rtl="0" algn="ctr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1" lang="en-US" sz="2200">
                  <a:solidFill>
                    <a:srgbClr val="FFFFFF"/>
                  </a:solidFill>
                  <a:latin typeface="Noto Sans"/>
                  <a:ea typeface="Noto Sans"/>
                  <a:cs typeface="Noto Sans"/>
                  <a:sym typeface="Noto Sans"/>
                </a:rPr>
                <a:t>Termination</a:t>
              </a:r>
              <a:endParaRPr b="1" sz="22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endParaRPr>
            </a:p>
          </p:txBody>
        </p:sp>
        <p:sp>
          <p:nvSpPr>
            <p:cNvPr id="1049" name="Google Shape;1049;p26"/>
            <p:cNvSpPr txBox="1"/>
            <p:nvPr/>
          </p:nvSpPr>
          <p:spPr>
            <a:xfrm>
              <a:off x="3048000" y="238125"/>
              <a:ext cx="128589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800">
                  <a:solidFill>
                    <a:srgbClr val="0F1B2C"/>
                  </a:solidFill>
                  <a:latin typeface="Noto Sans SemiBold"/>
                  <a:ea typeface="Noto Sans SemiBold"/>
                  <a:cs typeface="Noto Sans SemiBold"/>
                  <a:sym typeface="Noto Sans SemiBold"/>
                </a:rPr>
                <a:t>Connection is gracefully closed when no longer needed.</a:t>
              </a:r>
              <a:endParaRPr b="0" sz="1800">
                <a:solidFill>
                  <a:srgbClr val="0F1B2C"/>
                </a:solidFill>
                <a:latin typeface="Noto Sans SemiBold"/>
                <a:ea typeface="Noto Sans SemiBold"/>
                <a:cs typeface="Noto Sans SemiBold"/>
                <a:sym typeface="Noto Sans SemiBold"/>
              </a:endParaRPr>
            </a:p>
          </p:txBody>
        </p:sp>
        <p:grpSp>
          <p:nvGrpSpPr>
            <p:cNvPr id="1050" name="Google Shape;1050;p26"/>
            <p:cNvGrpSpPr/>
            <p:nvPr/>
          </p:nvGrpSpPr>
          <p:grpSpPr>
            <a:xfrm>
              <a:off x="3048000" y="809625"/>
              <a:ext cx="12858900" cy="2238300"/>
              <a:chOff x="0" y="0"/>
              <a:chExt cx="12858900" cy="2238300"/>
            </a:xfrm>
          </p:grpSpPr>
          <p:sp>
            <p:nvSpPr>
              <p:cNvPr id="1051" name="Google Shape;1051;p26"/>
              <p:cNvSpPr/>
              <p:nvPr/>
            </p:nvSpPr>
            <p:spPr>
              <a:xfrm>
                <a:off x="0" y="0"/>
                <a:ext cx="12858900" cy="2238300"/>
              </a:xfrm>
              <a:prstGeom prst="roundRect">
                <a:avLst>
                  <a:gd fmla="val 3404" name="adj"/>
                </a:avLst>
              </a:prstGeom>
              <a:solidFill>
                <a:srgbClr val="1E293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52" name="Google Shape;1052;p26"/>
              <p:cNvSpPr txBox="1"/>
              <p:nvPr/>
            </p:nvSpPr>
            <p:spPr>
              <a:xfrm>
                <a:off x="238125" y="171450"/>
                <a:ext cx="12382500" cy="1905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1350">
                    <a:solidFill>
                      <a:srgbClr val="94A3B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// Client → Server</a:t>
                </a:r>
                <a:endParaRPr b="0" sz="1350">
                  <a:solidFill>
                    <a:srgbClr val="94A3B8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indent="0" lvl="0" marL="0" rtl="0" algn="l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lang="en-US" sz="1350">
                    <a:solidFill>
                      <a:srgbClr val="38BDF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{ </a:t>
                </a:r>
                <a:r>
                  <a:rPr lang="en-US" sz="1350">
                    <a:solidFill>
                      <a:srgbClr val="F1F5F9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"jsonrpc"</a:t>
                </a:r>
                <a:r>
                  <a:rPr lang="en-US" sz="1350">
                    <a:solidFill>
                      <a:srgbClr val="38BDF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: </a:t>
                </a:r>
                <a:r>
                  <a:rPr lang="en-US" sz="1350">
                    <a:solidFill>
                      <a:srgbClr val="FDE047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"2.0"</a:t>
                </a:r>
                <a:r>
                  <a:rPr lang="en-US" sz="1350">
                    <a:solidFill>
                      <a:srgbClr val="38BDF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, </a:t>
                </a:r>
                <a:r>
                  <a:rPr lang="en-US" sz="1350">
                    <a:solidFill>
                      <a:srgbClr val="F1F5F9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"id"</a:t>
                </a:r>
                <a:r>
                  <a:rPr lang="en-US" sz="1350">
                    <a:solidFill>
                      <a:srgbClr val="38BDF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: </a:t>
                </a:r>
                <a:r>
                  <a:rPr lang="en-US" sz="1350">
                    <a:solidFill>
                      <a:srgbClr val="F97316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4</a:t>
                </a:r>
                <a:r>
                  <a:rPr lang="en-US" sz="1350">
                    <a:solidFill>
                      <a:srgbClr val="38BDF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, </a:t>
                </a:r>
                <a:r>
                  <a:rPr lang="en-US" sz="1350">
                    <a:solidFill>
                      <a:srgbClr val="F1F5F9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"method"</a:t>
                </a:r>
                <a:r>
                  <a:rPr lang="en-US" sz="1350">
                    <a:solidFill>
                      <a:srgbClr val="38BDF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: </a:t>
                </a:r>
                <a:r>
                  <a:rPr lang="en-US" sz="1350">
                    <a:solidFill>
                      <a:srgbClr val="4ADE8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"shutdown"</a:t>
                </a:r>
                <a:r>
                  <a:rPr lang="en-US" sz="1350">
                    <a:solidFill>
                      <a:srgbClr val="38BDF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}</a:t>
                </a:r>
                <a:endParaRPr sz="1350">
                  <a:solidFill>
                    <a:srgbClr val="38BDF8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indent="0" lvl="0" marL="0" rtl="0" algn="l">
                  <a:spcBef>
                    <a:spcPts val="1050"/>
                  </a:spcBef>
                  <a:spcAft>
                    <a:spcPts val="0"/>
                  </a:spcAft>
                  <a:buNone/>
                </a:pPr>
                <a:r>
                  <a:rPr b="0" lang="en-US" sz="1350">
                    <a:solidFill>
                      <a:srgbClr val="94A3B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// After response received:</a:t>
                </a:r>
                <a:endParaRPr b="0" sz="1350">
                  <a:solidFill>
                    <a:srgbClr val="94A3B8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indent="0" lvl="0" marL="0" rtl="0" algn="l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lang="en-US" sz="1350">
                    <a:solidFill>
                      <a:srgbClr val="38BDF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{ </a:t>
                </a:r>
                <a:r>
                  <a:rPr lang="en-US" sz="1350">
                    <a:solidFill>
                      <a:srgbClr val="F1F5F9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"jsonrpc"</a:t>
                </a:r>
                <a:r>
                  <a:rPr lang="en-US" sz="1350">
                    <a:solidFill>
                      <a:srgbClr val="38BDF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: </a:t>
                </a:r>
                <a:r>
                  <a:rPr lang="en-US" sz="1350">
                    <a:solidFill>
                      <a:srgbClr val="FDE047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"2.0"</a:t>
                </a:r>
                <a:r>
                  <a:rPr lang="en-US" sz="1350">
                    <a:solidFill>
                      <a:srgbClr val="38BDF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, </a:t>
                </a:r>
                <a:r>
                  <a:rPr lang="en-US" sz="1350">
                    <a:solidFill>
                      <a:srgbClr val="F1F5F9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"method"</a:t>
                </a:r>
                <a:r>
                  <a:rPr lang="en-US" sz="1350">
                    <a:solidFill>
                      <a:srgbClr val="38BDF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: </a:t>
                </a:r>
                <a:r>
                  <a:rPr lang="en-US" sz="1350">
                    <a:solidFill>
                      <a:srgbClr val="4ADE8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"exit"</a:t>
                </a:r>
                <a:r>
                  <a:rPr lang="en-US" sz="1350">
                    <a:solidFill>
                      <a:srgbClr val="38BDF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}</a:t>
                </a:r>
                <a:endParaRPr sz="1350">
                  <a:solidFill>
                    <a:srgbClr val="38BDF8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</p:grp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MCP Protocol Lifecycle (all 4 phases)</a:t>
            </a:r>
          </a:p>
        </p:txBody>
      </p:sp>
      <p:pic>
        <p:nvPicPr>
          <p:cNvPr id="3" name="Picture 2" descr="d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4033" y="1600200"/>
            <a:ext cx="5299933" cy="7635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9281160"/>
            <a:ext cx="17190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444C56"/>
                </a:solidFill>
              </a:rPr>
              <a:t>One session, four phases — shake hands, discover capabilities, call them as needed, then close cleanly.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6" name="Shape 10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7" name="Google Shape;1057;p27"/>
          <p:cNvSpPr/>
          <p:nvPr/>
        </p:nvSpPr>
        <p:spPr>
          <a:xfrm>
            <a:off x="-3335100" y="-192698"/>
            <a:ext cx="21623100" cy="12224750"/>
          </a:xfrm>
          <a:custGeom>
            <a:rect b="b" l="l" r="r" t="t"/>
            <a:pathLst>
              <a:path extrusionOk="0" h="12224750" w="21623100">
                <a:moveTo>
                  <a:pt x="0" y="0"/>
                </a:moveTo>
                <a:lnTo>
                  <a:pt x="21623100" y="0"/>
                </a:lnTo>
                <a:lnTo>
                  <a:pt x="21623100" y="12224750"/>
                </a:lnTo>
                <a:lnTo>
                  <a:pt x="0" y="122247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58" name="Google Shape;1058;p27"/>
          <p:cNvSpPr/>
          <p:nvPr/>
        </p:nvSpPr>
        <p:spPr>
          <a:xfrm>
            <a:off x="3693467" y="4258685"/>
            <a:ext cx="12027607" cy="761673"/>
          </a:xfrm>
          <a:custGeom>
            <a:rect b="b" l="l" r="r" t="t"/>
            <a:pathLst>
              <a:path extrusionOk="0" h="761673" w="12027607">
                <a:moveTo>
                  <a:pt x="0" y="0"/>
                </a:moveTo>
                <a:lnTo>
                  <a:pt x="12027607" y="0"/>
                </a:lnTo>
                <a:lnTo>
                  <a:pt x="12027607" y="761672"/>
                </a:lnTo>
                <a:lnTo>
                  <a:pt x="0" y="7616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7EBF3"/>
        </a:solidFill>
      </p:bgPr>
    </p:bg>
    <p:spTree>
      <p:nvGrpSpPr>
        <p:cNvPr id="1062" name="Shape 10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3" name="Google Shape;1063;p28"/>
          <p:cNvSpPr/>
          <p:nvPr/>
        </p:nvSpPr>
        <p:spPr>
          <a:xfrm>
            <a:off x="816855" y="3429003"/>
            <a:ext cx="16255620" cy="3723815"/>
          </a:xfrm>
          <a:custGeom>
            <a:rect b="b" l="l" r="r" t="t"/>
            <a:pathLst>
              <a:path extrusionOk="0" h="3723815" w="16255620">
                <a:moveTo>
                  <a:pt x="0" y="0"/>
                </a:moveTo>
                <a:lnTo>
                  <a:pt x="16255620" y="0"/>
                </a:lnTo>
                <a:lnTo>
                  <a:pt x="16255620" y="3723815"/>
                </a:lnTo>
                <a:lnTo>
                  <a:pt x="0" y="372381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64" name="Google Shape;1064;p28"/>
          <p:cNvSpPr/>
          <p:nvPr/>
        </p:nvSpPr>
        <p:spPr>
          <a:xfrm>
            <a:off x="-197760" y="0"/>
            <a:ext cx="18485760" cy="1013098"/>
          </a:xfrm>
          <a:custGeom>
            <a:rect b="b" l="l" r="r" t="t"/>
            <a:pathLst>
              <a:path extrusionOk="0" h="1013098" w="18485760">
                <a:moveTo>
                  <a:pt x="0" y="0"/>
                </a:moveTo>
                <a:lnTo>
                  <a:pt x="18485760" y="0"/>
                </a:lnTo>
                <a:lnTo>
                  <a:pt x="18485760" y="1013098"/>
                </a:lnTo>
                <a:lnTo>
                  <a:pt x="0" y="10130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23668" l="0" r="0" t="-23668"/>
            </a:stretch>
          </a:blipFill>
          <a:ln>
            <a:noFill/>
          </a:ln>
        </p:spPr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Six primitives, three control points</a:t>
            </a:r>
          </a:p>
        </p:txBody>
      </p:sp>
      <p:pic>
        <p:nvPicPr>
          <p:cNvPr id="3" name="Picture 2" descr="d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9581" y="1600200"/>
            <a:ext cx="11188837" cy="7635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9281160"/>
            <a:ext cx="17190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444C56"/>
                </a:solidFill>
              </a:rPr>
              <a:t>Six primitives sort into three control points — the model calls Tools; the app/user supplies Resources &amp; Prompts; the server drives Notifications, Elicitation, and Sampling.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68" name="Shape 10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9" name="Google Shape;1069;p29"/>
          <p:cNvSpPr txBox="1"/>
          <p:nvPr/>
        </p:nvSpPr>
        <p:spPr>
          <a:xfrm>
            <a:off x="952500" y="714375"/>
            <a:ext cx="16383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00AEEF"/>
                </a:solidFill>
                <a:latin typeface="Roboto"/>
                <a:ea typeface="Roboto"/>
                <a:cs typeface="Roboto"/>
                <a:sym typeface="Roboto"/>
              </a:rPr>
              <a:t>TOOLS CAPABILITY — TECHNICAL IMPLEMENTATION</a:t>
            </a:r>
            <a:endParaRPr b="1" sz="1400">
              <a:solidFill>
                <a:srgbClr val="00AEE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Protocol Methods &amp; Examples</a:t>
            </a:r>
            <a:endParaRPr b="1" sz="36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070" name="Google Shape;1070;p29"/>
          <p:cNvGrpSpPr/>
          <p:nvPr/>
        </p:nvGrpSpPr>
        <p:grpSpPr>
          <a:xfrm>
            <a:off x="952500" y="2190750"/>
            <a:ext cx="6191400" cy="6953325"/>
            <a:chOff x="0" y="0"/>
            <a:chExt cx="6191400" cy="6953325"/>
          </a:xfrm>
        </p:grpSpPr>
        <p:sp>
          <p:nvSpPr>
            <p:cNvPr id="1071" name="Google Shape;1071;p29"/>
            <p:cNvSpPr txBox="1"/>
            <p:nvPr/>
          </p:nvSpPr>
          <p:spPr>
            <a:xfrm>
              <a:off x="0" y="0"/>
              <a:ext cx="61914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94A3B8"/>
                  </a:solidFill>
                  <a:latin typeface="Roboto"/>
                  <a:ea typeface="Roboto"/>
                  <a:cs typeface="Roboto"/>
                  <a:sym typeface="Roboto"/>
                </a:rPr>
                <a:t>Tools Protocol Methods</a:t>
              </a:r>
              <a:endParaRPr b="1" sz="1800">
                <a:solidFill>
                  <a:srgbClr val="94A3B8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072" name="Google Shape;1072;p29"/>
            <p:cNvSpPr/>
            <p:nvPr/>
          </p:nvSpPr>
          <p:spPr>
            <a:xfrm>
              <a:off x="0" y="523875"/>
              <a:ext cx="6191400" cy="1428900"/>
            </a:xfrm>
            <a:prstGeom prst="roundRect">
              <a:avLst>
                <a:gd fmla="val 8000" name="adj"/>
              </a:avLst>
            </a:prstGeom>
            <a:solidFill>
              <a:srgbClr val="162235"/>
            </a:solidFill>
            <a:ln cap="flat" cmpd="sng" w="14300">
              <a:solidFill>
                <a:srgbClr val="1E2D4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3" name="Google Shape;1073;p29"/>
            <p:cNvSpPr txBox="1"/>
            <p:nvPr/>
          </p:nvSpPr>
          <p:spPr>
            <a:xfrm>
              <a:off x="228600" y="714375"/>
              <a:ext cx="57342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00AEEF"/>
                  </a:solidFill>
                  <a:latin typeface="Arial"/>
                  <a:ea typeface="Arial"/>
                  <a:cs typeface="Arial"/>
                  <a:sym typeface="Arial"/>
                </a:rPr>
                <a:t>tools/list</a:t>
              </a:r>
              <a:endParaRPr b="1" sz="2000">
                <a:solidFill>
                  <a:srgbClr val="00AEE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-US" sz="1500">
                  <a:solidFill>
                    <a:srgbClr val="E2E8F0"/>
                  </a:solidFill>
                  <a:latin typeface="Roboto"/>
                  <a:ea typeface="Roboto"/>
                  <a:cs typeface="Roboto"/>
                  <a:sym typeface="Roboto"/>
                </a:rPr>
                <a:t>Get available tools from the server</a:t>
              </a:r>
              <a:endParaRPr sz="1500">
                <a:solidFill>
                  <a:srgbClr val="E2E8F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074" name="Google Shape;1074;p29"/>
            <p:cNvSpPr/>
            <p:nvPr/>
          </p:nvSpPr>
          <p:spPr>
            <a:xfrm>
              <a:off x="0" y="2190750"/>
              <a:ext cx="6191400" cy="1428900"/>
            </a:xfrm>
            <a:prstGeom prst="roundRect">
              <a:avLst>
                <a:gd fmla="val 8000" name="adj"/>
              </a:avLst>
            </a:prstGeom>
            <a:solidFill>
              <a:srgbClr val="162235"/>
            </a:solidFill>
            <a:ln cap="flat" cmpd="sng" w="14300">
              <a:solidFill>
                <a:srgbClr val="1E2D4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5" name="Google Shape;1075;p29"/>
            <p:cNvSpPr txBox="1"/>
            <p:nvPr/>
          </p:nvSpPr>
          <p:spPr>
            <a:xfrm>
              <a:off x="228600" y="2381250"/>
              <a:ext cx="57342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00AEEF"/>
                  </a:solidFill>
                  <a:latin typeface="Arial"/>
                  <a:ea typeface="Arial"/>
                  <a:cs typeface="Arial"/>
                  <a:sym typeface="Arial"/>
                </a:rPr>
                <a:t>tools/call</a:t>
              </a:r>
              <a:endParaRPr b="1" sz="2000">
                <a:solidFill>
                  <a:srgbClr val="00AEE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-US" sz="1500">
                  <a:solidFill>
                    <a:srgbClr val="E2E8F0"/>
                  </a:solidFill>
                  <a:latin typeface="Roboto"/>
                  <a:ea typeface="Roboto"/>
                  <a:cs typeface="Roboto"/>
                  <a:sym typeface="Roboto"/>
                </a:rPr>
                <a:t>Invoke a specific tool with arguments</a:t>
              </a:r>
              <a:endParaRPr sz="1500">
                <a:solidFill>
                  <a:srgbClr val="E2E8F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076" name="Google Shape;1076;p29"/>
            <p:cNvSpPr/>
            <p:nvPr/>
          </p:nvSpPr>
          <p:spPr>
            <a:xfrm>
              <a:off x="0" y="3857625"/>
              <a:ext cx="6191400" cy="3095700"/>
            </a:xfrm>
            <a:prstGeom prst="roundRect">
              <a:avLst>
                <a:gd fmla="val 3692" name="adj"/>
              </a:avLst>
            </a:prstGeom>
            <a:solidFill>
              <a:srgbClr val="111C2E"/>
            </a:solidFill>
            <a:ln cap="flat" cmpd="sng" w="14300">
              <a:solidFill>
                <a:srgbClr val="1E2D4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7" name="Google Shape;1077;p29"/>
            <p:cNvSpPr txBox="1"/>
            <p:nvPr/>
          </p:nvSpPr>
          <p:spPr>
            <a:xfrm>
              <a:off x="266700" y="4095750"/>
              <a:ext cx="5658000" cy="261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38BDF8"/>
                  </a:solidFill>
                  <a:latin typeface="Roboto"/>
                  <a:ea typeface="Roboto"/>
                  <a:cs typeface="Roboto"/>
                  <a:sym typeface="Roboto"/>
                </a:rPr>
                <a:t>Key Execution Concepts</a:t>
              </a:r>
              <a:endParaRPr b="1" sz="1600">
                <a:solidFill>
                  <a:srgbClr val="38BDF8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311150" lvl="0" marL="457200" rtl="0" algn="l">
                <a:spcBef>
                  <a:spcPts val="1125"/>
                </a:spcBef>
                <a:spcAft>
                  <a:spcPts val="0"/>
                </a:spcAft>
                <a:buClr>
                  <a:srgbClr val="94A3B8"/>
                </a:buClr>
                <a:buSzPts val="1300"/>
                <a:buFont typeface="Roboto"/>
                <a:buChar char="●"/>
              </a:pPr>
              <a:r>
                <a:rPr b="1" lang="en-US" sz="13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Discovery:</a:t>
              </a:r>
              <a:r>
                <a:rPr lang="en-US" sz="1300">
                  <a:solidFill>
                    <a:srgbClr val="CBD5E1"/>
                  </a:solidFill>
                  <a:latin typeface="Roboto"/>
                  <a:ea typeface="Roboto"/>
                  <a:cs typeface="Roboto"/>
                  <a:sym typeface="Roboto"/>
                </a:rPr>
                <a:t> Client calls tools/list to inspect parameters and schemas.</a:t>
              </a:r>
              <a:endParaRPr sz="1300">
                <a:solidFill>
                  <a:srgbClr val="94A3B8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311150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94A3B8"/>
                </a:buClr>
                <a:buSzPts val="1300"/>
                <a:buFont typeface="Roboto"/>
                <a:buChar char="●"/>
              </a:pPr>
              <a:r>
                <a:rPr b="1" lang="en-US" sz="13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Invocation:</a:t>
              </a:r>
              <a:r>
                <a:rPr lang="en-US" sz="1300">
                  <a:solidFill>
                    <a:srgbClr val="CBD5E1"/>
                  </a:solidFill>
                  <a:latin typeface="Roboto"/>
                  <a:ea typeface="Roboto"/>
                  <a:cs typeface="Roboto"/>
                  <a:sym typeface="Roboto"/>
                </a:rPr>
                <a:t> Client submits structured arguments using tools/call.</a:t>
              </a:r>
              <a:endParaRPr sz="1300">
                <a:solidFill>
                  <a:srgbClr val="94A3B8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311150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94A3B8"/>
                </a:buClr>
                <a:buSzPts val="1300"/>
                <a:buFont typeface="Roboto"/>
                <a:buChar char="●"/>
              </a:pPr>
              <a:r>
                <a:rPr b="1" lang="en-US" sz="13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Validation:</a:t>
              </a:r>
              <a:r>
                <a:rPr lang="en-US" sz="1300">
                  <a:solidFill>
                    <a:srgbClr val="CBD5E1"/>
                  </a:solidFill>
                  <a:latin typeface="Roboto"/>
                  <a:ea typeface="Roboto"/>
                  <a:cs typeface="Roboto"/>
                  <a:sym typeface="Roboto"/>
                </a:rPr>
                <a:t> Server validates inputs against defined JSON schema definitions before execution.</a:t>
              </a:r>
              <a:endParaRPr sz="1300">
                <a:solidFill>
                  <a:srgbClr val="94A3B8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078" name="Google Shape;1078;p29"/>
          <p:cNvGrpSpPr/>
          <p:nvPr/>
        </p:nvGrpSpPr>
        <p:grpSpPr>
          <a:xfrm>
            <a:off x="7620000" y="2190750"/>
            <a:ext cx="9715500" cy="7143900"/>
            <a:chOff x="0" y="0"/>
            <a:chExt cx="9715500" cy="7143900"/>
          </a:xfrm>
        </p:grpSpPr>
        <p:sp>
          <p:nvSpPr>
            <p:cNvPr id="1079" name="Google Shape;1079;p29"/>
            <p:cNvSpPr/>
            <p:nvPr/>
          </p:nvSpPr>
          <p:spPr>
            <a:xfrm>
              <a:off x="0" y="0"/>
              <a:ext cx="9715500" cy="7143900"/>
            </a:xfrm>
            <a:prstGeom prst="roundRect">
              <a:avLst>
                <a:gd fmla="val 1600" name="adj"/>
              </a:avLst>
            </a:prstGeom>
            <a:solidFill>
              <a:srgbClr val="0F172A"/>
            </a:solidFill>
            <a:ln cap="flat" cmpd="sng" w="14300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0" name="Google Shape;1080;p29"/>
            <p:cNvSpPr/>
            <p:nvPr/>
          </p:nvSpPr>
          <p:spPr>
            <a:xfrm>
              <a:off x="0" y="0"/>
              <a:ext cx="9715500" cy="476400"/>
            </a:xfrm>
            <a:custGeom>
              <a:rect b="b" l="l" r="r" t="t"/>
              <a:pathLst>
                <a:path extrusionOk="0" h="120000" w="120000">
                  <a:moveTo>
                    <a:pt x="0" y="28800"/>
                  </a:moveTo>
                  <a:cubicBezTo>
                    <a:pt x="0" y="21162"/>
                    <a:pt x="149" y="13836"/>
                    <a:pt x="413" y="8435"/>
                  </a:cubicBezTo>
                  <a:cubicBezTo>
                    <a:pt x="678" y="3034"/>
                    <a:pt x="1037" y="0"/>
                    <a:pt x="1412" y="0"/>
                  </a:cubicBezTo>
                  <a:lnTo>
                    <a:pt x="118588" y="0"/>
                  </a:lnTo>
                  <a:cubicBezTo>
                    <a:pt x="118962" y="-1"/>
                    <a:pt x="119322" y="3032"/>
                    <a:pt x="119586" y="8434"/>
                  </a:cubicBezTo>
                  <a:cubicBezTo>
                    <a:pt x="119851" y="13835"/>
                    <a:pt x="120000" y="21161"/>
                    <a:pt x="120000" y="28800"/>
                  </a:cubicBezTo>
                  <a:lnTo>
                    <a:pt x="12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1" name="Google Shape;1081;p29"/>
            <p:cNvSpPr/>
            <p:nvPr/>
          </p:nvSpPr>
          <p:spPr>
            <a:xfrm>
              <a:off x="228600" y="180975"/>
              <a:ext cx="114300" cy="114300"/>
            </a:xfrm>
            <a:prstGeom prst="ellipse">
              <a:avLst/>
            </a:prstGeom>
            <a:solidFill>
              <a:srgbClr val="FF5F5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2" name="Google Shape;1082;p29"/>
            <p:cNvSpPr/>
            <p:nvPr/>
          </p:nvSpPr>
          <p:spPr>
            <a:xfrm>
              <a:off x="419100" y="180975"/>
              <a:ext cx="114300" cy="114300"/>
            </a:xfrm>
            <a:prstGeom prst="ellipse">
              <a:avLst/>
            </a:prstGeom>
            <a:solidFill>
              <a:srgbClr val="FFBD2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3" name="Google Shape;1083;p29"/>
            <p:cNvSpPr/>
            <p:nvPr/>
          </p:nvSpPr>
          <p:spPr>
            <a:xfrm>
              <a:off x="609600" y="180975"/>
              <a:ext cx="114300" cy="114300"/>
            </a:xfrm>
            <a:prstGeom prst="ellipse">
              <a:avLst/>
            </a:prstGeom>
            <a:solidFill>
              <a:srgbClr val="27C93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4" name="Google Shape;1084;p29"/>
            <p:cNvSpPr txBox="1"/>
            <p:nvPr/>
          </p:nvSpPr>
          <p:spPr>
            <a:xfrm>
              <a:off x="952500" y="114300"/>
              <a:ext cx="4762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rgbClr val="94A3B8"/>
                  </a:solidFill>
                  <a:latin typeface="Arial"/>
                  <a:ea typeface="Arial"/>
                  <a:cs typeface="Arial"/>
                  <a:sym typeface="Arial"/>
                </a:rPr>
                <a:t>Tool Definition Example — schema.json</a:t>
              </a:r>
              <a:endParaRPr sz="12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5" name="Google Shape;1085;p29"/>
            <p:cNvSpPr txBox="1"/>
            <p:nvPr/>
          </p:nvSpPr>
          <p:spPr>
            <a:xfrm>
              <a:off x="333375" y="714375"/>
              <a:ext cx="9048900" cy="609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>
                  <a:solidFill>
                    <a:srgbClr val="C084F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{</a:t>
              </a:r>
              <a:endParaRPr sz="15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-US" sz="1500">
                  <a:solidFill>
                    <a:srgbClr val="7DD3F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"name"</a:t>
              </a:r>
              <a:r>
                <a:rPr lang="en-US" sz="1500">
                  <a:solidFill>
                    <a:srgbClr val="94A3B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:</a:t>
              </a:r>
              <a:r>
                <a:rPr lang="en-US" sz="150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lang="en-US" sz="1500">
                  <a:solidFill>
                    <a:srgbClr val="FDE047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"get_weather"</a:t>
              </a:r>
              <a:r>
                <a:rPr lang="en-US" sz="1500">
                  <a:solidFill>
                    <a:srgbClr val="94A3B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,</a:t>
              </a:r>
              <a:endParaRPr sz="15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-US" sz="1500">
                  <a:solidFill>
                    <a:srgbClr val="7DD3F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"description"</a:t>
              </a:r>
              <a:r>
                <a:rPr lang="en-US" sz="1500">
                  <a:solidFill>
                    <a:srgbClr val="94A3B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:</a:t>
              </a:r>
              <a:r>
                <a:rPr lang="en-US" sz="150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lang="en-US" sz="1500">
                  <a:solidFill>
                    <a:srgbClr val="FDE047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"Get current weather for a location"</a:t>
              </a:r>
              <a:r>
                <a:rPr lang="en-US" sz="1500">
                  <a:solidFill>
                    <a:srgbClr val="94A3B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,</a:t>
              </a:r>
              <a:endParaRPr sz="15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-US" sz="1500">
                  <a:solidFill>
                    <a:srgbClr val="7DD3F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"inputSchema"</a:t>
              </a:r>
              <a:r>
                <a:rPr lang="en-US" sz="1500">
                  <a:solidFill>
                    <a:srgbClr val="94A3B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:</a:t>
              </a:r>
              <a:r>
                <a:rPr lang="en-US" sz="150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lang="en-US" sz="1500">
                  <a:solidFill>
                    <a:srgbClr val="F472B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{</a:t>
              </a:r>
              <a:endParaRPr sz="15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-US" sz="1500">
                  <a:solidFill>
                    <a:srgbClr val="7DD3F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"type"</a:t>
              </a:r>
              <a:r>
                <a:rPr lang="en-US" sz="1500">
                  <a:solidFill>
                    <a:srgbClr val="94A3B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:</a:t>
              </a:r>
              <a:r>
                <a:rPr lang="en-US" sz="150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lang="en-US" sz="1500">
                  <a:solidFill>
                    <a:srgbClr val="FDE047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"object"</a:t>
              </a:r>
              <a:r>
                <a:rPr lang="en-US" sz="1500">
                  <a:solidFill>
                    <a:srgbClr val="94A3B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,</a:t>
              </a:r>
              <a:endParaRPr sz="15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-US" sz="1500">
                  <a:solidFill>
                    <a:srgbClr val="7DD3F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"properties"</a:t>
              </a:r>
              <a:r>
                <a:rPr lang="en-US" sz="1500">
                  <a:solidFill>
                    <a:srgbClr val="94A3B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:</a:t>
              </a:r>
              <a:r>
                <a:rPr lang="en-US" sz="150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lang="en-US" sz="1500">
                  <a:solidFill>
                    <a:srgbClr val="38BDF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{</a:t>
              </a:r>
              <a:endParaRPr sz="15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-US" sz="1500">
                  <a:solidFill>
                    <a:srgbClr val="7DD3F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"location"</a:t>
              </a:r>
              <a:r>
                <a:rPr lang="en-US" sz="1500">
                  <a:solidFill>
                    <a:srgbClr val="94A3B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:</a:t>
              </a:r>
              <a:r>
                <a:rPr lang="en-US" sz="150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lang="en-US" sz="1500">
                  <a:solidFill>
                    <a:srgbClr val="4ADE8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{</a:t>
              </a:r>
              <a:endParaRPr sz="15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-US" sz="1500">
                  <a:solidFill>
                    <a:srgbClr val="7DD3F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"type"</a:t>
              </a:r>
              <a:r>
                <a:rPr lang="en-US" sz="1500">
                  <a:solidFill>
                    <a:srgbClr val="94A3B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:</a:t>
              </a:r>
              <a:r>
                <a:rPr lang="en-US" sz="150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lang="en-US" sz="1500">
                  <a:solidFill>
                    <a:srgbClr val="FDE047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"string"</a:t>
              </a:r>
              <a:r>
                <a:rPr lang="en-US" sz="1500">
                  <a:solidFill>
                    <a:srgbClr val="94A3B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,</a:t>
              </a:r>
              <a:endParaRPr sz="15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-US" sz="1500">
                  <a:solidFill>
                    <a:srgbClr val="7DD3F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"description"</a:t>
              </a:r>
              <a:r>
                <a:rPr lang="en-US" sz="1500">
                  <a:solidFill>
                    <a:srgbClr val="94A3B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:</a:t>
              </a:r>
              <a:r>
                <a:rPr lang="en-US" sz="150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lang="en-US" sz="1500">
                  <a:solidFill>
                    <a:srgbClr val="FDE047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"City name"</a:t>
              </a:r>
              <a:endParaRPr sz="15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-US" sz="1500">
                  <a:solidFill>
                    <a:srgbClr val="4ADE8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}</a:t>
              </a:r>
              <a:endParaRPr sz="15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-US" sz="1500">
                  <a:solidFill>
                    <a:srgbClr val="38BDF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}</a:t>
              </a:r>
              <a:r>
                <a:rPr lang="en-US" sz="1500">
                  <a:solidFill>
                    <a:srgbClr val="94A3B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,</a:t>
              </a:r>
              <a:endParaRPr sz="15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-US" sz="1500">
                  <a:solidFill>
                    <a:srgbClr val="7DD3F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"required"</a:t>
              </a:r>
              <a:r>
                <a:rPr lang="en-US" sz="1500">
                  <a:solidFill>
                    <a:srgbClr val="94A3B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:</a:t>
              </a:r>
              <a:r>
                <a:rPr lang="en-US" sz="150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lang="en-US" sz="1500">
                  <a:solidFill>
                    <a:srgbClr val="94A3B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[</a:t>
              </a:r>
              <a:r>
                <a:rPr lang="en-US" sz="1500">
                  <a:solidFill>
                    <a:srgbClr val="FDE047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"location"</a:t>
              </a:r>
              <a:r>
                <a:rPr lang="en-US" sz="1500">
                  <a:solidFill>
                    <a:srgbClr val="94A3B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]</a:t>
              </a:r>
              <a:endParaRPr sz="15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-US" sz="1500">
                  <a:solidFill>
                    <a:srgbClr val="F472B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}</a:t>
              </a:r>
              <a:endParaRPr sz="15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-US" sz="1500">
                  <a:solidFill>
                    <a:srgbClr val="C084F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}</a:t>
              </a:r>
              <a:endParaRPr sz="15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89" name="Shape 10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0" name="Google Shape;1090;p30"/>
          <p:cNvSpPr txBox="1"/>
          <p:nvPr/>
        </p:nvSpPr>
        <p:spPr>
          <a:xfrm>
            <a:off x="952500" y="619125"/>
            <a:ext cx="16383000" cy="104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00AEEF"/>
                </a:solidFill>
                <a:latin typeface="Roboto"/>
                <a:ea typeface="Roboto"/>
                <a:cs typeface="Roboto"/>
                <a:sym typeface="Roboto"/>
              </a:rPr>
              <a:t>TOOLS CAPABILITY — TECHNICAL IMPLEMENTATION (CONTINUED)</a:t>
            </a:r>
            <a:endParaRPr b="1" sz="1400">
              <a:solidFill>
                <a:srgbClr val="00AEE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Tool Invocation Example</a:t>
            </a:r>
            <a:endParaRPr b="1" sz="36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091" name="Google Shape;1091;p30"/>
          <p:cNvGrpSpPr/>
          <p:nvPr/>
        </p:nvGrpSpPr>
        <p:grpSpPr>
          <a:xfrm>
            <a:off x="952500" y="1905000"/>
            <a:ext cx="7905900" cy="7429500"/>
            <a:chOff x="0" y="0"/>
            <a:chExt cx="7905900" cy="7429500"/>
          </a:xfrm>
        </p:grpSpPr>
        <p:sp>
          <p:nvSpPr>
            <p:cNvPr id="1092" name="Google Shape;1092;p30"/>
            <p:cNvSpPr/>
            <p:nvPr/>
          </p:nvSpPr>
          <p:spPr>
            <a:xfrm>
              <a:off x="0" y="0"/>
              <a:ext cx="7905900" cy="7429500"/>
            </a:xfrm>
            <a:prstGeom prst="roundRect">
              <a:avLst>
                <a:gd fmla="val 1538" name="adj"/>
              </a:avLst>
            </a:prstGeom>
            <a:solidFill>
              <a:srgbClr val="0F172A"/>
            </a:solidFill>
            <a:ln cap="flat" cmpd="sng" w="19050">
              <a:solidFill>
                <a:srgbClr val="1E2D4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3" name="Google Shape;1093;p30"/>
            <p:cNvSpPr/>
            <p:nvPr/>
          </p:nvSpPr>
          <p:spPr>
            <a:xfrm>
              <a:off x="0" y="0"/>
              <a:ext cx="7905900" cy="476400"/>
            </a:xfrm>
            <a:custGeom>
              <a:rect b="b" l="l" r="r" t="t"/>
              <a:pathLst>
                <a:path extrusionOk="0" h="120000" w="120000">
                  <a:moveTo>
                    <a:pt x="0" y="28800"/>
                  </a:moveTo>
                  <a:cubicBezTo>
                    <a:pt x="0" y="12888"/>
                    <a:pt x="776" y="0"/>
                    <a:pt x="1735" y="0"/>
                  </a:cubicBezTo>
                  <a:lnTo>
                    <a:pt x="118265" y="0"/>
                  </a:lnTo>
                  <a:cubicBezTo>
                    <a:pt x="119224" y="0"/>
                    <a:pt x="120000" y="12888"/>
                    <a:pt x="120000" y="28800"/>
                  </a:cubicBezTo>
                  <a:lnTo>
                    <a:pt x="12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4" name="Google Shape;1094;p30"/>
            <p:cNvSpPr/>
            <p:nvPr/>
          </p:nvSpPr>
          <p:spPr>
            <a:xfrm>
              <a:off x="209550" y="180975"/>
              <a:ext cx="114300" cy="114300"/>
            </a:xfrm>
            <a:prstGeom prst="ellipse">
              <a:avLst/>
            </a:prstGeom>
            <a:solidFill>
              <a:srgbClr val="FF5F5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5" name="Google Shape;1095;p30"/>
            <p:cNvSpPr/>
            <p:nvPr/>
          </p:nvSpPr>
          <p:spPr>
            <a:xfrm>
              <a:off x="400050" y="180975"/>
              <a:ext cx="114300" cy="114300"/>
            </a:xfrm>
            <a:prstGeom prst="ellipse">
              <a:avLst/>
            </a:prstGeom>
            <a:solidFill>
              <a:srgbClr val="FFBD2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6" name="Google Shape;1096;p30"/>
            <p:cNvSpPr/>
            <p:nvPr/>
          </p:nvSpPr>
          <p:spPr>
            <a:xfrm>
              <a:off x="590550" y="180975"/>
              <a:ext cx="114300" cy="114300"/>
            </a:xfrm>
            <a:prstGeom prst="ellipse">
              <a:avLst/>
            </a:prstGeom>
            <a:solidFill>
              <a:srgbClr val="27C93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7" name="Google Shape;1097;p30"/>
            <p:cNvSpPr txBox="1"/>
            <p:nvPr/>
          </p:nvSpPr>
          <p:spPr>
            <a:xfrm>
              <a:off x="952500" y="114300"/>
              <a:ext cx="5715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94A3B8"/>
                  </a:solidFill>
                  <a:latin typeface="Roboto"/>
                  <a:ea typeface="Roboto"/>
                  <a:cs typeface="Roboto"/>
                  <a:sym typeface="Roboto"/>
                </a:rPr>
                <a:t>JSON-RPC Request (tools/call)</a:t>
              </a:r>
              <a:endParaRPr b="1" sz="1300">
                <a:solidFill>
                  <a:srgbClr val="94A3B8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098" name="Google Shape;1098;p30"/>
            <p:cNvSpPr txBox="1"/>
            <p:nvPr/>
          </p:nvSpPr>
          <p:spPr>
            <a:xfrm>
              <a:off x="333375" y="666750"/>
              <a:ext cx="7239000" cy="647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500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// Request</a:t>
              </a:r>
              <a:endParaRPr b="0" sz="150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0" lang="en-US" sz="1500">
                  <a:solidFill>
                    <a:srgbClr val="F472B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{</a:t>
              </a:r>
              <a:endParaRPr b="0" sz="15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500">
                  <a:solidFill>
                    <a:srgbClr val="7DD3F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"jsonrpc"</a:t>
              </a:r>
              <a:r>
                <a:rPr b="0" lang="en-US" sz="1500">
                  <a:solidFill>
                    <a:srgbClr val="94A3B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:</a:t>
              </a:r>
              <a:r>
                <a:rPr b="0" lang="en-US" sz="150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b="0" lang="en-US" sz="1500">
                  <a:solidFill>
                    <a:srgbClr val="FDE047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"2.0"</a:t>
              </a:r>
              <a:r>
                <a:rPr b="0" lang="en-US" sz="1500">
                  <a:solidFill>
                    <a:srgbClr val="94A3B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,</a:t>
              </a:r>
              <a:endParaRPr b="0" sz="15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500">
                  <a:solidFill>
                    <a:srgbClr val="7DD3F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"id"</a:t>
              </a:r>
              <a:r>
                <a:rPr b="0" lang="en-US" sz="1500">
                  <a:solidFill>
                    <a:srgbClr val="94A3B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:</a:t>
              </a:r>
              <a:r>
                <a:rPr b="0" lang="en-US" sz="150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b="0" lang="en-US" sz="1500">
                  <a:solidFill>
                    <a:srgbClr val="C084F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1</a:t>
              </a:r>
              <a:r>
                <a:rPr b="0" lang="en-US" sz="1500">
                  <a:solidFill>
                    <a:srgbClr val="94A3B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,</a:t>
              </a:r>
              <a:endParaRPr b="0" sz="15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500">
                  <a:solidFill>
                    <a:srgbClr val="7DD3F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"method"</a:t>
              </a:r>
              <a:r>
                <a:rPr b="0" lang="en-US" sz="1500">
                  <a:solidFill>
                    <a:srgbClr val="94A3B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:</a:t>
              </a:r>
              <a:r>
                <a:rPr b="0" lang="en-US" sz="150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b="0" lang="en-US" sz="1500">
                  <a:solidFill>
                    <a:srgbClr val="FDE047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"tools/call"</a:t>
              </a:r>
              <a:r>
                <a:rPr b="0" lang="en-US" sz="1500">
                  <a:solidFill>
                    <a:srgbClr val="94A3B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,</a:t>
              </a:r>
              <a:endParaRPr b="0" sz="15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500">
                  <a:solidFill>
                    <a:srgbClr val="7DD3F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"params"</a:t>
              </a:r>
              <a:r>
                <a:rPr b="0" lang="en-US" sz="1500">
                  <a:solidFill>
                    <a:srgbClr val="94A3B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:</a:t>
              </a:r>
              <a:r>
                <a:rPr b="0" lang="en-US" sz="150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b="0" lang="en-US" sz="1500">
                  <a:solidFill>
                    <a:srgbClr val="38BDF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{</a:t>
              </a:r>
              <a:endParaRPr b="0" sz="15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500">
                  <a:solidFill>
                    <a:srgbClr val="7DD3F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"name"</a:t>
              </a:r>
              <a:r>
                <a:rPr b="0" lang="en-US" sz="1500">
                  <a:solidFill>
                    <a:srgbClr val="94A3B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:</a:t>
              </a:r>
              <a:r>
                <a:rPr b="0" lang="en-US" sz="150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b="0" lang="en-US" sz="1500">
                  <a:solidFill>
                    <a:srgbClr val="4ADE8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"get_weather"</a:t>
              </a:r>
              <a:r>
                <a:rPr b="0" lang="en-US" sz="1500">
                  <a:solidFill>
                    <a:srgbClr val="94A3B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,</a:t>
              </a:r>
              <a:endParaRPr b="0" sz="15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500">
                  <a:solidFill>
                    <a:srgbClr val="7DD3F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"arguments"</a:t>
              </a:r>
              <a:r>
                <a:rPr b="0" lang="en-US" sz="1500">
                  <a:solidFill>
                    <a:srgbClr val="94A3B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:</a:t>
              </a:r>
              <a:r>
                <a:rPr b="0" lang="en-US" sz="150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b="0" lang="en-US" sz="1500">
                  <a:solidFill>
                    <a:srgbClr val="F472B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{</a:t>
              </a:r>
              <a:endParaRPr b="0" sz="15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500">
                  <a:solidFill>
                    <a:srgbClr val="7DD3F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"location"</a:t>
              </a:r>
              <a:r>
                <a:rPr b="0" lang="en-US" sz="1500">
                  <a:solidFill>
                    <a:srgbClr val="94A3B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:</a:t>
              </a:r>
              <a:r>
                <a:rPr b="0" lang="en-US" sz="150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b="0" lang="en-US" sz="1500">
                  <a:solidFill>
                    <a:srgbClr val="FDE047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"San Francisco"</a:t>
              </a:r>
              <a:endParaRPr b="0" sz="15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500">
                  <a:solidFill>
                    <a:srgbClr val="F472B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}</a:t>
              </a:r>
              <a:endParaRPr b="0" sz="15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500">
                  <a:solidFill>
                    <a:srgbClr val="38BDF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}</a:t>
              </a:r>
              <a:endParaRPr b="0" sz="15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600"/>
                </a:spcAft>
                <a:buNone/>
              </a:pPr>
              <a:r>
                <a:rPr b="0" lang="en-US" sz="1500">
                  <a:solidFill>
                    <a:srgbClr val="F472B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}</a:t>
              </a:r>
              <a:endParaRPr b="0" sz="15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grpSp>
        <p:nvGrpSpPr>
          <p:cNvPr id="1099" name="Google Shape;1099;p30"/>
          <p:cNvGrpSpPr/>
          <p:nvPr/>
        </p:nvGrpSpPr>
        <p:grpSpPr>
          <a:xfrm>
            <a:off x="9429750" y="1905000"/>
            <a:ext cx="7905900" cy="7429500"/>
            <a:chOff x="0" y="0"/>
            <a:chExt cx="7905900" cy="7429500"/>
          </a:xfrm>
        </p:grpSpPr>
        <p:sp>
          <p:nvSpPr>
            <p:cNvPr id="1100" name="Google Shape;1100;p30"/>
            <p:cNvSpPr/>
            <p:nvPr/>
          </p:nvSpPr>
          <p:spPr>
            <a:xfrm>
              <a:off x="0" y="0"/>
              <a:ext cx="7905900" cy="7429500"/>
            </a:xfrm>
            <a:prstGeom prst="roundRect">
              <a:avLst>
                <a:gd fmla="val 1538" name="adj"/>
              </a:avLst>
            </a:prstGeom>
            <a:solidFill>
              <a:srgbClr val="0F172A"/>
            </a:solidFill>
            <a:ln cap="flat" cmpd="sng" w="19050">
              <a:solidFill>
                <a:srgbClr val="1E2D4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1" name="Google Shape;1101;p30"/>
            <p:cNvSpPr/>
            <p:nvPr/>
          </p:nvSpPr>
          <p:spPr>
            <a:xfrm>
              <a:off x="0" y="0"/>
              <a:ext cx="7905900" cy="476400"/>
            </a:xfrm>
            <a:custGeom>
              <a:rect b="b" l="l" r="r" t="t"/>
              <a:pathLst>
                <a:path extrusionOk="0" h="120000" w="120000">
                  <a:moveTo>
                    <a:pt x="0" y="28800"/>
                  </a:moveTo>
                  <a:cubicBezTo>
                    <a:pt x="0" y="12888"/>
                    <a:pt x="776" y="0"/>
                    <a:pt x="1735" y="0"/>
                  </a:cubicBezTo>
                  <a:lnTo>
                    <a:pt x="118265" y="0"/>
                  </a:lnTo>
                  <a:cubicBezTo>
                    <a:pt x="119224" y="0"/>
                    <a:pt x="120000" y="12888"/>
                    <a:pt x="120000" y="28800"/>
                  </a:cubicBezTo>
                  <a:lnTo>
                    <a:pt x="12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2" name="Google Shape;1102;p30"/>
            <p:cNvSpPr/>
            <p:nvPr/>
          </p:nvSpPr>
          <p:spPr>
            <a:xfrm>
              <a:off x="209550" y="180975"/>
              <a:ext cx="114300" cy="114300"/>
            </a:xfrm>
            <a:prstGeom prst="ellipse">
              <a:avLst/>
            </a:prstGeom>
            <a:solidFill>
              <a:srgbClr val="FF5F5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3" name="Google Shape;1103;p30"/>
            <p:cNvSpPr/>
            <p:nvPr/>
          </p:nvSpPr>
          <p:spPr>
            <a:xfrm>
              <a:off x="400050" y="180975"/>
              <a:ext cx="114300" cy="114300"/>
            </a:xfrm>
            <a:prstGeom prst="ellipse">
              <a:avLst/>
            </a:prstGeom>
            <a:solidFill>
              <a:srgbClr val="FFBD2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4" name="Google Shape;1104;p30"/>
            <p:cNvSpPr/>
            <p:nvPr/>
          </p:nvSpPr>
          <p:spPr>
            <a:xfrm>
              <a:off x="590550" y="180975"/>
              <a:ext cx="114300" cy="114300"/>
            </a:xfrm>
            <a:prstGeom prst="ellipse">
              <a:avLst/>
            </a:prstGeom>
            <a:solidFill>
              <a:srgbClr val="27C93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5" name="Google Shape;1105;p30"/>
            <p:cNvSpPr txBox="1"/>
            <p:nvPr/>
          </p:nvSpPr>
          <p:spPr>
            <a:xfrm>
              <a:off x="952500" y="114300"/>
              <a:ext cx="5715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94A3B8"/>
                  </a:solidFill>
                  <a:latin typeface="Roboto"/>
                  <a:ea typeface="Roboto"/>
                  <a:cs typeface="Roboto"/>
                  <a:sym typeface="Roboto"/>
                </a:rPr>
                <a:t>JSON-RPC Response</a:t>
              </a:r>
              <a:endParaRPr b="1" sz="1300">
                <a:solidFill>
                  <a:srgbClr val="94A3B8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06" name="Google Shape;1106;p30"/>
            <p:cNvSpPr txBox="1"/>
            <p:nvPr/>
          </p:nvSpPr>
          <p:spPr>
            <a:xfrm>
              <a:off x="333375" y="666750"/>
              <a:ext cx="7239000" cy="647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500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// Response</a:t>
              </a:r>
              <a:endParaRPr b="0" sz="150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0" lang="en-US" sz="1500">
                  <a:solidFill>
                    <a:srgbClr val="F472B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{</a:t>
              </a:r>
              <a:endParaRPr b="0" sz="15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500">
                  <a:solidFill>
                    <a:srgbClr val="7DD3F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"jsonrpc"</a:t>
              </a:r>
              <a:r>
                <a:rPr b="0" lang="en-US" sz="1500">
                  <a:solidFill>
                    <a:srgbClr val="94A3B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:</a:t>
              </a:r>
              <a:r>
                <a:rPr b="0" lang="en-US" sz="150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b="0" lang="en-US" sz="1500">
                  <a:solidFill>
                    <a:srgbClr val="FDE047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"2.0"</a:t>
              </a:r>
              <a:r>
                <a:rPr b="0" lang="en-US" sz="1500">
                  <a:solidFill>
                    <a:srgbClr val="94A3B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,</a:t>
              </a:r>
              <a:endParaRPr b="0" sz="15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500">
                  <a:solidFill>
                    <a:srgbClr val="7DD3F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"id"</a:t>
              </a:r>
              <a:r>
                <a:rPr b="0" lang="en-US" sz="1500">
                  <a:solidFill>
                    <a:srgbClr val="94A3B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:</a:t>
              </a:r>
              <a:r>
                <a:rPr b="0" lang="en-US" sz="150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b="0" lang="en-US" sz="1500">
                  <a:solidFill>
                    <a:srgbClr val="C084F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1</a:t>
              </a:r>
              <a:r>
                <a:rPr b="0" lang="en-US" sz="1500">
                  <a:solidFill>
                    <a:srgbClr val="94A3B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,</a:t>
              </a:r>
              <a:endParaRPr b="0" sz="15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500">
                  <a:solidFill>
                    <a:srgbClr val="7DD3F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"result"</a:t>
              </a:r>
              <a:r>
                <a:rPr b="0" lang="en-US" sz="1500">
                  <a:solidFill>
                    <a:srgbClr val="94A3B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:</a:t>
              </a:r>
              <a:r>
                <a:rPr b="0" lang="en-US" sz="150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b="0" lang="en-US" sz="1500">
                  <a:solidFill>
                    <a:srgbClr val="38BDF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{</a:t>
              </a:r>
              <a:endParaRPr b="0" sz="15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500">
                  <a:solidFill>
                    <a:srgbClr val="7DD3F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"content"</a:t>
              </a:r>
              <a:r>
                <a:rPr b="0" lang="en-US" sz="1500">
                  <a:solidFill>
                    <a:srgbClr val="94A3B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:</a:t>
              </a:r>
              <a:r>
                <a:rPr b="0" lang="en-US" sz="150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b="0" lang="en-US" sz="1500">
                  <a:solidFill>
                    <a:srgbClr val="94A3B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[</a:t>
              </a:r>
              <a:r>
                <a:rPr b="0" lang="en-US" sz="1500">
                  <a:solidFill>
                    <a:srgbClr val="4ADE8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{</a:t>
              </a:r>
              <a:endParaRPr b="0" sz="15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500">
                  <a:solidFill>
                    <a:srgbClr val="7DD3F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"type"</a:t>
              </a:r>
              <a:r>
                <a:rPr b="0" lang="en-US" sz="1500">
                  <a:solidFill>
                    <a:srgbClr val="94A3B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:</a:t>
              </a:r>
              <a:r>
                <a:rPr b="0" lang="en-US" sz="150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b="0" lang="en-US" sz="1500">
                  <a:solidFill>
                    <a:srgbClr val="FDE047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"text"</a:t>
              </a:r>
              <a:r>
                <a:rPr b="0" lang="en-US" sz="1500">
                  <a:solidFill>
                    <a:srgbClr val="94A3B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,</a:t>
              </a:r>
              <a:endParaRPr b="0" sz="15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500">
                  <a:solidFill>
                    <a:srgbClr val="7DD3F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"text"</a:t>
              </a:r>
              <a:r>
                <a:rPr b="0" lang="en-US" sz="1500">
                  <a:solidFill>
                    <a:srgbClr val="94A3B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:</a:t>
              </a:r>
              <a:r>
                <a:rPr b="0" lang="en-US" sz="150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b="0" lang="en-US" sz="1500">
                  <a:solidFill>
                    <a:srgbClr val="4ADE8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"Temperature: 62°F, Partly cloudy"</a:t>
              </a:r>
              <a:endParaRPr b="0" sz="15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500">
                  <a:solidFill>
                    <a:srgbClr val="4ADE8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}</a:t>
              </a:r>
              <a:r>
                <a:rPr b="0" lang="en-US" sz="1500">
                  <a:solidFill>
                    <a:srgbClr val="94A3B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]</a:t>
              </a:r>
              <a:endParaRPr b="0" sz="15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500">
                  <a:solidFill>
                    <a:srgbClr val="38BDF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}</a:t>
              </a:r>
              <a:endParaRPr b="0" sz="15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600"/>
                </a:spcAft>
                <a:buNone/>
              </a:pPr>
              <a:r>
                <a:rPr b="0" lang="en-US" sz="1500">
                  <a:solidFill>
                    <a:srgbClr val="F472B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}</a:t>
              </a:r>
              <a:endParaRPr b="0" sz="15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Tools (discovery → invocation → validation → result)</a:t>
            </a:r>
          </a:p>
        </p:txBody>
      </p:sp>
      <p:pic>
        <p:nvPicPr>
          <p:cNvPr id="3" name="Picture 2" descr="d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8554" y="1600200"/>
            <a:ext cx="12470892" cy="7635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9281160"/>
            <a:ext cx="17190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444C56"/>
                </a:solidFill>
              </a:rPr>
              <a:t>The model discovers a tool's schema, calls it, the server validates the inputs, runs the action, and returns a structured result the model reads.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7EBF3"/>
        </a:solidFill>
      </p:bgPr>
    </p:bg>
    <p:spTree>
      <p:nvGrpSpPr>
        <p:cNvPr id="1110" name="Shape 1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1" name="Google Shape;1111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2" name="Google Shape;1112;p31"/>
          <p:cNvSpPr txBox="1"/>
          <p:nvPr/>
        </p:nvSpPr>
        <p:spPr>
          <a:xfrm>
            <a:off x="952500" y="619125"/>
            <a:ext cx="16383000" cy="1047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00AEEF"/>
                </a:solidFill>
                <a:latin typeface="Roboto"/>
                <a:ea typeface="Roboto"/>
                <a:cs typeface="Roboto"/>
                <a:sym typeface="Roboto"/>
              </a:rPr>
              <a:t>TOOLS CAPABILITY — FASTMCP IMPLEMENTATION</a:t>
            </a:r>
            <a:endParaRPr b="1" sz="1400">
              <a:solidFill>
                <a:srgbClr val="00AEE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Tools — Model-Controlled Actions</a:t>
            </a:r>
            <a:endParaRPr b="1" sz="36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113" name="Google Shape;1113;p31"/>
          <p:cNvGrpSpPr/>
          <p:nvPr/>
        </p:nvGrpSpPr>
        <p:grpSpPr>
          <a:xfrm>
            <a:off x="952500" y="2000250"/>
            <a:ext cx="6477000" cy="7238925"/>
            <a:chOff x="0" y="0"/>
            <a:chExt cx="6477000" cy="7238925"/>
          </a:xfrm>
        </p:grpSpPr>
        <p:sp>
          <p:nvSpPr>
            <p:cNvPr id="1114" name="Google Shape;1114;p31"/>
            <p:cNvSpPr txBox="1"/>
            <p:nvPr/>
          </p:nvSpPr>
          <p:spPr>
            <a:xfrm>
              <a:off x="0" y="0"/>
              <a:ext cx="6477000" cy="666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600">
                  <a:solidFill>
                    <a:srgbClr val="E2E8F0"/>
                  </a:solidFill>
                  <a:latin typeface="Roboto"/>
                  <a:ea typeface="Roboto"/>
                  <a:cs typeface="Roboto"/>
                  <a:sym typeface="Roboto"/>
                </a:rPr>
                <a:t>A FastMCP tool from the server you run today. The docstring </a:t>
              </a:r>
              <a:r>
                <a:rPr b="1" lang="en-US" sz="1600">
                  <a:solidFill>
                    <a:srgbClr val="E2E8F0"/>
                  </a:solidFill>
                  <a:latin typeface="Roboto"/>
                  <a:ea typeface="Roboto"/>
                  <a:cs typeface="Roboto"/>
                  <a:sym typeface="Roboto"/>
                </a:rPr>
                <a:t>IS</a:t>
              </a:r>
              <a:r>
                <a:rPr b="0" lang="en-US" sz="1600">
                  <a:solidFill>
                    <a:srgbClr val="E2E8F0"/>
                  </a:solidFill>
                  <a:latin typeface="Roboto"/>
                  <a:ea typeface="Roboto"/>
                  <a:cs typeface="Roboto"/>
                  <a:sym typeface="Roboto"/>
                </a:rPr>
                <a:t> the prompt engineering:</a:t>
              </a:r>
              <a:endParaRPr b="0" sz="1600">
                <a:solidFill>
                  <a:srgbClr val="E2E8F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15" name="Google Shape;1115;p31"/>
            <p:cNvSpPr/>
            <p:nvPr/>
          </p:nvSpPr>
          <p:spPr>
            <a:xfrm>
              <a:off x="0" y="809625"/>
              <a:ext cx="6477000" cy="4000500"/>
            </a:xfrm>
            <a:prstGeom prst="roundRect">
              <a:avLst>
                <a:gd fmla="val 2857" name="adj"/>
              </a:avLst>
            </a:prstGeom>
            <a:solidFill>
              <a:srgbClr val="162235"/>
            </a:solidFill>
            <a:ln cap="flat" cmpd="sng" w="14300">
              <a:solidFill>
                <a:srgbClr val="1E2D4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6" name="Google Shape;1116;p31"/>
            <p:cNvSpPr txBox="1"/>
            <p:nvPr/>
          </p:nvSpPr>
          <p:spPr>
            <a:xfrm>
              <a:off x="266700" y="1047750"/>
              <a:ext cx="5943600" cy="3524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38BDF8"/>
                  </a:solidFill>
                  <a:latin typeface="Roboto"/>
                  <a:ea typeface="Roboto"/>
                  <a:cs typeface="Roboto"/>
                  <a:sym typeface="Roboto"/>
                </a:rPr>
                <a:t>Automatic Schema &amp; Mapping</a:t>
              </a:r>
              <a:endParaRPr b="1" sz="1600">
                <a:solidFill>
                  <a:srgbClr val="38BDF8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317500" lvl="0" marL="457200" rtl="0" algn="l">
                <a:spcBef>
                  <a:spcPts val="180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Roboto"/>
                <a:buChar char="●"/>
              </a:pPr>
              <a:r>
                <a:rPr b="1" lang="en-US" sz="1400">
                  <a:solidFill>
                    <a:srgbClr val="00AEEF"/>
                  </a:solidFill>
                  <a:latin typeface="Roboto"/>
                  <a:ea typeface="Roboto"/>
                  <a:cs typeface="Roboto"/>
                  <a:sym typeface="Roboto"/>
                </a:rPr>
                <a:t>Function name</a:t>
              </a:r>
              <a:r>
                <a:rPr b="1" lang="en-US" sz="14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 </a:t>
              </a:r>
              <a:r>
                <a:rPr b="1" lang="en-US" sz="1400">
                  <a:solidFill>
                    <a:srgbClr val="CBD5E1"/>
                  </a:solidFill>
                  <a:latin typeface="Roboto"/>
                  <a:ea typeface="Roboto"/>
                  <a:cs typeface="Roboto"/>
                  <a:sym typeface="Roboto"/>
                </a:rPr>
                <a:t>→ tool name</a:t>
              </a:r>
              <a:endParaRPr b="1" sz="14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317500" lvl="0" marL="457200" rtl="0" algn="l">
                <a:spcBef>
                  <a:spcPts val="120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Roboto"/>
                <a:buChar char="●"/>
              </a:pPr>
              <a:r>
                <a:rPr b="1" lang="en-US" sz="1400">
                  <a:solidFill>
                    <a:srgbClr val="00AEEF"/>
                  </a:solidFill>
                  <a:latin typeface="Roboto"/>
                  <a:ea typeface="Roboto"/>
                  <a:cs typeface="Roboto"/>
                  <a:sym typeface="Roboto"/>
                </a:rPr>
                <a:t>docstring</a:t>
              </a:r>
              <a:r>
                <a:rPr b="1" lang="en-US" sz="14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 </a:t>
              </a:r>
              <a:r>
                <a:rPr b="1" lang="en-US" sz="1400">
                  <a:solidFill>
                    <a:srgbClr val="CBD5E1"/>
                  </a:solidFill>
                  <a:latin typeface="Roboto"/>
                  <a:ea typeface="Roboto"/>
                  <a:cs typeface="Roboto"/>
                  <a:sym typeface="Roboto"/>
                </a:rPr>
                <a:t>→ description the LLM reads</a:t>
              </a:r>
              <a:endParaRPr b="1" sz="14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317500" lvl="0" marL="457200" rtl="0" algn="l">
                <a:spcBef>
                  <a:spcPts val="1200"/>
                </a:spcBef>
                <a:spcAft>
                  <a:spcPts val="1200"/>
                </a:spcAft>
                <a:buClr>
                  <a:srgbClr val="FFFFFF"/>
                </a:buClr>
                <a:buSzPts val="1400"/>
                <a:buFont typeface="Roboto"/>
                <a:buChar char="●"/>
              </a:pPr>
              <a:r>
                <a:rPr b="1" lang="en-US" sz="1400">
                  <a:solidFill>
                    <a:srgbClr val="00AEEF"/>
                  </a:solidFill>
                  <a:latin typeface="Roboto"/>
                  <a:ea typeface="Roboto"/>
                  <a:cs typeface="Roboto"/>
                  <a:sym typeface="Roboto"/>
                </a:rPr>
                <a:t>type hints</a:t>
              </a:r>
              <a:r>
                <a:rPr b="1" lang="en-US" sz="14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 </a:t>
              </a:r>
              <a:r>
                <a:rPr b="1" lang="en-US" sz="1400">
                  <a:solidFill>
                    <a:srgbClr val="CBD5E1"/>
                  </a:solidFill>
                  <a:latin typeface="Roboto"/>
                  <a:ea typeface="Roboto"/>
                  <a:cs typeface="Roboto"/>
                  <a:sym typeface="Roboto"/>
                </a:rPr>
                <a:t>→ JSON Schema (generated)</a:t>
              </a:r>
              <a:endParaRPr b="1" sz="14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17" name="Google Shape;1117;p31"/>
            <p:cNvSpPr/>
            <p:nvPr/>
          </p:nvSpPr>
          <p:spPr>
            <a:xfrm>
              <a:off x="0" y="5000625"/>
              <a:ext cx="6477000" cy="2238300"/>
            </a:xfrm>
            <a:prstGeom prst="roundRect">
              <a:avLst>
                <a:gd fmla="val 5106" name="adj"/>
              </a:avLst>
            </a:prstGeom>
            <a:solidFill>
              <a:srgbClr val="111C2E"/>
            </a:solidFill>
            <a:ln cap="flat" cmpd="sng" w="14300">
              <a:solidFill>
                <a:srgbClr val="1E2D4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8" name="Google Shape;1118;p31"/>
            <p:cNvSpPr txBox="1"/>
            <p:nvPr/>
          </p:nvSpPr>
          <p:spPr>
            <a:xfrm>
              <a:off x="266700" y="5238750"/>
              <a:ext cx="5943600" cy="17622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500">
                  <a:solidFill>
                    <a:srgbClr val="38BDF8"/>
                  </a:solidFill>
                  <a:latin typeface="Roboto"/>
                  <a:ea typeface="Roboto"/>
                  <a:cs typeface="Roboto"/>
                  <a:sym typeface="Roboto"/>
                </a:rPr>
                <a:t>Error Resilience</a:t>
              </a:r>
              <a:endParaRPr b="1" sz="1500">
                <a:solidFill>
                  <a:srgbClr val="38BDF8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n-US" sz="1350">
                  <a:solidFill>
                    <a:srgbClr val="CBD5E1"/>
                  </a:solidFill>
                  <a:latin typeface="Roboto"/>
                  <a:ea typeface="Roboto"/>
                  <a:cs typeface="Roboto"/>
                  <a:sym typeface="Roboto"/>
                </a:rPr>
                <a:t>Errors return as text results, never exceptions — so the model can read them and retry.</a:t>
              </a:r>
              <a:endParaRPr b="0" sz="1350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119" name="Google Shape;1119;p31"/>
          <p:cNvGrpSpPr/>
          <p:nvPr/>
        </p:nvGrpSpPr>
        <p:grpSpPr>
          <a:xfrm>
            <a:off x="7810500" y="2000250"/>
            <a:ext cx="9525000" cy="7143900"/>
            <a:chOff x="0" y="0"/>
            <a:chExt cx="9525000" cy="7143900"/>
          </a:xfrm>
        </p:grpSpPr>
        <p:sp>
          <p:nvSpPr>
            <p:cNvPr id="1120" name="Google Shape;1120;p31"/>
            <p:cNvSpPr/>
            <p:nvPr/>
          </p:nvSpPr>
          <p:spPr>
            <a:xfrm>
              <a:off x="0" y="0"/>
              <a:ext cx="9525000" cy="7143900"/>
            </a:xfrm>
            <a:prstGeom prst="roundRect">
              <a:avLst>
                <a:gd fmla="val 1600" name="adj"/>
              </a:avLst>
            </a:prstGeom>
            <a:solidFill>
              <a:srgbClr val="0F172A"/>
            </a:solidFill>
            <a:ln cap="flat" cmpd="sng" w="14300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1" name="Google Shape;1121;p31"/>
            <p:cNvSpPr/>
            <p:nvPr/>
          </p:nvSpPr>
          <p:spPr>
            <a:xfrm>
              <a:off x="0" y="0"/>
              <a:ext cx="9525000" cy="476400"/>
            </a:xfrm>
            <a:custGeom>
              <a:rect b="b" l="l" r="r" t="t"/>
              <a:pathLst>
                <a:path extrusionOk="0" h="120000" w="120000">
                  <a:moveTo>
                    <a:pt x="0" y="28800"/>
                  </a:moveTo>
                  <a:cubicBezTo>
                    <a:pt x="0" y="12888"/>
                    <a:pt x="644" y="0"/>
                    <a:pt x="1440" y="0"/>
                  </a:cubicBezTo>
                  <a:lnTo>
                    <a:pt x="118560" y="0"/>
                  </a:lnTo>
                  <a:cubicBezTo>
                    <a:pt x="119356" y="0"/>
                    <a:pt x="120000" y="12888"/>
                    <a:pt x="120000" y="28800"/>
                  </a:cubicBezTo>
                  <a:lnTo>
                    <a:pt x="12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2" name="Google Shape;1122;p31"/>
            <p:cNvSpPr/>
            <p:nvPr/>
          </p:nvSpPr>
          <p:spPr>
            <a:xfrm>
              <a:off x="171450" y="180975"/>
              <a:ext cx="114300" cy="114300"/>
            </a:xfrm>
            <a:prstGeom prst="ellipse">
              <a:avLst/>
            </a:prstGeom>
            <a:solidFill>
              <a:srgbClr val="FF5F5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3" name="Google Shape;1123;p31"/>
            <p:cNvSpPr/>
            <p:nvPr/>
          </p:nvSpPr>
          <p:spPr>
            <a:xfrm>
              <a:off x="361950" y="180975"/>
              <a:ext cx="114300" cy="114300"/>
            </a:xfrm>
            <a:prstGeom prst="ellipse">
              <a:avLst/>
            </a:prstGeom>
            <a:solidFill>
              <a:srgbClr val="FFBD2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4" name="Google Shape;1124;p31"/>
            <p:cNvSpPr/>
            <p:nvPr/>
          </p:nvSpPr>
          <p:spPr>
            <a:xfrm>
              <a:off x="552450" y="180975"/>
              <a:ext cx="114300" cy="114300"/>
            </a:xfrm>
            <a:prstGeom prst="ellipse">
              <a:avLst/>
            </a:prstGeom>
            <a:solidFill>
              <a:srgbClr val="27C93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5" name="Google Shape;1125;p31"/>
            <p:cNvSpPr txBox="1"/>
            <p:nvPr/>
          </p:nvSpPr>
          <p:spPr>
            <a:xfrm>
              <a:off x="952500" y="114300"/>
              <a:ext cx="7620000" cy="285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rgbClr val="94A3B8"/>
                  </a:solidFill>
                  <a:latin typeface="Arial"/>
                  <a:ea typeface="Arial"/>
                  <a:cs typeface="Arial"/>
                  <a:sym typeface="Arial"/>
                </a:rPr>
                <a:t>FastMCP Tool Implementation — router_service.py</a:t>
              </a:r>
              <a:endParaRPr sz="12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6" name="Google Shape;1126;p31"/>
            <p:cNvSpPr txBox="1"/>
            <p:nvPr/>
          </p:nvSpPr>
          <p:spPr>
            <a:xfrm>
              <a:off x="381000" y="762000"/>
              <a:ext cx="8763000" cy="6000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500">
                  <a:solidFill>
                    <a:srgbClr val="C084F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@mcp.tool</a:t>
              </a:r>
              <a:r>
                <a:rPr b="0" lang="en-US" sz="1500">
                  <a:solidFill>
                    <a:srgbClr val="94A3B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(</a:t>
              </a:r>
              <a:r>
                <a:rPr b="0" lang="en-US" sz="1500">
                  <a:solidFill>
                    <a:srgbClr val="7DD3F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annotations</a:t>
              </a:r>
              <a:r>
                <a:rPr b="0" lang="en-US" sz="1500">
                  <a:solidFill>
                    <a:srgbClr val="94A3B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=</a:t>
              </a:r>
              <a:r>
                <a:rPr b="0" lang="en-US" sz="150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types.ToolAnnotations</a:t>
              </a:r>
              <a:r>
                <a:rPr b="0" lang="en-US" sz="1500">
                  <a:solidFill>
                    <a:srgbClr val="94A3B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(</a:t>
              </a:r>
              <a:r>
                <a:rPr b="0" lang="en-US" sz="1500">
                  <a:solidFill>
                    <a:srgbClr val="7DD3F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readOnlyHint</a:t>
              </a:r>
              <a:r>
                <a:rPr b="0" lang="en-US" sz="1500">
                  <a:solidFill>
                    <a:srgbClr val="94A3B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=</a:t>
              </a:r>
              <a:r>
                <a:rPr b="0" lang="en-US" sz="1500">
                  <a:solidFill>
                    <a:srgbClr val="F472B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True</a:t>
              </a:r>
              <a:r>
                <a:rPr b="0" lang="en-US" sz="1500">
                  <a:solidFill>
                    <a:srgbClr val="94A3B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))</a:t>
              </a:r>
              <a:endParaRPr b="0" sz="15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n-US" sz="1500">
                  <a:solidFill>
                    <a:srgbClr val="F472B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async def</a:t>
              </a:r>
              <a:r>
                <a:rPr b="0" lang="en-US" sz="150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b="0" lang="en-US" sz="1500">
                  <a:solidFill>
                    <a:srgbClr val="4ADE8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get_interfaces</a:t>
              </a:r>
              <a:r>
                <a:rPr b="0" lang="en-US" sz="1500">
                  <a:solidFill>
                    <a:srgbClr val="94A3B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(</a:t>
              </a:r>
              <a:r>
                <a:rPr b="0" lang="en-US" sz="1500">
                  <a:solidFill>
                    <a:srgbClr val="7DD3F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ctx</a:t>
              </a:r>
              <a:r>
                <a:rPr b="0" lang="en-US" sz="1500">
                  <a:solidFill>
                    <a:srgbClr val="94A3B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:</a:t>
              </a:r>
              <a:r>
                <a:rPr b="0" lang="en-US" sz="150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b="0" lang="en-US" sz="1500">
                  <a:solidFill>
                    <a:srgbClr val="38BDF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Context</a:t>
              </a:r>
              <a:r>
                <a:rPr b="0" lang="en-US" sz="1500">
                  <a:solidFill>
                    <a:srgbClr val="94A3B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)</a:t>
              </a:r>
              <a:r>
                <a:rPr b="0" lang="en-US" sz="150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b="0" lang="en-US" sz="1500">
                  <a:solidFill>
                    <a:srgbClr val="F472B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-&gt;</a:t>
              </a:r>
              <a:r>
                <a:rPr b="0" lang="en-US" sz="150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b="0" lang="en-US" sz="1500">
                  <a:solidFill>
                    <a:srgbClr val="38BDF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str</a:t>
              </a:r>
              <a:r>
                <a:rPr b="0" lang="en-US" sz="1500">
                  <a:solidFill>
                    <a:srgbClr val="94A3B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:</a:t>
              </a:r>
              <a:endParaRPr b="0" sz="15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45720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n-US" sz="1500">
                  <a:solidFill>
                    <a:srgbClr val="FDE047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"""</a:t>
              </a:r>
              <a:endParaRPr b="0" sz="1500">
                <a:solidFill>
                  <a:srgbClr val="FDE047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45720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n-US" sz="1500">
                  <a:solidFill>
                    <a:srgbClr val="FDE047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Get all router interfaces and their status (show ip interface brief).</a:t>
              </a:r>
              <a:endParaRPr b="0" sz="1500">
                <a:solidFill>
                  <a:srgbClr val="FDE047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45720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n-US" sz="1500">
                  <a:solidFill>
                    <a:srgbClr val="FDE047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"""</a:t>
              </a:r>
              <a:endParaRPr b="0" sz="15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45720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n-US" sz="1500">
                  <a:solidFill>
                    <a:srgbClr val="F472B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await</a:t>
              </a:r>
              <a:r>
                <a:rPr b="0" lang="en-US" sz="150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ctx.report_progress</a:t>
              </a:r>
              <a:r>
                <a:rPr b="0" lang="en-US" sz="1500">
                  <a:solidFill>
                    <a:srgbClr val="94A3B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(</a:t>
              </a:r>
              <a:r>
                <a:rPr b="0" lang="en-US" sz="1500">
                  <a:solidFill>
                    <a:srgbClr val="C084F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0</a:t>
              </a:r>
              <a:r>
                <a:rPr b="0" lang="en-US" sz="1500">
                  <a:solidFill>
                    <a:srgbClr val="94A3B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,</a:t>
              </a:r>
              <a:r>
                <a:rPr b="0" lang="en-US" sz="150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b="0" lang="en-US" sz="1500">
                  <a:solidFill>
                    <a:srgbClr val="C084F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1</a:t>
              </a:r>
              <a:r>
                <a:rPr b="0" lang="en-US" sz="1500">
                  <a:solidFill>
                    <a:srgbClr val="94A3B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,</a:t>
              </a:r>
              <a:r>
                <a:rPr b="0" lang="en-US" sz="150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b="0" lang="en-US" sz="1500">
                  <a:solidFill>
                    <a:srgbClr val="FDE047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"Connecting to Router1 over SSH..."</a:t>
              </a:r>
              <a:r>
                <a:rPr b="0" lang="en-US" sz="1500">
                  <a:solidFill>
                    <a:srgbClr val="94A3B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)</a:t>
              </a:r>
              <a:endParaRPr b="0" sz="15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n-US" sz="1500">
                  <a:solidFill>
                    <a:srgbClr val="94A3B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...</a:t>
              </a:r>
              <a:endParaRPr b="0" sz="15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Tools: FastMCP mapping (the docstring IS the prompt)</a:t>
            </a:r>
          </a:p>
        </p:txBody>
      </p:sp>
      <p:pic>
        <p:nvPicPr>
          <p:cNvPr id="3" name="Picture 2" descr="d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3842" y="1600200"/>
            <a:ext cx="14780316" cy="7635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9281160"/>
            <a:ext cx="17190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444C56"/>
                </a:solidFill>
              </a:rPr>
              <a:t>FastMCP turns the function name into the tool name, the docstring into the description the LLM reads, and the type hints into the JSON Schema. The docstring is prompt engineering.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30" name="Shape 1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1" name="Google Shape;1131;p32"/>
          <p:cNvGrpSpPr/>
          <p:nvPr/>
        </p:nvGrpSpPr>
        <p:grpSpPr>
          <a:xfrm>
            <a:off x="0" y="0"/>
            <a:ext cx="5524500" cy="10287000"/>
            <a:chOff x="0" y="0"/>
            <a:chExt cx="5524500" cy="10287000"/>
          </a:xfrm>
        </p:grpSpPr>
        <p:sp>
          <p:nvSpPr>
            <p:cNvPr id="1132" name="Google Shape;1132;p32"/>
            <p:cNvSpPr/>
            <p:nvPr/>
          </p:nvSpPr>
          <p:spPr>
            <a:xfrm>
              <a:off x="0" y="0"/>
              <a:ext cx="5524500" cy="10287000"/>
            </a:xfrm>
            <a:prstGeom prst="rect">
              <a:avLst/>
            </a:prstGeom>
            <a:solidFill>
              <a:srgbClr val="0F1B2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3" name="Google Shape;1133;p32"/>
            <p:cNvSpPr txBox="1"/>
            <p:nvPr/>
          </p:nvSpPr>
          <p:spPr>
            <a:xfrm>
              <a:off x="762000" y="3048000"/>
              <a:ext cx="4191000" cy="3619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00AEEF"/>
                  </a:solidFill>
                  <a:latin typeface="Roboto"/>
                  <a:ea typeface="Roboto"/>
                  <a:cs typeface="Roboto"/>
                  <a:sym typeface="Roboto"/>
                </a:rPr>
                <a:t>Technical Implementation</a:t>
              </a:r>
              <a:endParaRPr b="1" sz="1400">
                <a:solidFill>
                  <a:srgbClr val="00AEE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-US" sz="42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Resource</a:t>
              </a:r>
              <a:br>
                <a:rPr lang="en-US" sz="4200">
                  <a:latin typeface="Roboto"/>
                  <a:ea typeface="Roboto"/>
                  <a:cs typeface="Roboto"/>
                  <a:sym typeface="Roboto"/>
                </a:rPr>
              </a:br>
              <a:r>
                <a:rPr b="1" lang="en-US" sz="4200">
                  <a:solidFill>
                    <a:srgbClr val="00AEEF"/>
                  </a:solidFill>
                  <a:latin typeface="Roboto"/>
                  <a:ea typeface="Roboto"/>
                  <a:cs typeface="Roboto"/>
                  <a:sym typeface="Roboto"/>
                </a:rPr>
                <a:t>Capability</a:t>
              </a:r>
              <a:endParaRPr sz="4200"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1800"/>
                </a:spcBef>
                <a:spcAft>
                  <a:spcPts val="0"/>
                </a:spcAft>
                <a:buNone/>
              </a:pPr>
              <a:r>
                <a:rPr b="0" lang="en-US" sz="1400">
                  <a:solidFill>
                    <a:srgbClr val="94A3B8"/>
                  </a:solidFill>
                  <a:latin typeface="Roboto"/>
                  <a:ea typeface="Roboto"/>
                  <a:cs typeface="Roboto"/>
                  <a:sym typeface="Roboto"/>
                </a:rPr>
                <a:t>Overview of available protocol endpoints and JSON definition schema for resource objects.</a:t>
              </a:r>
              <a:endParaRPr b="0" sz="1400">
                <a:solidFill>
                  <a:srgbClr val="94A3B8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134" name="Google Shape;1134;p32"/>
          <p:cNvSpPr txBox="1"/>
          <p:nvPr/>
        </p:nvSpPr>
        <p:spPr>
          <a:xfrm>
            <a:off x="6286500" y="619125"/>
            <a:ext cx="11239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0F1B2C"/>
                </a:solidFill>
                <a:latin typeface="Noto Sans"/>
                <a:ea typeface="Noto Sans"/>
                <a:cs typeface="Noto Sans"/>
                <a:sym typeface="Noto Sans"/>
              </a:rPr>
              <a:t>Protocol Methods &amp; Examples</a:t>
            </a:r>
            <a:endParaRPr b="1" sz="3000">
              <a:solidFill>
                <a:srgbClr val="0F1B2C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grpSp>
        <p:nvGrpSpPr>
          <p:cNvPr id="1135" name="Google Shape;1135;p32"/>
          <p:cNvGrpSpPr/>
          <p:nvPr/>
        </p:nvGrpSpPr>
        <p:grpSpPr>
          <a:xfrm>
            <a:off x="6286500" y="1428750"/>
            <a:ext cx="11239650" cy="2238525"/>
            <a:chOff x="6286500" y="1428750"/>
            <a:chExt cx="11239650" cy="2238525"/>
          </a:xfrm>
        </p:grpSpPr>
        <p:sp>
          <p:nvSpPr>
            <p:cNvPr id="1136" name="Google Shape;1136;p32"/>
            <p:cNvSpPr txBox="1"/>
            <p:nvPr/>
          </p:nvSpPr>
          <p:spPr>
            <a:xfrm>
              <a:off x="6286500" y="1428750"/>
              <a:ext cx="11239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00AEEF"/>
                  </a:solidFill>
                  <a:latin typeface="Noto Sans"/>
                  <a:ea typeface="Noto Sans"/>
                  <a:cs typeface="Noto Sans"/>
                  <a:sym typeface="Noto Sans"/>
                </a:rPr>
                <a:t>Resource Protocol Methods</a:t>
              </a:r>
              <a:endParaRPr b="1" sz="1300">
                <a:solidFill>
                  <a:srgbClr val="00AEEF"/>
                </a:solidFill>
                <a:latin typeface="Noto Sans"/>
                <a:ea typeface="Noto Sans"/>
                <a:cs typeface="Noto Sans"/>
                <a:sym typeface="Noto Sans"/>
              </a:endParaRPr>
            </a:p>
          </p:txBody>
        </p:sp>
        <p:grpSp>
          <p:nvGrpSpPr>
            <p:cNvPr id="1137" name="Google Shape;1137;p32"/>
            <p:cNvGrpSpPr/>
            <p:nvPr/>
          </p:nvGrpSpPr>
          <p:grpSpPr>
            <a:xfrm>
              <a:off x="6286500" y="1809750"/>
              <a:ext cx="5429400" cy="857400"/>
              <a:chOff x="0" y="0"/>
              <a:chExt cx="5429400" cy="857400"/>
            </a:xfrm>
          </p:grpSpPr>
          <p:sp>
            <p:nvSpPr>
              <p:cNvPr id="1138" name="Google Shape;1138;p32"/>
              <p:cNvSpPr/>
              <p:nvPr/>
            </p:nvSpPr>
            <p:spPr>
              <a:xfrm>
                <a:off x="0" y="0"/>
                <a:ext cx="5429400" cy="857400"/>
              </a:xfrm>
              <a:prstGeom prst="roundRect">
                <a:avLst>
                  <a:gd fmla="val 11111" name="adj"/>
                </a:avLst>
              </a:prstGeom>
              <a:solidFill>
                <a:srgbClr val="F0F4F8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9" name="Google Shape;1139;p32"/>
              <p:cNvSpPr txBox="1"/>
              <p:nvPr/>
            </p:nvSpPr>
            <p:spPr>
              <a:xfrm>
                <a:off x="0" y="0"/>
                <a:ext cx="5429400" cy="857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152400" lIns="190500" spcFirstLastPara="1" rIns="190500" wrap="square" tIns="1524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300">
                    <a:solidFill>
                      <a:srgbClr val="00AEEF"/>
                    </a:solidFill>
                    <a:latin typeface="Roboto"/>
                    <a:ea typeface="Roboto"/>
                    <a:cs typeface="Roboto"/>
                    <a:sym typeface="Roboto"/>
                  </a:rPr>
                  <a:t>resources/list</a:t>
                </a:r>
                <a:endParaRPr b="1" sz="1300">
                  <a:solidFill>
                    <a:srgbClr val="00AEEF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0" lang="en-US" sz="1100">
                    <a:solidFill>
                      <a:srgbClr val="334155"/>
                    </a:solidFill>
                    <a:latin typeface="Roboto"/>
                    <a:ea typeface="Roboto"/>
                    <a:cs typeface="Roboto"/>
                    <a:sym typeface="Roboto"/>
                  </a:rPr>
                  <a:t>Get available resources from server</a:t>
                </a:r>
                <a:endParaRPr b="0" sz="1100">
                  <a:solidFill>
                    <a:srgbClr val="334155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grpSp>
          <p:nvGrpSpPr>
            <p:cNvPr id="1140" name="Google Shape;1140;p32"/>
            <p:cNvGrpSpPr/>
            <p:nvPr/>
          </p:nvGrpSpPr>
          <p:grpSpPr>
            <a:xfrm>
              <a:off x="11906250" y="1809750"/>
              <a:ext cx="5619900" cy="857400"/>
              <a:chOff x="0" y="0"/>
              <a:chExt cx="5619900" cy="857400"/>
            </a:xfrm>
          </p:grpSpPr>
          <p:sp>
            <p:nvSpPr>
              <p:cNvPr id="1141" name="Google Shape;1141;p32"/>
              <p:cNvSpPr/>
              <p:nvPr/>
            </p:nvSpPr>
            <p:spPr>
              <a:xfrm>
                <a:off x="0" y="0"/>
                <a:ext cx="5619900" cy="857400"/>
              </a:xfrm>
              <a:prstGeom prst="roundRect">
                <a:avLst>
                  <a:gd fmla="val 11111" name="adj"/>
                </a:avLst>
              </a:prstGeom>
              <a:solidFill>
                <a:srgbClr val="F0F4F8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2" name="Google Shape;1142;p32"/>
              <p:cNvSpPr txBox="1"/>
              <p:nvPr/>
            </p:nvSpPr>
            <p:spPr>
              <a:xfrm>
                <a:off x="0" y="0"/>
                <a:ext cx="5619900" cy="857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152400" lIns="190500" spcFirstLastPara="1" rIns="190500" wrap="square" tIns="1524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300">
                    <a:solidFill>
                      <a:srgbClr val="00AEEF"/>
                    </a:solidFill>
                    <a:latin typeface="Roboto"/>
                    <a:ea typeface="Roboto"/>
                    <a:cs typeface="Roboto"/>
                    <a:sym typeface="Roboto"/>
                  </a:rPr>
                  <a:t>resources/read</a:t>
                </a:r>
                <a:endParaRPr b="1" sz="1300">
                  <a:solidFill>
                    <a:srgbClr val="00AEEF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0" lang="en-US" sz="1100">
                    <a:solidFill>
                      <a:srgbClr val="334155"/>
                    </a:solidFill>
                    <a:latin typeface="Roboto"/>
                    <a:ea typeface="Roboto"/>
                    <a:cs typeface="Roboto"/>
                    <a:sym typeface="Roboto"/>
                  </a:rPr>
                  <a:t>Read a specific resource's content</a:t>
                </a:r>
                <a:endParaRPr b="0" sz="1100">
                  <a:solidFill>
                    <a:srgbClr val="334155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grpSp>
          <p:nvGrpSpPr>
            <p:cNvPr id="1143" name="Google Shape;1143;p32"/>
            <p:cNvGrpSpPr/>
            <p:nvPr/>
          </p:nvGrpSpPr>
          <p:grpSpPr>
            <a:xfrm>
              <a:off x="6286500" y="2809875"/>
              <a:ext cx="5429400" cy="857400"/>
              <a:chOff x="0" y="0"/>
              <a:chExt cx="5429400" cy="857400"/>
            </a:xfrm>
          </p:grpSpPr>
          <p:sp>
            <p:nvSpPr>
              <p:cNvPr id="1144" name="Google Shape;1144;p32"/>
              <p:cNvSpPr/>
              <p:nvPr/>
            </p:nvSpPr>
            <p:spPr>
              <a:xfrm>
                <a:off x="0" y="0"/>
                <a:ext cx="5429400" cy="857400"/>
              </a:xfrm>
              <a:prstGeom prst="roundRect">
                <a:avLst>
                  <a:gd fmla="val 11111" name="adj"/>
                </a:avLst>
              </a:prstGeom>
              <a:solidFill>
                <a:srgbClr val="F0F4F8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5" name="Google Shape;1145;p32"/>
              <p:cNvSpPr txBox="1"/>
              <p:nvPr/>
            </p:nvSpPr>
            <p:spPr>
              <a:xfrm>
                <a:off x="0" y="0"/>
                <a:ext cx="5429400" cy="857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152400" lIns="190500" spcFirstLastPara="1" rIns="190500" wrap="square" tIns="1524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300">
                    <a:solidFill>
                      <a:srgbClr val="00AEEF"/>
                    </a:solidFill>
                    <a:latin typeface="Roboto"/>
                    <a:ea typeface="Roboto"/>
                    <a:cs typeface="Roboto"/>
                    <a:sym typeface="Roboto"/>
                  </a:rPr>
                  <a:t>resources/subscribe</a:t>
                </a:r>
                <a:endParaRPr b="1" sz="1300">
                  <a:solidFill>
                    <a:srgbClr val="00AEEF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0" lang="en-US" sz="1100">
                    <a:solidFill>
                      <a:srgbClr val="334155"/>
                    </a:solidFill>
                    <a:latin typeface="Roboto"/>
                    <a:ea typeface="Roboto"/>
                    <a:cs typeface="Roboto"/>
                    <a:sym typeface="Roboto"/>
                  </a:rPr>
                  <a:t>Subscribe to resource updates</a:t>
                </a:r>
                <a:endParaRPr b="0" sz="1100">
                  <a:solidFill>
                    <a:srgbClr val="334155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grpSp>
          <p:nvGrpSpPr>
            <p:cNvPr id="1146" name="Google Shape;1146;p32"/>
            <p:cNvGrpSpPr/>
            <p:nvPr/>
          </p:nvGrpSpPr>
          <p:grpSpPr>
            <a:xfrm>
              <a:off x="11906250" y="2809875"/>
              <a:ext cx="5619900" cy="857400"/>
              <a:chOff x="0" y="0"/>
              <a:chExt cx="5619900" cy="857400"/>
            </a:xfrm>
          </p:grpSpPr>
          <p:sp>
            <p:nvSpPr>
              <p:cNvPr id="1147" name="Google Shape;1147;p32"/>
              <p:cNvSpPr/>
              <p:nvPr/>
            </p:nvSpPr>
            <p:spPr>
              <a:xfrm>
                <a:off x="0" y="0"/>
                <a:ext cx="5619900" cy="857400"/>
              </a:xfrm>
              <a:prstGeom prst="roundRect">
                <a:avLst>
                  <a:gd fmla="val 11111" name="adj"/>
                </a:avLst>
              </a:prstGeom>
              <a:solidFill>
                <a:srgbClr val="F0F4F8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8" name="Google Shape;1148;p32"/>
              <p:cNvSpPr txBox="1"/>
              <p:nvPr/>
            </p:nvSpPr>
            <p:spPr>
              <a:xfrm>
                <a:off x="0" y="0"/>
                <a:ext cx="5619900" cy="857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152400" lIns="190500" spcFirstLastPara="1" rIns="190500" wrap="square" tIns="1524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300">
                    <a:solidFill>
                      <a:srgbClr val="00AEEF"/>
                    </a:solidFill>
                    <a:latin typeface="Roboto"/>
                    <a:ea typeface="Roboto"/>
                    <a:cs typeface="Roboto"/>
                    <a:sym typeface="Roboto"/>
                  </a:rPr>
                  <a:t>resources/unsubscribe</a:t>
                </a:r>
                <a:endParaRPr b="1" sz="1300">
                  <a:solidFill>
                    <a:srgbClr val="00AEEF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0" lang="en-US" sz="1100">
                    <a:solidFill>
                      <a:srgbClr val="334155"/>
                    </a:solidFill>
                    <a:latin typeface="Roboto"/>
                    <a:ea typeface="Roboto"/>
                    <a:cs typeface="Roboto"/>
                    <a:sym typeface="Roboto"/>
                  </a:rPr>
                  <a:t>Unsubscribe from updates</a:t>
                </a:r>
                <a:endParaRPr b="0" sz="1100">
                  <a:solidFill>
                    <a:srgbClr val="334155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</p:grpSp>
      <p:grpSp>
        <p:nvGrpSpPr>
          <p:cNvPr id="1149" name="Google Shape;1149;p32"/>
          <p:cNvGrpSpPr/>
          <p:nvPr/>
        </p:nvGrpSpPr>
        <p:grpSpPr>
          <a:xfrm>
            <a:off x="6286500" y="3952875"/>
            <a:ext cx="11239500" cy="5524500"/>
            <a:chOff x="6286500" y="3952875"/>
            <a:chExt cx="11239500" cy="5524500"/>
          </a:xfrm>
        </p:grpSpPr>
        <p:sp>
          <p:nvSpPr>
            <p:cNvPr id="1150" name="Google Shape;1150;p32"/>
            <p:cNvSpPr txBox="1"/>
            <p:nvPr/>
          </p:nvSpPr>
          <p:spPr>
            <a:xfrm>
              <a:off x="6286500" y="3952875"/>
              <a:ext cx="11239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00AEEF"/>
                  </a:solidFill>
                  <a:latin typeface="Noto Sans"/>
                  <a:ea typeface="Noto Sans"/>
                  <a:cs typeface="Noto Sans"/>
                  <a:sym typeface="Noto Sans"/>
                </a:rPr>
                <a:t>Resource Definition Example</a:t>
              </a:r>
              <a:endParaRPr b="1" sz="1300">
                <a:solidFill>
                  <a:srgbClr val="00AEEF"/>
                </a:solidFill>
                <a:latin typeface="Noto Sans"/>
                <a:ea typeface="Noto Sans"/>
                <a:cs typeface="Noto Sans"/>
                <a:sym typeface="Noto Sans"/>
              </a:endParaRPr>
            </a:p>
          </p:txBody>
        </p:sp>
        <p:grpSp>
          <p:nvGrpSpPr>
            <p:cNvPr id="1151" name="Google Shape;1151;p32"/>
            <p:cNvGrpSpPr/>
            <p:nvPr/>
          </p:nvGrpSpPr>
          <p:grpSpPr>
            <a:xfrm>
              <a:off x="6286500" y="4333875"/>
              <a:ext cx="11239500" cy="5143500"/>
              <a:chOff x="0" y="0"/>
              <a:chExt cx="11239500" cy="5143500"/>
            </a:xfrm>
          </p:grpSpPr>
          <p:sp>
            <p:nvSpPr>
              <p:cNvPr id="1152" name="Google Shape;1152;p32"/>
              <p:cNvSpPr/>
              <p:nvPr/>
            </p:nvSpPr>
            <p:spPr>
              <a:xfrm>
                <a:off x="0" y="0"/>
                <a:ext cx="11239500" cy="5143500"/>
              </a:xfrm>
              <a:prstGeom prst="roundRect">
                <a:avLst>
                  <a:gd fmla="val 2222" name="adj"/>
                </a:avLst>
              </a:prstGeom>
              <a:solidFill>
                <a:srgbClr val="0F1B2C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3" name="Google Shape;1153;p32"/>
              <p:cNvSpPr/>
              <p:nvPr/>
            </p:nvSpPr>
            <p:spPr>
              <a:xfrm>
                <a:off x="0" y="0"/>
                <a:ext cx="11239500" cy="400200"/>
              </a:xfrm>
              <a:custGeom>
                <a:rect b="b" l="l" r="r" t="t"/>
                <a:pathLst>
                  <a:path extrusionOk="0" h="120000" w="120000">
                    <a:moveTo>
                      <a:pt x="0" y="34286"/>
                    </a:moveTo>
                    <a:cubicBezTo>
                      <a:pt x="0" y="15343"/>
                      <a:pt x="546" y="0"/>
                      <a:pt x="1220" y="0"/>
                    </a:cubicBezTo>
                    <a:lnTo>
                      <a:pt x="118780" y="0"/>
                    </a:lnTo>
                    <a:cubicBezTo>
                      <a:pt x="119454" y="0"/>
                      <a:pt x="120000" y="15343"/>
                      <a:pt x="120000" y="34286"/>
                    </a:cubicBezTo>
                    <a:lnTo>
                      <a:pt x="120000" y="120000"/>
                    </a:lnTo>
                    <a:lnTo>
                      <a:pt x="0" y="120000"/>
                    </a:lnTo>
                    <a:close/>
                  </a:path>
                </a:pathLst>
              </a:custGeom>
              <a:solidFill>
                <a:srgbClr val="1E293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4" name="Google Shape;1154;p32"/>
              <p:cNvSpPr/>
              <p:nvPr/>
            </p:nvSpPr>
            <p:spPr>
              <a:xfrm>
                <a:off x="133350" y="142875"/>
                <a:ext cx="114300" cy="114300"/>
              </a:xfrm>
              <a:prstGeom prst="ellipse">
                <a:avLst/>
              </a:prstGeom>
              <a:solidFill>
                <a:srgbClr val="EF4444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5" name="Google Shape;1155;p32"/>
              <p:cNvSpPr/>
              <p:nvPr/>
            </p:nvSpPr>
            <p:spPr>
              <a:xfrm>
                <a:off x="323850" y="142875"/>
                <a:ext cx="114300" cy="114300"/>
              </a:xfrm>
              <a:prstGeom prst="ellipse">
                <a:avLst/>
              </a:prstGeom>
              <a:solidFill>
                <a:srgbClr val="F59E0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6" name="Google Shape;1156;p32"/>
              <p:cNvSpPr/>
              <p:nvPr/>
            </p:nvSpPr>
            <p:spPr>
              <a:xfrm>
                <a:off x="514350" y="142875"/>
                <a:ext cx="114300" cy="114300"/>
              </a:xfrm>
              <a:prstGeom prst="ellipse">
                <a:avLst/>
              </a:prstGeom>
              <a:solidFill>
                <a:srgbClr val="10B981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7" name="Google Shape;1157;p32"/>
              <p:cNvSpPr txBox="1"/>
              <p:nvPr/>
            </p:nvSpPr>
            <p:spPr>
              <a:xfrm>
                <a:off x="857250" y="0"/>
                <a:ext cx="4762500" cy="400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100">
                    <a:solidFill>
                      <a:srgbClr val="94A3B8"/>
                    </a:solidFill>
                    <a:latin typeface="Arimo"/>
                    <a:ea typeface="Arimo"/>
                    <a:cs typeface="Arimo"/>
                    <a:sym typeface="Arimo"/>
                  </a:rPr>
                  <a:t>resource_definition.json</a:t>
                </a:r>
                <a:endParaRPr sz="1100">
                  <a:solidFill>
                    <a:srgbClr val="94A3B8"/>
                  </a:solidFill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sp>
            <p:nvSpPr>
              <p:cNvPr id="1158" name="Google Shape;1158;p32"/>
              <p:cNvSpPr txBox="1"/>
              <p:nvPr/>
            </p:nvSpPr>
            <p:spPr>
              <a:xfrm>
                <a:off x="285750" y="571500"/>
                <a:ext cx="10668000" cy="428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400">
                    <a:solidFill>
                      <a:srgbClr val="F8FAFC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{</a:t>
                </a:r>
                <a:endParaRPr sz="1400">
                  <a:solidFill>
                    <a:srgbClr val="F8FAFC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indent="0" lvl="0" marL="0" rtl="0" algn="l">
                  <a:spcBef>
                    <a:spcPts val="1000"/>
                  </a:spcBef>
                  <a:spcAft>
                    <a:spcPts val="0"/>
                  </a:spcAft>
                  <a:buNone/>
                </a:pPr>
                <a:r>
                  <a:rPr lang="en-US" sz="1400">
                    <a:solidFill>
                      <a:srgbClr val="38BDF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"uri"</a:t>
                </a:r>
                <a:r>
                  <a:rPr lang="en-US" sz="1400">
                    <a:solidFill>
                      <a:srgbClr val="94A3B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: </a:t>
                </a:r>
                <a:r>
                  <a:rPr lang="en-US" sz="1400">
                    <a:solidFill>
                      <a:srgbClr val="34D399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"file:///project/README.md"</a:t>
                </a:r>
                <a:r>
                  <a:rPr lang="en-US" sz="1400">
                    <a:solidFill>
                      <a:srgbClr val="94A3B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,</a:t>
                </a:r>
                <a:endParaRPr sz="1400"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indent="0" lvl="0" marL="0" rtl="0" algn="l">
                  <a:spcBef>
                    <a:spcPts val="1000"/>
                  </a:spcBef>
                  <a:spcAft>
                    <a:spcPts val="0"/>
                  </a:spcAft>
                  <a:buNone/>
                </a:pPr>
                <a:r>
                  <a:rPr lang="en-US" sz="1400">
                    <a:solidFill>
                      <a:srgbClr val="38BDF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"name"</a:t>
                </a:r>
                <a:r>
                  <a:rPr lang="en-US" sz="1400">
                    <a:solidFill>
                      <a:srgbClr val="94A3B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: </a:t>
                </a:r>
                <a:r>
                  <a:rPr lang="en-US" sz="1400">
                    <a:solidFill>
                      <a:srgbClr val="34D399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"Project README"</a:t>
                </a:r>
                <a:r>
                  <a:rPr lang="en-US" sz="1400">
                    <a:solidFill>
                      <a:srgbClr val="94A3B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,</a:t>
                </a:r>
                <a:endParaRPr sz="1400"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indent="0" lvl="0" marL="0" rtl="0" algn="l">
                  <a:spcBef>
                    <a:spcPts val="1000"/>
                  </a:spcBef>
                  <a:spcAft>
                    <a:spcPts val="0"/>
                  </a:spcAft>
                  <a:buNone/>
                </a:pPr>
                <a:r>
                  <a:rPr lang="en-US" sz="1400">
                    <a:solidFill>
                      <a:srgbClr val="38BDF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"description"</a:t>
                </a:r>
                <a:r>
                  <a:rPr lang="en-US" sz="1400">
                    <a:solidFill>
                      <a:srgbClr val="94A3B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: </a:t>
                </a:r>
                <a:r>
                  <a:rPr lang="en-US" sz="1400">
                    <a:solidFill>
                      <a:srgbClr val="34D399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"Main project documentation"</a:t>
                </a:r>
                <a:r>
                  <a:rPr lang="en-US" sz="1400">
                    <a:solidFill>
                      <a:srgbClr val="94A3B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,</a:t>
                </a:r>
                <a:endParaRPr sz="1400"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indent="0" lvl="0" marL="0" rtl="0" algn="l">
                  <a:spcBef>
                    <a:spcPts val="1000"/>
                  </a:spcBef>
                  <a:spcAft>
                    <a:spcPts val="0"/>
                  </a:spcAft>
                  <a:buNone/>
                </a:pPr>
                <a:r>
                  <a:rPr lang="en-US" sz="1400">
                    <a:solidFill>
                      <a:srgbClr val="38BDF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"mimeType"</a:t>
                </a:r>
                <a:r>
                  <a:rPr lang="en-US" sz="1400">
                    <a:solidFill>
                      <a:srgbClr val="94A3B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: </a:t>
                </a:r>
                <a:r>
                  <a:rPr lang="en-US" sz="1400">
                    <a:solidFill>
                      <a:srgbClr val="34D399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"text/markdown"</a:t>
                </a:r>
                <a:endParaRPr sz="1400"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indent="0" lvl="0" marL="0" rtl="0" algn="l">
                  <a:spcBef>
                    <a:spcPts val="1000"/>
                  </a:spcBef>
                  <a:spcAft>
                    <a:spcPts val="0"/>
                  </a:spcAft>
                  <a:buNone/>
                </a:pPr>
                <a:r>
                  <a:rPr lang="en-US" sz="1400">
                    <a:solidFill>
                      <a:srgbClr val="F8FAFC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}</a:t>
                </a:r>
                <a:endParaRPr sz="1400">
                  <a:solidFill>
                    <a:srgbClr val="F8FAFC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</p:grp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62" name="Shape 1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3" name="Google Shape;1163;p33"/>
          <p:cNvSpPr/>
          <p:nvPr/>
        </p:nvSpPr>
        <p:spPr>
          <a:xfrm>
            <a:off x="0" y="0"/>
            <a:ext cx="5524500" cy="10287000"/>
          </a:xfrm>
          <a:prstGeom prst="rect">
            <a:avLst/>
          </a:prstGeom>
          <a:solidFill>
            <a:srgbClr val="0F1B2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64" name="Google Shape;1164;p33"/>
          <p:cNvGrpSpPr/>
          <p:nvPr/>
        </p:nvGrpSpPr>
        <p:grpSpPr>
          <a:xfrm>
            <a:off x="762000" y="3048000"/>
            <a:ext cx="4191000" cy="4191000"/>
            <a:chOff x="0" y="0"/>
            <a:chExt cx="4191000" cy="4191000"/>
          </a:xfrm>
        </p:grpSpPr>
        <p:sp>
          <p:nvSpPr>
            <p:cNvPr id="1165" name="Google Shape;1165;p33"/>
            <p:cNvSpPr/>
            <p:nvPr/>
          </p:nvSpPr>
          <p:spPr>
            <a:xfrm>
              <a:off x="0" y="0"/>
              <a:ext cx="4191000" cy="419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6" name="Google Shape;1166;p33"/>
            <p:cNvSpPr txBox="1"/>
            <p:nvPr/>
          </p:nvSpPr>
          <p:spPr>
            <a:xfrm>
              <a:off x="0" y="0"/>
              <a:ext cx="4191000" cy="419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00AEEF"/>
                  </a:solidFill>
                  <a:latin typeface="Roboto"/>
                  <a:ea typeface="Roboto"/>
                  <a:cs typeface="Roboto"/>
                  <a:sym typeface="Roboto"/>
                </a:rPr>
                <a:t>TECHNICAL IMPLEMENTATION</a:t>
              </a:r>
              <a:endParaRPr b="1" sz="1400">
                <a:solidFill>
                  <a:srgbClr val="00AEE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-US" sz="42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Resource</a:t>
              </a:r>
              <a:endParaRPr b="1" sz="4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4200">
                  <a:solidFill>
                    <a:srgbClr val="00AEEF"/>
                  </a:solidFill>
                  <a:latin typeface="Roboto"/>
                  <a:ea typeface="Roboto"/>
                  <a:cs typeface="Roboto"/>
                  <a:sym typeface="Roboto"/>
                </a:rPr>
                <a:t>Capability</a:t>
              </a:r>
              <a:endParaRPr b="1" sz="4200">
                <a:solidFill>
                  <a:srgbClr val="00AEE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1800"/>
                </a:spcBef>
                <a:spcAft>
                  <a:spcPts val="0"/>
                </a:spcAft>
                <a:buNone/>
              </a:pPr>
              <a:r>
                <a:rPr b="0" lang="en-US" sz="1400">
                  <a:solidFill>
                    <a:srgbClr val="94A3B8"/>
                  </a:solidFill>
                  <a:latin typeface="Roboto"/>
                  <a:ea typeface="Roboto"/>
                  <a:cs typeface="Roboto"/>
                  <a:sym typeface="Roboto"/>
                </a:rPr>
                <a:t>(continued)</a:t>
              </a:r>
              <a:endParaRPr b="0" sz="1400">
                <a:solidFill>
                  <a:srgbClr val="94A3B8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64748B"/>
                  </a:solidFill>
                  <a:latin typeface="Roboto"/>
                  <a:ea typeface="Roboto"/>
                  <a:cs typeface="Roboto"/>
                  <a:sym typeface="Roboto"/>
                </a:rPr>
                <a:t>Overview of available protocol endpoints and JSON request/response schema for reading resource contents.</a:t>
              </a:r>
              <a:endParaRPr b="0" sz="1300">
                <a:solidFill>
                  <a:srgbClr val="64748B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167" name="Google Shape;1167;p33"/>
          <p:cNvGrpSpPr/>
          <p:nvPr/>
        </p:nvGrpSpPr>
        <p:grpSpPr>
          <a:xfrm>
            <a:off x="6096000" y="619125"/>
            <a:ext cx="11430000" cy="857400"/>
            <a:chOff x="0" y="0"/>
            <a:chExt cx="11430000" cy="857400"/>
          </a:xfrm>
        </p:grpSpPr>
        <p:sp>
          <p:nvSpPr>
            <p:cNvPr id="1168" name="Google Shape;1168;p33"/>
            <p:cNvSpPr/>
            <p:nvPr/>
          </p:nvSpPr>
          <p:spPr>
            <a:xfrm>
              <a:off x="0" y="0"/>
              <a:ext cx="11430000" cy="857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9" name="Google Shape;1169;p33"/>
            <p:cNvSpPr txBox="1"/>
            <p:nvPr/>
          </p:nvSpPr>
          <p:spPr>
            <a:xfrm>
              <a:off x="0" y="0"/>
              <a:ext cx="114300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000">
                  <a:solidFill>
                    <a:srgbClr val="0F1B2C"/>
                  </a:solidFill>
                  <a:latin typeface="Roboto"/>
                  <a:ea typeface="Roboto"/>
                  <a:cs typeface="Roboto"/>
                  <a:sym typeface="Roboto"/>
                </a:rPr>
                <a:t>Protocol Methods &amp; Examples</a:t>
              </a:r>
              <a:endParaRPr b="1" sz="3000">
                <a:solidFill>
                  <a:srgbClr val="0F1B2C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00AEEF"/>
                  </a:solidFill>
                  <a:latin typeface="Roboto"/>
                  <a:ea typeface="Roboto"/>
                  <a:cs typeface="Roboto"/>
                  <a:sym typeface="Roboto"/>
                </a:rPr>
                <a:t>Resource Read Example</a:t>
              </a:r>
              <a:endParaRPr b="1" sz="1400">
                <a:solidFill>
                  <a:srgbClr val="00AEE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170" name="Google Shape;1170;p33"/>
          <p:cNvGrpSpPr/>
          <p:nvPr/>
        </p:nvGrpSpPr>
        <p:grpSpPr>
          <a:xfrm>
            <a:off x="6096000" y="1714500"/>
            <a:ext cx="11430000" cy="7620000"/>
            <a:chOff x="0" y="0"/>
            <a:chExt cx="11430000" cy="7620000"/>
          </a:xfrm>
        </p:grpSpPr>
        <p:sp>
          <p:nvSpPr>
            <p:cNvPr id="1171" name="Google Shape;1171;p33"/>
            <p:cNvSpPr/>
            <p:nvPr/>
          </p:nvSpPr>
          <p:spPr>
            <a:xfrm>
              <a:off x="0" y="0"/>
              <a:ext cx="11430000" cy="7620000"/>
            </a:xfrm>
            <a:prstGeom prst="roundRect">
              <a:avLst>
                <a:gd fmla="val 1500" name="adj"/>
              </a:avLst>
            </a:prstGeom>
            <a:solidFill>
              <a:srgbClr val="0F172A"/>
            </a:solidFill>
            <a:ln cap="flat" cmpd="sng" w="14300">
              <a:solidFill>
                <a:srgbClr val="1E29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2" name="Google Shape;1172;p33"/>
            <p:cNvSpPr/>
            <p:nvPr/>
          </p:nvSpPr>
          <p:spPr>
            <a:xfrm>
              <a:off x="0" y="0"/>
              <a:ext cx="11430000" cy="457200"/>
            </a:xfrm>
            <a:custGeom>
              <a:rect b="b" l="l" r="r" t="t"/>
              <a:pathLst>
                <a:path extrusionOk="0" h="120000" w="120000">
                  <a:moveTo>
                    <a:pt x="0" y="30000"/>
                  </a:moveTo>
                  <a:cubicBezTo>
                    <a:pt x="0" y="13425"/>
                    <a:pt x="537" y="0"/>
                    <a:pt x="1200" y="0"/>
                  </a:cubicBezTo>
                  <a:lnTo>
                    <a:pt x="118800" y="0"/>
                  </a:lnTo>
                  <a:cubicBezTo>
                    <a:pt x="119463" y="0"/>
                    <a:pt x="120000" y="13425"/>
                    <a:pt x="120000" y="30000"/>
                  </a:cubicBezTo>
                  <a:lnTo>
                    <a:pt x="12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3" name="Google Shape;1173;p33"/>
            <p:cNvSpPr/>
            <p:nvPr/>
          </p:nvSpPr>
          <p:spPr>
            <a:xfrm>
              <a:off x="171450" y="171450"/>
              <a:ext cx="114300" cy="114300"/>
            </a:xfrm>
            <a:prstGeom prst="ellipse">
              <a:avLst/>
            </a:prstGeom>
            <a:solidFill>
              <a:srgbClr val="EF44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4" name="Google Shape;1174;p33"/>
            <p:cNvSpPr/>
            <p:nvPr/>
          </p:nvSpPr>
          <p:spPr>
            <a:xfrm>
              <a:off x="361950" y="171450"/>
              <a:ext cx="114300" cy="114300"/>
            </a:xfrm>
            <a:prstGeom prst="ellipse">
              <a:avLst/>
            </a:prstGeom>
            <a:solidFill>
              <a:srgbClr val="F59E0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5" name="Google Shape;1175;p33"/>
            <p:cNvSpPr/>
            <p:nvPr/>
          </p:nvSpPr>
          <p:spPr>
            <a:xfrm>
              <a:off x="552450" y="171450"/>
              <a:ext cx="114300" cy="114300"/>
            </a:xfrm>
            <a:prstGeom prst="ellipse">
              <a:avLst/>
            </a:prstGeom>
            <a:solidFill>
              <a:srgbClr val="10B98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6" name="Google Shape;1176;p33"/>
            <p:cNvSpPr txBox="1"/>
            <p:nvPr/>
          </p:nvSpPr>
          <p:spPr>
            <a:xfrm>
              <a:off x="952500" y="0"/>
              <a:ext cx="95250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rgbClr val="94A3B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resources_read_payload.json</a:t>
              </a:r>
              <a:endParaRPr sz="1200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grpSp>
          <p:nvGrpSpPr>
            <p:cNvPr id="1177" name="Google Shape;1177;p33"/>
            <p:cNvGrpSpPr/>
            <p:nvPr/>
          </p:nvGrpSpPr>
          <p:grpSpPr>
            <a:xfrm>
              <a:off x="304800" y="666750"/>
              <a:ext cx="5257800" cy="6648600"/>
              <a:chOff x="0" y="0"/>
              <a:chExt cx="5257800" cy="6648600"/>
            </a:xfrm>
          </p:grpSpPr>
          <p:sp>
            <p:nvSpPr>
              <p:cNvPr id="1178" name="Google Shape;1178;p33"/>
              <p:cNvSpPr/>
              <p:nvPr/>
            </p:nvSpPr>
            <p:spPr>
              <a:xfrm>
                <a:off x="0" y="0"/>
                <a:ext cx="5257800" cy="6648600"/>
              </a:xfrm>
              <a:prstGeom prst="roundRect">
                <a:avLst>
                  <a:gd fmla="val 1449" name="adj"/>
                </a:avLst>
              </a:prstGeom>
              <a:solidFill>
                <a:srgbClr val="162235"/>
              </a:solidFill>
              <a:ln cap="flat" cmpd="sng" w="9525">
                <a:solidFill>
                  <a:srgbClr val="1E2D4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9" name="Google Shape;1179;p33"/>
              <p:cNvSpPr txBox="1"/>
              <p:nvPr/>
            </p:nvSpPr>
            <p:spPr>
              <a:xfrm>
                <a:off x="228600" y="228600"/>
                <a:ext cx="4800600" cy="6191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350">
                    <a:solidFill>
                      <a:srgbClr val="64748B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// Request</a:t>
                </a:r>
                <a:endParaRPr b="1" sz="1350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indent="0" lvl="0" marL="0" rtl="0" algn="l">
                  <a:spcBef>
                    <a:spcPts val="1500"/>
                  </a:spcBef>
                  <a:spcAft>
                    <a:spcPts val="0"/>
                  </a:spcAft>
                  <a:buNone/>
                </a:pPr>
                <a:r>
                  <a:rPr lang="en-US" sz="1350">
                    <a:solidFill>
                      <a:srgbClr val="E2E8F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{</a:t>
                </a:r>
                <a:endParaRPr sz="135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indent="0" lvl="0" marL="228600" marR="0" rtl="0" algn="l">
                  <a:spcBef>
                    <a:spcPts val="750"/>
                  </a:spcBef>
                  <a:spcAft>
                    <a:spcPts val="0"/>
                  </a:spcAft>
                  <a:buNone/>
                </a:pPr>
                <a:r>
                  <a:rPr lang="en-US" sz="1350">
                    <a:solidFill>
                      <a:srgbClr val="38BDF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"jsonrpc"</a:t>
                </a:r>
                <a:r>
                  <a:rPr lang="en-US" sz="1350">
                    <a:solidFill>
                      <a:srgbClr val="E2E8F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: </a:t>
                </a:r>
                <a:r>
                  <a:rPr lang="en-US" sz="1350">
                    <a:solidFill>
                      <a:srgbClr val="34D399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"2.0"</a:t>
                </a:r>
                <a:r>
                  <a:rPr lang="en-US" sz="1350">
                    <a:solidFill>
                      <a:srgbClr val="E2E8F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,</a:t>
                </a:r>
                <a:endParaRPr sz="135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indent="0" lvl="0" marL="228600" marR="0" rtl="0" algn="l">
                  <a:spcBef>
                    <a:spcPts val="750"/>
                  </a:spcBef>
                  <a:spcAft>
                    <a:spcPts val="0"/>
                  </a:spcAft>
                  <a:buNone/>
                </a:pPr>
                <a:r>
                  <a:rPr lang="en-US" sz="1350">
                    <a:solidFill>
                      <a:srgbClr val="38BDF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"id"</a:t>
                </a:r>
                <a:r>
                  <a:rPr lang="en-US" sz="1350">
                    <a:solidFill>
                      <a:srgbClr val="E2E8F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: </a:t>
                </a:r>
                <a:r>
                  <a:rPr lang="en-US" sz="1350">
                    <a:solidFill>
                      <a:srgbClr val="F472B6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1</a:t>
                </a:r>
                <a:r>
                  <a:rPr lang="en-US" sz="1350">
                    <a:solidFill>
                      <a:srgbClr val="E2E8F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,</a:t>
                </a:r>
                <a:endParaRPr sz="135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indent="0" lvl="0" marL="228600" marR="0" rtl="0" algn="l">
                  <a:spcBef>
                    <a:spcPts val="750"/>
                  </a:spcBef>
                  <a:spcAft>
                    <a:spcPts val="0"/>
                  </a:spcAft>
                  <a:buNone/>
                </a:pPr>
                <a:r>
                  <a:rPr lang="en-US" sz="1350">
                    <a:solidFill>
                      <a:srgbClr val="38BDF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"method"</a:t>
                </a:r>
                <a:r>
                  <a:rPr lang="en-US" sz="1350">
                    <a:solidFill>
                      <a:srgbClr val="E2E8F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: </a:t>
                </a:r>
                <a:r>
                  <a:rPr lang="en-US" sz="1350">
                    <a:solidFill>
                      <a:srgbClr val="34D399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"resources/read"</a:t>
                </a:r>
                <a:r>
                  <a:rPr lang="en-US" sz="1350">
                    <a:solidFill>
                      <a:srgbClr val="E2E8F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,</a:t>
                </a:r>
                <a:endParaRPr sz="135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indent="0" lvl="0" marL="228600" marR="0" rtl="0" algn="l">
                  <a:spcBef>
                    <a:spcPts val="750"/>
                  </a:spcBef>
                  <a:spcAft>
                    <a:spcPts val="0"/>
                  </a:spcAft>
                  <a:buNone/>
                </a:pPr>
                <a:r>
                  <a:rPr lang="en-US" sz="1350">
                    <a:solidFill>
                      <a:srgbClr val="38BDF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"params"</a:t>
                </a:r>
                <a:r>
                  <a:rPr lang="en-US" sz="1350">
                    <a:solidFill>
                      <a:srgbClr val="E2E8F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: {</a:t>
                </a:r>
                <a:endParaRPr sz="135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indent="0" lvl="0" marL="457200" marR="0" rtl="0" algn="l">
                  <a:spcBef>
                    <a:spcPts val="750"/>
                  </a:spcBef>
                  <a:spcAft>
                    <a:spcPts val="0"/>
                  </a:spcAft>
                  <a:buNone/>
                </a:pPr>
                <a:r>
                  <a:rPr lang="en-US" sz="1350">
                    <a:solidFill>
                      <a:srgbClr val="38BDF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"uri"</a:t>
                </a:r>
                <a:r>
                  <a:rPr lang="en-US" sz="1350">
                    <a:solidFill>
                      <a:srgbClr val="E2E8F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: </a:t>
                </a:r>
                <a:r>
                  <a:rPr lang="en-US" sz="1350">
                    <a:solidFill>
                      <a:srgbClr val="34D399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"file:///project/README.md"</a:t>
                </a:r>
                <a:endParaRPr sz="135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indent="0" lvl="0" marL="228600" marR="0" rtl="0" algn="l">
                  <a:spcBef>
                    <a:spcPts val="750"/>
                  </a:spcBef>
                  <a:spcAft>
                    <a:spcPts val="0"/>
                  </a:spcAft>
                  <a:buNone/>
                </a:pPr>
                <a:r>
                  <a:rPr lang="en-US" sz="1350">
                    <a:solidFill>
                      <a:srgbClr val="E2E8F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}</a:t>
                </a:r>
                <a:endParaRPr sz="135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indent="0" lvl="0" marL="0" rtl="0" algn="l">
                  <a:spcBef>
                    <a:spcPts val="750"/>
                  </a:spcBef>
                  <a:spcAft>
                    <a:spcPts val="0"/>
                  </a:spcAft>
                  <a:buNone/>
                </a:pPr>
                <a:r>
                  <a:rPr lang="en-US" sz="1350">
                    <a:solidFill>
                      <a:srgbClr val="E2E8F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}</a:t>
                </a:r>
                <a:endParaRPr sz="135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  <p:grpSp>
          <p:nvGrpSpPr>
            <p:cNvPr id="1180" name="Google Shape;1180;p33"/>
            <p:cNvGrpSpPr/>
            <p:nvPr/>
          </p:nvGrpSpPr>
          <p:grpSpPr>
            <a:xfrm>
              <a:off x="5867400" y="666750"/>
              <a:ext cx="5257800" cy="6648600"/>
              <a:chOff x="0" y="0"/>
              <a:chExt cx="5257800" cy="6648600"/>
            </a:xfrm>
          </p:grpSpPr>
          <p:sp>
            <p:nvSpPr>
              <p:cNvPr id="1181" name="Google Shape;1181;p33"/>
              <p:cNvSpPr/>
              <p:nvPr/>
            </p:nvSpPr>
            <p:spPr>
              <a:xfrm>
                <a:off x="0" y="0"/>
                <a:ext cx="5257800" cy="6648600"/>
              </a:xfrm>
              <a:prstGeom prst="roundRect">
                <a:avLst>
                  <a:gd fmla="val 1449" name="adj"/>
                </a:avLst>
              </a:prstGeom>
              <a:solidFill>
                <a:srgbClr val="162235"/>
              </a:solidFill>
              <a:ln cap="flat" cmpd="sng" w="9525">
                <a:solidFill>
                  <a:srgbClr val="1E2D4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2" name="Google Shape;1182;p33"/>
              <p:cNvSpPr txBox="1"/>
              <p:nvPr/>
            </p:nvSpPr>
            <p:spPr>
              <a:xfrm>
                <a:off x="228600" y="228600"/>
                <a:ext cx="4800600" cy="6191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350">
                    <a:solidFill>
                      <a:srgbClr val="64748B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// Response</a:t>
                </a:r>
                <a:endParaRPr b="1" sz="1350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indent="0" lvl="0" marL="0" rtl="0" algn="l">
                  <a:spcBef>
                    <a:spcPts val="1500"/>
                  </a:spcBef>
                  <a:spcAft>
                    <a:spcPts val="0"/>
                  </a:spcAft>
                  <a:buNone/>
                </a:pPr>
                <a:r>
                  <a:rPr lang="en-US" sz="1350">
                    <a:solidFill>
                      <a:srgbClr val="E2E8F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{</a:t>
                </a:r>
                <a:endParaRPr sz="135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indent="0" lvl="0" marL="228600" marR="0" rtl="0" algn="l">
                  <a:spcBef>
                    <a:spcPts val="750"/>
                  </a:spcBef>
                  <a:spcAft>
                    <a:spcPts val="0"/>
                  </a:spcAft>
                  <a:buNone/>
                </a:pPr>
                <a:r>
                  <a:rPr lang="en-US" sz="1350">
                    <a:solidFill>
                      <a:srgbClr val="38BDF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"jsonrpc"</a:t>
                </a:r>
                <a:r>
                  <a:rPr lang="en-US" sz="1350">
                    <a:solidFill>
                      <a:srgbClr val="E2E8F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: </a:t>
                </a:r>
                <a:r>
                  <a:rPr lang="en-US" sz="1350">
                    <a:solidFill>
                      <a:srgbClr val="34D399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"2.0"</a:t>
                </a:r>
                <a:r>
                  <a:rPr lang="en-US" sz="1350">
                    <a:solidFill>
                      <a:srgbClr val="E2E8F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,</a:t>
                </a:r>
                <a:endParaRPr sz="135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indent="0" lvl="0" marL="228600" marR="0" rtl="0" algn="l">
                  <a:spcBef>
                    <a:spcPts val="750"/>
                  </a:spcBef>
                  <a:spcAft>
                    <a:spcPts val="0"/>
                  </a:spcAft>
                  <a:buNone/>
                </a:pPr>
                <a:r>
                  <a:rPr lang="en-US" sz="1350">
                    <a:solidFill>
                      <a:srgbClr val="38BDF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"id"</a:t>
                </a:r>
                <a:r>
                  <a:rPr lang="en-US" sz="1350">
                    <a:solidFill>
                      <a:srgbClr val="E2E8F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: </a:t>
                </a:r>
                <a:r>
                  <a:rPr lang="en-US" sz="1350">
                    <a:solidFill>
                      <a:srgbClr val="F472B6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1</a:t>
                </a:r>
                <a:r>
                  <a:rPr lang="en-US" sz="1350">
                    <a:solidFill>
                      <a:srgbClr val="E2E8F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,</a:t>
                </a:r>
                <a:endParaRPr sz="135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indent="0" lvl="0" marL="228600" marR="0" rtl="0" algn="l">
                  <a:spcBef>
                    <a:spcPts val="750"/>
                  </a:spcBef>
                  <a:spcAft>
                    <a:spcPts val="0"/>
                  </a:spcAft>
                  <a:buNone/>
                </a:pPr>
                <a:r>
                  <a:rPr lang="en-US" sz="1350">
                    <a:solidFill>
                      <a:srgbClr val="38BDF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"result"</a:t>
                </a:r>
                <a:r>
                  <a:rPr lang="en-US" sz="1350">
                    <a:solidFill>
                      <a:srgbClr val="E2E8F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: {</a:t>
                </a:r>
                <a:endParaRPr sz="135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indent="0" lvl="0" marL="457200" marR="0" rtl="0" algn="l">
                  <a:spcBef>
                    <a:spcPts val="750"/>
                  </a:spcBef>
                  <a:spcAft>
                    <a:spcPts val="0"/>
                  </a:spcAft>
                  <a:buNone/>
                </a:pPr>
                <a:r>
                  <a:rPr lang="en-US" sz="1350">
                    <a:solidFill>
                      <a:srgbClr val="38BDF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"contents"</a:t>
                </a:r>
                <a:r>
                  <a:rPr lang="en-US" sz="1350">
                    <a:solidFill>
                      <a:srgbClr val="E2E8F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: [</a:t>
                </a:r>
                <a:endParaRPr sz="135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indent="0" lvl="0" marL="685800" marR="0" rtl="0" algn="l">
                  <a:spcBef>
                    <a:spcPts val="750"/>
                  </a:spcBef>
                  <a:spcAft>
                    <a:spcPts val="0"/>
                  </a:spcAft>
                  <a:buNone/>
                </a:pPr>
                <a:r>
                  <a:rPr lang="en-US" sz="1350">
                    <a:solidFill>
                      <a:srgbClr val="E2E8F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{</a:t>
                </a:r>
                <a:endParaRPr sz="135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indent="0" lvl="0" marL="914400" marR="0" rtl="0" algn="l">
                  <a:spcBef>
                    <a:spcPts val="750"/>
                  </a:spcBef>
                  <a:spcAft>
                    <a:spcPts val="0"/>
                  </a:spcAft>
                  <a:buNone/>
                </a:pPr>
                <a:r>
                  <a:rPr lang="en-US" sz="1350">
                    <a:solidFill>
                      <a:srgbClr val="38BDF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"uri"</a:t>
                </a:r>
                <a:r>
                  <a:rPr lang="en-US" sz="1350">
                    <a:solidFill>
                      <a:srgbClr val="E2E8F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: </a:t>
                </a:r>
                <a:r>
                  <a:rPr lang="en-US" sz="1350">
                    <a:solidFill>
                      <a:srgbClr val="34D399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"file:///project/README.md"</a:t>
                </a:r>
                <a:r>
                  <a:rPr lang="en-US" sz="1350">
                    <a:solidFill>
                      <a:srgbClr val="E2E8F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,</a:t>
                </a:r>
                <a:endParaRPr sz="135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indent="0" lvl="0" marL="914400" marR="0" rtl="0" algn="l">
                  <a:spcBef>
                    <a:spcPts val="750"/>
                  </a:spcBef>
                  <a:spcAft>
                    <a:spcPts val="0"/>
                  </a:spcAft>
                  <a:buNone/>
                </a:pPr>
                <a:r>
                  <a:rPr lang="en-US" sz="1350">
                    <a:solidFill>
                      <a:srgbClr val="38BDF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"mimeType"</a:t>
                </a:r>
                <a:r>
                  <a:rPr lang="en-US" sz="1350">
                    <a:solidFill>
                      <a:srgbClr val="E2E8F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: </a:t>
                </a:r>
                <a:r>
                  <a:rPr lang="en-US" sz="1350">
                    <a:solidFill>
                      <a:srgbClr val="34D399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"text/markdown"</a:t>
                </a:r>
                <a:r>
                  <a:rPr lang="en-US" sz="1350">
                    <a:solidFill>
                      <a:srgbClr val="E2E8F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,</a:t>
                </a:r>
                <a:endParaRPr sz="135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indent="0" lvl="0" marL="914400" marR="0" rtl="0" algn="l">
                  <a:spcBef>
                    <a:spcPts val="750"/>
                  </a:spcBef>
                  <a:spcAft>
                    <a:spcPts val="0"/>
                  </a:spcAft>
                  <a:buNone/>
                </a:pPr>
                <a:r>
                  <a:rPr lang="en-US" sz="1350">
                    <a:solidFill>
                      <a:srgbClr val="38BDF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"text"</a:t>
                </a:r>
                <a:r>
                  <a:rPr lang="en-US" sz="1350">
                    <a:solidFill>
                      <a:srgbClr val="E2E8F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: </a:t>
                </a:r>
                <a:r>
                  <a:rPr lang="en-US" sz="1350">
                    <a:solidFill>
                      <a:srgbClr val="34D399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"# Project Overview..."</a:t>
                </a:r>
                <a:endParaRPr sz="135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indent="0" lvl="0" marL="685800" marR="0" rtl="0" algn="l">
                  <a:spcBef>
                    <a:spcPts val="750"/>
                  </a:spcBef>
                  <a:spcAft>
                    <a:spcPts val="0"/>
                  </a:spcAft>
                  <a:buNone/>
                </a:pPr>
                <a:r>
                  <a:rPr lang="en-US" sz="1350">
                    <a:solidFill>
                      <a:srgbClr val="E2E8F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}</a:t>
                </a:r>
                <a:endParaRPr sz="135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indent="0" lvl="0" marL="457200" marR="0" rtl="0" algn="l">
                  <a:spcBef>
                    <a:spcPts val="750"/>
                  </a:spcBef>
                  <a:spcAft>
                    <a:spcPts val="0"/>
                  </a:spcAft>
                  <a:buNone/>
                </a:pPr>
                <a:r>
                  <a:rPr lang="en-US" sz="1350">
                    <a:solidFill>
                      <a:srgbClr val="E2E8F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]</a:t>
                </a:r>
                <a:endParaRPr sz="135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indent="0" lvl="0" marL="228600" marR="0" rtl="0" algn="l">
                  <a:spcBef>
                    <a:spcPts val="750"/>
                  </a:spcBef>
                  <a:spcAft>
                    <a:spcPts val="0"/>
                  </a:spcAft>
                  <a:buNone/>
                </a:pPr>
                <a:r>
                  <a:rPr lang="en-US" sz="1350">
                    <a:solidFill>
                      <a:srgbClr val="E2E8F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}</a:t>
                </a:r>
                <a:endParaRPr sz="135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indent="0" lvl="0" marL="0" rtl="0" algn="l">
                  <a:spcBef>
                    <a:spcPts val="750"/>
                  </a:spcBef>
                  <a:spcAft>
                    <a:spcPts val="0"/>
                  </a:spcAft>
                  <a:buNone/>
                </a:pPr>
                <a:r>
                  <a:rPr lang="en-US" sz="1350">
                    <a:solidFill>
                      <a:srgbClr val="E2E8F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}</a:t>
                </a:r>
                <a:endParaRPr sz="135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</p:grpSp>
      <p:grpSp>
        <p:nvGrpSpPr>
          <p:cNvPr id="1183" name="Google Shape;1183;p33"/>
          <p:cNvGrpSpPr/>
          <p:nvPr/>
        </p:nvGrpSpPr>
        <p:grpSpPr>
          <a:xfrm>
            <a:off x="0" y="9715500"/>
            <a:ext cx="18288000" cy="457350"/>
            <a:chOff x="0" y="0"/>
            <a:chExt cx="18288000" cy="457350"/>
          </a:xfrm>
        </p:grpSpPr>
        <p:cxnSp>
          <p:nvCxnSpPr>
            <p:cNvPr id="1184" name="Google Shape;1184;p33"/>
            <p:cNvCxnSpPr/>
            <p:nvPr/>
          </p:nvCxnSpPr>
          <p:spPr>
            <a:xfrm>
              <a:off x="0" y="0"/>
              <a:ext cx="182880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185" name="Google Shape;1185;p33"/>
            <p:cNvSpPr txBox="1"/>
            <p:nvPr/>
          </p:nvSpPr>
          <p:spPr>
            <a:xfrm>
              <a:off x="762000" y="171450"/>
              <a:ext cx="3810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64748B"/>
                  </a:solidFill>
                  <a:latin typeface="Roboto"/>
                  <a:ea typeface="Roboto"/>
                  <a:cs typeface="Roboto"/>
                  <a:sym typeface="Roboto"/>
                </a:rPr>
                <a:t>Criterion Proprietary &amp; Confidential</a:t>
              </a:r>
              <a:endParaRPr sz="1100">
                <a:solidFill>
                  <a:srgbClr val="64748B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Resources (app-controlled context + subscriptions)</a:t>
            </a:r>
          </a:p>
        </p:txBody>
      </p:sp>
      <p:pic>
        <p:nvPicPr>
          <p:cNvPr id="3" name="Picture 2" descr="d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2977" y="1600200"/>
            <a:ext cx="13482045" cy="7635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9281160"/>
            <a:ext cx="17190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444C56"/>
                </a:solidFill>
              </a:rPr>
              <a:t>Resources are read-only context the app/user chooses to attach. Subscribe once and the server notifies the client whenever that resource changes.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9" name="Shape 1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preencoded.png" id="1190" name="Google Shape;1190;p34"/>
          <p:cNvSpPr/>
          <p:nvPr/>
        </p:nvSpPr>
        <p:spPr>
          <a:xfrm>
            <a:off x="0" y="0"/>
            <a:ext cx="18288000" cy="10317290"/>
          </a:xfrm>
          <a:custGeom>
            <a:rect b="b" l="l" r="r" t="t"/>
            <a:pathLst>
              <a:path extrusionOk="0" h="13756387" w="24384000">
                <a:moveTo>
                  <a:pt x="0" y="0"/>
                </a:moveTo>
                <a:lnTo>
                  <a:pt x="24384000" y="0"/>
                </a:lnTo>
                <a:lnTo>
                  <a:pt x="24384000" y="13756387"/>
                </a:lnTo>
                <a:lnTo>
                  <a:pt x="0" y="1375638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61" l="0" r="0" t="-60"/>
            </a:stretch>
          </a:blipFill>
          <a:ln>
            <a:noFill/>
          </a:ln>
        </p:spPr>
      </p:sp>
      <p:sp>
        <p:nvSpPr>
          <p:cNvPr descr="preencoded.png" id="1191" name="Google Shape;1191;p34"/>
          <p:cNvSpPr/>
          <p:nvPr/>
        </p:nvSpPr>
        <p:spPr>
          <a:xfrm>
            <a:off x="7758112" y="0"/>
            <a:ext cx="10529888" cy="6129338"/>
          </a:xfrm>
          <a:custGeom>
            <a:rect b="b" l="l" r="r" t="t"/>
            <a:pathLst>
              <a:path extrusionOk="0" h="8172450" w="14039850">
                <a:moveTo>
                  <a:pt x="0" y="0"/>
                </a:moveTo>
                <a:lnTo>
                  <a:pt x="14039850" y="0"/>
                </a:lnTo>
                <a:lnTo>
                  <a:pt x="14039850" y="8172450"/>
                </a:lnTo>
                <a:lnTo>
                  <a:pt x="0" y="81724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descr="preencoded.png" id="1192" name="Google Shape;1192;p34"/>
          <p:cNvSpPr/>
          <p:nvPr/>
        </p:nvSpPr>
        <p:spPr>
          <a:xfrm>
            <a:off x="0" y="8431359"/>
            <a:ext cx="5915025" cy="1885950"/>
          </a:xfrm>
          <a:custGeom>
            <a:rect b="b" l="l" r="r" t="t"/>
            <a:pathLst>
              <a:path extrusionOk="0" h="2514600" w="7886700">
                <a:moveTo>
                  <a:pt x="0" y="0"/>
                </a:moveTo>
                <a:lnTo>
                  <a:pt x="7886700" y="0"/>
                </a:lnTo>
                <a:lnTo>
                  <a:pt x="7886700" y="2514600"/>
                </a:lnTo>
                <a:lnTo>
                  <a:pt x="0" y="2514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378" l="0" r="0" t="-378"/>
            </a:stretch>
          </a:blipFill>
          <a:ln>
            <a:noFill/>
          </a:ln>
        </p:spPr>
      </p:sp>
      <p:sp>
        <p:nvSpPr>
          <p:cNvPr descr="preencoded.png" id="1193" name="Google Shape;1193;p34"/>
          <p:cNvSpPr/>
          <p:nvPr/>
        </p:nvSpPr>
        <p:spPr>
          <a:xfrm>
            <a:off x="0" y="7431234"/>
            <a:ext cx="4443413" cy="2386013"/>
          </a:xfrm>
          <a:custGeom>
            <a:rect b="b" l="l" r="r" t="t"/>
            <a:pathLst>
              <a:path extrusionOk="0" h="3181350" w="5924550">
                <a:moveTo>
                  <a:pt x="0" y="0"/>
                </a:moveTo>
                <a:lnTo>
                  <a:pt x="5924550" y="0"/>
                </a:lnTo>
                <a:lnTo>
                  <a:pt x="5924550" y="3181350"/>
                </a:lnTo>
                <a:lnTo>
                  <a:pt x="0" y="31813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-299" l="0" r="0" t="-299"/>
            </a:stretch>
          </a:blipFill>
          <a:ln>
            <a:noFill/>
          </a:ln>
        </p:spPr>
      </p:sp>
      <p:sp>
        <p:nvSpPr>
          <p:cNvPr descr="preencoded.png" id="1194" name="Google Shape;1194;p34"/>
          <p:cNvSpPr/>
          <p:nvPr/>
        </p:nvSpPr>
        <p:spPr>
          <a:xfrm>
            <a:off x="5143500" y="9017146"/>
            <a:ext cx="3257550" cy="1300163"/>
          </a:xfrm>
          <a:custGeom>
            <a:rect b="b" l="l" r="r" t="t"/>
            <a:pathLst>
              <a:path extrusionOk="0" h="1733550" w="4343400">
                <a:moveTo>
                  <a:pt x="0" y="0"/>
                </a:moveTo>
                <a:lnTo>
                  <a:pt x="4343400" y="0"/>
                </a:lnTo>
                <a:lnTo>
                  <a:pt x="4343400" y="1733550"/>
                </a:lnTo>
                <a:lnTo>
                  <a:pt x="0" y="17335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 amt="70000"/>
            </a:blip>
            <a:stretch>
              <a:fillRect b="-549" l="0" r="0" t="-549"/>
            </a:stretch>
          </a:blipFill>
          <a:ln>
            <a:noFill/>
          </a:ln>
        </p:spPr>
      </p:sp>
      <p:sp>
        <p:nvSpPr>
          <p:cNvPr id="1195" name="Google Shape;1195;p34"/>
          <p:cNvSpPr/>
          <p:nvPr/>
        </p:nvSpPr>
        <p:spPr>
          <a:xfrm>
            <a:off x="0" y="9474346"/>
            <a:ext cx="18288000" cy="14288"/>
          </a:xfrm>
          <a:custGeom>
            <a:rect b="b" l="l" r="r" t="t"/>
            <a:pathLst>
              <a:path extrusionOk="0" h="19050" w="24384000">
                <a:moveTo>
                  <a:pt x="0" y="0"/>
                </a:moveTo>
                <a:lnTo>
                  <a:pt x="24384000" y="0"/>
                </a:lnTo>
                <a:lnTo>
                  <a:pt x="24384000" y="19050"/>
                </a:lnTo>
                <a:lnTo>
                  <a:pt x="0" y="19050"/>
                </a:lnTo>
                <a:close/>
              </a:path>
            </a:pathLst>
          </a:custGeom>
          <a:solidFill>
            <a:srgbClr val="E5E7EB"/>
          </a:solidFill>
          <a:ln>
            <a:noFill/>
          </a:ln>
        </p:spPr>
      </p:sp>
      <p:sp>
        <p:nvSpPr>
          <p:cNvPr descr="preencoded.png" id="1196" name="Google Shape;1196;p34"/>
          <p:cNvSpPr/>
          <p:nvPr/>
        </p:nvSpPr>
        <p:spPr>
          <a:xfrm>
            <a:off x="14444605" y="9602934"/>
            <a:ext cx="3500438" cy="600075"/>
          </a:xfrm>
          <a:custGeom>
            <a:rect b="b" l="l" r="r" t="t"/>
            <a:pathLst>
              <a:path extrusionOk="0" h="800100" w="4667250">
                <a:moveTo>
                  <a:pt x="0" y="0"/>
                </a:moveTo>
                <a:lnTo>
                  <a:pt x="4667250" y="0"/>
                </a:lnTo>
                <a:lnTo>
                  <a:pt x="4667250" y="800100"/>
                </a:lnTo>
                <a:lnTo>
                  <a:pt x="0" y="8001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-982" l="0" r="0" t="-982"/>
            </a:stretch>
          </a:blipFill>
          <a:ln>
            <a:noFill/>
          </a:ln>
        </p:spPr>
      </p:sp>
      <p:grpSp>
        <p:nvGrpSpPr>
          <p:cNvPr id="1197" name="Google Shape;1197;p34"/>
          <p:cNvGrpSpPr/>
          <p:nvPr/>
        </p:nvGrpSpPr>
        <p:grpSpPr>
          <a:xfrm>
            <a:off x="0" y="0"/>
            <a:ext cx="17526000" cy="10287000"/>
            <a:chOff x="0" y="0"/>
            <a:chExt cx="17526000" cy="10287000"/>
          </a:xfrm>
        </p:grpSpPr>
        <p:sp>
          <p:nvSpPr>
            <p:cNvPr id="1198" name="Google Shape;1198;p34"/>
            <p:cNvSpPr/>
            <p:nvPr/>
          </p:nvSpPr>
          <p:spPr>
            <a:xfrm>
              <a:off x="0" y="0"/>
              <a:ext cx="5143500" cy="10287000"/>
            </a:xfrm>
            <a:prstGeom prst="rect">
              <a:avLst/>
            </a:prstGeom>
            <a:solidFill>
              <a:srgbClr val="0F172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199" name="Google Shape;1199;p34"/>
            <p:cNvCxnSpPr/>
            <p:nvPr/>
          </p:nvCxnSpPr>
          <p:spPr>
            <a:xfrm>
              <a:off x="5143500" y="0"/>
              <a:ext cx="0" cy="10287000"/>
            </a:xfrm>
            <a:prstGeom prst="straightConnector1">
              <a:avLst/>
            </a:prstGeom>
            <a:solidFill>
              <a:srgbClr val="FFFFFF"/>
            </a:solidFill>
            <a:ln cap="flat" cmpd="sng" w="19050">
              <a:solidFill>
                <a:srgbClr val="1E293B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200" name="Google Shape;1200;p34"/>
            <p:cNvSpPr txBox="1"/>
            <p:nvPr/>
          </p:nvSpPr>
          <p:spPr>
            <a:xfrm>
              <a:off x="666750" y="3048000"/>
              <a:ext cx="3810000" cy="419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00AEEF"/>
                  </a:solidFill>
                  <a:latin typeface="Roboto"/>
                  <a:ea typeface="Roboto"/>
                  <a:cs typeface="Roboto"/>
                  <a:sym typeface="Roboto"/>
                </a:rPr>
                <a:t>Technical Implementation</a:t>
              </a:r>
              <a:endParaRPr b="1" sz="1200">
                <a:solidFill>
                  <a:srgbClr val="00AEE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-US" sz="42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Prompts</a:t>
              </a:r>
              <a:br>
                <a:rPr b="1" lang="en-US" sz="42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1" lang="en-US" sz="4200">
                  <a:solidFill>
                    <a:srgbClr val="00AEEF"/>
                  </a:solidFill>
                  <a:latin typeface="Roboto"/>
                  <a:ea typeface="Roboto"/>
                  <a:cs typeface="Roboto"/>
                  <a:sym typeface="Roboto"/>
                </a:rPr>
                <a:t>Capability</a:t>
              </a:r>
              <a:endParaRPr b="1" sz="4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0" lang="en-US" sz="1400">
                  <a:solidFill>
                    <a:srgbClr val="94A3B8"/>
                  </a:solidFill>
                  <a:latin typeface="Roboto"/>
                  <a:ea typeface="Roboto"/>
                  <a:cs typeface="Roboto"/>
                  <a:sym typeface="Roboto"/>
                </a:rPr>
                <a:t>Overview of available protocol endpoints and JSON definition schema for prompt templates.</a:t>
              </a:r>
              <a:endParaRPr b="0" sz="1400">
                <a:solidFill>
                  <a:srgbClr val="94A3B8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01" name="Google Shape;1201;p34"/>
            <p:cNvSpPr txBox="1"/>
            <p:nvPr/>
          </p:nvSpPr>
          <p:spPr>
            <a:xfrm>
              <a:off x="5905500" y="619125"/>
              <a:ext cx="11620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000">
                  <a:solidFill>
                    <a:srgbClr val="0F1B2C"/>
                  </a:solidFill>
                  <a:latin typeface="Noto Sans"/>
                  <a:ea typeface="Noto Sans"/>
                  <a:cs typeface="Noto Sans"/>
                  <a:sym typeface="Noto Sans"/>
                </a:rPr>
                <a:t>Protocol Methods &amp; Examples</a:t>
              </a:r>
              <a:endParaRPr b="1" sz="3000">
                <a:solidFill>
                  <a:srgbClr val="0F1B2C"/>
                </a:solidFill>
                <a:latin typeface="Noto Sans"/>
                <a:ea typeface="Noto Sans"/>
                <a:cs typeface="Noto Sans"/>
                <a:sym typeface="Noto Sans"/>
              </a:endParaRPr>
            </a:p>
          </p:txBody>
        </p:sp>
        <p:sp>
          <p:nvSpPr>
            <p:cNvPr id="1202" name="Google Shape;1202;p34"/>
            <p:cNvSpPr txBox="1"/>
            <p:nvPr/>
          </p:nvSpPr>
          <p:spPr>
            <a:xfrm>
              <a:off x="5905500" y="1381125"/>
              <a:ext cx="11620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00AEEF"/>
                  </a:solidFill>
                  <a:latin typeface="Noto Sans"/>
                  <a:ea typeface="Noto Sans"/>
                  <a:cs typeface="Noto Sans"/>
                  <a:sym typeface="Noto Sans"/>
                </a:rPr>
                <a:t>Prompts Protocol Methods</a:t>
              </a:r>
              <a:endParaRPr b="1" sz="1200">
                <a:solidFill>
                  <a:srgbClr val="00AEEF"/>
                </a:solidFill>
                <a:latin typeface="Noto Sans"/>
                <a:ea typeface="Noto Sans"/>
                <a:cs typeface="Noto Sans"/>
                <a:sym typeface="Noto Sans"/>
              </a:endParaRPr>
            </a:p>
          </p:txBody>
        </p:sp>
        <p:sp>
          <p:nvSpPr>
            <p:cNvPr id="1203" name="Google Shape;1203;p34"/>
            <p:cNvSpPr/>
            <p:nvPr/>
          </p:nvSpPr>
          <p:spPr>
            <a:xfrm>
              <a:off x="5905500" y="1762125"/>
              <a:ext cx="5524500" cy="1095300"/>
            </a:xfrm>
            <a:prstGeom prst="roundRect">
              <a:avLst>
                <a:gd fmla="val 8695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4" name="Google Shape;1204;p34"/>
            <p:cNvSpPr/>
            <p:nvPr/>
          </p:nvSpPr>
          <p:spPr>
            <a:xfrm>
              <a:off x="5905500" y="1762125"/>
              <a:ext cx="57300" cy="1095300"/>
            </a:xfrm>
            <a:prstGeom prst="roundRect">
              <a:avLst>
                <a:gd fmla="val 50000" name="adj"/>
              </a:avLst>
            </a:prstGeom>
            <a:solidFill>
              <a:srgbClr val="00AEE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5" name="Google Shape;1205;p34"/>
            <p:cNvSpPr txBox="1"/>
            <p:nvPr/>
          </p:nvSpPr>
          <p:spPr>
            <a:xfrm>
              <a:off x="6153150" y="1762125"/>
              <a:ext cx="5086500" cy="109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52400" lIns="0" spcFirstLastPara="1" rIns="0" wrap="square" tIns="152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500">
                  <a:solidFill>
                    <a:srgbClr val="00AEEF"/>
                  </a:solidFill>
                  <a:latin typeface="Arimo"/>
                  <a:ea typeface="Arimo"/>
                  <a:cs typeface="Arimo"/>
                  <a:sym typeface="Arimo"/>
                </a:rPr>
                <a:t>prompts/list</a:t>
              </a:r>
              <a:endParaRPr b="1" sz="1500">
                <a:solidFill>
                  <a:srgbClr val="00AEEF"/>
                </a:solidFill>
                <a:latin typeface="Arimo"/>
                <a:ea typeface="Arimo"/>
                <a:cs typeface="Arimo"/>
                <a:sym typeface="Arimo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334155"/>
                  </a:solidFill>
                  <a:latin typeface="Noto Sans"/>
                  <a:ea typeface="Noto Sans"/>
                  <a:cs typeface="Noto Sans"/>
                  <a:sym typeface="Noto Sans"/>
                </a:rPr>
                <a:t>Get available prompt templates from the server</a:t>
              </a:r>
              <a:endParaRPr b="0" sz="1200">
                <a:solidFill>
                  <a:srgbClr val="334155"/>
                </a:solidFill>
                <a:latin typeface="Noto Sans"/>
                <a:ea typeface="Noto Sans"/>
                <a:cs typeface="Noto Sans"/>
                <a:sym typeface="Noto Sans"/>
              </a:endParaRPr>
            </a:p>
          </p:txBody>
        </p:sp>
        <p:sp>
          <p:nvSpPr>
            <p:cNvPr id="1206" name="Google Shape;1206;p34"/>
            <p:cNvSpPr/>
            <p:nvPr/>
          </p:nvSpPr>
          <p:spPr>
            <a:xfrm>
              <a:off x="11620500" y="1762125"/>
              <a:ext cx="5905500" cy="1095300"/>
            </a:xfrm>
            <a:prstGeom prst="roundRect">
              <a:avLst>
                <a:gd fmla="val 8695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7" name="Google Shape;1207;p34"/>
            <p:cNvSpPr/>
            <p:nvPr/>
          </p:nvSpPr>
          <p:spPr>
            <a:xfrm>
              <a:off x="11620500" y="1762125"/>
              <a:ext cx="57300" cy="1095300"/>
            </a:xfrm>
            <a:prstGeom prst="roundRect">
              <a:avLst>
                <a:gd fmla="val 50000" name="adj"/>
              </a:avLst>
            </a:prstGeom>
            <a:solidFill>
              <a:srgbClr val="00AEE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8" name="Google Shape;1208;p34"/>
            <p:cNvSpPr txBox="1"/>
            <p:nvPr/>
          </p:nvSpPr>
          <p:spPr>
            <a:xfrm>
              <a:off x="11868150" y="1762125"/>
              <a:ext cx="5467500" cy="109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52400" lIns="0" spcFirstLastPara="1" rIns="0" wrap="square" tIns="152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500">
                  <a:solidFill>
                    <a:srgbClr val="00AEEF"/>
                  </a:solidFill>
                  <a:latin typeface="Arimo"/>
                  <a:ea typeface="Arimo"/>
                  <a:cs typeface="Arimo"/>
                  <a:sym typeface="Arimo"/>
                </a:rPr>
                <a:t>prompts/get</a:t>
              </a:r>
              <a:endParaRPr b="1" sz="1500">
                <a:solidFill>
                  <a:srgbClr val="00AEEF"/>
                </a:solidFill>
                <a:latin typeface="Arimo"/>
                <a:ea typeface="Arimo"/>
                <a:cs typeface="Arimo"/>
                <a:sym typeface="Arimo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334155"/>
                  </a:solidFill>
                  <a:latin typeface="Noto Sans"/>
                  <a:ea typeface="Noto Sans"/>
                  <a:cs typeface="Noto Sans"/>
                  <a:sym typeface="Noto Sans"/>
                </a:rPr>
                <a:t>Retrieve a specific prompt template with arguments</a:t>
              </a:r>
              <a:endParaRPr b="0" sz="1200">
                <a:solidFill>
                  <a:srgbClr val="334155"/>
                </a:solidFill>
                <a:latin typeface="Noto Sans"/>
                <a:ea typeface="Noto Sans"/>
                <a:cs typeface="Noto Sans"/>
                <a:sym typeface="Noto Sans"/>
              </a:endParaRPr>
            </a:p>
          </p:txBody>
        </p:sp>
        <p:sp>
          <p:nvSpPr>
            <p:cNvPr id="1209" name="Google Shape;1209;p34"/>
            <p:cNvSpPr txBox="1"/>
            <p:nvPr/>
          </p:nvSpPr>
          <p:spPr>
            <a:xfrm>
              <a:off x="5905500" y="3190875"/>
              <a:ext cx="11620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00AEEF"/>
                  </a:solidFill>
                  <a:latin typeface="Noto Sans"/>
                  <a:ea typeface="Noto Sans"/>
                  <a:cs typeface="Noto Sans"/>
                  <a:sym typeface="Noto Sans"/>
                </a:rPr>
                <a:t>Prompt Definition Example</a:t>
              </a:r>
              <a:endParaRPr b="1" sz="1200">
                <a:solidFill>
                  <a:srgbClr val="00AEEF"/>
                </a:solidFill>
                <a:latin typeface="Noto Sans"/>
                <a:ea typeface="Noto Sans"/>
                <a:cs typeface="Noto Sans"/>
                <a:sym typeface="Noto Sans"/>
              </a:endParaRPr>
            </a:p>
          </p:txBody>
        </p:sp>
        <p:sp>
          <p:nvSpPr>
            <p:cNvPr id="1210" name="Google Shape;1210;p34"/>
            <p:cNvSpPr/>
            <p:nvPr/>
          </p:nvSpPr>
          <p:spPr>
            <a:xfrm>
              <a:off x="5905500" y="3571875"/>
              <a:ext cx="11620500" cy="5524500"/>
            </a:xfrm>
            <a:prstGeom prst="roundRect">
              <a:avLst>
                <a:gd fmla="val 2068" name="adj"/>
              </a:avLst>
            </a:prstGeom>
            <a:solidFill>
              <a:srgbClr val="0F172A"/>
            </a:solidFill>
            <a:ln cap="flat" cmpd="sng" w="14300">
              <a:solidFill>
                <a:srgbClr val="1E29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1" name="Google Shape;1211;p34"/>
            <p:cNvSpPr/>
            <p:nvPr/>
          </p:nvSpPr>
          <p:spPr>
            <a:xfrm>
              <a:off x="5905500" y="3571875"/>
              <a:ext cx="11620500" cy="438300"/>
            </a:xfrm>
            <a:prstGeom prst="roundRect">
              <a:avLst>
                <a:gd fmla="val 26086" name="adj"/>
              </a:avLst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2" name="Google Shape;1212;p34"/>
            <p:cNvSpPr/>
            <p:nvPr/>
          </p:nvSpPr>
          <p:spPr>
            <a:xfrm>
              <a:off x="5905500" y="3895725"/>
              <a:ext cx="11620500" cy="114300"/>
            </a:xfrm>
            <a:prstGeom prst="rect">
              <a:avLst/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3" name="Google Shape;1213;p34"/>
            <p:cNvSpPr/>
            <p:nvPr/>
          </p:nvSpPr>
          <p:spPr>
            <a:xfrm>
              <a:off x="6076950" y="3733800"/>
              <a:ext cx="114300" cy="114300"/>
            </a:xfrm>
            <a:prstGeom prst="ellipse">
              <a:avLst/>
            </a:prstGeom>
            <a:solidFill>
              <a:srgbClr val="EF44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4" name="Google Shape;1214;p34"/>
            <p:cNvSpPr/>
            <p:nvPr/>
          </p:nvSpPr>
          <p:spPr>
            <a:xfrm>
              <a:off x="6267450" y="3733800"/>
              <a:ext cx="114300" cy="114300"/>
            </a:xfrm>
            <a:prstGeom prst="ellipse">
              <a:avLst/>
            </a:prstGeom>
            <a:solidFill>
              <a:srgbClr val="F59E0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5" name="Google Shape;1215;p34"/>
            <p:cNvSpPr/>
            <p:nvPr/>
          </p:nvSpPr>
          <p:spPr>
            <a:xfrm>
              <a:off x="6457950" y="3733800"/>
              <a:ext cx="114300" cy="114300"/>
            </a:xfrm>
            <a:prstGeom prst="ellipse">
              <a:avLst/>
            </a:prstGeom>
            <a:solidFill>
              <a:srgbClr val="10B98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6" name="Google Shape;1216;p34"/>
            <p:cNvSpPr txBox="1"/>
            <p:nvPr/>
          </p:nvSpPr>
          <p:spPr>
            <a:xfrm>
              <a:off x="6762750" y="3571875"/>
              <a:ext cx="3810000" cy="43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94A3B8"/>
                  </a:solidFill>
                  <a:latin typeface="Arimo"/>
                  <a:ea typeface="Arimo"/>
                  <a:cs typeface="Arimo"/>
                  <a:sym typeface="Arimo"/>
                </a:rPr>
                <a:t>prompt_definition.json</a:t>
              </a:r>
              <a:endParaRPr sz="1100">
                <a:solidFill>
                  <a:srgbClr val="94A3B8"/>
                </a:solidFill>
                <a:latin typeface="Arimo"/>
                <a:ea typeface="Arimo"/>
                <a:cs typeface="Arimo"/>
                <a:sym typeface="Arimo"/>
              </a:endParaRPr>
            </a:p>
          </p:txBody>
        </p:sp>
        <p:sp>
          <p:nvSpPr>
            <p:cNvPr id="1217" name="Google Shape;1217;p34"/>
            <p:cNvSpPr txBox="1"/>
            <p:nvPr/>
          </p:nvSpPr>
          <p:spPr>
            <a:xfrm>
              <a:off x="6191250" y="4238625"/>
              <a:ext cx="11049000" cy="466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50">
                  <a:solidFill>
                    <a:srgbClr val="F8FAF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{</a:t>
              </a:r>
              <a:endParaRPr sz="1350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228600" marR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-US" sz="1350">
                  <a:solidFill>
                    <a:srgbClr val="38BDF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"name"</a:t>
              </a:r>
              <a:r>
                <a:rPr lang="en-US" sz="1350">
                  <a:solidFill>
                    <a:srgbClr val="F8FAF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: </a:t>
              </a:r>
              <a:r>
                <a:rPr lang="en-US" sz="1350">
                  <a:solidFill>
                    <a:srgbClr val="34D39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"code_review"</a:t>
              </a:r>
              <a:r>
                <a:rPr lang="en-US" sz="1350">
                  <a:solidFill>
                    <a:srgbClr val="F8FAF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,</a:t>
              </a:r>
              <a:endParaRPr sz="1350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228600" marR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-US" sz="1350">
                  <a:solidFill>
                    <a:srgbClr val="38BDF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"description"</a:t>
              </a:r>
              <a:r>
                <a:rPr lang="en-US" sz="1350">
                  <a:solidFill>
                    <a:srgbClr val="F8FAF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: </a:t>
              </a:r>
              <a:r>
                <a:rPr lang="en-US" sz="1350">
                  <a:solidFill>
                    <a:srgbClr val="34D39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"Review code for best practices"</a:t>
              </a:r>
              <a:r>
                <a:rPr lang="en-US" sz="1350">
                  <a:solidFill>
                    <a:srgbClr val="F8FAF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,</a:t>
              </a:r>
              <a:endParaRPr sz="1350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228600" marR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-US" sz="1350">
                  <a:solidFill>
                    <a:srgbClr val="38BDF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"arguments"</a:t>
              </a:r>
              <a:r>
                <a:rPr lang="en-US" sz="1350">
                  <a:solidFill>
                    <a:srgbClr val="F8FAF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: [</a:t>
              </a:r>
              <a:endParaRPr sz="1350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457200" marR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-US" sz="1350">
                  <a:solidFill>
                    <a:srgbClr val="F8FAF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{</a:t>
              </a:r>
              <a:endParaRPr sz="1350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685800" marR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-US" sz="1350">
                  <a:solidFill>
                    <a:srgbClr val="38BDF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"name"</a:t>
              </a:r>
              <a:r>
                <a:rPr lang="en-US" sz="1350">
                  <a:solidFill>
                    <a:srgbClr val="F8FAF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: </a:t>
              </a:r>
              <a:r>
                <a:rPr lang="en-US" sz="1350">
                  <a:solidFill>
                    <a:srgbClr val="34D39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"language"</a:t>
              </a:r>
              <a:r>
                <a:rPr lang="en-US" sz="1350">
                  <a:solidFill>
                    <a:srgbClr val="F8FAF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,</a:t>
              </a:r>
              <a:endParaRPr sz="1350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685800" marR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-US" sz="1350">
                  <a:solidFill>
                    <a:srgbClr val="38BDF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"description"</a:t>
              </a:r>
              <a:r>
                <a:rPr lang="en-US" sz="1350">
                  <a:solidFill>
                    <a:srgbClr val="F8FAF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: </a:t>
              </a:r>
              <a:r>
                <a:rPr lang="en-US" sz="1350">
                  <a:solidFill>
                    <a:srgbClr val="34D39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"Programming language"</a:t>
              </a:r>
              <a:r>
                <a:rPr lang="en-US" sz="1350">
                  <a:solidFill>
                    <a:srgbClr val="F8FAF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,</a:t>
              </a:r>
              <a:endParaRPr sz="1350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685800" marR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-US" sz="1350">
                  <a:solidFill>
                    <a:srgbClr val="38BDF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"required"</a:t>
              </a:r>
              <a:r>
                <a:rPr lang="en-US" sz="1350">
                  <a:solidFill>
                    <a:srgbClr val="F8FAF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: </a:t>
              </a:r>
              <a:r>
                <a:rPr lang="en-US" sz="1350">
                  <a:solidFill>
                    <a:srgbClr val="F43F5E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true</a:t>
              </a:r>
              <a:endParaRPr sz="1350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457200" marR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-US" sz="1350">
                  <a:solidFill>
                    <a:srgbClr val="F8FAF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}</a:t>
              </a:r>
              <a:endParaRPr sz="1350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228600" marR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-US" sz="1350">
                  <a:solidFill>
                    <a:srgbClr val="F8FAF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]</a:t>
              </a:r>
              <a:endParaRPr sz="1350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-US" sz="1350">
                  <a:solidFill>
                    <a:srgbClr val="F8FAF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}</a:t>
              </a:r>
              <a:endParaRPr sz="1350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21" name="Shape 1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2" name="Google Shape;1222;p35"/>
          <p:cNvSpPr/>
          <p:nvPr/>
        </p:nvSpPr>
        <p:spPr>
          <a:xfrm>
            <a:off x="0" y="0"/>
            <a:ext cx="5334000" cy="10287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3" name="Google Shape;1223;p35"/>
          <p:cNvSpPr txBox="1"/>
          <p:nvPr/>
        </p:nvSpPr>
        <p:spPr>
          <a:xfrm>
            <a:off x="666750" y="2857500"/>
            <a:ext cx="40005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0AEEF"/>
                </a:solidFill>
                <a:latin typeface="Roboto"/>
                <a:ea typeface="Roboto"/>
                <a:cs typeface="Roboto"/>
                <a:sym typeface="Roboto"/>
              </a:rPr>
              <a:t>TECHNICAL IMPLEMENTATION</a:t>
            </a:r>
            <a:endParaRPr b="1" sz="1200">
              <a:solidFill>
                <a:srgbClr val="00AEE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4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Prompts</a:t>
            </a:r>
            <a:endParaRPr b="1" sz="42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lang="en-US" sz="4200">
                <a:solidFill>
                  <a:srgbClr val="00AEEF"/>
                </a:solidFill>
                <a:latin typeface="Roboto"/>
                <a:ea typeface="Roboto"/>
                <a:cs typeface="Roboto"/>
                <a:sym typeface="Roboto"/>
              </a:rPr>
              <a:t>Capability</a:t>
            </a:r>
            <a:endParaRPr b="1" sz="4200">
              <a:solidFill>
                <a:srgbClr val="00AEE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rgbClr val="94A3B8"/>
                </a:solidFill>
                <a:latin typeface="Roboto"/>
                <a:ea typeface="Roboto"/>
                <a:cs typeface="Roboto"/>
                <a:sym typeface="Roboto"/>
              </a:rPr>
              <a:t>(continued)</a:t>
            </a:r>
            <a:endParaRPr b="0" sz="1400">
              <a:solidFill>
                <a:srgbClr val="94A3B8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64748B"/>
                </a:solidFill>
                <a:latin typeface="Roboto"/>
                <a:ea typeface="Roboto"/>
                <a:cs typeface="Roboto"/>
                <a:sym typeface="Roboto"/>
              </a:rPr>
              <a:t>Overview of JSON request and response schema for fetching and executing prompt templates.</a:t>
            </a:r>
            <a:endParaRPr b="0" sz="1300">
              <a:solidFill>
                <a:srgbClr val="64748B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24" name="Google Shape;1224;p35"/>
          <p:cNvSpPr txBox="1"/>
          <p:nvPr/>
        </p:nvSpPr>
        <p:spPr>
          <a:xfrm>
            <a:off x="5905500" y="619125"/>
            <a:ext cx="116205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0F1B2C"/>
                </a:solidFill>
                <a:latin typeface="Roboto"/>
                <a:ea typeface="Roboto"/>
                <a:cs typeface="Roboto"/>
                <a:sym typeface="Roboto"/>
              </a:rPr>
              <a:t>Protocol Methods &amp; Examples</a:t>
            </a:r>
            <a:endParaRPr b="1" sz="3000">
              <a:solidFill>
                <a:srgbClr val="0F1B2C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00AEEF"/>
                </a:solidFill>
                <a:latin typeface="Roboto"/>
                <a:ea typeface="Roboto"/>
                <a:cs typeface="Roboto"/>
                <a:sym typeface="Roboto"/>
              </a:rPr>
              <a:t>Prompt Usage Example</a:t>
            </a:r>
            <a:endParaRPr b="1" sz="1400">
              <a:solidFill>
                <a:srgbClr val="00AE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225" name="Google Shape;1225;p35"/>
          <p:cNvGrpSpPr/>
          <p:nvPr/>
        </p:nvGrpSpPr>
        <p:grpSpPr>
          <a:xfrm>
            <a:off x="5905500" y="1619250"/>
            <a:ext cx="11620500" cy="7810500"/>
            <a:chOff x="0" y="0"/>
            <a:chExt cx="11620500" cy="7810500"/>
          </a:xfrm>
        </p:grpSpPr>
        <p:sp>
          <p:nvSpPr>
            <p:cNvPr id="1226" name="Google Shape;1226;p35"/>
            <p:cNvSpPr/>
            <p:nvPr/>
          </p:nvSpPr>
          <p:spPr>
            <a:xfrm>
              <a:off x="0" y="0"/>
              <a:ext cx="11620500" cy="7810500"/>
            </a:xfrm>
            <a:prstGeom prst="roundRect">
              <a:avLst>
                <a:gd fmla="val 1463" name="adj"/>
              </a:avLst>
            </a:prstGeom>
            <a:solidFill>
              <a:srgbClr val="0F172A"/>
            </a:solidFill>
            <a:ln cap="flat" cmpd="sng" w="14300">
              <a:solidFill>
                <a:srgbClr val="1E29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7" name="Google Shape;1227;p35"/>
            <p:cNvSpPr/>
            <p:nvPr/>
          </p:nvSpPr>
          <p:spPr>
            <a:xfrm>
              <a:off x="0" y="0"/>
              <a:ext cx="11620500" cy="457200"/>
            </a:xfrm>
            <a:custGeom>
              <a:rect b="b" l="l" r="r" t="t"/>
              <a:pathLst>
                <a:path extrusionOk="0" h="120000" w="120000">
                  <a:moveTo>
                    <a:pt x="0" y="30000"/>
                  </a:moveTo>
                  <a:cubicBezTo>
                    <a:pt x="0" y="13425"/>
                    <a:pt x="528" y="0"/>
                    <a:pt x="1180" y="0"/>
                  </a:cubicBezTo>
                  <a:lnTo>
                    <a:pt x="118820" y="0"/>
                  </a:lnTo>
                  <a:cubicBezTo>
                    <a:pt x="119472" y="0"/>
                    <a:pt x="120000" y="13425"/>
                    <a:pt x="120000" y="30000"/>
                  </a:cubicBezTo>
                  <a:lnTo>
                    <a:pt x="12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8" name="Google Shape;1228;p35"/>
            <p:cNvSpPr/>
            <p:nvPr/>
          </p:nvSpPr>
          <p:spPr>
            <a:xfrm>
              <a:off x="171450" y="171450"/>
              <a:ext cx="114300" cy="114300"/>
            </a:xfrm>
            <a:prstGeom prst="ellipse">
              <a:avLst/>
            </a:prstGeom>
            <a:solidFill>
              <a:srgbClr val="EF44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9" name="Google Shape;1229;p35"/>
            <p:cNvSpPr/>
            <p:nvPr/>
          </p:nvSpPr>
          <p:spPr>
            <a:xfrm>
              <a:off x="361950" y="171450"/>
              <a:ext cx="114300" cy="114300"/>
            </a:xfrm>
            <a:prstGeom prst="ellipse">
              <a:avLst/>
            </a:prstGeom>
            <a:solidFill>
              <a:srgbClr val="F59E0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0" name="Google Shape;1230;p35"/>
            <p:cNvSpPr/>
            <p:nvPr/>
          </p:nvSpPr>
          <p:spPr>
            <a:xfrm>
              <a:off x="552450" y="171450"/>
              <a:ext cx="114300" cy="114300"/>
            </a:xfrm>
            <a:prstGeom prst="ellipse">
              <a:avLst/>
            </a:prstGeom>
            <a:solidFill>
              <a:srgbClr val="10B98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1" name="Google Shape;1231;p35"/>
            <p:cNvSpPr txBox="1"/>
            <p:nvPr/>
          </p:nvSpPr>
          <p:spPr>
            <a:xfrm>
              <a:off x="952500" y="0"/>
              <a:ext cx="97155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94A3B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prompt_usage_payload.json</a:t>
              </a:r>
              <a:endParaRPr b="0" sz="1200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1232" name="Google Shape;1232;p35"/>
            <p:cNvSpPr/>
            <p:nvPr/>
          </p:nvSpPr>
          <p:spPr>
            <a:xfrm>
              <a:off x="304800" y="647700"/>
              <a:ext cx="5334000" cy="6953400"/>
            </a:xfrm>
            <a:prstGeom prst="roundRect">
              <a:avLst>
                <a:gd fmla="val 1428" name="adj"/>
              </a:avLst>
            </a:prstGeom>
            <a:solidFill>
              <a:srgbClr val="162235"/>
            </a:solidFill>
            <a:ln cap="flat" cmpd="sng" w="9525">
              <a:solidFill>
                <a:srgbClr val="1E2D4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3" name="Google Shape;1233;p35"/>
            <p:cNvSpPr txBox="1"/>
            <p:nvPr/>
          </p:nvSpPr>
          <p:spPr>
            <a:xfrm>
              <a:off x="533400" y="876300"/>
              <a:ext cx="4876800" cy="647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50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// Request</a:t>
              </a:r>
              <a:endParaRPr b="1" sz="135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1600"/>
                </a:spcBef>
                <a:spcAft>
                  <a:spcPts val="0"/>
                </a:spcAft>
                <a:buNone/>
              </a:pPr>
              <a:r>
                <a:rPr b="0" lang="en-US" sz="135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{</a:t>
              </a:r>
              <a:endParaRPr b="0" sz="135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228600" marR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0" lang="en-US" sz="1350">
                  <a:solidFill>
                    <a:srgbClr val="38BDF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"jsonrpc"</a:t>
              </a:r>
              <a:r>
                <a:rPr b="0" lang="en-US" sz="135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: </a:t>
              </a:r>
              <a:r>
                <a:rPr b="0" lang="en-US" sz="1350">
                  <a:solidFill>
                    <a:srgbClr val="34D39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"2.0"</a:t>
              </a:r>
              <a:r>
                <a:rPr b="0" lang="en-US" sz="135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,</a:t>
              </a:r>
              <a:endParaRPr b="0" sz="135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228600" marR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0" lang="en-US" sz="1350">
                  <a:solidFill>
                    <a:srgbClr val="38BDF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"id"</a:t>
              </a:r>
              <a:r>
                <a:rPr b="0" lang="en-US" sz="135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: </a:t>
              </a:r>
              <a:r>
                <a:rPr b="0" lang="en-US" sz="1350">
                  <a:solidFill>
                    <a:srgbClr val="F472B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1</a:t>
              </a:r>
              <a:r>
                <a:rPr b="0" lang="en-US" sz="135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,</a:t>
              </a:r>
              <a:endParaRPr b="0" sz="135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228600" marR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0" lang="en-US" sz="1350">
                  <a:solidFill>
                    <a:srgbClr val="38BDF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"method"</a:t>
              </a:r>
              <a:r>
                <a:rPr b="0" lang="en-US" sz="135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: </a:t>
              </a:r>
              <a:r>
                <a:rPr b="0" lang="en-US" sz="1350">
                  <a:solidFill>
                    <a:srgbClr val="34D39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"prompts/get"</a:t>
              </a:r>
              <a:r>
                <a:rPr b="0" lang="en-US" sz="135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,</a:t>
              </a:r>
              <a:endParaRPr b="0" sz="135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228600" marR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0" lang="en-US" sz="1350">
                  <a:solidFill>
                    <a:srgbClr val="38BDF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"params"</a:t>
              </a:r>
              <a:r>
                <a:rPr b="0" lang="en-US" sz="135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: {</a:t>
              </a:r>
              <a:endParaRPr b="0" sz="135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457200" marR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0" lang="en-US" sz="1350">
                  <a:solidFill>
                    <a:srgbClr val="38BDF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"name"</a:t>
              </a:r>
              <a:r>
                <a:rPr b="0" lang="en-US" sz="135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: </a:t>
              </a:r>
              <a:r>
                <a:rPr b="0" lang="en-US" sz="1350">
                  <a:solidFill>
                    <a:srgbClr val="34D39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"code_review"</a:t>
              </a:r>
              <a:r>
                <a:rPr b="0" lang="en-US" sz="135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,</a:t>
              </a:r>
              <a:endParaRPr b="0" sz="135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457200" marR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0" lang="en-US" sz="1350">
                  <a:solidFill>
                    <a:srgbClr val="38BDF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"arguments"</a:t>
              </a:r>
              <a:r>
                <a:rPr b="0" lang="en-US" sz="135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: { </a:t>
              </a:r>
              <a:r>
                <a:rPr b="0" lang="en-US" sz="1350">
                  <a:solidFill>
                    <a:srgbClr val="38BDF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"language"</a:t>
              </a:r>
              <a:r>
                <a:rPr b="0" lang="en-US" sz="135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: </a:t>
              </a:r>
              <a:r>
                <a:rPr b="0" lang="en-US" sz="1350">
                  <a:solidFill>
                    <a:srgbClr val="34D39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"Python"</a:t>
              </a:r>
              <a:r>
                <a:rPr b="0" lang="en-US" sz="135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}</a:t>
              </a:r>
              <a:endParaRPr b="0" sz="135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228600" marR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0" lang="en-US" sz="135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}</a:t>
              </a:r>
              <a:endParaRPr b="0" sz="135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0" lang="en-US" sz="135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}</a:t>
              </a:r>
              <a:endParaRPr b="0" sz="135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1234" name="Google Shape;1234;p35"/>
            <p:cNvSpPr/>
            <p:nvPr/>
          </p:nvSpPr>
          <p:spPr>
            <a:xfrm>
              <a:off x="5981700" y="647700"/>
              <a:ext cx="5334000" cy="6953400"/>
            </a:xfrm>
            <a:prstGeom prst="roundRect">
              <a:avLst>
                <a:gd fmla="val 1428" name="adj"/>
              </a:avLst>
            </a:prstGeom>
            <a:solidFill>
              <a:srgbClr val="162235"/>
            </a:solidFill>
            <a:ln cap="flat" cmpd="sng" w="9525">
              <a:solidFill>
                <a:srgbClr val="1E2D4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5" name="Google Shape;1235;p35"/>
            <p:cNvSpPr txBox="1"/>
            <p:nvPr/>
          </p:nvSpPr>
          <p:spPr>
            <a:xfrm>
              <a:off x="6210300" y="876300"/>
              <a:ext cx="4876800" cy="647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50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// Response</a:t>
              </a:r>
              <a:endParaRPr b="1" sz="135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1600"/>
                </a:spcBef>
                <a:spcAft>
                  <a:spcPts val="0"/>
                </a:spcAft>
                <a:buNone/>
              </a:pPr>
              <a:r>
                <a:rPr b="0" lang="en-US" sz="135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{</a:t>
              </a:r>
              <a:endParaRPr b="0" sz="135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228600" marR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0" lang="en-US" sz="1350">
                  <a:solidFill>
                    <a:srgbClr val="38BDF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"jsonrpc"</a:t>
              </a:r>
              <a:r>
                <a:rPr b="0" lang="en-US" sz="135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: </a:t>
              </a:r>
              <a:r>
                <a:rPr b="0" lang="en-US" sz="1350">
                  <a:solidFill>
                    <a:srgbClr val="34D39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"2.0"</a:t>
              </a:r>
              <a:r>
                <a:rPr b="0" lang="en-US" sz="135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,</a:t>
              </a:r>
              <a:endParaRPr b="0" sz="135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228600" marR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0" lang="en-US" sz="1350">
                  <a:solidFill>
                    <a:srgbClr val="38BDF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"id"</a:t>
              </a:r>
              <a:r>
                <a:rPr b="0" lang="en-US" sz="135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: </a:t>
              </a:r>
              <a:r>
                <a:rPr b="0" lang="en-US" sz="1350">
                  <a:solidFill>
                    <a:srgbClr val="F472B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1</a:t>
              </a:r>
              <a:r>
                <a:rPr b="0" lang="en-US" sz="135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,</a:t>
              </a:r>
              <a:endParaRPr b="0" sz="135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228600" marR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0" lang="en-US" sz="1350">
                  <a:solidFill>
                    <a:srgbClr val="38BDF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"result"</a:t>
              </a:r>
              <a:r>
                <a:rPr b="0" lang="en-US" sz="135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: {</a:t>
              </a:r>
              <a:endParaRPr b="0" sz="135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457200" marR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0" lang="en-US" sz="1350">
                  <a:solidFill>
                    <a:srgbClr val="38BDF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"messages"</a:t>
              </a:r>
              <a:r>
                <a:rPr b="0" lang="en-US" sz="135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: [</a:t>
              </a:r>
              <a:endParaRPr b="0" sz="135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685800" marR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0" lang="en-US" sz="135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{</a:t>
              </a:r>
              <a:endParaRPr b="0" sz="135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914400" marR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0" lang="en-US" sz="1350">
                  <a:solidFill>
                    <a:srgbClr val="38BDF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"role"</a:t>
              </a:r>
              <a:r>
                <a:rPr b="0" lang="en-US" sz="135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: </a:t>
              </a:r>
              <a:r>
                <a:rPr b="0" lang="en-US" sz="1350">
                  <a:solidFill>
                    <a:srgbClr val="34D39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"user"</a:t>
              </a:r>
              <a:r>
                <a:rPr b="0" lang="en-US" sz="135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,</a:t>
              </a:r>
              <a:endParaRPr b="0" sz="135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914400" marR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0" lang="en-US" sz="1350">
                  <a:solidFill>
                    <a:srgbClr val="38BDF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"content"</a:t>
              </a:r>
              <a:r>
                <a:rPr b="0" lang="en-US" sz="135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: {</a:t>
              </a:r>
              <a:endParaRPr b="0" sz="135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1143000" marR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0" lang="en-US" sz="1350">
                  <a:solidFill>
                    <a:srgbClr val="38BDF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"type"</a:t>
              </a:r>
              <a:r>
                <a:rPr b="0" lang="en-US" sz="135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: </a:t>
              </a:r>
              <a:r>
                <a:rPr b="0" lang="en-US" sz="1350">
                  <a:solidFill>
                    <a:srgbClr val="34D39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"text"</a:t>
              </a:r>
              <a:r>
                <a:rPr b="0" lang="en-US" sz="135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,</a:t>
              </a:r>
              <a:endParaRPr b="0" sz="135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1143000" marR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0" lang="en-US" sz="1350">
                  <a:solidFill>
                    <a:srgbClr val="38BDF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"text"</a:t>
              </a:r>
              <a:r>
                <a:rPr b="0" lang="en-US" sz="135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: </a:t>
              </a:r>
              <a:r>
                <a:rPr b="0" lang="en-US" sz="1350">
                  <a:solidFill>
                    <a:srgbClr val="34D39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"Review this Python code..."</a:t>
              </a:r>
              <a:endParaRPr b="0" sz="135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914400" marR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0" lang="en-US" sz="135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}</a:t>
              </a:r>
              <a:endParaRPr b="0" sz="135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685800" marR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0" lang="en-US" sz="135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}</a:t>
              </a:r>
              <a:endParaRPr b="0" sz="135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457200" marR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0" lang="en-US" sz="135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]</a:t>
              </a:r>
              <a:endParaRPr b="0" sz="135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228600" marR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0" lang="en-US" sz="135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}</a:t>
              </a:r>
              <a:endParaRPr b="0" sz="135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0" lang="en-US" sz="135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}</a:t>
              </a:r>
              <a:endParaRPr b="0" sz="135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grpSp>
        <p:nvGrpSpPr>
          <p:cNvPr id="1236" name="Google Shape;1236;p35"/>
          <p:cNvGrpSpPr/>
          <p:nvPr/>
        </p:nvGrpSpPr>
        <p:grpSpPr>
          <a:xfrm>
            <a:off x="0" y="9715500"/>
            <a:ext cx="18288000" cy="457350"/>
            <a:chOff x="0" y="0"/>
            <a:chExt cx="18288000" cy="457350"/>
          </a:xfrm>
        </p:grpSpPr>
        <p:cxnSp>
          <p:nvCxnSpPr>
            <p:cNvPr id="1237" name="Google Shape;1237;p35"/>
            <p:cNvCxnSpPr/>
            <p:nvPr/>
          </p:nvCxnSpPr>
          <p:spPr>
            <a:xfrm>
              <a:off x="0" y="0"/>
              <a:ext cx="182880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238" name="Google Shape;1238;p35"/>
            <p:cNvSpPr txBox="1"/>
            <p:nvPr/>
          </p:nvSpPr>
          <p:spPr>
            <a:xfrm>
              <a:off x="666750" y="171450"/>
              <a:ext cx="3810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64748B"/>
                  </a:solidFill>
                  <a:latin typeface="Roboto"/>
                  <a:ea typeface="Roboto"/>
                  <a:cs typeface="Roboto"/>
                  <a:sym typeface="Roboto"/>
                </a:rPr>
                <a:t>Criterion Proprietary &amp; Confidential</a:t>
              </a:r>
              <a:endParaRPr b="0" sz="1100">
                <a:solidFill>
                  <a:srgbClr val="64748B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Prompts (user-controlled templates)</a:t>
            </a:r>
          </a:p>
        </p:txBody>
      </p:sp>
      <p:pic>
        <p:nvPicPr>
          <p:cNvPr id="3" name="Picture 2" descr="d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315158"/>
            <a:ext cx="17190720" cy="620532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9281160"/>
            <a:ext cx="17190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444C56"/>
                </a:solidFill>
              </a:rPr>
              <a:t>Prompts are reusable, parameterized templates the user invokes (like a slash command). The server fills in the arguments and returns ready-to-run messages.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2" name="Shape 1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3" name="Google Shape;1243;p36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44" name="Google Shape;1244;p36"/>
          <p:cNvGrpSpPr/>
          <p:nvPr/>
        </p:nvGrpSpPr>
        <p:grpSpPr>
          <a:xfrm>
            <a:off x="0" y="0"/>
            <a:ext cx="5334000" cy="10287000"/>
            <a:chOff x="0" y="0"/>
            <a:chExt cx="5334000" cy="10287000"/>
          </a:xfrm>
        </p:grpSpPr>
        <p:sp>
          <p:nvSpPr>
            <p:cNvPr id="1245" name="Google Shape;1245;p36"/>
            <p:cNvSpPr/>
            <p:nvPr/>
          </p:nvSpPr>
          <p:spPr>
            <a:xfrm>
              <a:off x="0" y="0"/>
              <a:ext cx="5334000" cy="10287000"/>
            </a:xfrm>
            <a:prstGeom prst="rect">
              <a:avLst/>
            </a:prstGeom>
            <a:solidFill>
              <a:srgbClr val="0F172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246" name="Google Shape;1246;p36"/>
            <p:cNvCxnSpPr/>
            <p:nvPr/>
          </p:nvCxnSpPr>
          <p:spPr>
            <a:xfrm>
              <a:off x="5334000" y="0"/>
              <a:ext cx="0" cy="10287000"/>
            </a:xfrm>
            <a:prstGeom prst="straightConnector1">
              <a:avLst/>
            </a:prstGeom>
            <a:solidFill>
              <a:srgbClr val="FFFFFF"/>
            </a:solidFill>
            <a:ln cap="flat" cmpd="sng" w="19050">
              <a:solidFill>
                <a:srgbClr val="1E293B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247" name="Google Shape;1247;p36"/>
            <p:cNvSpPr txBox="1"/>
            <p:nvPr/>
          </p:nvSpPr>
          <p:spPr>
            <a:xfrm>
              <a:off x="666750" y="2857500"/>
              <a:ext cx="4000500" cy="457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00AEEF"/>
                  </a:solidFill>
                  <a:latin typeface="Roboto"/>
                  <a:ea typeface="Roboto"/>
                  <a:cs typeface="Roboto"/>
                  <a:sym typeface="Roboto"/>
                </a:rPr>
                <a:t>Technical Implementation</a:t>
              </a:r>
              <a:endParaRPr b="1" sz="1200">
                <a:solidFill>
                  <a:srgbClr val="00AEE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-US" sz="42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Elicitation</a:t>
              </a:r>
              <a:endParaRPr b="1" sz="4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-US" sz="4200">
                  <a:solidFill>
                    <a:srgbClr val="00AEEF"/>
                  </a:solidFill>
                  <a:latin typeface="Roboto"/>
                  <a:ea typeface="Roboto"/>
                  <a:cs typeface="Roboto"/>
                  <a:sym typeface="Roboto"/>
                </a:rPr>
                <a:t>Capability</a:t>
              </a:r>
              <a:endParaRPr b="1" sz="4200">
                <a:solidFill>
                  <a:srgbClr val="00AEE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94A3B8"/>
                  </a:solidFill>
                  <a:latin typeface="Roboto"/>
                  <a:ea typeface="Roboto"/>
                  <a:cs typeface="Roboto"/>
                  <a:sym typeface="Roboto"/>
                </a:rPr>
                <a:t>Overview of client user input request protocol specifications and schemas.</a:t>
              </a:r>
              <a:endParaRPr b="0" sz="1300">
                <a:solidFill>
                  <a:srgbClr val="94A3B8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248" name="Google Shape;1248;p36"/>
          <p:cNvSpPr txBox="1"/>
          <p:nvPr/>
        </p:nvSpPr>
        <p:spPr>
          <a:xfrm>
            <a:off x="5905500" y="571500"/>
            <a:ext cx="116205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0F1B2C"/>
                </a:solidFill>
                <a:latin typeface="Roboto"/>
                <a:ea typeface="Roboto"/>
                <a:cs typeface="Roboto"/>
                <a:sym typeface="Roboto"/>
              </a:rPr>
              <a:t>Protocol Methods &amp; Examples</a:t>
            </a:r>
            <a:endParaRPr b="1" sz="3000">
              <a:solidFill>
                <a:srgbClr val="0F1B2C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00AEEF"/>
                </a:solidFill>
                <a:latin typeface="Noto Sans"/>
                <a:ea typeface="Noto Sans"/>
                <a:cs typeface="Noto Sans"/>
                <a:sym typeface="Noto Sans"/>
              </a:rPr>
              <a:t>Elicitation Protocol Overview</a:t>
            </a:r>
            <a:endParaRPr b="1" sz="1300">
              <a:solidFill>
                <a:srgbClr val="00AEEF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grpSp>
        <p:nvGrpSpPr>
          <p:cNvPr id="1249" name="Google Shape;1249;p36"/>
          <p:cNvGrpSpPr/>
          <p:nvPr/>
        </p:nvGrpSpPr>
        <p:grpSpPr>
          <a:xfrm>
            <a:off x="5905500" y="1476375"/>
            <a:ext cx="11620500" cy="1047900"/>
            <a:chOff x="5905500" y="1476375"/>
            <a:chExt cx="11620500" cy="1047900"/>
          </a:xfrm>
        </p:grpSpPr>
        <p:sp>
          <p:nvSpPr>
            <p:cNvPr id="1250" name="Google Shape;1250;p36"/>
            <p:cNvSpPr/>
            <p:nvPr/>
          </p:nvSpPr>
          <p:spPr>
            <a:xfrm>
              <a:off x="5905500" y="1476375"/>
              <a:ext cx="11620500" cy="1047900"/>
            </a:xfrm>
            <a:prstGeom prst="roundRect">
              <a:avLst>
                <a:gd fmla="val 9090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1" name="Google Shape;1251;p36"/>
            <p:cNvSpPr/>
            <p:nvPr/>
          </p:nvSpPr>
          <p:spPr>
            <a:xfrm>
              <a:off x="5905500" y="1476375"/>
              <a:ext cx="57300" cy="1047900"/>
            </a:xfrm>
            <a:prstGeom prst="roundRect">
              <a:avLst>
                <a:gd fmla="val 50000" name="adj"/>
              </a:avLst>
            </a:prstGeom>
            <a:solidFill>
              <a:srgbClr val="00AEE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2" name="Google Shape;1252;p36"/>
            <p:cNvSpPr txBox="1"/>
            <p:nvPr/>
          </p:nvSpPr>
          <p:spPr>
            <a:xfrm>
              <a:off x="6153150" y="1476375"/>
              <a:ext cx="111444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5250" lIns="0" spcFirstLastPara="1" rIns="0" wrap="square" tIns="95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500">
                  <a:solidFill>
                    <a:srgbClr val="00AEEF"/>
                  </a:solidFill>
                  <a:latin typeface="Noto Sans"/>
                  <a:ea typeface="Noto Sans"/>
                  <a:cs typeface="Noto Sans"/>
                  <a:sym typeface="Noto Sans"/>
                </a:rPr>
                <a:t>Elicitation Protocol</a:t>
              </a:r>
              <a:endParaRPr b="1" sz="1500">
                <a:solidFill>
                  <a:srgbClr val="00AEEF"/>
                </a:solidFill>
                <a:latin typeface="Noto Sans"/>
                <a:ea typeface="Noto Sans"/>
                <a:cs typeface="Noto Sans"/>
                <a:sym typeface="Noto Sans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334155"/>
                  </a:solidFill>
                  <a:latin typeface="Noto Sans"/>
                  <a:ea typeface="Noto Sans"/>
                  <a:cs typeface="Noto Sans"/>
                  <a:sym typeface="Noto Sans"/>
                </a:rPr>
                <a:t>Allows servers to request user input through the client. The server specifies the type of input needed and the client prompts the user accordingly.</a:t>
              </a:r>
              <a:endParaRPr b="0" sz="1200">
                <a:solidFill>
                  <a:srgbClr val="334155"/>
                </a:solidFill>
                <a:latin typeface="Noto Sans"/>
                <a:ea typeface="Noto Sans"/>
                <a:cs typeface="Noto Sans"/>
                <a:sym typeface="Noto Sans"/>
              </a:endParaRPr>
            </a:p>
          </p:txBody>
        </p:sp>
      </p:grpSp>
      <p:grpSp>
        <p:nvGrpSpPr>
          <p:cNvPr id="1253" name="Google Shape;1253;p36"/>
          <p:cNvGrpSpPr/>
          <p:nvPr/>
        </p:nvGrpSpPr>
        <p:grpSpPr>
          <a:xfrm>
            <a:off x="5905500" y="2714625"/>
            <a:ext cx="11620500" cy="1238400"/>
            <a:chOff x="5905500" y="2714625"/>
            <a:chExt cx="11620500" cy="1238400"/>
          </a:xfrm>
        </p:grpSpPr>
        <p:sp>
          <p:nvSpPr>
            <p:cNvPr id="1254" name="Google Shape;1254;p36"/>
            <p:cNvSpPr txBox="1"/>
            <p:nvPr/>
          </p:nvSpPr>
          <p:spPr>
            <a:xfrm>
              <a:off x="5905500" y="2714625"/>
              <a:ext cx="11620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00AEEF"/>
                  </a:solidFill>
                  <a:latin typeface="Noto Sans"/>
                  <a:ea typeface="Noto Sans"/>
                  <a:cs typeface="Noto Sans"/>
                  <a:sym typeface="Noto Sans"/>
                </a:rPr>
                <a:t>Supported Input Types</a:t>
              </a:r>
              <a:endParaRPr b="1" sz="1300">
                <a:solidFill>
                  <a:srgbClr val="00AEEF"/>
                </a:solidFill>
                <a:latin typeface="Noto Sans"/>
                <a:ea typeface="Noto Sans"/>
                <a:cs typeface="Noto Sans"/>
                <a:sym typeface="Noto Sans"/>
              </a:endParaRPr>
            </a:p>
          </p:txBody>
        </p:sp>
        <p:sp>
          <p:nvSpPr>
            <p:cNvPr id="1255" name="Google Shape;1255;p36"/>
            <p:cNvSpPr/>
            <p:nvPr/>
          </p:nvSpPr>
          <p:spPr>
            <a:xfrm>
              <a:off x="5905500" y="3095625"/>
              <a:ext cx="2743200" cy="857400"/>
            </a:xfrm>
            <a:prstGeom prst="roundRect">
              <a:avLst>
                <a:gd fmla="val 8888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6" name="Google Shape;1256;p36"/>
            <p:cNvSpPr txBox="1"/>
            <p:nvPr/>
          </p:nvSpPr>
          <p:spPr>
            <a:xfrm>
              <a:off x="6048375" y="3095625"/>
              <a:ext cx="24576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00AEE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text</a:t>
              </a:r>
              <a:endParaRPr b="1" sz="1300">
                <a:solidFill>
                  <a:srgbClr val="00AEEF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475569"/>
                  </a:solidFill>
                  <a:latin typeface="Noto Sans"/>
                  <a:ea typeface="Noto Sans"/>
                  <a:cs typeface="Noto Sans"/>
                  <a:sym typeface="Noto Sans"/>
                </a:rPr>
                <a:t>Free-form text input</a:t>
              </a:r>
              <a:endParaRPr sz="1100">
                <a:solidFill>
                  <a:srgbClr val="475569"/>
                </a:solidFill>
                <a:latin typeface="Noto Sans"/>
                <a:ea typeface="Noto Sans"/>
                <a:cs typeface="Noto Sans"/>
                <a:sym typeface="Noto Sans"/>
              </a:endParaRPr>
            </a:p>
          </p:txBody>
        </p:sp>
        <p:sp>
          <p:nvSpPr>
            <p:cNvPr id="1257" name="Google Shape;1257;p36"/>
            <p:cNvSpPr/>
            <p:nvPr/>
          </p:nvSpPr>
          <p:spPr>
            <a:xfrm>
              <a:off x="8858250" y="3095625"/>
              <a:ext cx="2743200" cy="857400"/>
            </a:xfrm>
            <a:prstGeom prst="roundRect">
              <a:avLst>
                <a:gd fmla="val 8888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8" name="Google Shape;1258;p36"/>
            <p:cNvSpPr txBox="1"/>
            <p:nvPr/>
          </p:nvSpPr>
          <p:spPr>
            <a:xfrm>
              <a:off x="9001125" y="3095625"/>
              <a:ext cx="24576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00AEE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number</a:t>
              </a:r>
              <a:endParaRPr b="1" sz="1300">
                <a:solidFill>
                  <a:srgbClr val="00AEEF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475569"/>
                  </a:solidFill>
                  <a:latin typeface="Noto Sans"/>
                  <a:ea typeface="Noto Sans"/>
                  <a:cs typeface="Noto Sans"/>
                  <a:sym typeface="Noto Sans"/>
                </a:rPr>
                <a:t>Numeric input</a:t>
              </a:r>
              <a:endParaRPr sz="1100">
                <a:solidFill>
                  <a:srgbClr val="475569"/>
                </a:solidFill>
                <a:latin typeface="Noto Sans"/>
                <a:ea typeface="Noto Sans"/>
                <a:cs typeface="Noto Sans"/>
                <a:sym typeface="Noto Sans"/>
              </a:endParaRPr>
            </a:p>
          </p:txBody>
        </p:sp>
        <p:sp>
          <p:nvSpPr>
            <p:cNvPr id="1259" name="Google Shape;1259;p36"/>
            <p:cNvSpPr/>
            <p:nvPr/>
          </p:nvSpPr>
          <p:spPr>
            <a:xfrm>
              <a:off x="11811000" y="3095625"/>
              <a:ext cx="2743200" cy="857400"/>
            </a:xfrm>
            <a:prstGeom prst="roundRect">
              <a:avLst>
                <a:gd fmla="val 8888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0" name="Google Shape;1260;p36"/>
            <p:cNvSpPr txBox="1"/>
            <p:nvPr/>
          </p:nvSpPr>
          <p:spPr>
            <a:xfrm>
              <a:off x="11953875" y="3095625"/>
              <a:ext cx="24576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00AEE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boolean</a:t>
              </a:r>
              <a:endParaRPr b="1" sz="1300">
                <a:solidFill>
                  <a:srgbClr val="00AEEF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475569"/>
                  </a:solidFill>
                  <a:latin typeface="Noto Sans"/>
                  <a:ea typeface="Noto Sans"/>
                  <a:cs typeface="Noto Sans"/>
                  <a:sym typeface="Noto Sans"/>
                </a:rPr>
                <a:t>Yes/no or true/false</a:t>
              </a:r>
              <a:endParaRPr sz="1100">
                <a:solidFill>
                  <a:srgbClr val="475569"/>
                </a:solidFill>
                <a:latin typeface="Noto Sans"/>
                <a:ea typeface="Noto Sans"/>
                <a:cs typeface="Noto Sans"/>
                <a:sym typeface="Noto Sans"/>
              </a:endParaRPr>
            </a:p>
          </p:txBody>
        </p:sp>
        <p:sp>
          <p:nvSpPr>
            <p:cNvPr id="1261" name="Google Shape;1261;p36"/>
            <p:cNvSpPr/>
            <p:nvPr/>
          </p:nvSpPr>
          <p:spPr>
            <a:xfrm>
              <a:off x="14763750" y="3095625"/>
              <a:ext cx="2743200" cy="857400"/>
            </a:xfrm>
            <a:prstGeom prst="roundRect">
              <a:avLst>
                <a:gd fmla="val 8888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2" name="Google Shape;1262;p36"/>
            <p:cNvSpPr txBox="1"/>
            <p:nvPr/>
          </p:nvSpPr>
          <p:spPr>
            <a:xfrm>
              <a:off x="14906625" y="3095625"/>
              <a:ext cx="24576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00AEE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select</a:t>
              </a:r>
              <a:endParaRPr b="1" sz="1300">
                <a:solidFill>
                  <a:srgbClr val="00AEEF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475569"/>
                  </a:solidFill>
                  <a:latin typeface="Noto Sans"/>
                  <a:ea typeface="Noto Sans"/>
                  <a:cs typeface="Noto Sans"/>
                  <a:sym typeface="Noto Sans"/>
                </a:rPr>
                <a:t>Choice from predefined options</a:t>
              </a:r>
              <a:endParaRPr sz="1100">
                <a:solidFill>
                  <a:srgbClr val="475569"/>
                </a:solidFill>
                <a:latin typeface="Noto Sans"/>
                <a:ea typeface="Noto Sans"/>
                <a:cs typeface="Noto Sans"/>
                <a:sym typeface="Noto Sans"/>
              </a:endParaRPr>
            </a:p>
          </p:txBody>
        </p:sp>
      </p:grpSp>
      <p:grpSp>
        <p:nvGrpSpPr>
          <p:cNvPr id="1263" name="Google Shape;1263;p36"/>
          <p:cNvGrpSpPr/>
          <p:nvPr/>
        </p:nvGrpSpPr>
        <p:grpSpPr>
          <a:xfrm>
            <a:off x="5905500" y="4191000"/>
            <a:ext cx="11620500" cy="5143500"/>
            <a:chOff x="5905500" y="4191000"/>
            <a:chExt cx="11620500" cy="5143500"/>
          </a:xfrm>
        </p:grpSpPr>
        <p:sp>
          <p:nvSpPr>
            <p:cNvPr id="1264" name="Google Shape;1264;p36"/>
            <p:cNvSpPr/>
            <p:nvPr/>
          </p:nvSpPr>
          <p:spPr>
            <a:xfrm>
              <a:off x="5905500" y="4191000"/>
              <a:ext cx="11620500" cy="5143500"/>
            </a:xfrm>
            <a:prstGeom prst="roundRect">
              <a:avLst>
                <a:gd fmla="val 2222" name="adj"/>
              </a:avLst>
            </a:prstGeom>
            <a:solidFill>
              <a:srgbClr val="0F172A"/>
            </a:solidFill>
            <a:ln cap="flat" cmpd="sng" w="14300">
              <a:solidFill>
                <a:srgbClr val="1E29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5" name="Google Shape;1265;p36"/>
            <p:cNvSpPr/>
            <p:nvPr/>
          </p:nvSpPr>
          <p:spPr>
            <a:xfrm>
              <a:off x="5905500" y="4191000"/>
              <a:ext cx="11620500" cy="438300"/>
            </a:xfrm>
            <a:custGeom>
              <a:rect b="b" l="l" r="r" t="t"/>
              <a:pathLst>
                <a:path extrusionOk="0" h="120000" w="120000">
                  <a:moveTo>
                    <a:pt x="0" y="31304"/>
                  </a:moveTo>
                  <a:cubicBezTo>
                    <a:pt x="0" y="14009"/>
                    <a:pt x="528" y="0"/>
                    <a:pt x="1180" y="0"/>
                  </a:cubicBezTo>
                  <a:lnTo>
                    <a:pt x="118820" y="0"/>
                  </a:lnTo>
                  <a:cubicBezTo>
                    <a:pt x="119472" y="0"/>
                    <a:pt x="120000" y="14009"/>
                    <a:pt x="120000" y="31304"/>
                  </a:cubicBezTo>
                  <a:lnTo>
                    <a:pt x="12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6" name="Google Shape;1266;p36"/>
            <p:cNvSpPr/>
            <p:nvPr/>
          </p:nvSpPr>
          <p:spPr>
            <a:xfrm>
              <a:off x="6019800" y="4352925"/>
              <a:ext cx="114300" cy="114300"/>
            </a:xfrm>
            <a:prstGeom prst="ellipse">
              <a:avLst/>
            </a:prstGeom>
            <a:solidFill>
              <a:srgbClr val="EF44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7" name="Google Shape;1267;p36"/>
            <p:cNvSpPr/>
            <p:nvPr/>
          </p:nvSpPr>
          <p:spPr>
            <a:xfrm>
              <a:off x="6210300" y="4352925"/>
              <a:ext cx="114300" cy="114300"/>
            </a:xfrm>
            <a:prstGeom prst="ellipse">
              <a:avLst/>
            </a:prstGeom>
            <a:solidFill>
              <a:srgbClr val="F59E0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8" name="Google Shape;1268;p36"/>
            <p:cNvSpPr/>
            <p:nvPr/>
          </p:nvSpPr>
          <p:spPr>
            <a:xfrm>
              <a:off x="6400800" y="4352925"/>
              <a:ext cx="114300" cy="114300"/>
            </a:xfrm>
            <a:prstGeom prst="ellipse">
              <a:avLst/>
            </a:prstGeom>
            <a:solidFill>
              <a:srgbClr val="10B98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9" name="Google Shape;1269;p36"/>
            <p:cNvSpPr txBox="1"/>
            <p:nvPr/>
          </p:nvSpPr>
          <p:spPr>
            <a:xfrm>
              <a:off x="6762750" y="4191000"/>
              <a:ext cx="9906000" cy="43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94A3B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elicitation_payload.json</a:t>
              </a:r>
              <a:endParaRPr sz="1100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1270" name="Google Shape;1270;p36"/>
            <p:cNvSpPr/>
            <p:nvPr/>
          </p:nvSpPr>
          <p:spPr>
            <a:xfrm>
              <a:off x="6076950" y="4762500"/>
              <a:ext cx="5476800" cy="4429200"/>
            </a:xfrm>
            <a:prstGeom prst="roundRect">
              <a:avLst>
                <a:gd fmla="val 1720" name="adj"/>
              </a:avLst>
            </a:prstGeom>
            <a:solidFill>
              <a:srgbClr val="162235"/>
            </a:solidFill>
            <a:ln cap="flat" cmpd="sng" w="9525">
              <a:solidFill>
                <a:srgbClr val="1E2D4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1" name="Google Shape;1271;p36"/>
            <p:cNvSpPr txBox="1"/>
            <p:nvPr/>
          </p:nvSpPr>
          <p:spPr>
            <a:xfrm>
              <a:off x="6267450" y="4905375"/>
              <a:ext cx="5095800" cy="414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50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// Request</a:t>
              </a:r>
              <a:endParaRPr b="1" sz="125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1050"/>
                </a:spcBef>
                <a:spcAft>
                  <a:spcPts val="0"/>
                </a:spcAft>
                <a:buNone/>
              </a:pPr>
              <a:r>
                <a:rPr lang="en-US" sz="125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{</a:t>
              </a:r>
              <a:endParaRPr sz="125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171450" marR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-US" sz="1250">
                  <a:solidFill>
                    <a:srgbClr val="38BDF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"jsonrpc"</a:t>
              </a:r>
              <a:r>
                <a:rPr lang="en-US" sz="125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: </a:t>
              </a:r>
              <a:r>
                <a:rPr lang="en-US" sz="1250">
                  <a:solidFill>
                    <a:srgbClr val="34D39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"2.0"</a:t>
              </a:r>
              <a:r>
                <a:rPr lang="en-US" sz="125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,</a:t>
              </a:r>
              <a:endParaRPr sz="125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171450" marR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-US" sz="1250">
                  <a:solidFill>
                    <a:srgbClr val="38BDF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"id"</a:t>
              </a:r>
              <a:r>
                <a:rPr lang="en-US" sz="125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: </a:t>
              </a:r>
              <a:r>
                <a:rPr lang="en-US" sz="1250">
                  <a:solidFill>
                    <a:srgbClr val="F472B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1</a:t>
              </a:r>
              <a:r>
                <a:rPr lang="en-US" sz="125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,</a:t>
              </a:r>
              <a:endParaRPr sz="125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171450" marR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-US" sz="1250">
                  <a:solidFill>
                    <a:srgbClr val="38BDF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"method"</a:t>
              </a:r>
              <a:r>
                <a:rPr lang="en-US" sz="125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: </a:t>
              </a:r>
              <a:r>
                <a:rPr lang="en-US" sz="1250">
                  <a:solidFill>
                    <a:srgbClr val="34D39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"elicitation/request"</a:t>
              </a:r>
              <a:r>
                <a:rPr lang="en-US" sz="125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,</a:t>
              </a:r>
              <a:endParaRPr sz="125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171450" marR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-US" sz="1250">
                  <a:solidFill>
                    <a:srgbClr val="38BDF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"params"</a:t>
              </a:r>
              <a:r>
                <a:rPr lang="en-US" sz="125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: {</a:t>
              </a:r>
              <a:endParaRPr sz="125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342900" marR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-US" sz="1250">
                  <a:solidFill>
                    <a:srgbClr val="38BDF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"prompt"</a:t>
              </a:r>
              <a:r>
                <a:rPr lang="en-US" sz="125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: </a:t>
              </a:r>
              <a:r>
                <a:rPr lang="en-US" sz="1250">
                  <a:solidFill>
                    <a:srgbClr val="34D39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"Enter API key"</a:t>
              </a:r>
              <a:r>
                <a:rPr lang="en-US" sz="125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,</a:t>
              </a:r>
              <a:endParaRPr sz="125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342900" marR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-US" sz="1250">
                  <a:solidFill>
                    <a:srgbClr val="38BDF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"inputType"</a:t>
              </a:r>
              <a:r>
                <a:rPr lang="en-US" sz="125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: </a:t>
              </a:r>
              <a:r>
                <a:rPr lang="en-US" sz="1250">
                  <a:solidFill>
                    <a:srgbClr val="34D39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"text"</a:t>
              </a:r>
              <a:endParaRPr sz="125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171450" marR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-US" sz="125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}</a:t>
              </a:r>
              <a:endParaRPr sz="125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-US" sz="125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}</a:t>
              </a:r>
              <a:endParaRPr sz="125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1272" name="Google Shape;1272;p36"/>
            <p:cNvSpPr/>
            <p:nvPr/>
          </p:nvSpPr>
          <p:spPr>
            <a:xfrm>
              <a:off x="11877675" y="4762500"/>
              <a:ext cx="5476800" cy="4429200"/>
            </a:xfrm>
            <a:prstGeom prst="roundRect">
              <a:avLst>
                <a:gd fmla="val 1720" name="adj"/>
              </a:avLst>
            </a:prstGeom>
            <a:solidFill>
              <a:srgbClr val="162235"/>
            </a:solidFill>
            <a:ln cap="flat" cmpd="sng" w="9525">
              <a:solidFill>
                <a:srgbClr val="1E2D4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3" name="Google Shape;1273;p36"/>
            <p:cNvSpPr txBox="1"/>
            <p:nvPr/>
          </p:nvSpPr>
          <p:spPr>
            <a:xfrm>
              <a:off x="12068175" y="4905375"/>
              <a:ext cx="5095800" cy="414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50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// Response</a:t>
              </a:r>
              <a:endParaRPr b="1" sz="125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1050"/>
                </a:spcBef>
                <a:spcAft>
                  <a:spcPts val="0"/>
                </a:spcAft>
                <a:buNone/>
              </a:pPr>
              <a:r>
                <a:rPr lang="en-US" sz="125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{</a:t>
              </a:r>
              <a:endParaRPr sz="125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171450" marR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-US" sz="1250">
                  <a:solidFill>
                    <a:srgbClr val="38BDF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"jsonrpc"</a:t>
              </a:r>
              <a:r>
                <a:rPr lang="en-US" sz="125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: </a:t>
              </a:r>
              <a:r>
                <a:rPr lang="en-US" sz="1250">
                  <a:solidFill>
                    <a:srgbClr val="34D39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"2.0"</a:t>
              </a:r>
              <a:r>
                <a:rPr lang="en-US" sz="125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,</a:t>
              </a:r>
              <a:endParaRPr sz="125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171450" marR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-US" sz="1250">
                  <a:solidFill>
                    <a:srgbClr val="38BDF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"id"</a:t>
              </a:r>
              <a:r>
                <a:rPr lang="en-US" sz="125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: </a:t>
              </a:r>
              <a:r>
                <a:rPr lang="en-US" sz="1250">
                  <a:solidFill>
                    <a:srgbClr val="F472B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1</a:t>
              </a:r>
              <a:r>
                <a:rPr lang="en-US" sz="125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,</a:t>
              </a:r>
              <a:endParaRPr sz="125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171450" marR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-US" sz="1250">
                  <a:solidFill>
                    <a:srgbClr val="38BDF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"result"</a:t>
              </a:r>
              <a:r>
                <a:rPr lang="en-US" sz="125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: {</a:t>
              </a:r>
              <a:endParaRPr sz="125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342900" marR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-US" sz="1250">
                  <a:solidFill>
                    <a:srgbClr val="38BDF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"input"</a:t>
              </a:r>
              <a:r>
                <a:rPr lang="en-US" sz="125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: </a:t>
              </a:r>
              <a:r>
                <a:rPr lang="en-US" sz="1250">
                  <a:solidFill>
                    <a:srgbClr val="34D39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"sk-abc123..."</a:t>
              </a:r>
              <a:endParaRPr sz="125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171450" marR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-US" sz="125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}</a:t>
              </a:r>
              <a:endParaRPr sz="125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-US" sz="125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}</a:t>
              </a:r>
              <a:endParaRPr sz="125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grpSp>
        <p:nvGrpSpPr>
          <p:cNvPr id="1274" name="Google Shape;1274;p36"/>
          <p:cNvGrpSpPr/>
          <p:nvPr/>
        </p:nvGrpSpPr>
        <p:grpSpPr>
          <a:xfrm>
            <a:off x="0" y="9715500"/>
            <a:ext cx="18288000" cy="457350"/>
            <a:chOff x="0" y="9715500"/>
            <a:chExt cx="18288000" cy="457350"/>
          </a:xfrm>
        </p:grpSpPr>
        <p:cxnSp>
          <p:nvCxnSpPr>
            <p:cNvPr id="1275" name="Google Shape;1275;p36"/>
            <p:cNvCxnSpPr/>
            <p:nvPr/>
          </p:nvCxnSpPr>
          <p:spPr>
            <a:xfrm>
              <a:off x="0" y="9715500"/>
              <a:ext cx="182880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276" name="Google Shape;1276;p36"/>
            <p:cNvSpPr txBox="1"/>
            <p:nvPr/>
          </p:nvSpPr>
          <p:spPr>
            <a:xfrm>
              <a:off x="666750" y="9886950"/>
              <a:ext cx="3810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64748B"/>
                  </a:solidFill>
                  <a:latin typeface="Roboto"/>
                  <a:ea typeface="Roboto"/>
                  <a:cs typeface="Roboto"/>
                  <a:sym typeface="Roboto"/>
                </a:rPr>
                <a:t>Criterion Proprietary &amp; Confidential</a:t>
              </a:r>
              <a:endParaRPr sz="1100">
                <a:solidFill>
                  <a:srgbClr val="64748B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Elicitation (server asks, user answers) + graceful degrade</a:t>
            </a:r>
          </a:p>
        </p:txBody>
      </p:sp>
      <p:pic>
        <p:nvPicPr>
          <p:cNvPr id="3" name="Picture 2" descr="d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5316" y="1600200"/>
            <a:ext cx="10557368" cy="7635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9281160"/>
            <a:ext cx="17190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444C56"/>
                </a:solidFill>
              </a:rPr>
              <a:t>Elicitation lets the server pause mid-tool to ask the user a question. Clients without the capability don't break — the server degrades gracefully instead of hanging.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0" name="Shape 1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1" name="Google Shape;1281;p37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sp>
          <p:nvSpPr>
            <p:cNvPr id="1282" name="Google Shape;1282;p37"/>
            <p:cNvSpPr/>
            <p:nvPr/>
          </p:nvSpPr>
          <p:spPr>
            <a:xfrm>
              <a:off x="0" y="0"/>
              <a:ext cx="18288000" cy="10287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283" name="Google Shape;1283;p37"/>
            <p:cNvGrpSpPr/>
            <p:nvPr/>
          </p:nvGrpSpPr>
          <p:grpSpPr>
            <a:xfrm>
              <a:off x="0" y="0"/>
              <a:ext cx="5334000" cy="10287000"/>
              <a:chOff x="0" y="0"/>
              <a:chExt cx="5334000" cy="10287000"/>
            </a:xfrm>
          </p:grpSpPr>
          <p:sp>
            <p:nvSpPr>
              <p:cNvPr id="1284" name="Google Shape;1284;p37"/>
              <p:cNvSpPr/>
              <p:nvPr/>
            </p:nvSpPr>
            <p:spPr>
              <a:xfrm>
                <a:off x="0" y="0"/>
                <a:ext cx="5334000" cy="10287000"/>
              </a:xfrm>
              <a:prstGeom prst="rect">
                <a:avLst/>
              </a:prstGeom>
              <a:solidFill>
                <a:srgbClr val="0F172A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1285" name="Google Shape;1285;p37"/>
              <p:cNvCxnSpPr/>
              <p:nvPr/>
            </p:nvCxnSpPr>
            <p:spPr>
              <a:xfrm>
                <a:off x="5334000" y="0"/>
                <a:ext cx="0" cy="1028700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19050">
                <a:solidFill>
                  <a:srgbClr val="1E293B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1286" name="Google Shape;1286;p37"/>
              <p:cNvSpPr txBox="1"/>
              <p:nvPr/>
            </p:nvSpPr>
            <p:spPr>
              <a:xfrm>
                <a:off x="666750" y="2857500"/>
                <a:ext cx="4000500" cy="457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200">
                    <a:solidFill>
                      <a:srgbClr val="00AEEF"/>
                    </a:solidFill>
                    <a:latin typeface="Roboto"/>
                    <a:ea typeface="Roboto"/>
                    <a:cs typeface="Roboto"/>
                    <a:sym typeface="Roboto"/>
                  </a:rPr>
                  <a:t>TECHNICAL IMPLEMENTATION</a:t>
                </a:r>
                <a:endParaRPr b="1" sz="1200">
                  <a:solidFill>
                    <a:srgbClr val="00AEEF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  <a:p>
                <a:pPr indent="0" lvl="0" marL="0" rtl="0" algn="l">
                  <a:spcBef>
                    <a:spcPts val="1200"/>
                  </a:spcBef>
                  <a:spcAft>
                    <a:spcPts val="0"/>
                  </a:spcAft>
                  <a:buNone/>
                </a:pPr>
                <a:r>
                  <a:rPr b="1" lang="en-US" sz="4200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rPr>
                  <a:t>Notification</a:t>
                </a:r>
                <a:endParaRPr b="1" sz="1200">
                  <a:solidFill>
                    <a:srgbClr val="00AEEF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  <a:p>
                <a:pPr indent="0" lvl="0" marL="0" rtl="0" algn="l">
                  <a:spcBef>
                    <a:spcPts val="400"/>
                  </a:spcBef>
                  <a:spcAft>
                    <a:spcPts val="0"/>
                  </a:spcAft>
                  <a:buNone/>
                </a:pPr>
                <a:r>
                  <a:rPr b="1" lang="en-US" sz="4200">
                    <a:solidFill>
                      <a:srgbClr val="00AEEF"/>
                    </a:solidFill>
                    <a:latin typeface="Roboto"/>
                    <a:ea typeface="Roboto"/>
                    <a:cs typeface="Roboto"/>
                    <a:sym typeface="Roboto"/>
                  </a:rPr>
                  <a:t>System</a:t>
                </a:r>
                <a:endParaRPr b="1" sz="1200">
                  <a:solidFill>
                    <a:srgbClr val="00AEEF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  <a:p>
                <a:pPr indent="0" lvl="0" marL="0" rtl="0" algn="l">
                  <a:spcBef>
                    <a:spcPts val="1600"/>
                  </a:spcBef>
                  <a:spcAft>
                    <a:spcPts val="0"/>
                  </a:spcAft>
                  <a:buNone/>
                </a:pPr>
                <a:r>
                  <a:rPr b="0" lang="en-US" sz="1300">
                    <a:solidFill>
                      <a:srgbClr val="64748B"/>
                    </a:solidFill>
                    <a:latin typeface="Roboto"/>
                    <a:ea typeface="Roboto"/>
                    <a:cs typeface="Roboto"/>
                    <a:sym typeface="Roboto"/>
                  </a:rPr>
                  <a:t>Overview of server-to-client one-way notification events, capability changes, resource updates, and progress tracking.</a:t>
                </a:r>
                <a:endParaRPr b="1" sz="1200">
                  <a:solidFill>
                    <a:srgbClr val="00AEEF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sp>
          <p:nvSpPr>
            <p:cNvPr id="1287" name="Google Shape;1287;p37"/>
            <p:cNvSpPr txBox="1"/>
            <p:nvPr/>
          </p:nvSpPr>
          <p:spPr>
            <a:xfrm>
              <a:off x="5905500" y="571500"/>
              <a:ext cx="11620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000">
                  <a:solidFill>
                    <a:srgbClr val="0F1B2C"/>
                  </a:solidFill>
                  <a:latin typeface="Roboto"/>
                  <a:ea typeface="Roboto"/>
                  <a:cs typeface="Roboto"/>
                  <a:sym typeface="Roboto"/>
                </a:rPr>
                <a:t>Protocol Methods &amp; Examples</a:t>
              </a:r>
              <a:endParaRPr b="1" sz="3000">
                <a:solidFill>
                  <a:srgbClr val="0F1B2C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00AEEF"/>
                  </a:solidFill>
                  <a:latin typeface="Noto Sans"/>
                  <a:ea typeface="Noto Sans"/>
                  <a:cs typeface="Noto Sans"/>
                  <a:sym typeface="Noto Sans"/>
                </a:rPr>
                <a:t>Notification Types &amp; Implementation</a:t>
              </a:r>
              <a:endParaRPr b="1" sz="1300">
                <a:solidFill>
                  <a:srgbClr val="0F1B2C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1288" name="Google Shape;1288;p37"/>
            <p:cNvGrpSpPr/>
            <p:nvPr/>
          </p:nvGrpSpPr>
          <p:grpSpPr>
            <a:xfrm>
              <a:off x="5905500" y="1476375"/>
              <a:ext cx="11620500" cy="762000"/>
              <a:chOff x="0" y="0"/>
              <a:chExt cx="11620500" cy="762000"/>
            </a:xfrm>
          </p:grpSpPr>
          <p:sp>
            <p:nvSpPr>
              <p:cNvPr id="1289" name="Google Shape;1289;p37"/>
              <p:cNvSpPr/>
              <p:nvPr/>
            </p:nvSpPr>
            <p:spPr>
              <a:xfrm>
                <a:off x="0" y="0"/>
                <a:ext cx="11620500" cy="762000"/>
              </a:xfrm>
              <a:prstGeom prst="roundRect">
                <a:avLst>
                  <a:gd fmla="val 12500" name="adj"/>
                </a:avLst>
              </a:prstGeom>
              <a:solidFill>
                <a:srgbClr val="F8FAFC"/>
              </a:solidFill>
              <a:ln cap="flat" cmpd="sng" w="14300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0" name="Google Shape;1290;p37"/>
              <p:cNvSpPr/>
              <p:nvPr/>
            </p:nvSpPr>
            <p:spPr>
              <a:xfrm>
                <a:off x="0" y="0"/>
                <a:ext cx="57300" cy="762000"/>
              </a:xfrm>
              <a:prstGeom prst="roundRect">
                <a:avLst>
                  <a:gd fmla="val 50000" name="adj"/>
                </a:avLst>
              </a:prstGeom>
              <a:solidFill>
                <a:srgbClr val="00AEE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1" name="Google Shape;1291;p37"/>
              <p:cNvSpPr txBox="1"/>
              <p:nvPr/>
            </p:nvSpPr>
            <p:spPr>
              <a:xfrm>
                <a:off x="247650" y="0"/>
                <a:ext cx="111444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400">
                    <a:solidFill>
                      <a:srgbClr val="00AEEF"/>
                    </a:solidFill>
                    <a:latin typeface="Noto Sans"/>
                    <a:ea typeface="Noto Sans"/>
                    <a:cs typeface="Noto Sans"/>
                    <a:sym typeface="Noto Sans"/>
                  </a:rPr>
                  <a:t>Notification Types</a:t>
                </a:r>
                <a:endParaRPr b="1" sz="1400">
                  <a:solidFill>
                    <a:srgbClr val="00AEEF"/>
                  </a:solidFill>
                  <a:latin typeface="Noto Sans"/>
                  <a:ea typeface="Noto Sans"/>
                  <a:cs typeface="Noto Sans"/>
                  <a:sym typeface="Noto Sans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en-US" sz="1200">
                    <a:solidFill>
                      <a:srgbClr val="334155"/>
                    </a:solidFill>
                    <a:latin typeface="Noto Sans"/>
                    <a:ea typeface="Noto Sans"/>
                    <a:cs typeface="Noto Sans"/>
                    <a:sym typeface="Noto Sans"/>
                  </a:rPr>
                  <a:t>One-way messages sent from server to client without expecting a response.</a:t>
                </a:r>
                <a:endParaRPr b="1" sz="1200">
                  <a:solidFill>
                    <a:srgbClr val="00AEEF"/>
                  </a:solidFill>
                  <a:latin typeface="Noto Sans"/>
                  <a:ea typeface="Noto Sans"/>
                  <a:cs typeface="Noto Sans"/>
                  <a:sym typeface="Noto Sans"/>
                </a:endParaRPr>
              </a:p>
            </p:txBody>
          </p:sp>
        </p:grpSp>
        <p:grpSp>
          <p:nvGrpSpPr>
            <p:cNvPr id="1292" name="Google Shape;1292;p37"/>
            <p:cNvGrpSpPr/>
            <p:nvPr/>
          </p:nvGrpSpPr>
          <p:grpSpPr>
            <a:xfrm>
              <a:off x="5905500" y="2428875"/>
              <a:ext cx="11620500" cy="2381400"/>
              <a:chOff x="5905500" y="2428875"/>
              <a:chExt cx="11620500" cy="2381400"/>
            </a:xfrm>
          </p:grpSpPr>
          <p:grpSp>
            <p:nvGrpSpPr>
              <p:cNvPr id="1293" name="Google Shape;1293;p37"/>
              <p:cNvGrpSpPr/>
              <p:nvPr/>
            </p:nvGrpSpPr>
            <p:grpSpPr>
              <a:xfrm>
                <a:off x="5905500" y="2428875"/>
                <a:ext cx="5676900" cy="2381400"/>
                <a:chOff x="0" y="0"/>
                <a:chExt cx="5676900" cy="2381400"/>
              </a:xfrm>
            </p:grpSpPr>
            <p:sp>
              <p:nvSpPr>
                <p:cNvPr id="1294" name="Google Shape;1294;p37"/>
                <p:cNvSpPr/>
                <p:nvPr/>
              </p:nvSpPr>
              <p:spPr>
                <a:xfrm>
                  <a:off x="0" y="0"/>
                  <a:ext cx="5676900" cy="2381400"/>
                </a:xfrm>
                <a:prstGeom prst="roundRect">
                  <a:avLst>
                    <a:gd fmla="val 4000" name="adj"/>
                  </a:avLst>
                </a:prstGeom>
                <a:solidFill>
                  <a:srgbClr val="F8FAFC"/>
                </a:solidFill>
                <a:ln cap="flat" cmpd="sng" w="14300">
                  <a:solidFill>
                    <a:srgbClr val="E2E8F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95" name="Google Shape;1295;p37"/>
                <p:cNvSpPr txBox="1"/>
                <p:nvPr/>
              </p:nvSpPr>
              <p:spPr>
                <a:xfrm>
                  <a:off x="228600" y="190500"/>
                  <a:ext cx="5219700" cy="20001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-US" sz="1400">
                      <a:solidFill>
                        <a:srgbClr val="00AEEF"/>
                      </a:solidFill>
                      <a:latin typeface="Noto Sans"/>
                      <a:ea typeface="Noto Sans"/>
                      <a:cs typeface="Noto Sans"/>
                      <a:sym typeface="Noto Sans"/>
                    </a:rPr>
                    <a:t>1. Capability Updates</a:t>
                  </a:r>
                  <a:endParaRPr b="1" sz="1400">
                    <a:solidFill>
                      <a:srgbClr val="00AEEF"/>
                    </a:solidFill>
                    <a:latin typeface="Noto Sans"/>
                    <a:ea typeface="Noto Sans"/>
                    <a:cs typeface="Noto Sans"/>
                    <a:sym typeface="Noto Sans"/>
                  </a:endParaRPr>
                </a:p>
                <a:p>
                  <a:pPr indent="-298450" lvl="0" marL="457200" rtl="0" algn="l">
                    <a:spcBef>
                      <a:spcPts val="1200"/>
                    </a:spcBef>
                    <a:spcAft>
                      <a:spcPts val="0"/>
                    </a:spcAft>
                    <a:buClr>
                      <a:srgbClr val="334155"/>
                    </a:buClr>
                    <a:buSzPts val="1100"/>
                    <a:buFont typeface="Noto Sans"/>
                    <a:buChar char="●"/>
                  </a:pPr>
                  <a:r>
                    <a:rPr b="1" lang="en-US" sz="1100">
                      <a:solidFill>
                        <a:srgbClr val="0F1B2C"/>
                      </a:solidFill>
                      <a:latin typeface="Courier New"/>
                      <a:ea typeface="Courier New"/>
                      <a:cs typeface="Courier New"/>
                      <a:sym typeface="Courier New"/>
                    </a:rPr>
                    <a:t>notifications/initialized</a:t>
                  </a:r>
                  <a:br>
                    <a:rPr b="0" lang="en-US" sz="1100">
                      <a:solidFill>
                        <a:srgbClr val="334155"/>
                      </a:solidFill>
                      <a:latin typeface="Noto Sans"/>
                      <a:ea typeface="Noto Sans"/>
                      <a:cs typeface="Noto Sans"/>
                      <a:sym typeface="Noto Sans"/>
                    </a:rPr>
                  </a:br>
                  <a:r>
                    <a:rPr b="0" lang="en-US" sz="1100">
                      <a:solidFill>
                        <a:srgbClr val="64748B"/>
                      </a:solidFill>
                      <a:latin typeface="Noto Sans"/>
                      <a:ea typeface="Noto Sans"/>
                      <a:cs typeface="Noto Sans"/>
                      <a:sym typeface="Noto Sans"/>
                    </a:rPr>
                    <a:t>Server ready after initialization</a:t>
                  </a:r>
                  <a:endParaRPr b="0" sz="1100">
                    <a:solidFill>
                      <a:srgbClr val="334155"/>
                    </a:solidFill>
                    <a:latin typeface="Noto Sans"/>
                    <a:ea typeface="Noto Sans"/>
                    <a:cs typeface="Noto Sans"/>
                    <a:sym typeface="Noto Sans"/>
                  </a:endParaRPr>
                </a:p>
                <a:p>
                  <a:pPr indent="-298450" lvl="0" marL="457200" rtl="0" algn="l">
                    <a:spcBef>
                      <a:spcPts val="800"/>
                    </a:spcBef>
                    <a:spcAft>
                      <a:spcPts val="0"/>
                    </a:spcAft>
                    <a:buClr>
                      <a:srgbClr val="334155"/>
                    </a:buClr>
                    <a:buSzPts val="1100"/>
                    <a:buFont typeface="Noto Sans"/>
                    <a:buChar char="●"/>
                  </a:pPr>
                  <a:r>
                    <a:rPr b="1" lang="en-US" sz="1100">
                      <a:solidFill>
                        <a:srgbClr val="0F1B2C"/>
                      </a:solidFill>
                      <a:latin typeface="Courier New"/>
                      <a:ea typeface="Courier New"/>
                      <a:cs typeface="Courier New"/>
                      <a:sym typeface="Courier New"/>
                    </a:rPr>
                    <a:t>notifications/tools/list_changed</a:t>
                  </a:r>
                  <a:br>
                    <a:rPr b="0" lang="en-US" sz="1100">
                      <a:solidFill>
                        <a:srgbClr val="334155"/>
                      </a:solidFill>
                      <a:latin typeface="Noto Sans"/>
                      <a:ea typeface="Noto Sans"/>
                      <a:cs typeface="Noto Sans"/>
                      <a:sym typeface="Noto Sans"/>
                    </a:rPr>
                  </a:br>
                  <a:r>
                    <a:rPr b="0" lang="en-US" sz="1100">
                      <a:solidFill>
                        <a:srgbClr val="64748B"/>
                      </a:solidFill>
                      <a:latin typeface="Noto Sans"/>
                      <a:ea typeface="Noto Sans"/>
                      <a:cs typeface="Noto Sans"/>
                      <a:sym typeface="Noto Sans"/>
                    </a:rPr>
                    <a:t>Available tools updated</a:t>
                  </a:r>
                  <a:endParaRPr b="0" sz="1100">
                    <a:solidFill>
                      <a:srgbClr val="334155"/>
                    </a:solidFill>
                    <a:latin typeface="Noto Sans"/>
                    <a:ea typeface="Noto Sans"/>
                    <a:cs typeface="Noto Sans"/>
                    <a:sym typeface="Noto Sans"/>
                  </a:endParaRPr>
                </a:p>
                <a:p>
                  <a:pPr indent="-298450" lvl="0" marL="457200" rtl="0" algn="l">
                    <a:spcBef>
                      <a:spcPts val="800"/>
                    </a:spcBef>
                    <a:spcAft>
                      <a:spcPts val="0"/>
                    </a:spcAft>
                    <a:buClr>
                      <a:srgbClr val="334155"/>
                    </a:buClr>
                    <a:buSzPts val="1100"/>
                    <a:buFont typeface="Noto Sans"/>
                    <a:buChar char="●"/>
                  </a:pPr>
                  <a:r>
                    <a:rPr b="1" lang="en-US" sz="1100">
                      <a:solidFill>
                        <a:srgbClr val="0F1B2C"/>
                      </a:solidFill>
                      <a:latin typeface="Courier New"/>
                      <a:ea typeface="Courier New"/>
                      <a:cs typeface="Courier New"/>
                      <a:sym typeface="Courier New"/>
                    </a:rPr>
                    <a:t>notifications/resources/list_changed</a:t>
                  </a:r>
                  <a:br>
                    <a:rPr b="0" lang="en-US" sz="1100">
                      <a:solidFill>
                        <a:srgbClr val="334155"/>
                      </a:solidFill>
                      <a:latin typeface="Noto Sans"/>
                      <a:ea typeface="Noto Sans"/>
                      <a:cs typeface="Noto Sans"/>
                      <a:sym typeface="Noto Sans"/>
                    </a:rPr>
                  </a:br>
                  <a:r>
                    <a:rPr b="0" lang="en-US" sz="1100">
                      <a:solidFill>
                        <a:srgbClr val="64748B"/>
                      </a:solidFill>
                      <a:latin typeface="Noto Sans"/>
                      <a:ea typeface="Noto Sans"/>
                      <a:cs typeface="Noto Sans"/>
                      <a:sym typeface="Noto Sans"/>
                    </a:rPr>
                    <a:t>Resource list changed</a:t>
                  </a:r>
                  <a:endParaRPr b="0" sz="1100">
                    <a:solidFill>
                      <a:srgbClr val="334155"/>
                    </a:solidFill>
                    <a:latin typeface="Noto Sans"/>
                    <a:ea typeface="Noto Sans"/>
                    <a:cs typeface="Noto Sans"/>
                    <a:sym typeface="Noto Sans"/>
                  </a:endParaRPr>
                </a:p>
              </p:txBody>
            </p:sp>
          </p:grpSp>
          <p:grpSp>
            <p:nvGrpSpPr>
              <p:cNvPr id="1296" name="Google Shape;1296;p37"/>
              <p:cNvGrpSpPr/>
              <p:nvPr/>
            </p:nvGrpSpPr>
            <p:grpSpPr>
              <a:xfrm>
                <a:off x="11849100" y="2428875"/>
                <a:ext cx="5676900" cy="2381400"/>
                <a:chOff x="0" y="0"/>
                <a:chExt cx="5676900" cy="2381400"/>
              </a:xfrm>
            </p:grpSpPr>
            <p:sp>
              <p:nvSpPr>
                <p:cNvPr id="1297" name="Google Shape;1297;p37"/>
                <p:cNvSpPr/>
                <p:nvPr/>
              </p:nvSpPr>
              <p:spPr>
                <a:xfrm>
                  <a:off x="0" y="0"/>
                  <a:ext cx="5676900" cy="2381400"/>
                </a:xfrm>
                <a:prstGeom prst="roundRect">
                  <a:avLst>
                    <a:gd fmla="val 4000" name="adj"/>
                  </a:avLst>
                </a:prstGeom>
                <a:solidFill>
                  <a:srgbClr val="F8FAFC"/>
                </a:solidFill>
                <a:ln cap="flat" cmpd="sng" w="14300">
                  <a:solidFill>
                    <a:srgbClr val="E2E8F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98" name="Google Shape;1298;p37"/>
                <p:cNvSpPr txBox="1"/>
                <p:nvPr/>
              </p:nvSpPr>
              <p:spPr>
                <a:xfrm>
                  <a:off x="228600" y="190500"/>
                  <a:ext cx="5219700" cy="20001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-US" sz="1400">
                      <a:solidFill>
                        <a:srgbClr val="00AEEF"/>
                      </a:solidFill>
                      <a:latin typeface="Noto Sans"/>
                      <a:ea typeface="Noto Sans"/>
                      <a:cs typeface="Noto Sans"/>
                      <a:sym typeface="Noto Sans"/>
                    </a:rPr>
                    <a:t>2. Resource Updates</a:t>
                  </a:r>
                  <a:endParaRPr b="1" sz="1400">
                    <a:solidFill>
                      <a:srgbClr val="00AEEF"/>
                    </a:solidFill>
                    <a:latin typeface="Noto Sans"/>
                    <a:ea typeface="Noto Sans"/>
                    <a:cs typeface="Noto Sans"/>
                    <a:sym typeface="Noto Sans"/>
                  </a:endParaRPr>
                </a:p>
                <a:p>
                  <a:pPr indent="-298450" lvl="0" marL="457200" rtl="0" algn="l">
                    <a:spcBef>
                      <a:spcPts val="1200"/>
                    </a:spcBef>
                    <a:spcAft>
                      <a:spcPts val="0"/>
                    </a:spcAft>
                    <a:buClr>
                      <a:srgbClr val="334155"/>
                    </a:buClr>
                    <a:buSzPts val="1100"/>
                    <a:buFont typeface="Noto Sans"/>
                    <a:buChar char="●"/>
                  </a:pPr>
                  <a:r>
                    <a:rPr b="1" lang="en-US" sz="1100">
                      <a:solidFill>
                        <a:srgbClr val="0F1B2C"/>
                      </a:solidFill>
                      <a:latin typeface="Courier New"/>
                      <a:ea typeface="Courier New"/>
                      <a:cs typeface="Courier New"/>
                      <a:sym typeface="Courier New"/>
                    </a:rPr>
                    <a:t>notifications/resources/updated</a:t>
                  </a:r>
                  <a:br>
                    <a:rPr b="0" lang="en-US" sz="1100">
                      <a:solidFill>
                        <a:srgbClr val="334155"/>
                      </a:solidFill>
                      <a:latin typeface="Noto Sans"/>
                      <a:ea typeface="Noto Sans"/>
                      <a:cs typeface="Noto Sans"/>
                      <a:sym typeface="Noto Sans"/>
                    </a:rPr>
                  </a:br>
                  <a:r>
                    <a:rPr b="0" lang="en-US" sz="1100">
                      <a:solidFill>
                        <a:srgbClr val="64748B"/>
                      </a:solidFill>
                      <a:latin typeface="Noto Sans"/>
                      <a:ea typeface="Noto Sans"/>
                      <a:cs typeface="Noto Sans"/>
                      <a:sym typeface="Noto Sans"/>
                    </a:rPr>
                    <a:t>Specific resource content changed</a:t>
                  </a:r>
                  <a:endParaRPr b="0" sz="1100">
                    <a:solidFill>
                      <a:srgbClr val="334155"/>
                    </a:solidFill>
                    <a:latin typeface="Noto Sans"/>
                    <a:ea typeface="Noto Sans"/>
                    <a:cs typeface="Noto Sans"/>
                    <a:sym typeface="Noto Sans"/>
                  </a:endParaRPr>
                </a:p>
                <a:p>
                  <a:pPr indent="-298450" lvl="0" marL="457200" rtl="0" algn="l">
                    <a:spcBef>
                      <a:spcPts val="1000"/>
                    </a:spcBef>
                    <a:spcAft>
                      <a:spcPts val="0"/>
                    </a:spcAft>
                    <a:buClr>
                      <a:srgbClr val="334155"/>
                    </a:buClr>
                    <a:buSzPts val="1100"/>
                    <a:buFont typeface="Noto Sans"/>
                    <a:buChar char="●"/>
                  </a:pPr>
                  <a:r>
                    <a:rPr b="0" lang="en-US" sz="1100">
                      <a:solidFill>
                        <a:srgbClr val="64748B"/>
                      </a:solidFill>
                      <a:latin typeface="Noto Sans"/>
                      <a:ea typeface="Noto Sans"/>
                      <a:cs typeface="Noto Sans"/>
                      <a:sym typeface="Noto Sans"/>
                    </a:rPr>
                    <a:t>Includes URI parameter to identify the updated resource</a:t>
                  </a:r>
                  <a:endParaRPr b="0" sz="1100">
                    <a:solidFill>
                      <a:srgbClr val="334155"/>
                    </a:solidFill>
                    <a:latin typeface="Noto Sans"/>
                    <a:ea typeface="Noto Sans"/>
                    <a:cs typeface="Noto Sans"/>
                    <a:sym typeface="Noto Sans"/>
                  </a:endParaRPr>
                </a:p>
              </p:txBody>
            </p:sp>
          </p:grpSp>
        </p:grpSp>
        <p:grpSp>
          <p:nvGrpSpPr>
            <p:cNvPr id="1299" name="Google Shape;1299;p37"/>
            <p:cNvGrpSpPr/>
            <p:nvPr/>
          </p:nvGrpSpPr>
          <p:grpSpPr>
            <a:xfrm>
              <a:off x="5905500" y="5000625"/>
              <a:ext cx="11620500" cy="4381500"/>
              <a:chOff x="0" y="0"/>
              <a:chExt cx="11620500" cy="4381500"/>
            </a:xfrm>
          </p:grpSpPr>
          <p:sp>
            <p:nvSpPr>
              <p:cNvPr id="1300" name="Google Shape;1300;p37"/>
              <p:cNvSpPr/>
              <p:nvPr/>
            </p:nvSpPr>
            <p:spPr>
              <a:xfrm>
                <a:off x="0" y="0"/>
                <a:ext cx="11620500" cy="4381500"/>
              </a:xfrm>
              <a:prstGeom prst="roundRect">
                <a:avLst>
                  <a:gd fmla="val 2608" name="adj"/>
                </a:avLst>
              </a:prstGeom>
              <a:solidFill>
                <a:srgbClr val="0F172A"/>
              </a:solidFill>
              <a:ln cap="flat" cmpd="sng" w="14300">
                <a:solidFill>
                  <a:srgbClr val="1E293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1" name="Google Shape;1301;p37"/>
              <p:cNvSpPr/>
              <p:nvPr/>
            </p:nvSpPr>
            <p:spPr>
              <a:xfrm>
                <a:off x="0" y="0"/>
                <a:ext cx="11620500" cy="419100"/>
              </a:xfrm>
              <a:custGeom>
                <a:rect b="b" l="l" r="r" t="t"/>
                <a:pathLst>
                  <a:path extrusionOk="0" h="120000" w="120000">
                    <a:moveTo>
                      <a:pt x="0" y="32727"/>
                    </a:moveTo>
                    <a:cubicBezTo>
                      <a:pt x="0" y="14645"/>
                      <a:pt x="528" y="0"/>
                      <a:pt x="1180" y="0"/>
                    </a:cubicBezTo>
                    <a:lnTo>
                      <a:pt x="118820" y="0"/>
                    </a:lnTo>
                    <a:cubicBezTo>
                      <a:pt x="119472" y="0"/>
                      <a:pt x="120000" y="14645"/>
                      <a:pt x="120000" y="32727"/>
                    </a:cubicBezTo>
                    <a:lnTo>
                      <a:pt x="120000" y="120000"/>
                    </a:lnTo>
                    <a:lnTo>
                      <a:pt x="0" y="120000"/>
                    </a:lnTo>
                    <a:close/>
                  </a:path>
                </a:pathLst>
              </a:custGeom>
              <a:solidFill>
                <a:srgbClr val="1E293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2" name="Google Shape;1302;p37"/>
              <p:cNvSpPr/>
              <p:nvPr/>
            </p:nvSpPr>
            <p:spPr>
              <a:xfrm>
                <a:off x="171450" y="152400"/>
                <a:ext cx="114300" cy="114300"/>
              </a:xfrm>
              <a:prstGeom prst="ellipse">
                <a:avLst/>
              </a:prstGeom>
              <a:solidFill>
                <a:srgbClr val="EF4444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3" name="Google Shape;1303;p37"/>
              <p:cNvSpPr/>
              <p:nvPr/>
            </p:nvSpPr>
            <p:spPr>
              <a:xfrm>
                <a:off x="361950" y="152400"/>
                <a:ext cx="114300" cy="114300"/>
              </a:xfrm>
              <a:prstGeom prst="ellipse">
                <a:avLst/>
              </a:prstGeom>
              <a:solidFill>
                <a:srgbClr val="F59E0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4" name="Google Shape;1304;p37"/>
              <p:cNvSpPr/>
              <p:nvPr/>
            </p:nvSpPr>
            <p:spPr>
              <a:xfrm>
                <a:off x="552450" y="152400"/>
                <a:ext cx="114300" cy="114300"/>
              </a:xfrm>
              <a:prstGeom prst="ellipse">
                <a:avLst/>
              </a:prstGeom>
              <a:solidFill>
                <a:srgbClr val="10B981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5" name="Google Shape;1305;p37"/>
              <p:cNvSpPr txBox="1"/>
              <p:nvPr/>
            </p:nvSpPr>
            <p:spPr>
              <a:xfrm>
                <a:off x="952500" y="0"/>
                <a:ext cx="9715500" cy="41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1100">
                    <a:solidFill>
                      <a:srgbClr val="94A3B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notifications_progress_payload.json</a:t>
                </a:r>
                <a:endParaRPr b="0" sz="1100">
                  <a:solidFill>
                    <a:srgbClr val="94A3B8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  <p:sp>
            <p:nvSpPr>
              <p:cNvPr id="1306" name="Google Shape;1306;p37"/>
              <p:cNvSpPr txBox="1"/>
              <p:nvPr/>
            </p:nvSpPr>
            <p:spPr>
              <a:xfrm>
                <a:off x="266700" y="647700"/>
                <a:ext cx="4953000" cy="3467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500">
                    <a:solidFill>
                      <a:srgbClr val="00AEEF"/>
                    </a:solidFill>
                    <a:latin typeface="Noto Sans"/>
                    <a:ea typeface="Noto Sans"/>
                    <a:cs typeface="Noto Sans"/>
                    <a:sym typeface="Noto Sans"/>
                  </a:rPr>
                  <a:t>3. Progress Updates</a:t>
                </a:r>
                <a:endParaRPr b="1" sz="1500">
                  <a:solidFill>
                    <a:srgbClr val="00AEEF"/>
                  </a:solidFill>
                  <a:latin typeface="Noto Sans"/>
                  <a:ea typeface="Noto Sans"/>
                  <a:cs typeface="Noto Sans"/>
                  <a:sym typeface="Noto Sans"/>
                </a:endParaRPr>
              </a:p>
              <a:p>
                <a:pPr indent="0" lvl="0" marL="0" rtl="0" algn="l">
                  <a:spcBef>
                    <a:spcPts val="1200"/>
                  </a:spcBef>
                  <a:spcAft>
                    <a:spcPts val="0"/>
                  </a:spcAft>
                  <a:buNone/>
                </a:pPr>
                <a:r>
                  <a:rPr b="0" lang="en-US" sz="1200">
                    <a:solidFill>
                      <a:srgbClr val="94A3B8"/>
                    </a:solidFill>
                    <a:latin typeface="Noto Sans"/>
                    <a:ea typeface="Noto Sans"/>
                    <a:cs typeface="Noto Sans"/>
                    <a:sym typeface="Noto Sans"/>
                  </a:rPr>
                  <a:t>Track long-running operations with progress token, current value, and total.</a:t>
                </a:r>
                <a:endParaRPr b="0" sz="1200">
                  <a:solidFill>
                    <a:srgbClr val="94A3B8"/>
                  </a:solidFill>
                  <a:latin typeface="Noto Sans"/>
                  <a:ea typeface="Noto Sans"/>
                  <a:cs typeface="Noto Sans"/>
                  <a:sym typeface="Noto Sans"/>
                </a:endParaRPr>
              </a:p>
              <a:p>
                <a:pPr indent="0" lvl="0" marL="0" rtl="0" algn="l">
                  <a:spcBef>
                    <a:spcPts val="1600"/>
                  </a:spcBef>
                  <a:spcAft>
                    <a:spcPts val="0"/>
                  </a:spcAft>
                  <a:buNone/>
                </a:pPr>
                <a:r>
                  <a:rPr b="1" lang="en-US" sz="1100">
                    <a:solidFill>
                      <a:srgbClr val="38BDF8"/>
                    </a:solidFill>
                    <a:latin typeface="Noto Sans"/>
                    <a:ea typeface="Noto Sans"/>
                    <a:cs typeface="Noto Sans"/>
                    <a:sym typeface="Noto Sans"/>
                  </a:rPr>
                  <a:t>Key Parameters:</a:t>
                </a:r>
                <a:endParaRPr b="1" sz="1100">
                  <a:solidFill>
                    <a:srgbClr val="38BDF8"/>
                  </a:solidFill>
                  <a:latin typeface="Noto Sans"/>
                  <a:ea typeface="Noto Sans"/>
                  <a:cs typeface="Noto Sans"/>
                  <a:sym typeface="Noto Sans"/>
                </a:endParaRPr>
              </a:p>
              <a:p>
                <a:pPr indent="-298450" lvl="0" marL="457200" rtl="0" algn="l">
                  <a:spcBef>
                    <a:spcPts val="600"/>
                  </a:spcBef>
                  <a:spcAft>
                    <a:spcPts val="0"/>
                  </a:spcAft>
                  <a:buClr>
                    <a:srgbClr val="CBD5E1"/>
                  </a:buClr>
                  <a:buSzPts val="1100"/>
                  <a:buFont typeface="Noto Sans"/>
                  <a:buChar char="●"/>
                </a:pPr>
                <a:r>
                  <a:rPr b="0" lang="en-US" sz="1100">
                    <a:solidFill>
                      <a:srgbClr val="34D399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progressToken</a:t>
                </a:r>
                <a:r>
                  <a:rPr b="0" lang="en-US" sz="1100">
                    <a:solidFill>
                      <a:srgbClr val="CBD5E1"/>
                    </a:solidFill>
                    <a:latin typeface="Noto Sans"/>
                    <a:ea typeface="Noto Sans"/>
                    <a:cs typeface="Noto Sans"/>
                    <a:sym typeface="Noto Sans"/>
                  </a:rPr>
                  <a:t>: Operation identifier</a:t>
                </a:r>
                <a:endParaRPr b="0" sz="1100">
                  <a:solidFill>
                    <a:srgbClr val="CBD5E1"/>
                  </a:solidFill>
                  <a:latin typeface="Noto Sans"/>
                  <a:ea typeface="Noto Sans"/>
                  <a:cs typeface="Noto Sans"/>
                  <a:sym typeface="Noto Sans"/>
                </a:endParaRPr>
              </a:p>
              <a:p>
                <a:pPr indent="-298450" lvl="0" marL="457200" rtl="0" algn="l">
                  <a:spcBef>
                    <a:spcPts val="600"/>
                  </a:spcBef>
                  <a:spcAft>
                    <a:spcPts val="0"/>
                  </a:spcAft>
                  <a:buClr>
                    <a:srgbClr val="CBD5E1"/>
                  </a:buClr>
                  <a:buSzPts val="1100"/>
                  <a:buFont typeface="Noto Sans"/>
                  <a:buChar char="●"/>
                </a:pPr>
                <a:r>
                  <a:rPr b="0" lang="en-US" sz="1100">
                    <a:solidFill>
                      <a:srgbClr val="34D399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progress</a:t>
                </a:r>
                <a:r>
                  <a:rPr b="0" lang="en-US" sz="1100">
                    <a:solidFill>
                      <a:srgbClr val="CBD5E1"/>
                    </a:solidFill>
                    <a:latin typeface="Noto Sans"/>
                    <a:ea typeface="Noto Sans"/>
                    <a:cs typeface="Noto Sans"/>
                    <a:sym typeface="Noto Sans"/>
                  </a:rPr>
                  <a:t>: Current numerical step</a:t>
                </a:r>
                <a:endParaRPr b="0" sz="1100">
                  <a:solidFill>
                    <a:srgbClr val="CBD5E1"/>
                  </a:solidFill>
                  <a:latin typeface="Noto Sans"/>
                  <a:ea typeface="Noto Sans"/>
                  <a:cs typeface="Noto Sans"/>
                  <a:sym typeface="Noto Sans"/>
                </a:endParaRPr>
              </a:p>
              <a:p>
                <a:pPr indent="-298450" lvl="0" marL="457200" rtl="0" algn="l">
                  <a:spcBef>
                    <a:spcPts val="600"/>
                  </a:spcBef>
                  <a:spcAft>
                    <a:spcPts val="0"/>
                  </a:spcAft>
                  <a:buClr>
                    <a:srgbClr val="CBD5E1"/>
                  </a:buClr>
                  <a:buSzPts val="1100"/>
                  <a:buFont typeface="Noto Sans"/>
                  <a:buChar char="●"/>
                </a:pPr>
                <a:r>
                  <a:rPr b="0" lang="en-US" sz="1100">
                    <a:solidFill>
                      <a:srgbClr val="34D399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total</a:t>
                </a:r>
                <a:r>
                  <a:rPr b="0" lang="en-US" sz="1100">
                    <a:solidFill>
                      <a:srgbClr val="CBD5E1"/>
                    </a:solidFill>
                    <a:latin typeface="Noto Sans"/>
                    <a:ea typeface="Noto Sans"/>
                    <a:cs typeface="Noto Sans"/>
                    <a:sym typeface="Noto Sans"/>
                  </a:rPr>
                  <a:t>: Target completion count</a:t>
                </a:r>
                <a:endParaRPr b="0" sz="1100">
                  <a:solidFill>
                    <a:srgbClr val="CBD5E1"/>
                  </a:solidFill>
                  <a:latin typeface="Noto Sans"/>
                  <a:ea typeface="Noto Sans"/>
                  <a:cs typeface="Noto Sans"/>
                  <a:sym typeface="Noto Sans"/>
                </a:endParaRPr>
              </a:p>
            </p:txBody>
          </p:sp>
          <p:grpSp>
            <p:nvGrpSpPr>
              <p:cNvPr id="1307" name="Google Shape;1307;p37"/>
              <p:cNvGrpSpPr/>
              <p:nvPr/>
            </p:nvGrpSpPr>
            <p:grpSpPr>
              <a:xfrm>
                <a:off x="5505450" y="609600"/>
                <a:ext cx="5848500" cy="3505200"/>
                <a:chOff x="0" y="0"/>
                <a:chExt cx="5848500" cy="3505200"/>
              </a:xfrm>
            </p:grpSpPr>
            <p:sp>
              <p:nvSpPr>
                <p:cNvPr id="1308" name="Google Shape;1308;p37"/>
                <p:cNvSpPr/>
                <p:nvPr/>
              </p:nvSpPr>
              <p:spPr>
                <a:xfrm>
                  <a:off x="0" y="0"/>
                  <a:ext cx="5848500" cy="3505200"/>
                </a:xfrm>
                <a:prstGeom prst="roundRect">
                  <a:avLst>
                    <a:gd fmla="val 2173" name="adj"/>
                  </a:avLst>
                </a:prstGeom>
                <a:solidFill>
                  <a:srgbClr val="162235"/>
                </a:solidFill>
                <a:ln cap="flat" cmpd="sng" w="9525">
                  <a:solidFill>
                    <a:srgbClr val="1E2D4A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09" name="Google Shape;1309;p37"/>
                <p:cNvSpPr txBox="1"/>
                <p:nvPr/>
              </p:nvSpPr>
              <p:spPr>
                <a:xfrm>
                  <a:off x="228600" y="190500"/>
                  <a:ext cx="5391300" cy="31242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-US" sz="1250">
                      <a:solidFill>
                        <a:srgbClr val="64748B"/>
                      </a:solidFill>
                      <a:latin typeface="Courier New"/>
                      <a:ea typeface="Courier New"/>
                      <a:cs typeface="Courier New"/>
                      <a:sym typeface="Courier New"/>
                    </a:rPr>
                    <a:t>// JSON-RPC Notification Payload</a:t>
                  </a:r>
                  <a:endParaRPr b="1" sz="1250">
                    <a:solidFill>
                      <a:srgbClr val="64748B"/>
                    </a:solidFill>
                    <a:latin typeface="Courier New"/>
                    <a:ea typeface="Courier New"/>
                    <a:cs typeface="Courier New"/>
                    <a:sym typeface="Courier New"/>
                  </a:endParaRPr>
                </a:p>
                <a:p>
                  <a:pPr indent="0" lvl="0" marL="0" rtl="0" algn="l">
                    <a:spcBef>
                      <a:spcPts val="1000"/>
                    </a:spcBef>
                    <a:spcAft>
                      <a:spcPts val="0"/>
                    </a:spcAft>
                    <a:buNone/>
                  </a:pPr>
                  <a:r>
                    <a:rPr b="0" lang="en-US" sz="1250">
                      <a:solidFill>
                        <a:srgbClr val="E2E8F0"/>
                      </a:solidFill>
                      <a:latin typeface="Courier New"/>
                      <a:ea typeface="Courier New"/>
                      <a:cs typeface="Courier New"/>
                      <a:sym typeface="Courier New"/>
                    </a:rPr>
                    <a:t>{</a:t>
                  </a:r>
                  <a:endParaRPr b="0" sz="1250">
                    <a:solidFill>
                      <a:srgbClr val="E2E8F0"/>
                    </a:solidFill>
                    <a:latin typeface="Courier New"/>
                    <a:ea typeface="Courier New"/>
                    <a:cs typeface="Courier New"/>
                    <a:sym typeface="Courier New"/>
                  </a:endParaRPr>
                </a:p>
                <a:p>
                  <a:pPr indent="0" lvl="0" marL="228600" marR="0" rtl="0" algn="l">
                    <a:spcBef>
                      <a:spcPts val="400"/>
                    </a:spcBef>
                    <a:spcAft>
                      <a:spcPts val="0"/>
                    </a:spcAft>
                    <a:buNone/>
                  </a:pPr>
                  <a:r>
                    <a:rPr b="0" lang="en-US" sz="1250">
                      <a:solidFill>
                        <a:srgbClr val="38BDF8"/>
                      </a:solidFill>
                      <a:latin typeface="Courier New"/>
                      <a:ea typeface="Courier New"/>
                      <a:cs typeface="Courier New"/>
                      <a:sym typeface="Courier New"/>
                    </a:rPr>
                    <a:t>"jsonrpc"</a:t>
                  </a:r>
                  <a:r>
                    <a:rPr b="0" lang="en-US" sz="1250">
                      <a:solidFill>
                        <a:srgbClr val="E2E8F0"/>
                      </a:solidFill>
                      <a:latin typeface="Courier New"/>
                      <a:ea typeface="Courier New"/>
                      <a:cs typeface="Courier New"/>
                      <a:sym typeface="Courier New"/>
                    </a:rPr>
                    <a:t>: </a:t>
                  </a:r>
                  <a:r>
                    <a:rPr b="0" lang="en-US" sz="1250">
                      <a:solidFill>
                        <a:srgbClr val="34D399"/>
                      </a:solidFill>
                      <a:latin typeface="Courier New"/>
                      <a:ea typeface="Courier New"/>
                      <a:cs typeface="Courier New"/>
                      <a:sym typeface="Courier New"/>
                    </a:rPr>
                    <a:t>"2.0"</a:t>
                  </a:r>
                  <a:r>
                    <a:rPr b="0" lang="en-US" sz="1250">
                      <a:solidFill>
                        <a:srgbClr val="E2E8F0"/>
                      </a:solidFill>
                      <a:latin typeface="Courier New"/>
                      <a:ea typeface="Courier New"/>
                      <a:cs typeface="Courier New"/>
                      <a:sym typeface="Courier New"/>
                    </a:rPr>
                    <a:t>,</a:t>
                  </a:r>
                  <a:endParaRPr b="0" sz="1250">
                    <a:solidFill>
                      <a:srgbClr val="64748B"/>
                    </a:solidFill>
                    <a:latin typeface="Courier New"/>
                    <a:ea typeface="Courier New"/>
                    <a:cs typeface="Courier New"/>
                    <a:sym typeface="Courier New"/>
                  </a:endParaRPr>
                </a:p>
                <a:p>
                  <a:pPr indent="0" lvl="0" marL="228600" marR="0" rtl="0" algn="l">
                    <a:spcBef>
                      <a:spcPts val="400"/>
                    </a:spcBef>
                    <a:spcAft>
                      <a:spcPts val="0"/>
                    </a:spcAft>
                    <a:buNone/>
                  </a:pPr>
                  <a:r>
                    <a:rPr b="0" lang="en-US" sz="1250">
                      <a:solidFill>
                        <a:srgbClr val="38BDF8"/>
                      </a:solidFill>
                      <a:latin typeface="Courier New"/>
                      <a:ea typeface="Courier New"/>
                      <a:cs typeface="Courier New"/>
                      <a:sym typeface="Courier New"/>
                    </a:rPr>
                    <a:t>"method"</a:t>
                  </a:r>
                  <a:r>
                    <a:rPr b="0" lang="en-US" sz="1250">
                      <a:solidFill>
                        <a:srgbClr val="E2E8F0"/>
                      </a:solidFill>
                      <a:latin typeface="Courier New"/>
                      <a:ea typeface="Courier New"/>
                      <a:cs typeface="Courier New"/>
                      <a:sym typeface="Courier New"/>
                    </a:rPr>
                    <a:t>: </a:t>
                  </a:r>
                  <a:r>
                    <a:rPr b="0" lang="en-US" sz="1250">
                      <a:solidFill>
                        <a:srgbClr val="34D399"/>
                      </a:solidFill>
                      <a:latin typeface="Courier New"/>
                      <a:ea typeface="Courier New"/>
                      <a:cs typeface="Courier New"/>
                      <a:sym typeface="Courier New"/>
                    </a:rPr>
                    <a:t>"notifications/progress"</a:t>
                  </a:r>
                  <a:r>
                    <a:rPr b="0" lang="en-US" sz="1250">
                      <a:solidFill>
                        <a:srgbClr val="E2E8F0"/>
                      </a:solidFill>
                      <a:latin typeface="Courier New"/>
                      <a:ea typeface="Courier New"/>
                      <a:cs typeface="Courier New"/>
                      <a:sym typeface="Courier New"/>
                    </a:rPr>
                    <a:t>,</a:t>
                  </a:r>
                  <a:endParaRPr b="0" sz="1250">
                    <a:solidFill>
                      <a:srgbClr val="64748B"/>
                    </a:solidFill>
                    <a:latin typeface="Courier New"/>
                    <a:ea typeface="Courier New"/>
                    <a:cs typeface="Courier New"/>
                    <a:sym typeface="Courier New"/>
                  </a:endParaRPr>
                </a:p>
                <a:p>
                  <a:pPr indent="0" lvl="0" marL="228600" marR="0" rtl="0" algn="l">
                    <a:spcBef>
                      <a:spcPts val="400"/>
                    </a:spcBef>
                    <a:spcAft>
                      <a:spcPts val="0"/>
                    </a:spcAft>
                    <a:buNone/>
                  </a:pPr>
                  <a:r>
                    <a:rPr b="0" lang="en-US" sz="1250">
                      <a:solidFill>
                        <a:srgbClr val="38BDF8"/>
                      </a:solidFill>
                      <a:latin typeface="Courier New"/>
                      <a:ea typeface="Courier New"/>
                      <a:cs typeface="Courier New"/>
                      <a:sym typeface="Courier New"/>
                    </a:rPr>
                    <a:t>"params"</a:t>
                  </a:r>
                  <a:r>
                    <a:rPr b="0" lang="en-US" sz="1250">
                      <a:solidFill>
                        <a:srgbClr val="E2E8F0"/>
                      </a:solidFill>
                      <a:latin typeface="Courier New"/>
                      <a:ea typeface="Courier New"/>
                      <a:cs typeface="Courier New"/>
                      <a:sym typeface="Courier New"/>
                    </a:rPr>
                    <a:t>: {</a:t>
                  </a:r>
                  <a:endParaRPr b="0" sz="1250">
                    <a:solidFill>
                      <a:srgbClr val="64748B"/>
                    </a:solidFill>
                    <a:latin typeface="Courier New"/>
                    <a:ea typeface="Courier New"/>
                    <a:cs typeface="Courier New"/>
                    <a:sym typeface="Courier New"/>
                  </a:endParaRPr>
                </a:p>
                <a:p>
                  <a:pPr indent="0" lvl="0" marL="457200" marR="0" rtl="0" algn="l">
                    <a:spcBef>
                      <a:spcPts val="400"/>
                    </a:spcBef>
                    <a:spcAft>
                      <a:spcPts val="0"/>
                    </a:spcAft>
                    <a:buNone/>
                  </a:pPr>
                  <a:r>
                    <a:rPr b="0" lang="en-US" sz="1250">
                      <a:solidFill>
                        <a:srgbClr val="38BDF8"/>
                      </a:solidFill>
                      <a:latin typeface="Courier New"/>
                      <a:ea typeface="Courier New"/>
                      <a:cs typeface="Courier New"/>
                      <a:sym typeface="Courier New"/>
                    </a:rPr>
                    <a:t>"progressToken"</a:t>
                  </a:r>
                  <a:r>
                    <a:rPr b="0" lang="en-US" sz="1250">
                      <a:solidFill>
                        <a:srgbClr val="E2E8F0"/>
                      </a:solidFill>
                      <a:latin typeface="Courier New"/>
                      <a:ea typeface="Courier New"/>
                      <a:cs typeface="Courier New"/>
                      <a:sym typeface="Courier New"/>
                    </a:rPr>
                    <a:t>: </a:t>
                  </a:r>
                  <a:r>
                    <a:rPr b="0" lang="en-US" sz="1250">
                      <a:solidFill>
                        <a:srgbClr val="34D399"/>
                      </a:solidFill>
                      <a:latin typeface="Courier New"/>
                      <a:ea typeface="Courier New"/>
                      <a:cs typeface="Courier New"/>
                      <a:sym typeface="Courier New"/>
                    </a:rPr>
                    <a:t>"task-123"</a:t>
                  </a:r>
                  <a:r>
                    <a:rPr b="0" lang="en-US" sz="1250">
                      <a:solidFill>
                        <a:srgbClr val="E2E8F0"/>
                      </a:solidFill>
                      <a:latin typeface="Courier New"/>
                      <a:ea typeface="Courier New"/>
                      <a:cs typeface="Courier New"/>
                      <a:sym typeface="Courier New"/>
                    </a:rPr>
                    <a:t>,</a:t>
                  </a:r>
                  <a:endParaRPr b="0" sz="1250">
                    <a:solidFill>
                      <a:srgbClr val="64748B"/>
                    </a:solidFill>
                    <a:latin typeface="Courier New"/>
                    <a:ea typeface="Courier New"/>
                    <a:cs typeface="Courier New"/>
                    <a:sym typeface="Courier New"/>
                  </a:endParaRPr>
                </a:p>
                <a:p>
                  <a:pPr indent="0" lvl="0" marL="457200" marR="0" rtl="0" algn="l">
                    <a:spcBef>
                      <a:spcPts val="400"/>
                    </a:spcBef>
                    <a:spcAft>
                      <a:spcPts val="0"/>
                    </a:spcAft>
                    <a:buNone/>
                  </a:pPr>
                  <a:r>
                    <a:rPr b="0" lang="en-US" sz="1250">
                      <a:solidFill>
                        <a:srgbClr val="38BDF8"/>
                      </a:solidFill>
                      <a:latin typeface="Courier New"/>
                      <a:ea typeface="Courier New"/>
                      <a:cs typeface="Courier New"/>
                      <a:sym typeface="Courier New"/>
                    </a:rPr>
                    <a:t>"progress"</a:t>
                  </a:r>
                  <a:r>
                    <a:rPr b="0" lang="en-US" sz="1250">
                      <a:solidFill>
                        <a:srgbClr val="E2E8F0"/>
                      </a:solidFill>
                      <a:latin typeface="Courier New"/>
                      <a:ea typeface="Courier New"/>
                      <a:cs typeface="Courier New"/>
                      <a:sym typeface="Courier New"/>
                    </a:rPr>
                    <a:t>: </a:t>
                  </a:r>
                  <a:r>
                    <a:rPr b="0" lang="en-US" sz="1250">
                      <a:solidFill>
                        <a:srgbClr val="F472B6"/>
                      </a:solidFill>
                      <a:latin typeface="Courier New"/>
                      <a:ea typeface="Courier New"/>
                      <a:cs typeface="Courier New"/>
                      <a:sym typeface="Courier New"/>
                    </a:rPr>
                    <a:t>50</a:t>
                  </a:r>
                  <a:r>
                    <a:rPr b="0" lang="en-US" sz="1250">
                      <a:solidFill>
                        <a:srgbClr val="E2E8F0"/>
                      </a:solidFill>
                      <a:latin typeface="Courier New"/>
                      <a:ea typeface="Courier New"/>
                      <a:cs typeface="Courier New"/>
                      <a:sym typeface="Courier New"/>
                    </a:rPr>
                    <a:t>,</a:t>
                  </a:r>
                  <a:endParaRPr b="0" sz="1250">
                    <a:solidFill>
                      <a:srgbClr val="64748B"/>
                    </a:solidFill>
                    <a:latin typeface="Courier New"/>
                    <a:ea typeface="Courier New"/>
                    <a:cs typeface="Courier New"/>
                    <a:sym typeface="Courier New"/>
                  </a:endParaRPr>
                </a:p>
                <a:p>
                  <a:pPr indent="0" lvl="0" marL="457200" marR="0" rtl="0" algn="l">
                    <a:spcBef>
                      <a:spcPts val="400"/>
                    </a:spcBef>
                    <a:spcAft>
                      <a:spcPts val="0"/>
                    </a:spcAft>
                    <a:buNone/>
                  </a:pPr>
                  <a:r>
                    <a:rPr b="0" lang="en-US" sz="1250">
                      <a:solidFill>
                        <a:srgbClr val="38BDF8"/>
                      </a:solidFill>
                      <a:latin typeface="Courier New"/>
                      <a:ea typeface="Courier New"/>
                      <a:cs typeface="Courier New"/>
                      <a:sym typeface="Courier New"/>
                    </a:rPr>
                    <a:t>"total"</a:t>
                  </a:r>
                  <a:r>
                    <a:rPr b="0" lang="en-US" sz="1250">
                      <a:solidFill>
                        <a:srgbClr val="E2E8F0"/>
                      </a:solidFill>
                      <a:latin typeface="Courier New"/>
                      <a:ea typeface="Courier New"/>
                      <a:cs typeface="Courier New"/>
                      <a:sym typeface="Courier New"/>
                    </a:rPr>
                    <a:t>: </a:t>
                  </a:r>
                  <a:r>
                    <a:rPr b="0" lang="en-US" sz="1250">
                      <a:solidFill>
                        <a:srgbClr val="F472B6"/>
                      </a:solidFill>
                      <a:latin typeface="Courier New"/>
                      <a:ea typeface="Courier New"/>
                      <a:cs typeface="Courier New"/>
                      <a:sym typeface="Courier New"/>
                    </a:rPr>
                    <a:t>100</a:t>
                  </a:r>
                  <a:endParaRPr b="0" sz="1250">
                    <a:solidFill>
                      <a:srgbClr val="64748B"/>
                    </a:solidFill>
                    <a:latin typeface="Courier New"/>
                    <a:ea typeface="Courier New"/>
                    <a:cs typeface="Courier New"/>
                    <a:sym typeface="Courier New"/>
                  </a:endParaRPr>
                </a:p>
                <a:p>
                  <a:pPr indent="0" lvl="0" marL="228600" marR="0" rtl="0" algn="l">
                    <a:spcBef>
                      <a:spcPts val="400"/>
                    </a:spcBef>
                    <a:spcAft>
                      <a:spcPts val="0"/>
                    </a:spcAft>
                    <a:buNone/>
                  </a:pPr>
                  <a:r>
                    <a:rPr b="0" lang="en-US" sz="1250">
                      <a:solidFill>
                        <a:srgbClr val="E2E8F0"/>
                      </a:solidFill>
                      <a:latin typeface="Courier New"/>
                      <a:ea typeface="Courier New"/>
                      <a:cs typeface="Courier New"/>
                      <a:sym typeface="Courier New"/>
                    </a:rPr>
                    <a:t>}</a:t>
                  </a:r>
                  <a:endParaRPr b="0" sz="1250">
                    <a:solidFill>
                      <a:srgbClr val="E2E8F0"/>
                    </a:solidFill>
                    <a:latin typeface="Courier New"/>
                    <a:ea typeface="Courier New"/>
                    <a:cs typeface="Courier New"/>
                    <a:sym typeface="Courier New"/>
                  </a:endParaRPr>
                </a:p>
                <a:p>
                  <a:pPr indent="0" lvl="0" marL="0" rtl="0" algn="l">
                    <a:spcBef>
                      <a:spcPts val="400"/>
                    </a:spcBef>
                    <a:spcAft>
                      <a:spcPts val="0"/>
                    </a:spcAft>
                    <a:buNone/>
                  </a:pPr>
                  <a:r>
                    <a:rPr b="0" lang="en-US" sz="1250">
                      <a:solidFill>
                        <a:srgbClr val="E2E8F0"/>
                      </a:solidFill>
                      <a:latin typeface="Courier New"/>
                      <a:ea typeface="Courier New"/>
                      <a:cs typeface="Courier New"/>
                      <a:sym typeface="Courier New"/>
                    </a:rPr>
                    <a:t>}</a:t>
                  </a:r>
                  <a:endParaRPr b="0" sz="1250">
                    <a:solidFill>
                      <a:srgbClr val="E2E8F0"/>
                    </a:solidFill>
                    <a:latin typeface="Courier New"/>
                    <a:ea typeface="Courier New"/>
                    <a:cs typeface="Courier New"/>
                    <a:sym typeface="Courier New"/>
                  </a:endParaRPr>
                </a:p>
              </p:txBody>
            </p:sp>
          </p:grpSp>
        </p:grpSp>
        <p:grpSp>
          <p:nvGrpSpPr>
            <p:cNvPr id="1310" name="Google Shape;1310;p37"/>
            <p:cNvGrpSpPr/>
            <p:nvPr/>
          </p:nvGrpSpPr>
          <p:grpSpPr>
            <a:xfrm>
              <a:off x="0" y="9715500"/>
              <a:ext cx="18288000" cy="457350"/>
              <a:chOff x="0" y="9715500"/>
              <a:chExt cx="18288000" cy="457350"/>
            </a:xfrm>
          </p:grpSpPr>
          <p:cxnSp>
            <p:nvCxnSpPr>
              <p:cNvPr id="1311" name="Google Shape;1311;p37"/>
              <p:cNvCxnSpPr/>
              <p:nvPr/>
            </p:nvCxnSpPr>
            <p:spPr>
              <a:xfrm>
                <a:off x="0" y="9715500"/>
                <a:ext cx="18288000" cy="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9525">
                <a:solidFill>
                  <a:srgbClr val="CBD5E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1312" name="Google Shape;1312;p37"/>
              <p:cNvSpPr txBox="1"/>
              <p:nvPr/>
            </p:nvSpPr>
            <p:spPr>
              <a:xfrm>
                <a:off x="666750" y="9886950"/>
                <a:ext cx="38100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1100">
                    <a:solidFill>
                      <a:srgbClr val="64748B"/>
                    </a:solidFill>
                    <a:latin typeface="Roboto"/>
                    <a:ea typeface="Roboto"/>
                    <a:cs typeface="Roboto"/>
                    <a:sym typeface="Roboto"/>
                  </a:rPr>
                  <a:t>Criterion Proprietary &amp; Confidential</a:t>
                </a:r>
                <a:endParaRPr b="0" sz="1100">
                  <a:solidFill>
                    <a:srgbClr val="64748B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</p:grp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Notifications (server-controlled, one-way)</a:t>
            </a:r>
          </a:p>
        </p:txBody>
      </p:sp>
      <p:pic>
        <p:nvPicPr>
          <p:cNvPr id="3" name="Picture 2" descr="d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2615" y="1600200"/>
            <a:ext cx="8862770" cy="7635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9281160"/>
            <a:ext cx="17190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444C56"/>
                </a:solidFill>
              </a:rPr>
              <a:t>Notifications are one-way pushes from server to client — new tools appeared, a resource changed, or work is progressing. No `id`, no reply.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Sampling (lecture only: server asks, model answers)</a:t>
            </a:r>
          </a:p>
        </p:txBody>
      </p:sp>
      <p:pic>
        <p:nvPicPr>
          <p:cNvPr id="3" name="Picture 2" descr="d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7647" y="1600200"/>
            <a:ext cx="15752705" cy="7635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9281160"/>
            <a:ext cx="17190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444C56"/>
                </a:solidFill>
              </a:rPr>
              <a:t>Sampling flips the direction — the server asks the client's model to think. The host mediates, so it keeps control of cost and safety. (Lecture only; not consumed by the lab client.)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6" name="Shape 1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17" name="Google Shape;1317;p38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sp>
          <p:nvSpPr>
            <p:cNvPr id="1318" name="Google Shape;1318;p38"/>
            <p:cNvSpPr/>
            <p:nvPr/>
          </p:nvSpPr>
          <p:spPr>
            <a:xfrm>
              <a:off x="0" y="0"/>
              <a:ext cx="18288000" cy="10287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319" name="Google Shape;1319;p38"/>
            <p:cNvGrpSpPr/>
            <p:nvPr/>
          </p:nvGrpSpPr>
          <p:grpSpPr>
            <a:xfrm>
              <a:off x="0" y="0"/>
              <a:ext cx="5334000" cy="10287000"/>
              <a:chOff x="0" y="0"/>
              <a:chExt cx="5334000" cy="10287000"/>
            </a:xfrm>
          </p:grpSpPr>
          <p:sp>
            <p:nvSpPr>
              <p:cNvPr id="1320" name="Google Shape;1320;p38"/>
              <p:cNvSpPr/>
              <p:nvPr/>
            </p:nvSpPr>
            <p:spPr>
              <a:xfrm>
                <a:off x="0" y="0"/>
                <a:ext cx="5334000" cy="10287000"/>
              </a:xfrm>
              <a:prstGeom prst="rect">
                <a:avLst/>
              </a:prstGeom>
              <a:solidFill>
                <a:srgbClr val="0F172A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1321" name="Google Shape;1321;p38"/>
              <p:cNvCxnSpPr/>
              <p:nvPr/>
            </p:nvCxnSpPr>
            <p:spPr>
              <a:xfrm>
                <a:off x="5334000" y="0"/>
                <a:ext cx="0" cy="1028700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19050">
                <a:solidFill>
                  <a:srgbClr val="1E293B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grpSp>
            <p:nvGrpSpPr>
              <p:cNvPr id="1322" name="Google Shape;1322;p38"/>
              <p:cNvGrpSpPr/>
              <p:nvPr/>
            </p:nvGrpSpPr>
            <p:grpSpPr>
              <a:xfrm>
                <a:off x="666750" y="2857500"/>
                <a:ext cx="4000500" cy="4572000"/>
                <a:chOff x="0" y="0"/>
                <a:chExt cx="4000500" cy="4572000"/>
              </a:xfrm>
            </p:grpSpPr>
            <p:sp>
              <p:nvSpPr>
                <p:cNvPr id="1323" name="Google Shape;1323;p38"/>
                <p:cNvSpPr/>
                <p:nvPr/>
              </p:nvSpPr>
              <p:spPr>
                <a:xfrm>
                  <a:off x="0" y="0"/>
                  <a:ext cx="4000500" cy="4572000"/>
                </a:xfrm>
                <a:prstGeom prst="rect">
                  <a:avLst/>
                </a:prstGeom>
                <a:solidFill>
                  <a:srgbClr val="000000">
                    <a:alpha val="0"/>
                  </a:srgbClr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24" name="Google Shape;1324;p38"/>
                <p:cNvSpPr txBox="1"/>
                <p:nvPr/>
              </p:nvSpPr>
              <p:spPr>
                <a:xfrm>
                  <a:off x="0" y="0"/>
                  <a:ext cx="4000500" cy="4572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-US" sz="1200">
                      <a:solidFill>
                        <a:srgbClr val="00AEEF"/>
                      </a:solidFill>
                      <a:latin typeface="Roboto"/>
                      <a:ea typeface="Roboto"/>
                      <a:cs typeface="Roboto"/>
                      <a:sym typeface="Roboto"/>
                    </a:rPr>
                    <a:t>TECHNICAL IMPLEMENTATION</a:t>
                  </a:r>
                  <a:endParaRPr b="1" sz="1200">
                    <a:solidFill>
                      <a:srgbClr val="00AEEF"/>
                    </a:solidFill>
                    <a:latin typeface="Roboto"/>
                    <a:ea typeface="Roboto"/>
                    <a:cs typeface="Roboto"/>
                    <a:sym typeface="Roboto"/>
                  </a:endParaRPr>
                </a:p>
                <a:p>
                  <a:pPr indent="0" lvl="0" marL="0" rtl="0" algn="l">
                    <a:spcBef>
                      <a:spcPts val="1200"/>
                    </a:spcBef>
                    <a:spcAft>
                      <a:spcPts val="0"/>
                    </a:spcAft>
                    <a:buNone/>
                  </a:pPr>
                  <a:r>
                    <a:rPr b="1" lang="en-US" sz="4200">
                      <a:solidFill>
                        <a:srgbClr val="FFFFFF"/>
                      </a:solidFill>
                      <a:latin typeface="Roboto"/>
                      <a:ea typeface="Roboto"/>
                      <a:cs typeface="Roboto"/>
                      <a:sym typeface="Roboto"/>
                    </a:rPr>
                    <a:t>Error Handling</a:t>
                  </a:r>
                  <a:endParaRPr b="1" sz="4200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endParaRPr>
                </a:p>
                <a:p>
                  <a:pPr indent="0" lvl="0" marL="0" rtl="0" algn="l">
                    <a:spcBef>
                      <a:spcPts val="400"/>
                    </a:spcBef>
                    <a:spcAft>
                      <a:spcPts val="0"/>
                    </a:spcAft>
                    <a:buNone/>
                  </a:pPr>
                  <a:r>
                    <a:rPr b="1" lang="en-US" sz="4200">
                      <a:solidFill>
                        <a:srgbClr val="00AEEF"/>
                      </a:solidFill>
                      <a:latin typeface="Roboto"/>
                      <a:ea typeface="Roboto"/>
                      <a:cs typeface="Roboto"/>
                      <a:sym typeface="Roboto"/>
                    </a:rPr>
                    <a:t>&amp; Status Codes</a:t>
                  </a:r>
                  <a:endParaRPr b="1" sz="4200">
                    <a:solidFill>
                      <a:srgbClr val="00AEEF"/>
                    </a:solidFill>
                    <a:latin typeface="Roboto"/>
                    <a:ea typeface="Roboto"/>
                    <a:cs typeface="Roboto"/>
                    <a:sym typeface="Roboto"/>
                  </a:endParaRPr>
                </a:p>
                <a:p>
                  <a:pPr indent="0" lvl="0" marL="0" rtl="0" algn="l">
                    <a:spcBef>
                      <a:spcPts val="1600"/>
                    </a:spcBef>
                    <a:spcAft>
                      <a:spcPts val="0"/>
                    </a:spcAft>
                    <a:buNone/>
                  </a:pPr>
                  <a:r>
                    <a:rPr b="0" lang="en-US" sz="1300">
                      <a:solidFill>
                        <a:srgbClr val="94A3B8"/>
                      </a:solidFill>
                      <a:latin typeface="Roboto"/>
                      <a:ea typeface="Roboto"/>
                      <a:cs typeface="Roboto"/>
                      <a:sym typeface="Roboto"/>
                    </a:rPr>
                    <a:t>JSON-RPC 2.0 error specifications, standard &amp; MCP-specific error codes, and recovery mechanisms.</a:t>
                  </a:r>
                  <a:endParaRPr b="0" sz="1300">
                    <a:solidFill>
                      <a:srgbClr val="94A3B8"/>
                    </a:solidFill>
                    <a:latin typeface="Roboto"/>
                    <a:ea typeface="Roboto"/>
                    <a:cs typeface="Roboto"/>
                    <a:sym typeface="Roboto"/>
                  </a:endParaRPr>
                </a:p>
              </p:txBody>
            </p:sp>
          </p:grpSp>
        </p:grpSp>
        <p:sp>
          <p:nvSpPr>
            <p:cNvPr id="1325" name="Google Shape;1325;p38"/>
            <p:cNvSpPr txBox="1"/>
            <p:nvPr/>
          </p:nvSpPr>
          <p:spPr>
            <a:xfrm>
              <a:off x="5905500" y="476250"/>
              <a:ext cx="11620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000">
                  <a:solidFill>
                    <a:srgbClr val="0F1B2C"/>
                  </a:solidFill>
                  <a:latin typeface="Roboto"/>
                  <a:ea typeface="Roboto"/>
                  <a:cs typeface="Roboto"/>
                  <a:sym typeface="Roboto"/>
                </a:rPr>
                <a:t>Protocol Methods &amp; Examples</a:t>
              </a:r>
              <a:endParaRPr b="1" sz="3000">
                <a:solidFill>
                  <a:srgbClr val="0F1B2C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00AEEF"/>
                  </a:solidFill>
                  <a:latin typeface="Noto Sans"/>
                  <a:ea typeface="Noto Sans"/>
                  <a:cs typeface="Noto Sans"/>
                  <a:sym typeface="Noto Sans"/>
                </a:rPr>
                <a:t>Error Response Format &amp; Recovery Strategies</a:t>
              </a:r>
              <a:endParaRPr b="1" sz="1300">
                <a:solidFill>
                  <a:srgbClr val="00AEEF"/>
                </a:solidFill>
                <a:latin typeface="Noto Sans"/>
                <a:ea typeface="Noto Sans"/>
                <a:cs typeface="Noto Sans"/>
                <a:sym typeface="Noto Sans"/>
              </a:endParaRPr>
            </a:p>
          </p:txBody>
        </p:sp>
        <p:grpSp>
          <p:nvGrpSpPr>
            <p:cNvPr id="1326" name="Google Shape;1326;p38"/>
            <p:cNvGrpSpPr/>
            <p:nvPr/>
          </p:nvGrpSpPr>
          <p:grpSpPr>
            <a:xfrm>
              <a:off x="5905500" y="1333500"/>
              <a:ext cx="11620500" cy="3619500"/>
              <a:chOff x="5905500" y="1333500"/>
              <a:chExt cx="11620500" cy="3619500"/>
            </a:xfrm>
          </p:grpSpPr>
          <p:grpSp>
            <p:nvGrpSpPr>
              <p:cNvPr id="1327" name="Google Shape;1327;p38"/>
              <p:cNvGrpSpPr/>
              <p:nvPr/>
            </p:nvGrpSpPr>
            <p:grpSpPr>
              <a:xfrm>
                <a:off x="5905500" y="1333500"/>
                <a:ext cx="5524500" cy="3619500"/>
                <a:chOff x="0" y="0"/>
                <a:chExt cx="5524500" cy="3619500"/>
              </a:xfrm>
            </p:grpSpPr>
            <p:sp>
              <p:nvSpPr>
                <p:cNvPr id="1328" name="Google Shape;1328;p38"/>
                <p:cNvSpPr/>
                <p:nvPr/>
              </p:nvSpPr>
              <p:spPr>
                <a:xfrm>
                  <a:off x="0" y="0"/>
                  <a:ext cx="5524500" cy="3619500"/>
                </a:xfrm>
                <a:prstGeom prst="roundRect">
                  <a:avLst>
                    <a:gd fmla="val 2631" name="adj"/>
                  </a:avLst>
                </a:prstGeom>
                <a:solidFill>
                  <a:srgbClr val="0F172A"/>
                </a:solidFill>
                <a:ln cap="flat" cmpd="sng" w="14300">
                  <a:solidFill>
                    <a:srgbClr val="1E293B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29" name="Google Shape;1329;p38"/>
                <p:cNvSpPr/>
                <p:nvPr/>
              </p:nvSpPr>
              <p:spPr>
                <a:xfrm>
                  <a:off x="0" y="0"/>
                  <a:ext cx="5524500" cy="342900"/>
                </a:xfrm>
                <a:custGeom>
                  <a:rect b="b" l="l" r="r" t="t"/>
                  <a:pathLst>
                    <a:path extrusionOk="0" h="120000" w="120000">
                      <a:moveTo>
                        <a:pt x="0" y="33333"/>
                      </a:moveTo>
                      <a:cubicBezTo>
                        <a:pt x="0" y="14923"/>
                        <a:pt x="926" y="0"/>
                        <a:pt x="2069" y="0"/>
                      </a:cubicBezTo>
                      <a:lnTo>
                        <a:pt x="117931" y="0"/>
                      </a:lnTo>
                      <a:cubicBezTo>
                        <a:pt x="119074" y="0"/>
                        <a:pt x="120000" y="14923"/>
                        <a:pt x="120000" y="33333"/>
                      </a:cubicBezTo>
                      <a:lnTo>
                        <a:pt x="120000" y="120000"/>
                      </a:lnTo>
                      <a:lnTo>
                        <a:pt x="0" y="120000"/>
                      </a:lnTo>
                      <a:close/>
                    </a:path>
                  </a:pathLst>
                </a:custGeom>
                <a:solidFill>
                  <a:srgbClr val="1E293B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30" name="Google Shape;1330;p38"/>
                <p:cNvSpPr/>
                <p:nvPr/>
              </p:nvSpPr>
              <p:spPr>
                <a:xfrm>
                  <a:off x="123825" y="123825"/>
                  <a:ext cx="95400" cy="95400"/>
                </a:xfrm>
                <a:prstGeom prst="ellipse">
                  <a:avLst/>
                </a:prstGeom>
                <a:solidFill>
                  <a:srgbClr val="EF4444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31" name="Google Shape;1331;p38"/>
                <p:cNvSpPr/>
                <p:nvPr/>
              </p:nvSpPr>
              <p:spPr>
                <a:xfrm>
                  <a:off x="295275" y="123825"/>
                  <a:ext cx="95400" cy="95400"/>
                </a:xfrm>
                <a:prstGeom prst="ellipse">
                  <a:avLst/>
                </a:prstGeom>
                <a:solidFill>
                  <a:srgbClr val="F59E0B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32" name="Google Shape;1332;p38"/>
                <p:cNvSpPr/>
                <p:nvPr/>
              </p:nvSpPr>
              <p:spPr>
                <a:xfrm>
                  <a:off x="466725" y="123825"/>
                  <a:ext cx="95400" cy="95400"/>
                </a:xfrm>
                <a:prstGeom prst="ellipse">
                  <a:avLst/>
                </a:prstGeom>
                <a:solidFill>
                  <a:srgbClr val="10B981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33" name="Google Shape;1333;p38"/>
                <p:cNvSpPr txBox="1"/>
                <p:nvPr/>
              </p:nvSpPr>
              <p:spPr>
                <a:xfrm>
                  <a:off x="762000" y="0"/>
                  <a:ext cx="4000500" cy="3429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100">
                      <a:solidFill>
                        <a:srgbClr val="94A3B8"/>
                      </a:solidFill>
                      <a:latin typeface="Courier New"/>
                      <a:ea typeface="Courier New"/>
                      <a:cs typeface="Courier New"/>
                      <a:sym typeface="Courier New"/>
                    </a:rPr>
                    <a:t>error_response.json</a:t>
                  </a:r>
                  <a:endParaRPr sz="1100">
                    <a:solidFill>
                      <a:srgbClr val="94A3B8"/>
                    </a:solidFill>
                    <a:latin typeface="Courier New"/>
                    <a:ea typeface="Courier New"/>
                    <a:cs typeface="Courier New"/>
                    <a:sym typeface="Courier New"/>
                  </a:endParaRPr>
                </a:p>
              </p:txBody>
            </p:sp>
            <p:sp>
              <p:nvSpPr>
                <p:cNvPr id="1334" name="Google Shape;1334;p38"/>
                <p:cNvSpPr/>
                <p:nvPr/>
              </p:nvSpPr>
              <p:spPr>
                <a:xfrm>
                  <a:off x="152400" y="457200"/>
                  <a:ext cx="5219700" cy="3048000"/>
                </a:xfrm>
                <a:prstGeom prst="roundRect">
                  <a:avLst>
                    <a:gd fmla="val 1875" name="adj"/>
                  </a:avLst>
                </a:prstGeom>
                <a:solidFill>
                  <a:srgbClr val="162235"/>
                </a:solidFill>
                <a:ln cap="flat" cmpd="sng" w="9525">
                  <a:solidFill>
                    <a:srgbClr val="1E2D4A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35" name="Google Shape;1335;p38"/>
                <p:cNvSpPr txBox="1"/>
                <p:nvPr/>
              </p:nvSpPr>
              <p:spPr>
                <a:xfrm>
                  <a:off x="304800" y="523875"/>
                  <a:ext cx="4914900" cy="2905200"/>
                </a:xfrm>
                <a:prstGeom prst="rect">
                  <a:avLst/>
                </a:prstGeom>
                <a:solidFill>
                  <a:srgbClr val="000000">
                    <a:alpha val="0"/>
                  </a:srgbClr>
                </a:solidFill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i="0" lang="en-US" sz="1350">
                      <a:solidFill>
                        <a:srgbClr val="64748B"/>
                      </a:solidFill>
                      <a:latin typeface="Courier New"/>
                      <a:ea typeface="Courier New"/>
                      <a:cs typeface="Courier New"/>
                      <a:sym typeface="Courier New"/>
                    </a:rPr>
                    <a:t>// JSON-RPC 2.0 Error Response</a:t>
                  </a:r>
                  <a:endParaRPr b="1" i="0" sz="1350">
                    <a:solidFill>
                      <a:srgbClr val="64748B"/>
                    </a:solidFill>
                    <a:latin typeface="Courier New"/>
                    <a:ea typeface="Courier New"/>
                    <a:cs typeface="Courier New"/>
                    <a:sym typeface="Courier New"/>
                  </a:endParaRPr>
                </a:p>
                <a:p>
                  <a:pPr indent="0" lvl="0" marL="0" rtl="0" algn="l">
                    <a:spcBef>
                      <a:spcPts val="700"/>
                    </a:spcBef>
                    <a:spcAft>
                      <a:spcPts val="0"/>
                    </a:spcAft>
                    <a:buNone/>
                  </a:pPr>
                  <a:r>
                    <a:rPr b="0" i="0" lang="en-US" sz="1350">
                      <a:solidFill>
                        <a:srgbClr val="E2E8F0"/>
                      </a:solidFill>
                      <a:latin typeface="Courier New"/>
                      <a:ea typeface="Courier New"/>
                      <a:cs typeface="Courier New"/>
                      <a:sym typeface="Courier New"/>
                    </a:rPr>
                    <a:t>{</a:t>
                  </a:r>
                  <a:endParaRPr b="1" i="0" sz="1350">
                    <a:solidFill>
                      <a:srgbClr val="64748B"/>
                    </a:solidFill>
                    <a:latin typeface="Courier New"/>
                    <a:ea typeface="Courier New"/>
                    <a:cs typeface="Courier New"/>
                    <a:sym typeface="Courier New"/>
                  </a:endParaRPr>
                </a:p>
                <a:p>
                  <a:pPr indent="0" lvl="0" marL="177800" marR="0" rtl="0" algn="l">
                    <a:spcBef>
                      <a:spcPts val="700"/>
                    </a:spcBef>
                    <a:spcAft>
                      <a:spcPts val="0"/>
                    </a:spcAft>
                    <a:buNone/>
                  </a:pPr>
                  <a:r>
                    <a:rPr b="0" i="0" lang="en-US" sz="1350">
                      <a:solidFill>
                        <a:srgbClr val="38BDF8"/>
                      </a:solidFill>
                      <a:latin typeface="Courier New"/>
                      <a:ea typeface="Courier New"/>
                      <a:cs typeface="Courier New"/>
                      <a:sym typeface="Courier New"/>
                    </a:rPr>
                    <a:t>"jsonrpc"</a:t>
                  </a:r>
                  <a:r>
                    <a:rPr b="0" i="0" lang="en-US" sz="1350">
                      <a:solidFill>
                        <a:srgbClr val="E2E8F0"/>
                      </a:solidFill>
                      <a:latin typeface="Courier New"/>
                      <a:ea typeface="Courier New"/>
                      <a:cs typeface="Courier New"/>
                      <a:sym typeface="Courier New"/>
                    </a:rPr>
                    <a:t>: </a:t>
                  </a:r>
                  <a:r>
                    <a:rPr b="0" i="0" lang="en-US" sz="1350">
                      <a:solidFill>
                        <a:srgbClr val="34D399"/>
                      </a:solidFill>
                      <a:latin typeface="Courier New"/>
                      <a:ea typeface="Courier New"/>
                      <a:cs typeface="Courier New"/>
                      <a:sym typeface="Courier New"/>
                    </a:rPr>
                    <a:t>"2.0"</a:t>
                  </a:r>
                  <a:r>
                    <a:rPr b="0" i="0" lang="en-US" sz="1350">
                      <a:solidFill>
                        <a:srgbClr val="E2E8F0"/>
                      </a:solidFill>
                      <a:latin typeface="Courier New"/>
                      <a:ea typeface="Courier New"/>
                      <a:cs typeface="Courier New"/>
                      <a:sym typeface="Courier New"/>
                    </a:rPr>
                    <a:t>,</a:t>
                  </a:r>
                  <a:endParaRPr b="1" i="0" sz="1350">
                    <a:solidFill>
                      <a:srgbClr val="64748B"/>
                    </a:solidFill>
                    <a:latin typeface="Courier New"/>
                    <a:ea typeface="Courier New"/>
                    <a:cs typeface="Courier New"/>
                    <a:sym typeface="Courier New"/>
                  </a:endParaRPr>
                </a:p>
                <a:p>
                  <a:pPr indent="0" lvl="0" marL="177800" marR="0" rtl="0" algn="l">
                    <a:spcBef>
                      <a:spcPts val="700"/>
                    </a:spcBef>
                    <a:spcAft>
                      <a:spcPts val="0"/>
                    </a:spcAft>
                    <a:buNone/>
                  </a:pPr>
                  <a:r>
                    <a:rPr b="0" i="0" lang="en-US" sz="1350">
                      <a:solidFill>
                        <a:srgbClr val="38BDF8"/>
                      </a:solidFill>
                      <a:latin typeface="Courier New"/>
                      <a:ea typeface="Courier New"/>
                      <a:cs typeface="Courier New"/>
                      <a:sym typeface="Courier New"/>
                    </a:rPr>
                    <a:t>"id"</a:t>
                  </a:r>
                  <a:r>
                    <a:rPr b="0" i="0" lang="en-US" sz="1350">
                      <a:solidFill>
                        <a:srgbClr val="E2E8F0"/>
                      </a:solidFill>
                      <a:latin typeface="Courier New"/>
                      <a:ea typeface="Courier New"/>
                      <a:cs typeface="Courier New"/>
                      <a:sym typeface="Courier New"/>
                    </a:rPr>
                    <a:t>: </a:t>
                  </a:r>
                  <a:r>
                    <a:rPr b="0" i="0" lang="en-US" sz="1350">
                      <a:solidFill>
                        <a:srgbClr val="F472B6"/>
                      </a:solidFill>
                      <a:latin typeface="Courier New"/>
                      <a:ea typeface="Courier New"/>
                      <a:cs typeface="Courier New"/>
                      <a:sym typeface="Courier New"/>
                    </a:rPr>
                    <a:t>1</a:t>
                  </a:r>
                  <a:r>
                    <a:rPr b="0" i="0" lang="en-US" sz="1350">
                      <a:solidFill>
                        <a:srgbClr val="E2E8F0"/>
                      </a:solidFill>
                      <a:latin typeface="Courier New"/>
                      <a:ea typeface="Courier New"/>
                      <a:cs typeface="Courier New"/>
                      <a:sym typeface="Courier New"/>
                    </a:rPr>
                    <a:t>,</a:t>
                  </a:r>
                  <a:endParaRPr b="1" i="0" sz="1350">
                    <a:solidFill>
                      <a:srgbClr val="64748B"/>
                    </a:solidFill>
                    <a:latin typeface="Courier New"/>
                    <a:ea typeface="Courier New"/>
                    <a:cs typeface="Courier New"/>
                    <a:sym typeface="Courier New"/>
                  </a:endParaRPr>
                </a:p>
                <a:p>
                  <a:pPr indent="0" lvl="0" marL="177800" marR="0" rtl="0" algn="l">
                    <a:spcBef>
                      <a:spcPts val="700"/>
                    </a:spcBef>
                    <a:spcAft>
                      <a:spcPts val="0"/>
                    </a:spcAft>
                    <a:buNone/>
                  </a:pPr>
                  <a:r>
                    <a:rPr b="0" i="0" lang="en-US" sz="1350">
                      <a:solidFill>
                        <a:srgbClr val="38BDF8"/>
                      </a:solidFill>
                      <a:latin typeface="Courier New"/>
                      <a:ea typeface="Courier New"/>
                      <a:cs typeface="Courier New"/>
                      <a:sym typeface="Courier New"/>
                    </a:rPr>
                    <a:t>"error"</a:t>
                  </a:r>
                  <a:r>
                    <a:rPr b="0" i="0" lang="en-US" sz="1350">
                      <a:solidFill>
                        <a:srgbClr val="E2E8F0"/>
                      </a:solidFill>
                      <a:latin typeface="Courier New"/>
                      <a:ea typeface="Courier New"/>
                      <a:cs typeface="Courier New"/>
                      <a:sym typeface="Courier New"/>
                    </a:rPr>
                    <a:t>: {</a:t>
                  </a:r>
                  <a:endParaRPr b="1" i="0" sz="1350">
                    <a:solidFill>
                      <a:srgbClr val="64748B"/>
                    </a:solidFill>
                    <a:latin typeface="Courier New"/>
                    <a:ea typeface="Courier New"/>
                    <a:cs typeface="Courier New"/>
                    <a:sym typeface="Courier New"/>
                  </a:endParaRPr>
                </a:p>
                <a:p>
                  <a:pPr indent="0" lvl="0" marL="355600" marR="0" rtl="0" algn="l">
                    <a:spcBef>
                      <a:spcPts val="700"/>
                    </a:spcBef>
                    <a:spcAft>
                      <a:spcPts val="0"/>
                    </a:spcAft>
                    <a:buNone/>
                  </a:pPr>
                  <a:r>
                    <a:rPr b="0" i="0" lang="en-US" sz="1350">
                      <a:solidFill>
                        <a:srgbClr val="38BDF8"/>
                      </a:solidFill>
                      <a:latin typeface="Courier New"/>
                      <a:ea typeface="Courier New"/>
                      <a:cs typeface="Courier New"/>
                      <a:sym typeface="Courier New"/>
                    </a:rPr>
                    <a:t>"code"</a:t>
                  </a:r>
                  <a:r>
                    <a:rPr b="0" i="0" lang="en-US" sz="1350">
                      <a:solidFill>
                        <a:srgbClr val="E2E8F0"/>
                      </a:solidFill>
                      <a:latin typeface="Courier New"/>
                      <a:ea typeface="Courier New"/>
                      <a:cs typeface="Courier New"/>
                      <a:sym typeface="Courier New"/>
                    </a:rPr>
                    <a:t>: </a:t>
                  </a:r>
                  <a:r>
                    <a:rPr b="0" i="0" lang="en-US" sz="1350">
                      <a:solidFill>
                        <a:srgbClr val="F472B6"/>
                      </a:solidFill>
                      <a:latin typeface="Courier New"/>
                      <a:ea typeface="Courier New"/>
                      <a:cs typeface="Courier New"/>
                      <a:sym typeface="Courier New"/>
                    </a:rPr>
                    <a:t>-32601</a:t>
                  </a:r>
                  <a:r>
                    <a:rPr b="0" i="0" lang="en-US" sz="1350">
                      <a:solidFill>
                        <a:srgbClr val="E2E8F0"/>
                      </a:solidFill>
                      <a:latin typeface="Courier New"/>
                      <a:ea typeface="Courier New"/>
                      <a:cs typeface="Courier New"/>
                      <a:sym typeface="Courier New"/>
                    </a:rPr>
                    <a:t>,</a:t>
                  </a:r>
                  <a:endParaRPr b="1" i="0" sz="1350">
                    <a:solidFill>
                      <a:srgbClr val="64748B"/>
                    </a:solidFill>
                    <a:latin typeface="Courier New"/>
                    <a:ea typeface="Courier New"/>
                    <a:cs typeface="Courier New"/>
                    <a:sym typeface="Courier New"/>
                  </a:endParaRPr>
                </a:p>
                <a:p>
                  <a:pPr indent="0" lvl="0" marL="355600" marR="0" rtl="0" algn="l">
                    <a:spcBef>
                      <a:spcPts val="700"/>
                    </a:spcBef>
                    <a:spcAft>
                      <a:spcPts val="0"/>
                    </a:spcAft>
                    <a:buNone/>
                  </a:pPr>
                  <a:r>
                    <a:rPr b="0" i="0" lang="en-US" sz="1350">
                      <a:solidFill>
                        <a:srgbClr val="38BDF8"/>
                      </a:solidFill>
                      <a:latin typeface="Courier New"/>
                      <a:ea typeface="Courier New"/>
                      <a:cs typeface="Courier New"/>
                      <a:sym typeface="Courier New"/>
                    </a:rPr>
                    <a:t>"message"</a:t>
                  </a:r>
                  <a:r>
                    <a:rPr b="0" i="0" lang="en-US" sz="1350">
                      <a:solidFill>
                        <a:srgbClr val="E2E8F0"/>
                      </a:solidFill>
                      <a:latin typeface="Courier New"/>
                      <a:ea typeface="Courier New"/>
                      <a:cs typeface="Courier New"/>
                      <a:sym typeface="Courier New"/>
                    </a:rPr>
                    <a:t>: </a:t>
                  </a:r>
                  <a:r>
                    <a:rPr b="0" i="0" lang="en-US" sz="1350">
                      <a:solidFill>
                        <a:srgbClr val="34D399"/>
                      </a:solidFill>
                      <a:latin typeface="Courier New"/>
                      <a:ea typeface="Courier New"/>
                      <a:cs typeface="Courier New"/>
                      <a:sym typeface="Courier New"/>
                    </a:rPr>
                    <a:t>"Method not found"</a:t>
                  </a:r>
                  <a:r>
                    <a:rPr b="0" i="0" lang="en-US" sz="1350">
                      <a:solidFill>
                        <a:srgbClr val="E2E8F0"/>
                      </a:solidFill>
                      <a:latin typeface="Courier New"/>
                      <a:ea typeface="Courier New"/>
                      <a:cs typeface="Courier New"/>
                      <a:sym typeface="Courier New"/>
                    </a:rPr>
                    <a:t>,</a:t>
                  </a:r>
                  <a:endParaRPr b="1" i="0" sz="1350">
                    <a:solidFill>
                      <a:srgbClr val="64748B"/>
                    </a:solidFill>
                    <a:latin typeface="Courier New"/>
                    <a:ea typeface="Courier New"/>
                    <a:cs typeface="Courier New"/>
                    <a:sym typeface="Courier New"/>
                  </a:endParaRPr>
                </a:p>
                <a:p>
                  <a:pPr indent="0" lvl="0" marL="355600" marR="0" rtl="0" algn="l">
                    <a:spcBef>
                      <a:spcPts val="700"/>
                    </a:spcBef>
                    <a:spcAft>
                      <a:spcPts val="0"/>
                    </a:spcAft>
                    <a:buNone/>
                  </a:pPr>
                  <a:r>
                    <a:rPr b="0" i="0" lang="en-US" sz="1350">
                      <a:solidFill>
                        <a:srgbClr val="38BDF8"/>
                      </a:solidFill>
                      <a:latin typeface="Courier New"/>
                      <a:ea typeface="Courier New"/>
                      <a:cs typeface="Courier New"/>
                      <a:sym typeface="Courier New"/>
                    </a:rPr>
                    <a:t>"data"</a:t>
                  </a:r>
                  <a:r>
                    <a:rPr b="0" i="0" lang="en-US" sz="1350">
                      <a:solidFill>
                        <a:srgbClr val="E2E8F0"/>
                      </a:solidFill>
                      <a:latin typeface="Courier New"/>
                      <a:ea typeface="Courier New"/>
                      <a:cs typeface="Courier New"/>
                      <a:sym typeface="Courier New"/>
                    </a:rPr>
                    <a:t>: { </a:t>
                  </a:r>
                  <a:r>
                    <a:rPr b="0" i="0" lang="en-US" sz="1350">
                      <a:solidFill>
                        <a:srgbClr val="38BDF8"/>
                      </a:solidFill>
                      <a:latin typeface="Courier New"/>
                      <a:ea typeface="Courier New"/>
                      <a:cs typeface="Courier New"/>
                      <a:sym typeface="Courier New"/>
                    </a:rPr>
                    <a:t>"method"</a:t>
                  </a:r>
                  <a:r>
                    <a:rPr b="0" i="0" lang="en-US" sz="1350">
                      <a:solidFill>
                        <a:srgbClr val="E2E8F0"/>
                      </a:solidFill>
                      <a:latin typeface="Courier New"/>
                      <a:ea typeface="Courier New"/>
                      <a:cs typeface="Courier New"/>
                      <a:sym typeface="Courier New"/>
                    </a:rPr>
                    <a:t>: </a:t>
                  </a:r>
                  <a:r>
                    <a:rPr b="0" i="0" lang="en-US" sz="1350">
                      <a:solidFill>
                        <a:srgbClr val="34D399"/>
                      </a:solidFill>
                      <a:latin typeface="Courier New"/>
                      <a:ea typeface="Courier New"/>
                      <a:cs typeface="Courier New"/>
                      <a:sym typeface="Courier New"/>
                    </a:rPr>
                    <a:t>"unknown/method"</a:t>
                  </a:r>
                  <a:r>
                    <a:rPr b="0" i="0" lang="en-US" sz="1350">
                      <a:solidFill>
                        <a:srgbClr val="E2E8F0"/>
                      </a:solidFill>
                      <a:latin typeface="Courier New"/>
                      <a:ea typeface="Courier New"/>
                      <a:cs typeface="Courier New"/>
                      <a:sym typeface="Courier New"/>
                    </a:rPr>
                    <a:t> }</a:t>
                  </a:r>
                  <a:endParaRPr b="1" i="0" sz="1350">
                    <a:solidFill>
                      <a:srgbClr val="64748B"/>
                    </a:solidFill>
                    <a:latin typeface="Courier New"/>
                    <a:ea typeface="Courier New"/>
                    <a:cs typeface="Courier New"/>
                    <a:sym typeface="Courier New"/>
                  </a:endParaRPr>
                </a:p>
                <a:p>
                  <a:pPr indent="0" lvl="0" marL="177800" marR="0" rtl="0" algn="l">
                    <a:spcBef>
                      <a:spcPts val="700"/>
                    </a:spcBef>
                    <a:spcAft>
                      <a:spcPts val="0"/>
                    </a:spcAft>
                    <a:buNone/>
                  </a:pPr>
                  <a:r>
                    <a:rPr b="0" i="0" lang="en-US" sz="1350">
                      <a:solidFill>
                        <a:srgbClr val="E2E8F0"/>
                      </a:solidFill>
                      <a:latin typeface="Courier New"/>
                      <a:ea typeface="Courier New"/>
                      <a:cs typeface="Courier New"/>
                      <a:sym typeface="Courier New"/>
                    </a:rPr>
                    <a:t>}</a:t>
                  </a:r>
                  <a:endParaRPr b="1" i="0" sz="1350">
                    <a:solidFill>
                      <a:srgbClr val="64748B"/>
                    </a:solidFill>
                    <a:latin typeface="Courier New"/>
                    <a:ea typeface="Courier New"/>
                    <a:cs typeface="Courier New"/>
                    <a:sym typeface="Courier New"/>
                  </a:endParaRPr>
                </a:p>
                <a:p>
                  <a:pPr indent="0" lvl="0" marL="0" rtl="0" algn="l">
                    <a:spcBef>
                      <a:spcPts val="700"/>
                    </a:spcBef>
                    <a:spcAft>
                      <a:spcPts val="0"/>
                    </a:spcAft>
                    <a:buNone/>
                  </a:pPr>
                  <a:r>
                    <a:rPr b="0" i="0" lang="en-US" sz="1350">
                      <a:solidFill>
                        <a:srgbClr val="E2E8F0"/>
                      </a:solidFill>
                      <a:latin typeface="Courier New"/>
                      <a:ea typeface="Courier New"/>
                      <a:cs typeface="Courier New"/>
                      <a:sym typeface="Courier New"/>
                    </a:rPr>
                    <a:t>}</a:t>
                  </a:r>
                  <a:endParaRPr b="1" i="0" sz="1350">
                    <a:solidFill>
                      <a:srgbClr val="64748B"/>
                    </a:solidFill>
                    <a:latin typeface="Courier New"/>
                    <a:ea typeface="Courier New"/>
                    <a:cs typeface="Courier New"/>
                    <a:sym typeface="Courier New"/>
                  </a:endParaRPr>
                </a:p>
              </p:txBody>
            </p:sp>
          </p:grpSp>
          <p:grpSp>
            <p:nvGrpSpPr>
              <p:cNvPr id="1336" name="Google Shape;1336;p38"/>
              <p:cNvGrpSpPr/>
              <p:nvPr/>
            </p:nvGrpSpPr>
            <p:grpSpPr>
              <a:xfrm>
                <a:off x="11620500" y="1333500"/>
                <a:ext cx="5905500" cy="3619500"/>
                <a:chOff x="0" y="0"/>
                <a:chExt cx="5905500" cy="3619500"/>
              </a:xfrm>
            </p:grpSpPr>
            <p:sp>
              <p:nvSpPr>
                <p:cNvPr id="1337" name="Google Shape;1337;p38"/>
                <p:cNvSpPr/>
                <p:nvPr/>
              </p:nvSpPr>
              <p:spPr>
                <a:xfrm>
                  <a:off x="0" y="0"/>
                  <a:ext cx="5905500" cy="3619500"/>
                </a:xfrm>
                <a:prstGeom prst="roundRect">
                  <a:avLst>
                    <a:gd fmla="val 2631" name="adj"/>
                  </a:avLst>
                </a:prstGeom>
                <a:solidFill>
                  <a:srgbClr val="F8FAFC"/>
                </a:solidFill>
                <a:ln cap="flat" cmpd="sng" w="14300">
                  <a:solidFill>
                    <a:srgbClr val="E2E8F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38" name="Google Shape;1338;p38"/>
                <p:cNvSpPr/>
                <p:nvPr/>
              </p:nvSpPr>
              <p:spPr>
                <a:xfrm>
                  <a:off x="0" y="0"/>
                  <a:ext cx="5905500" cy="419100"/>
                </a:xfrm>
                <a:custGeom>
                  <a:rect b="b" l="l" r="r" t="t"/>
                  <a:pathLst>
                    <a:path extrusionOk="0" h="120000" w="120000">
                      <a:moveTo>
                        <a:pt x="0" y="27273"/>
                      </a:moveTo>
                      <a:cubicBezTo>
                        <a:pt x="0" y="12210"/>
                        <a:pt x="867" y="0"/>
                        <a:pt x="1935" y="0"/>
                      </a:cubicBezTo>
                      <a:lnTo>
                        <a:pt x="118065" y="0"/>
                      </a:lnTo>
                      <a:cubicBezTo>
                        <a:pt x="119133" y="0"/>
                        <a:pt x="120000" y="12210"/>
                        <a:pt x="120000" y="27273"/>
                      </a:cubicBezTo>
                      <a:lnTo>
                        <a:pt x="120000" y="120000"/>
                      </a:lnTo>
                      <a:lnTo>
                        <a:pt x="0" y="120000"/>
                      </a:lnTo>
                      <a:close/>
                    </a:path>
                  </a:pathLst>
                </a:custGeom>
                <a:solidFill>
                  <a:srgbClr val="00AEEF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39" name="Google Shape;1339;p38"/>
                <p:cNvSpPr txBox="1"/>
                <p:nvPr/>
              </p:nvSpPr>
              <p:spPr>
                <a:xfrm>
                  <a:off x="228600" y="0"/>
                  <a:ext cx="5448300" cy="4191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-US" sz="1400">
                      <a:solidFill>
                        <a:srgbClr val="FFFFFF"/>
                      </a:solidFill>
                      <a:latin typeface="Noto Sans"/>
                      <a:ea typeface="Noto Sans"/>
                      <a:cs typeface="Noto Sans"/>
                      <a:sym typeface="Noto Sans"/>
                    </a:rPr>
                    <a:t>Common Error Scenarios &amp; Recovery Mechanisms</a:t>
                  </a:r>
                  <a:endParaRPr b="1" sz="1400">
                    <a:solidFill>
                      <a:srgbClr val="FFFFFF"/>
                    </a:solidFill>
                    <a:latin typeface="Noto Sans"/>
                    <a:ea typeface="Noto Sans"/>
                    <a:cs typeface="Noto Sans"/>
                    <a:sym typeface="Noto Sans"/>
                  </a:endParaRPr>
                </a:p>
              </p:txBody>
            </p:sp>
            <p:sp>
              <p:nvSpPr>
                <p:cNvPr id="1340" name="Google Shape;1340;p38"/>
                <p:cNvSpPr txBox="1"/>
                <p:nvPr/>
              </p:nvSpPr>
              <p:spPr>
                <a:xfrm>
                  <a:off x="228600" y="552450"/>
                  <a:ext cx="5448300" cy="2914800"/>
                </a:xfrm>
                <a:prstGeom prst="rect">
                  <a:avLst/>
                </a:prstGeom>
                <a:solidFill>
                  <a:srgbClr val="000000">
                    <a:alpha val="0"/>
                  </a:srgbClr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i="0" lang="en-US" sz="1300">
                      <a:solidFill>
                        <a:srgbClr val="0F1B2C"/>
                      </a:solidFill>
                      <a:latin typeface="Noto Sans"/>
                      <a:ea typeface="Noto Sans"/>
                      <a:cs typeface="Noto Sans"/>
                      <a:sym typeface="Noto Sans"/>
                    </a:rPr>
                    <a:t>• Exponential Backoff: </a:t>
                  </a:r>
                  <a:r>
                    <a:rPr b="0" i="0" lang="en-US" sz="1300">
                      <a:solidFill>
                        <a:srgbClr val="334155"/>
                      </a:solidFill>
                      <a:latin typeface="Noto Sans"/>
                      <a:ea typeface="Noto Sans"/>
                      <a:cs typeface="Noto Sans"/>
                      <a:sym typeface="Noto Sans"/>
                    </a:rPr>
                    <a:t>Implement exponential backoff for transient retryable errors</a:t>
                  </a:r>
                  <a:endParaRPr b="1" i="0" sz="1300">
                    <a:solidFill>
                      <a:srgbClr val="0F1B2C"/>
                    </a:solidFill>
                    <a:latin typeface="Noto Sans"/>
                    <a:ea typeface="Noto Sans"/>
                    <a:cs typeface="Noto Sans"/>
                    <a:sym typeface="Noto Sans"/>
                  </a:endParaRPr>
                </a:p>
                <a:p>
                  <a:pPr indent="0" lvl="0" marL="0" rtl="0" algn="l">
                    <a:spcBef>
                      <a:spcPts val="1200"/>
                    </a:spcBef>
                    <a:spcAft>
                      <a:spcPts val="0"/>
                    </a:spcAft>
                    <a:buNone/>
                  </a:pPr>
                  <a:r>
                    <a:rPr b="1" i="0" lang="en-US" sz="1300">
                      <a:solidFill>
                        <a:srgbClr val="0F1B2C"/>
                      </a:solidFill>
                      <a:latin typeface="Noto Sans"/>
                      <a:ea typeface="Noto Sans"/>
                      <a:cs typeface="Noto Sans"/>
                      <a:sym typeface="Noto Sans"/>
                    </a:rPr>
                    <a:t>• Payload Validation: </a:t>
                  </a:r>
                  <a:r>
                    <a:rPr b="0" i="0" lang="en-US" sz="1300">
                      <a:solidFill>
                        <a:srgbClr val="334155"/>
                      </a:solidFill>
                      <a:latin typeface="Noto Sans"/>
                      <a:ea typeface="Noto Sans"/>
                      <a:cs typeface="Noto Sans"/>
                      <a:sym typeface="Noto Sans"/>
                    </a:rPr>
                    <a:t>Validate requests prior to dispatch to prevent -32602 errors</a:t>
                  </a:r>
                  <a:endParaRPr b="1" i="0" sz="1300">
                    <a:solidFill>
                      <a:srgbClr val="0F1B2C"/>
                    </a:solidFill>
                    <a:latin typeface="Noto Sans"/>
                    <a:ea typeface="Noto Sans"/>
                    <a:cs typeface="Noto Sans"/>
                    <a:sym typeface="Noto Sans"/>
                  </a:endParaRPr>
                </a:p>
                <a:p>
                  <a:pPr indent="0" lvl="0" marL="0" rtl="0" algn="l">
                    <a:spcBef>
                      <a:spcPts val="1200"/>
                    </a:spcBef>
                    <a:spcAft>
                      <a:spcPts val="0"/>
                    </a:spcAft>
                    <a:buNone/>
                  </a:pPr>
                  <a:r>
                    <a:rPr b="1" i="0" lang="en-US" sz="1300">
                      <a:solidFill>
                        <a:srgbClr val="0F1B2C"/>
                      </a:solidFill>
                      <a:latin typeface="Noto Sans"/>
                      <a:ea typeface="Noto Sans"/>
                      <a:cs typeface="Noto Sans"/>
                      <a:sym typeface="Noto Sans"/>
                    </a:rPr>
                    <a:t>• Capability Caching: </a:t>
                  </a:r>
                  <a:r>
                    <a:rPr b="0" i="0" lang="en-US" sz="1300">
                      <a:solidFill>
                        <a:srgbClr val="334155"/>
                      </a:solidFill>
                      <a:latin typeface="Noto Sans"/>
                      <a:ea typeface="Noto Sans"/>
                      <a:cs typeface="Noto Sans"/>
                      <a:sym typeface="Noto Sans"/>
                    </a:rPr>
                    <a:t>Cache capability discovery results to avoid repeated -32005 failures</a:t>
                  </a:r>
                  <a:endParaRPr b="1" i="0" sz="1300">
                    <a:solidFill>
                      <a:srgbClr val="0F1B2C"/>
                    </a:solidFill>
                    <a:latin typeface="Noto Sans"/>
                    <a:ea typeface="Noto Sans"/>
                    <a:cs typeface="Noto Sans"/>
                    <a:sym typeface="Noto Sans"/>
                  </a:endParaRPr>
                </a:p>
                <a:p>
                  <a:pPr indent="0" lvl="0" marL="0" rtl="0" algn="l">
                    <a:spcBef>
                      <a:spcPts val="1200"/>
                    </a:spcBef>
                    <a:spcAft>
                      <a:spcPts val="0"/>
                    </a:spcAft>
                    <a:buNone/>
                  </a:pPr>
                  <a:r>
                    <a:rPr b="1" i="0" lang="en-US" sz="1300">
                      <a:solidFill>
                        <a:srgbClr val="0F1B2C"/>
                      </a:solidFill>
                      <a:latin typeface="Noto Sans"/>
                      <a:ea typeface="Noto Sans"/>
                      <a:cs typeface="Noto Sans"/>
                      <a:sym typeface="Noto Sans"/>
                    </a:rPr>
                    <a:t>• User Prompt Guidance: </a:t>
                  </a:r>
                  <a:r>
                    <a:rPr b="0" i="0" lang="en-US" sz="1300">
                      <a:solidFill>
                        <a:srgbClr val="334155"/>
                      </a:solidFill>
                      <a:latin typeface="Noto Sans"/>
                      <a:ea typeface="Noto Sans"/>
                      <a:cs typeface="Noto Sans"/>
                      <a:sym typeface="Noto Sans"/>
                    </a:rPr>
                    <a:t>Present clear prompts on -32004 sampling denials</a:t>
                  </a:r>
                  <a:endParaRPr b="1" i="0" sz="1300">
                    <a:solidFill>
                      <a:srgbClr val="0F1B2C"/>
                    </a:solidFill>
                    <a:latin typeface="Noto Sans"/>
                    <a:ea typeface="Noto Sans"/>
                    <a:cs typeface="Noto Sans"/>
                    <a:sym typeface="Noto Sans"/>
                  </a:endParaRPr>
                </a:p>
                <a:p>
                  <a:pPr indent="0" lvl="0" marL="0" rtl="0" algn="l">
                    <a:spcBef>
                      <a:spcPts val="1200"/>
                    </a:spcBef>
                    <a:spcAft>
                      <a:spcPts val="0"/>
                    </a:spcAft>
                    <a:buNone/>
                  </a:pPr>
                  <a:r>
                    <a:rPr b="1" i="0" lang="en-US" sz="1300">
                      <a:solidFill>
                        <a:srgbClr val="0F1B2C"/>
                      </a:solidFill>
                      <a:latin typeface="Noto Sans"/>
                      <a:ea typeface="Noto Sans"/>
                      <a:cs typeface="Noto Sans"/>
                      <a:sym typeface="Noto Sans"/>
                    </a:rPr>
                    <a:t>• Contextual Logging: </a:t>
                  </a:r>
                  <a:r>
                    <a:rPr b="0" i="0" lang="en-US" sz="1300">
                      <a:solidFill>
                        <a:srgbClr val="334155"/>
                      </a:solidFill>
                      <a:latin typeface="Noto Sans"/>
                      <a:ea typeface="Noto Sans"/>
                      <a:cs typeface="Noto Sans"/>
                      <a:sym typeface="Noto Sans"/>
                    </a:rPr>
                    <a:t>Capture complete error context to streamline post-mortem debugging</a:t>
                  </a:r>
                  <a:endParaRPr b="1" i="0" sz="1300">
                    <a:solidFill>
                      <a:srgbClr val="0F1B2C"/>
                    </a:solidFill>
                    <a:latin typeface="Noto Sans"/>
                    <a:ea typeface="Noto Sans"/>
                    <a:cs typeface="Noto Sans"/>
                    <a:sym typeface="Noto Sans"/>
                  </a:endParaRPr>
                </a:p>
              </p:txBody>
            </p:sp>
          </p:grpSp>
        </p:grpSp>
        <p:grpSp>
          <p:nvGrpSpPr>
            <p:cNvPr id="1341" name="Google Shape;1341;p38"/>
            <p:cNvGrpSpPr/>
            <p:nvPr/>
          </p:nvGrpSpPr>
          <p:grpSpPr>
            <a:xfrm>
              <a:off x="5905500" y="5143500"/>
              <a:ext cx="11620500" cy="4286400"/>
              <a:chOff x="5905500" y="5143500"/>
              <a:chExt cx="11620500" cy="4286400"/>
            </a:xfrm>
          </p:grpSpPr>
          <p:grpSp>
            <p:nvGrpSpPr>
              <p:cNvPr id="1342" name="Google Shape;1342;p38"/>
              <p:cNvGrpSpPr/>
              <p:nvPr/>
            </p:nvGrpSpPr>
            <p:grpSpPr>
              <a:xfrm>
                <a:off x="5905500" y="5143500"/>
                <a:ext cx="5524500" cy="4286400"/>
                <a:chOff x="0" y="0"/>
                <a:chExt cx="5524500" cy="4286400"/>
              </a:xfrm>
            </p:grpSpPr>
            <p:sp>
              <p:nvSpPr>
                <p:cNvPr id="1343" name="Google Shape;1343;p38"/>
                <p:cNvSpPr/>
                <p:nvPr/>
              </p:nvSpPr>
              <p:spPr>
                <a:xfrm>
                  <a:off x="0" y="0"/>
                  <a:ext cx="5524500" cy="4286400"/>
                </a:xfrm>
                <a:prstGeom prst="roundRect">
                  <a:avLst>
                    <a:gd fmla="val 2222" name="adj"/>
                  </a:avLst>
                </a:prstGeom>
                <a:solidFill>
                  <a:srgbClr val="F8FAFC"/>
                </a:solidFill>
                <a:ln cap="flat" cmpd="sng" w="14300">
                  <a:solidFill>
                    <a:srgbClr val="E2E8F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44" name="Google Shape;1344;p38"/>
                <p:cNvSpPr/>
                <p:nvPr/>
              </p:nvSpPr>
              <p:spPr>
                <a:xfrm>
                  <a:off x="0" y="0"/>
                  <a:ext cx="5524500" cy="419100"/>
                </a:xfrm>
                <a:custGeom>
                  <a:rect b="b" l="l" r="r" t="t"/>
                  <a:pathLst>
                    <a:path extrusionOk="0" h="120000" w="120000">
                      <a:moveTo>
                        <a:pt x="0" y="27273"/>
                      </a:moveTo>
                      <a:cubicBezTo>
                        <a:pt x="0" y="12210"/>
                        <a:pt x="926" y="0"/>
                        <a:pt x="2069" y="0"/>
                      </a:cubicBezTo>
                      <a:lnTo>
                        <a:pt x="117931" y="0"/>
                      </a:lnTo>
                      <a:cubicBezTo>
                        <a:pt x="119074" y="0"/>
                        <a:pt x="120000" y="12210"/>
                        <a:pt x="120000" y="27273"/>
                      </a:cubicBezTo>
                      <a:lnTo>
                        <a:pt x="120000" y="120000"/>
                      </a:lnTo>
                      <a:lnTo>
                        <a:pt x="0" y="120000"/>
                      </a:lnTo>
                      <a:close/>
                    </a:path>
                  </a:pathLst>
                </a:custGeom>
                <a:solidFill>
                  <a:srgbClr val="00AEEF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45" name="Google Shape;1345;p38"/>
                <p:cNvSpPr txBox="1"/>
                <p:nvPr/>
              </p:nvSpPr>
              <p:spPr>
                <a:xfrm>
                  <a:off x="228600" y="0"/>
                  <a:ext cx="5067300" cy="4191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-US" sz="1400">
                      <a:solidFill>
                        <a:srgbClr val="FFFFFF"/>
                      </a:solidFill>
                      <a:latin typeface="Noto Sans"/>
                      <a:ea typeface="Noto Sans"/>
                      <a:cs typeface="Noto Sans"/>
                      <a:sym typeface="Noto Sans"/>
                    </a:rPr>
                    <a:t>Standard JSON-RPC Error Codes</a:t>
                  </a:r>
                  <a:endParaRPr b="1" sz="1400">
                    <a:solidFill>
                      <a:srgbClr val="FFFFFF"/>
                    </a:solidFill>
                    <a:latin typeface="Noto Sans"/>
                    <a:ea typeface="Noto Sans"/>
                    <a:cs typeface="Noto Sans"/>
                    <a:sym typeface="Noto Sans"/>
                  </a:endParaRPr>
                </a:p>
              </p:txBody>
            </p:sp>
            <p:sp>
              <p:nvSpPr>
                <p:cNvPr id="1346" name="Google Shape;1346;p38"/>
                <p:cNvSpPr txBox="1"/>
                <p:nvPr/>
              </p:nvSpPr>
              <p:spPr>
                <a:xfrm>
                  <a:off x="228600" y="552450"/>
                  <a:ext cx="5067300" cy="3581400"/>
                </a:xfrm>
                <a:prstGeom prst="rect">
                  <a:avLst/>
                </a:prstGeom>
                <a:solidFill>
                  <a:srgbClr val="000000">
                    <a:alpha val="0"/>
                  </a:srgbClr>
                </a:solidFill>
                <a:ln>
                  <a:noFill/>
                </a:ln>
              </p:spPr>
              <p:txBody>
                <a:bodyPr anchorCtr="0" anchor="t" bIns="0" lIns="0" spcFirstLastPara="1" rIns="0" wrap="square" tIns="952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i="0" lang="en-US" sz="1350">
                      <a:solidFill>
                        <a:srgbClr val="0F1B2C"/>
                      </a:solidFill>
                      <a:latin typeface="Courier New"/>
                      <a:ea typeface="Courier New"/>
                      <a:cs typeface="Courier New"/>
                      <a:sym typeface="Courier New"/>
                    </a:rPr>
                    <a:t>-32700 </a:t>
                  </a:r>
                  <a:r>
                    <a:rPr b="0" i="0" lang="en-US" sz="1250">
                      <a:solidFill>
                        <a:srgbClr val="475569"/>
                      </a:solidFill>
                      <a:latin typeface="Noto Sans"/>
                      <a:ea typeface="Noto Sans"/>
                      <a:cs typeface="Noto Sans"/>
                      <a:sym typeface="Noto Sans"/>
                    </a:rPr>
                    <a:t>— Parse error (Invalid JSON received)</a:t>
                  </a:r>
                  <a:endParaRPr b="1" i="0" sz="1350">
                    <a:solidFill>
                      <a:srgbClr val="0F1B2C"/>
                    </a:solidFill>
                    <a:latin typeface="Courier New"/>
                    <a:ea typeface="Courier New"/>
                    <a:cs typeface="Courier New"/>
                    <a:sym typeface="Courier New"/>
                  </a:endParaRPr>
                </a:p>
                <a:p>
                  <a:pPr indent="0" lvl="0" marL="0" rtl="0" algn="l">
                    <a:spcBef>
                      <a:spcPts val="2200"/>
                    </a:spcBef>
                    <a:spcAft>
                      <a:spcPts val="0"/>
                    </a:spcAft>
                    <a:buNone/>
                  </a:pPr>
                  <a:r>
                    <a:rPr b="1" i="0" lang="en-US" sz="1350">
                      <a:solidFill>
                        <a:srgbClr val="0F1B2C"/>
                      </a:solidFill>
                      <a:latin typeface="Courier New"/>
                      <a:ea typeface="Courier New"/>
                      <a:cs typeface="Courier New"/>
                      <a:sym typeface="Courier New"/>
                    </a:rPr>
                    <a:t>-32600 </a:t>
                  </a:r>
                  <a:r>
                    <a:rPr b="0" i="0" lang="en-US" sz="1250">
                      <a:solidFill>
                        <a:srgbClr val="475569"/>
                      </a:solidFill>
                      <a:latin typeface="Noto Sans"/>
                      <a:ea typeface="Noto Sans"/>
                      <a:cs typeface="Noto Sans"/>
                      <a:sym typeface="Noto Sans"/>
                    </a:rPr>
                    <a:t>— Invalid Request (JSON-RPC request malformed)</a:t>
                  </a:r>
                  <a:endParaRPr b="1" i="0" sz="1350">
                    <a:solidFill>
                      <a:srgbClr val="0F1B2C"/>
                    </a:solidFill>
                    <a:latin typeface="Courier New"/>
                    <a:ea typeface="Courier New"/>
                    <a:cs typeface="Courier New"/>
                    <a:sym typeface="Courier New"/>
                  </a:endParaRPr>
                </a:p>
                <a:p>
                  <a:pPr indent="0" lvl="0" marL="0" rtl="0" algn="l">
                    <a:spcBef>
                      <a:spcPts val="2200"/>
                    </a:spcBef>
                    <a:spcAft>
                      <a:spcPts val="0"/>
                    </a:spcAft>
                    <a:buNone/>
                  </a:pPr>
                  <a:r>
                    <a:rPr b="1" i="0" lang="en-US" sz="1350">
                      <a:solidFill>
                        <a:srgbClr val="0F1B2C"/>
                      </a:solidFill>
                      <a:latin typeface="Courier New"/>
                      <a:ea typeface="Courier New"/>
                      <a:cs typeface="Courier New"/>
                      <a:sym typeface="Courier New"/>
                    </a:rPr>
                    <a:t>-32601 </a:t>
                  </a:r>
                  <a:r>
                    <a:rPr b="0" i="0" lang="en-US" sz="1250">
                      <a:solidFill>
                        <a:srgbClr val="475569"/>
                      </a:solidFill>
                      <a:latin typeface="Noto Sans"/>
                      <a:ea typeface="Noto Sans"/>
                      <a:cs typeface="Noto Sans"/>
                      <a:sym typeface="Noto Sans"/>
                    </a:rPr>
                    <a:t>— Method not found (Requested method does not exist)</a:t>
                  </a:r>
                  <a:endParaRPr b="1" i="0" sz="1350">
                    <a:solidFill>
                      <a:srgbClr val="0F1B2C"/>
                    </a:solidFill>
                    <a:latin typeface="Courier New"/>
                    <a:ea typeface="Courier New"/>
                    <a:cs typeface="Courier New"/>
                    <a:sym typeface="Courier New"/>
                  </a:endParaRPr>
                </a:p>
                <a:p>
                  <a:pPr indent="0" lvl="0" marL="0" rtl="0" algn="l">
                    <a:spcBef>
                      <a:spcPts val="2200"/>
                    </a:spcBef>
                    <a:spcAft>
                      <a:spcPts val="0"/>
                    </a:spcAft>
                    <a:buNone/>
                  </a:pPr>
                  <a:r>
                    <a:rPr b="1" i="0" lang="en-US" sz="1350">
                      <a:solidFill>
                        <a:srgbClr val="0F1B2C"/>
                      </a:solidFill>
                      <a:latin typeface="Courier New"/>
                      <a:ea typeface="Courier New"/>
                      <a:cs typeface="Courier New"/>
                      <a:sym typeface="Courier New"/>
                    </a:rPr>
                    <a:t>-32602 </a:t>
                  </a:r>
                  <a:r>
                    <a:rPr b="0" i="0" lang="en-US" sz="1250">
                      <a:solidFill>
                        <a:srgbClr val="475569"/>
                      </a:solidFill>
                      <a:latin typeface="Noto Sans"/>
                      <a:ea typeface="Noto Sans"/>
                      <a:cs typeface="Noto Sans"/>
                      <a:sym typeface="Noto Sans"/>
                    </a:rPr>
                    <a:t>— Invalid params (Invalid method parameters)</a:t>
                  </a:r>
                  <a:endParaRPr b="1" i="0" sz="1350">
                    <a:solidFill>
                      <a:srgbClr val="0F1B2C"/>
                    </a:solidFill>
                    <a:latin typeface="Courier New"/>
                    <a:ea typeface="Courier New"/>
                    <a:cs typeface="Courier New"/>
                    <a:sym typeface="Courier New"/>
                  </a:endParaRPr>
                </a:p>
                <a:p>
                  <a:pPr indent="0" lvl="0" marL="0" rtl="0" algn="l">
                    <a:spcBef>
                      <a:spcPts val="2200"/>
                    </a:spcBef>
                    <a:spcAft>
                      <a:spcPts val="0"/>
                    </a:spcAft>
                    <a:buNone/>
                  </a:pPr>
                  <a:r>
                    <a:rPr b="1" i="0" lang="en-US" sz="1350">
                      <a:solidFill>
                        <a:srgbClr val="0F1B2C"/>
                      </a:solidFill>
                      <a:latin typeface="Courier New"/>
                      <a:ea typeface="Courier New"/>
                      <a:cs typeface="Courier New"/>
                      <a:sym typeface="Courier New"/>
                    </a:rPr>
                    <a:t>-32603 </a:t>
                  </a:r>
                  <a:r>
                    <a:rPr b="0" i="0" lang="en-US" sz="1250">
                      <a:solidFill>
                        <a:srgbClr val="475569"/>
                      </a:solidFill>
                      <a:latin typeface="Noto Sans"/>
                      <a:ea typeface="Noto Sans"/>
                      <a:cs typeface="Noto Sans"/>
                      <a:sym typeface="Noto Sans"/>
                    </a:rPr>
                    <a:t>— Internal error (Server-side processing error)</a:t>
                  </a:r>
                  <a:endParaRPr b="1" i="0" sz="1350">
                    <a:solidFill>
                      <a:srgbClr val="0F1B2C"/>
                    </a:solidFill>
                    <a:latin typeface="Courier New"/>
                    <a:ea typeface="Courier New"/>
                    <a:cs typeface="Courier New"/>
                    <a:sym typeface="Courier New"/>
                  </a:endParaRPr>
                </a:p>
              </p:txBody>
            </p:sp>
          </p:grpSp>
          <p:grpSp>
            <p:nvGrpSpPr>
              <p:cNvPr id="1347" name="Google Shape;1347;p38"/>
              <p:cNvGrpSpPr/>
              <p:nvPr/>
            </p:nvGrpSpPr>
            <p:grpSpPr>
              <a:xfrm>
                <a:off x="11620500" y="5143500"/>
                <a:ext cx="5905500" cy="4286400"/>
                <a:chOff x="0" y="0"/>
                <a:chExt cx="5905500" cy="4286400"/>
              </a:xfrm>
            </p:grpSpPr>
            <p:sp>
              <p:nvSpPr>
                <p:cNvPr id="1348" name="Google Shape;1348;p38"/>
                <p:cNvSpPr/>
                <p:nvPr/>
              </p:nvSpPr>
              <p:spPr>
                <a:xfrm>
                  <a:off x="0" y="0"/>
                  <a:ext cx="5905500" cy="4286400"/>
                </a:xfrm>
                <a:prstGeom prst="roundRect">
                  <a:avLst>
                    <a:gd fmla="val 2222" name="adj"/>
                  </a:avLst>
                </a:prstGeom>
                <a:solidFill>
                  <a:srgbClr val="F8FAFC"/>
                </a:solidFill>
                <a:ln cap="flat" cmpd="sng" w="14300">
                  <a:solidFill>
                    <a:srgbClr val="E2E8F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49" name="Google Shape;1349;p38"/>
                <p:cNvSpPr/>
                <p:nvPr/>
              </p:nvSpPr>
              <p:spPr>
                <a:xfrm>
                  <a:off x="0" y="0"/>
                  <a:ext cx="5905500" cy="419100"/>
                </a:xfrm>
                <a:custGeom>
                  <a:rect b="b" l="l" r="r" t="t"/>
                  <a:pathLst>
                    <a:path extrusionOk="0" h="120000" w="120000">
                      <a:moveTo>
                        <a:pt x="0" y="27273"/>
                      </a:moveTo>
                      <a:cubicBezTo>
                        <a:pt x="0" y="12210"/>
                        <a:pt x="867" y="0"/>
                        <a:pt x="1935" y="0"/>
                      </a:cubicBezTo>
                      <a:lnTo>
                        <a:pt x="118065" y="0"/>
                      </a:lnTo>
                      <a:cubicBezTo>
                        <a:pt x="119133" y="0"/>
                        <a:pt x="120000" y="12210"/>
                        <a:pt x="120000" y="27273"/>
                      </a:cubicBezTo>
                      <a:lnTo>
                        <a:pt x="120000" y="120000"/>
                      </a:lnTo>
                      <a:lnTo>
                        <a:pt x="0" y="120000"/>
                      </a:lnTo>
                      <a:close/>
                    </a:path>
                  </a:pathLst>
                </a:custGeom>
                <a:solidFill>
                  <a:srgbClr val="00AEEF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50" name="Google Shape;1350;p38"/>
                <p:cNvSpPr txBox="1"/>
                <p:nvPr/>
              </p:nvSpPr>
              <p:spPr>
                <a:xfrm>
                  <a:off x="228600" y="0"/>
                  <a:ext cx="5448300" cy="4191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-US" sz="1400">
                      <a:solidFill>
                        <a:srgbClr val="FFFFFF"/>
                      </a:solidFill>
                      <a:latin typeface="Noto Sans"/>
                      <a:ea typeface="Noto Sans"/>
                      <a:cs typeface="Noto Sans"/>
                      <a:sym typeface="Noto Sans"/>
                    </a:rPr>
                    <a:t>MCP-Specific Error Codes</a:t>
                  </a:r>
                  <a:endParaRPr b="1" sz="1400">
                    <a:solidFill>
                      <a:srgbClr val="FFFFFF"/>
                    </a:solidFill>
                    <a:latin typeface="Noto Sans"/>
                    <a:ea typeface="Noto Sans"/>
                    <a:cs typeface="Noto Sans"/>
                    <a:sym typeface="Noto Sans"/>
                  </a:endParaRPr>
                </a:p>
              </p:txBody>
            </p:sp>
            <p:sp>
              <p:nvSpPr>
                <p:cNvPr id="1351" name="Google Shape;1351;p38"/>
                <p:cNvSpPr txBox="1"/>
                <p:nvPr/>
              </p:nvSpPr>
              <p:spPr>
                <a:xfrm>
                  <a:off x="228600" y="552450"/>
                  <a:ext cx="5448300" cy="3581400"/>
                </a:xfrm>
                <a:prstGeom prst="rect">
                  <a:avLst/>
                </a:prstGeom>
                <a:solidFill>
                  <a:srgbClr val="000000">
                    <a:alpha val="0"/>
                  </a:srgbClr>
                </a:solidFill>
                <a:ln>
                  <a:noFill/>
                </a:ln>
              </p:spPr>
              <p:txBody>
                <a:bodyPr anchorCtr="0" anchor="t" bIns="0" lIns="0" spcFirstLastPara="1" rIns="0" wrap="square" tIns="952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i="0" lang="en-US" sz="1350">
                      <a:solidFill>
                        <a:srgbClr val="0F1B2C"/>
                      </a:solidFill>
                      <a:latin typeface="Courier New"/>
                      <a:ea typeface="Courier New"/>
                      <a:cs typeface="Courier New"/>
                      <a:sym typeface="Courier New"/>
                    </a:rPr>
                    <a:t>-32001 </a:t>
                  </a:r>
                  <a:r>
                    <a:rPr b="0" i="0" lang="en-US" sz="1250">
                      <a:solidFill>
                        <a:srgbClr val="475569"/>
                      </a:solidFill>
                      <a:latin typeface="Noto Sans"/>
                      <a:ea typeface="Noto Sans"/>
                      <a:cs typeface="Noto Sans"/>
                      <a:sym typeface="Noto Sans"/>
                    </a:rPr>
                    <a:t>— Resource not found</a:t>
                  </a:r>
                  <a:endParaRPr b="1" i="0" sz="1350">
                    <a:solidFill>
                      <a:srgbClr val="0F1B2C"/>
                    </a:solidFill>
                    <a:latin typeface="Courier New"/>
                    <a:ea typeface="Courier New"/>
                    <a:cs typeface="Courier New"/>
                    <a:sym typeface="Courier New"/>
                  </a:endParaRPr>
                </a:p>
                <a:p>
                  <a:pPr indent="0" lvl="0" marL="0" rtl="0" algn="l">
                    <a:spcBef>
                      <a:spcPts val="1800"/>
                    </a:spcBef>
                    <a:spcAft>
                      <a:spcPts val="0"/>
                    </a:spcAft>
                    <a:buNone/>
                  </a:pPr>
                  <a:r>
                    <a:rPr b="1" i="0" lang="en-US" sz="1350">
                      <a:solidFill>
                        <a:srgbClr val="0F1B2C"/>
                      </a:solidFill>
                      <a:latin typeface="Courier New"/>
                      <a:ea typeface="Courier New"/>
                      <a:cs typeface="Courier New"/>
                      <a:sym typeface="Courier New"/>
                    </a:rPr>
                    <a:t>-32002 </a:t>
                  </a:r>
                  <a:r>
                    <a:rPr b="0" i="0" lang="en-US" sz="1250">
                      <a:solidFill>
                        <a:srgbClr val="475569"/>
                      </a:solidFill>
                      <a:latin typeface="Noto Sans"/>
                      <a:ea typeface="Noto Sans"/>
                      <a:cs typeface="Noto Sans"/>
                      <a:sym typeface="Noto Sans"/>
                    </a:rPr>
                    <a:t>— Tool execution failed</a:t>
                  </a:r>
                  <a:endParaRPr b="1" i="0" sz="1350">
                    <a:solidFill>
                      <a:srgbClr val="0F1B2C"/>
                    </a:solidFill>
                    <a:latin typeface="Courier New"/>
                    <a:ea typeface="Courier New"/>
                    <a:cs typeface="Courier New"/>
                    <a:sym typeface="Courier New"/>
                  </a:endParaRPr>
                </a:p>
                <a:p>
                  <a:pPr indent="0" lvl="0" marL="0" rtl="0" algn="l">
                    <a:spcBef>
                      <a:spcPts val="1800"/>
                    </a:spcBef>
                    <a:spcAft>
                      <a:spcPts val="0"/>
                    </a:spcAft>
                    <a:buNone/>
                  </a:pPr>
                  <a:r>
                    <a:rPr b="1" i="0" lang="en-US" sz="1350">
                      <a:solidFill>
                        <a:srgbClr val="0F1B2C"/>
                      </a:solidFill>
                      <a:latin typeface="Courier New"/>
                      <a:ea typeface="Courier New"/>
                      <a:cs typeface="Courier New"/>
                      <a:sym typeface="Courier New"/>
                    </a:rPr>
                    <a:t>-32003 </a:t>
                  </a:r>
                  <a:r>
                    <a:rPr b="0" i="0" lang="en-US" sz="1250">
                      <a:solidFill>
                        <a:srgbClr val="475569"/>
                      </a:solidFill>
                      <a:latin typeface="Noto Sans"/>
                      <a:ea typeface="Noto Sans"/>
                      <a:cs typeface="Noto Sans"/>
                      <a:sym typeface="Noto Sans"/>
                    </a:rPr>
                    <a:t>— Prompt not found</a:t>
                  </a:r>
                  <a:endParaRPr b="1" i="0" sz="1350">
                    <a:solidFill>
                      <a:srgbClr val="0F1B2C"/>
                    </a:solidFill>
                    <a:latin typeface="Courier New"/>
                    <a:ea typeface="Courier New"/>
                    <a:cs typeface="Courier New"/>
                    <a:sym typeface="Courier New"/>
                  </a:endParaRPr>
                </a:p>
                <a:p>
                  <a:pPr indent="0" lvl="0" marL="0" rtl="0" algn="l">
                    <a:spcBef>
                      <a:spcPts val="1800"/>
                    </a:spcBef>
                    <a:spcAft>
                      <a:spcPts val="0"/>
                    </a:spcAft>
                    <a:buNone/>
                  </a:pPr>
                  <a:r>
                    <a:rPr b="1" i="0" lang="en-US" sz="1350">
                      <a:solidFill>
                        <a:srgbClr val="0F1B2C"/>
                      </a:solidFill>
                      <a:latin typeface="Courier New"/>
                      <a:ea typeface="Courier New"/>
                      <a:cs typeface="Courier New"/>
                      <a:sym typeface="Courier New"/>
                    </a:rPr>
                    <a:t>-32004 </a:t>
                  </a:r>
                  <a:r>
                    <a:rPr b="0" i="0" lang="en-US" sz="1250">
                      <a:solidFill>
                        <a:srgbClr val="475569"/>
                      </a:solidFill>
                      <a:latin typeface="Noto Sans"/>
                      <a:ea typeface="Noto Sans"/>
                      <a:cs typeface="Noto Sans"/>
                      <a:sym typeface="Noto Sans"/>
                    </a:rPr>
                    <a:t>— Sampling denied by user</a:t>
                  </a:r>
                  <a:endParaRPr b="1" i="0" sz="1350">
                    <a:solidFill>
                      <a:srgbClr val="0F1B2C"/>
                    </a:solidFill>
                    <a:latin typeface="Courier New"/>
                    <a:ea typeface="Courier New"/>
                    <a:cs typeface="Courier New"/>
                    <a:sym typeface="Courier New"/>
                  </a:endParaRPr>
                </a:p>
                <a:p>
                  <a:pPr indent="0" lvl="0" marL="0" rtl="0" algn="l">
                    <a:spcBef>
                      <a:spcPts val="1800"/>
                    </a:spcBef>
                    <a:spcAft>
                      <a:spcPts val="0"/>
                    </a:spcAft>
                    <a:buNone/>
                  </a:pPr>
                  <a:r>
                    <a:rPr b="1" i="0" lang="en-US" sz="1350">
                      <a:solidFill>
                        <a:srgbClr val="0F1B2C"/>
                      </a:solidFill>
                      <a:latin typeface="Courier New"/>
                      <a:ea typeface="Courier New"/>
                      <a:cs typeface="Courier New"/>
                      <a:sym typeface="Courier New"/>
                    </a:rPr>
                    <a:t>-32005 </a:t>
                  </a:r>
                  <a:r>
                    <a:rPr b="0" i="0" lang="en-US" sz="1250">
                      <a:solidFill>
                        <a:srgbClr val="475569"/>
                      </a:solidFill>
                      <a:latin typeface="Noto Sans"/>
                      <a:ea typeface="Noto Sans"/>
                      <a:cs typeface="Noto Sans"/>
                      <a:sym typeface="Noto Sans"/>
                    </a:rPr>
                    <a:t>— Capability not supported</a:t>
                  </a:r>
                  <a:endParaRPr b="1" i="0" sz="1350">
                    <a:solidFill>
                      <a:srgbClr val="0F1B2C"/>
                    </a:solidFill>
                    <a:latin typeface="Courier New"/>
                    <a:ea typeface="Courier New"/>
                    <a:cs typeface="Courier New"/>
                    <a:sym typeface="Courier New"/>
                  </a:endParaRPr>
                </a:p>
                <a:p>
                  <a:pPr indent="0" lvl="0" marL="0" rtl="0" algn="l">
                    <a:spcBef>
                      <a:spcPts val="1800"/>
                    </a:spcBef>
                    <a:spcAft>
                      <a:spcPts val="0"/>
                    </a:spcAft>
                    <a:buNone/>
                  </a:pPr>
                  <a:r>
                    <a:rPr b="1" i="0" lang="en-US" sz="1350">
                      <a:solidFill>
                        <a:srgbClr val="0F1B2C"/>
                      </a:solidFill>
                      <a:latin typeface="Courier New"/>
                      <a:ea typeface="Courier New"/>
                      <a:cs typeface="Courier New"/>
                      <a:sym typeface="Courier New"/>
                    </a:rPr>
                    <a:t>-32006 </a:t>
                  </a:r>
                  <a:r>
                    <a:rPr b="0" i="0" lang="en-US" sz="1250">
                      <a:solidFill>
                        <a:srgbClr val="475569"/>
                      </a:solidFill>
                      <a:latin typeface="Noto Sans"/>
                      <a:ea typeface="Noto Sans"/>
                      <a:cs typeface="Noto Sans"/>
                      <a:sym typeface="Noto Sans"/>
                    </a:rPr>
                    <a:t>— Connection timeout</a:t>
                  </a:r>
                  <a:endParaRPr b="1" i="0" sz="1350">
                    <a:solidFill>
                      <a:srgbClr val="0F1B2C"/>
                    </a:solidFill>
                    <a:latin typeface="Courier New"/>
                    <a:ea typeface="Courier New"/>
                    <a:cs typeface="Courier New"/>
                    <a:sym typeface="Courier New"/>
                  </a:endParaRPr>
                </a:p>
              </p:txBody>
            </p:sp>
          </p:grpSp>
        </p:grpSp>
        <p:grpSp>
          <p:nvGrpSpPr>
            <p:cNvPr id="1352" name="Google Shape;1352;p38"/>
            <p:cNvGrpSpPr/>
            <p:nvPr/>
          </p:nvGrpSpPr>
          <p:grpSpPr>
            <a:xfrm>
              <a:off x="0" y="9715500"/>
              <a:ext cx="18288000" cy="457350"/>
              <a:chOff x="0" y="0"/>
              <a:chExt cx="18288000" cy="457350"/>
            </a:xfrm>
          </p:grpSpPr>
          <p:cxnSp>
            <p:nvCxnSpPr>
              <p:cNvPr id="1353" name="Google Shape;1353;p38"/>
              <p:cNvCxnSpPr/>
              <p:nvPr/>
            </p:nvCxnSpPr>
            <p:spPr>
              <a:xfrm>
                <a:off x="0" y="0"/>
                <a:ext cx="18288000" cy="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9525">
                <a:solidFill>
                  <a:srgbClr val="CBD5E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1354" name="Google Shape;1354;p38"/>
              <p:cNvSpPr txBox="1"/>
              <p:nvPr/>
            </p:nvSpPr>
            <p:spPr>
              <a:xfrm>
                <a:off x="666750" y="171450"/>
                <a:ext cx="38100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1100">
                    <a:solidFill>
                      <a:srgbClr val="64748B"/>
                    </a:solidFill>
                    <a:latin typeface="Roboto"/>
                    <a:ea typeface="Roboto"/>
                    <a:cs typeface="Roboto"/>
                    <a:sym typeface="Roboto"/>
                  </a:rPr>
                  <a:t>Criterion Proprietary &amp; Confidential</a:t>
                </a:r>
                <a:endParaRPr b="0" sz="1100">
                  <a:solidFill>
                    <a:srgbClr val="64748B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</p:grp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8" name="Shape 1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59" name="Google Shape;1359;p39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sp>
          <p:nvSpPr>
            <p:cNvPr id="1360" name="Google Shape;1360;p39"/>
            <p:cNvSpPr/>
            <p:nvPr/>
          </p:nvSpPr>
          <p:spPr>
            <a:xfrm>
              <a:off x="0" y="0"/>
              <a:ext cx="18288000" cy="10287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361" name="Google Shape;1361;p39"/>
            <p:cNvGrpSpPr/>
            <p:nvPr/>
          </p:nvGrpSpPr>
          <p:grpSpPr>
            <a:xfrm>
              <a:off x="0" y="0"/>
              <a:ext cx="5334000" cy="10287000"/>
              <a:chOff x="0" y="0"/>
              <a:chExt cx="5334000" cy="10287000"/>
            </a:xfrm>
          </p:grpSpPr>
          <p:sp>
            <p:nvSpPr>
              <p:cNvPr id="1362" name="Google Shape;1362;p39"/>
              <p:cNvSpPr/>
              <p:nvPr/>
            </p:nvSpPr>
            <p:spPr>
              <a:xfrm>
                <a:off x="0" y="0"/>
                <a:ext cx="5334000" cy="10287000"/>
              </a:xfrm>
              <a:prstGeom prst="rect">
                <a:avLst/>
              </a:prstGeom>
              <a:solidFill>
                <a:srgbClr val="0F172A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1363" name="Google Shape;1363;p39"/>
              <p:cNvCxnSpPr/>
              <p:nvPr/>
            </p:nvCxnSpPr>
            <p:spPr>
              <a:xfrm>
                <a:off x="5334000" y="0"/>
                <a:ext cx="0" cy="1028700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19050">
                <a:solidFill>
                  <a:srgbClr val="1E293B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1364" name="Google Shape;1364;p39"/>
              <p:cNvSpPr txBox="1"/>
              <p:nvPr/>
            </p:nvSpPr>
            <p:spPr>
              <a:xfrm>
                <a:off x="666750" y="2667000"/>
                <a:ext cx="4000500" cy="4762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200">
                    <a:solidFill>
                      <a:srgbClr val="00AEEF"/>
                    </a:solidFill>
                    <a:latin typeface="Roboto"/>
                    <a:ea typeface="Roboto"/>
                    <a:cs typeface="Roboto"/>
                    <a:sym typeface="Roboto"/>
                  </a:rPr>
                  <a:t>TECHNICAL IMPLEMENTATION</a:t>
                </a:r>
                <a:endParaRPr b="1" sz="1200">
                  <a:solidFill>
                    <a:srgbClr val="00AEEF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  <a:p>
                <a:pPr indent="0" lvl="0" marL="0" rtl="0" algn="l">
                  <a:spcBef>
                    <a:spcPts val="1200"/>
                  </a:spcBef>
                  <a:spcAft>
                    <a:spcPts val="0"/>
                  </a:spcAft>
                  <a:buNone/>
                </a:pPr>
                <a:r>
                  <a:rPr b="1" lang="en-US" sz="4200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rPr>
                  <a:t>Security</a:t>
                </a:r>
                <a:endParaRPr b="1" sz="42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4200">
                    <a:solidFill>
                      <a:srgbClr val="00AEEF"/>
                    </a:solidFill>
                    <a:latin typeface="Roboto"/>
                    <a:ea typeface="Roboto"/>
                    <a:cs typeface="Roboto"/>
                    <a:sym typeface="Roboto"/>
                  </a:rPr>
                  <a:t>Implementation</a:t>
                </a:r>
                <a:endParaRPr b="1" sz="4200">
                  <a:solidFill>
                    <a:srgbClr val="00AEEF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  <a:p>
                <a:pPr indent="0" lvl="0" marL="0" rtl="0" algn="l">
                  <a:spcBef>
                    <a:spcPts val="1600"/>
                  </a:spcBef>
                  <a:spcAft>
                    <a:spcPts val="0"/>
                  </a:spcAft>
                  <a:buNone/>
                </a:pPr>
                <a:r>
                  <a:rPr b="0" lang="en-US" sz="1300">
                    <a:solidFill>
                      <a:srgbClr val="64748B"/>
                    </a:solidFill>
                    <a:latin typeface="Roboto"/>
                    <a:ea typeface="Roboto"/>
                    <a:cs typeface="Roboto"/>
                    <a:sym typeface="Roboto"/>
                  </a:rPr>
                  <a:t>Overview of transport encryption, authentication &amp; authorization, content validation, human controls, and security best practices.</a:t>
                </a:r>
                <a:endParaRPr b="0" sz="1300">
                  <a:solidFill>
                    <a:srgbClr val="64748B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sp>
          <p:nvSpPr>
            <p:cNvPr id="1365" name="Google Shape;1365;p39"/>
            <p:cNvSpPr txBox="1"/>
            <p:nvPr/>
          </p:nvSpPr>
          <p:spPr>
            <a:xfrm>
              <a:off x="5905500" y="476250"/>
              <a:ext cx="11620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000">
                  <a:solidFill>
                    <a:srgbClr val="0F1B2C"/>
                  </a:solidFill>
                  <a:latin typeface="Roboto"/>
                  <a:ea typeface="Roboto"/>
                  <a:cs typeface="Roboto"/>
                  <a:sym typeface="Roboto"/>
                </a:rPr>
                <a:t>Protocol Security Controls</a:t>
              </a:r>
              <a:endParaRPr b="1" sz="3000">
                <a:solidFill>
                  <a:srgbClr val="0F1B2C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00AEEF"/>
                  </a:solidFill>
                  <a:latin typeface="Noto Sans"/>
                  <a:ea typeface="Noto Sans"/>
                  <a:cs typeface="Noto Sans"/>
                  <a:sym typeface="Noto Sans"/>
                </a:rPr>
                <a:t>Security Architecture &amp; Safeguards</a:t>
              </a:r>
              <a:endParaRPr b="1" sz="1300">
                <a:solidFill>
                  <a:srgbClr val="00AEEF"/>
                </a:solidFill>
                <a:latin typeface="Noto Sans"/>
                <a:ea typeface="Noto Sans"/>
                <a:cs typeface="Noto Sans"/>
                <a:sym typeface="Noto Sans"/>
              </a:endParaRPr>
            </a:p>
          </p:txBody>
        </p:sp>
        <p:grpSp>
          <p:nvGrpSpPr>
            <p:cNvPr id="1366" name="Google Shape;1366;p39"/>
            <p:cNvGrpSpPr/>
            <p:nvPr/>
          </p:nvGrpSpPr>
          <p:grpSpPr>
            <a:xfrm>
              <a:off x="5905500" y="1428750"/>
              <a:ext cx="5676900" cy="2333700"/>
              <a:chOff x="0" y="0"/>
              <a:chExt cx="5676900" cy="2333700"/>
            </a:xfrm>
          </p:grpSpPr>
          <p:sp>
            <p:nvSpPr>
              <p:cNvPr id="1367" name="Google Shape;1367;p39"/>
              <p:cNvSpPr/>
              <p:nvPr/>
            </p:nvSpPr>
            <p:spPr>
              <a:xfrm>
                <a:off x="0" y="0"/>
                <a:ext cx="5676900" cy="2333700"/>
              </a:xfrm>
              <a:prstGeom prst="roundRect">
                <a:avLst>
                  <a:gd fmla="val 4081" name="adj"/>
                </a:avLst>
              </a:prstGeom>
              <a:solidFill>
                <a:srgbClr val="F8FAFC"/>
              </a:solidFill>
              <a:ln cap="flat" cmpd="sng" w="14300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68" name="Google Shape;1368;p39"/>
              <p:cNvSpPr txBox="1"/>
              <p:nvPr/>
            </p:nvSpPr>
            <p:spPr>
              <a:xfrm>
                <a:off x="228600" y="190500"/>
                <a:ext cx="5219700" cy="1952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400">
                    <a:solidFill>
                      <a:srgbClr val="00AEEF"/>
                    </a:solidFill>
                    <a:latin typeface="Noto Sans"/>
                    <a:ea typeface="Noto Sans"/>
                    <a:cs typeface="Noto Sans"/>
                    <a:sym typeface="Noto Sans"/>
                  </a:rPr>
                  <a:t>1. Transport Security</a:t>
                </a:r>
                <a:endParaRPr b="1" sz="1400">
                  <a:solidFill>
                    <a:srgbClr val="00AEEF"/>
                  </a:solidFill>
                  <a:latin typeface="Noto Sans"/>
                  <a:ea typeface="Noto Sans"/>
                  <a:cs typeface="Noto Sans"/>
                  <a:sym typeface="Noto Sans"/>
                </a:endParaRPr>
              </a:p>
              <a:p>
                <a:pPr indent="-298450" lvl="0" marL="457200" rtl="0" algn="l">
                  <a:spcBef>
                    <a:spcPts val="1200"/>
                  </a:spcBef>
                  <a:spcAft>
                    <a:spcPts val="0"/>
                  </a:spcAft>
                  <a:buClr>
                    <a:srgbClr val="0F1B2C"/>
                  </a:buClr>
                  <a:buSzPts val="1100"/>
                  <a:buFont typeface="Noto Sans"/>
                  <a:buChar char="●"/>
                </a:pPr>
                <a:r>
                  <a:rPr lang="en-US" sz="1100">
                    <a:solidFill>
                      <a:srgbClr val="0F1B2C"/>
                    </a:solidFill>
                    <a:latin typeface="Noto Sans"/>
                    <a:ea typeface="Noto Sans"/>
                    <a:cs typeface="Noto Sans"/>
                    <a:sym typeface="Noto Sans"/>
                  </a:rPr>
                  <a:t>TLS 1.3+ for encrypted communication</a:t>
                </a:r>
                <a:endParaRPr sz="1100">
                  <a:solidFill>
                    <a:srgbClr val="0F1B2C"/>
                  </a:solidFill>
                  <a:latin typeface="Noto Sans"/>
                  <a:ea typeface="Noto Sans"/>
                  <a:cs typeface="Noto Sans"/>
                  <a:sym typeface="Noto Sans"/>
                </a:endParaRPr>
              </a:p>
              <a:p>
                <a:pPr indent="-298450" lvl="0" marL="457200" rtl="0" algn="l">
                  <a:spcBef>
                    <a:spcPts val="800"/>
                  </a:spcBef>
                  <a:spcAft>
                    <a:spcPts val="800"/>
                  </a:spcAft>
                  <a:buClr>
                    <a:srgbClr val="0F1B2C"/>
                  </a:buClr>
                  <a:buSzPts val="1100"/>
                  <a:buFont typeface="Noto Sans"/>
                  <a:buChar char="●"/>
                </a:pPr>
                <a:r>
                  <a:rPr lang="en-US" sz="1100">
                    <a:solidFill>
                      <a:srgbClr val="0F1B2C"/>
                    </a:solidFill>
                    <a:latin typeface="Noto Sans"/>
                    <a:ea typeface="Noto Sans"/>
                    <a:cs typeface="Noto Sans"/>
                    <a:sym typeface="Noto Sans"/>
                  </a:rPr>
                  <a:t>Certificate validation and mutual TLS support</a:t>
                </a:r>
                <a:endParaRPr sz="1100">
                  <a:solidFill>
                    <a:srgbClr val="0F1B2C"/>
                  </a:solidFill>
                  <a:latin typeface="Noto Sans"/>
                  <a:ea typeface="Noto Sans"/>
                  <a:cs typeface="Noto Sans"/>
                  <a:sym typeface="Noto Sans"/>
                </a:endParaRPr>
              </a:p>
            </p:txBody>
          </p:sp>
        </p:grpSp>
        <p:grpSp>
          <p:nvGrpSpPr>
            <p:cNvPr id="1369" name="Google Shape;1369;p39"/>
            <p:cNvGrpSpPr/>
            <p:nvPr/>
          </p:nvGrpSpPr>
          <p:grpSpPr>
            <a:xfrm>
              <a:off x="11849100" y="1428750"/>
              <a:ext cx="5676900" cy="2333700"/>
              <a:chOff x="0" y="0"/>
              <a:chExt cx="5676900" cy="2333700"/>
            </a:xfrm>
          </p:grpSpPr>
          <p:sp>
            <p:nvSpPr>
              <p:cNvPr id="1370" name="Google Shape;1370;p39"/>
              <p:cNvSpPr/>
              <p:nvPr/>
            </p:nvSpPr>
            <p:spPr>
              <a:xfrm>
                <a:off x="0" y="0"/>
                <a:ext cx="5676900" cy="2333700"/>
              </a:xfrm>
              <a:prstGeom prst="roundRect">
                <a:avLst>
                  <a:gd fmla="val 4081" name="adj"/>
                </a:avLst>
              </a:prstGeom>
              <a:solidFill>
                <a:srgbClr val="F8FAFC"/>
              </a:solidFill>
              <a:ln cap="flat" cmpd="sng" w="14300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71" name="Google Shape;1371;p39"/>
              <p:cNvSpPr txBox="1"/>
              <p:nvPr/>
            </p:nvSpPr>
            <p:spPr>
              <a:xfrm>
                <a:off x="228600" y="190500"/>
                <a:ext cx="5219700" cy="1952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400">
                    <a:solidFill>
                      <a:srgbClr val="00AEEF"/>
                    </a:solidFill>
                    <a:latin typeface="Noto Sans"/>
                    <a:ea typeface="Noto Sans"/>
                    <a:cs typeface="Noto Sans"/>
                    <a:sym typeface="Noto Sans"/>
                  </a:rPr>
                  <a:t>2. Authentication &amp; Authorization</a:t>
                </a:r>
                <a:endParaRPr b="1" sz="1400">
                  <a:solidFill>
                    <a:srgbClr val="00AEEF"/>
                  </a:solidFill>
                  <a:latin typeface="Noto Sans"/>
                  <a:ea typeface="Noto Sans"/>
                  <a:cs typeface="Noto Sans"/>
                  <a:sym typeface="Noto Sans"/>
                </a:endParaRPr>
              </a:p>
              <a:p>
                <a:pPr indent="-298450" lvl="0" marL="457200" rtl="0" algn="l">
                  <a:spcBef>
                    <a:spcPts val="1200"/>
                  </a:spcBef>
                  <a:spcAft>
                    <a:spcPts val="0"/>
                  </a:spcAft>
                  <a:buClr>
                    <a:srgbClr val="0F1B2C"/>
                  </a:buClr>
                  <a:buSzPts val="1100"/>
                  <a:buFont typeface="Noto Sans"/>
                  <a:buChar char="●"/>
                </a:pPr>
                <a:r>
                  <a:rPr lang="en-US" sz="1100">
                    <a:solidFill>
                      <a:srgbClr val="0F1B2C"/>
                    </a:solidFill>
                    <a:latin typeface="Noto Sans"/>
                    <a:ea typeface="Noto Sans"/>
                    <a:cs typeface="Noto Sans"/>
                    <a:sym typeface="Noto Sans"/>
                  </a:rPr>
                  <a:t>OAuth 2.0 / JWT token-based authentication</a:t>
                </a:r>
                <a:endParaRPr sz="1100">
                  <a:solidFill>
                    <a:srgbClr val="0F1B2C"/>
                  </a:solidFill>
                  <a:latin typeface="Noto Sans"/>
                  <a:ea typeface="Noto Sans"/>
                  <a:cs typeface="Noto Sans"/>
                  <a:sym typeface="Noto Sans"/>
                </a:endParaRPr>
              </a:p>
              <a:p>
                <a:pPr indent="-298450" lvl="0" marL="457200" rtl="0" algn="l">
                  <a:spcBef>
                    <a:spcPts val="800"/>
                  </a:spcBef>
                  <a:spcAft>
                    <a:spcPts val="0"/>
                  </a:spcAft>
                  <a:buClr>
                    <a:srgbClr val="0F1B2C"/>
                  </a:buClr>
                  <a:buSzPts val="1100"/>
                  <a:buFont typeface="Noto Sans"/>
                  <a:buChar char="●"/>
                </a:pPr>
                <a:r>
                  <a:rPr lang="en-US" sz="1100">
                    <a:solidFill>
                      <a:srgbClr val="0F1B2C"/>
                    </a:solidFill>
                    <a:latin typeface="Noto Sans"/>
                    <a:ea typeface="Noto Sans"/>
                    <a:cs typeface="Noto Sans"/>
                    <a:sym typeface="Noto Sans"/>
                  </a:rPr>
                  <a:t>Role-based access control (RBAC)</a:t>
                </a:r>
                <a:endParaRPr sz="1100">
                  <a:solidFill>
                    <a:srgbClr val="0F1B2C"/>
                  </a:solidFill>
                  <a:latin typeface="Noto Sans"/>
                  <a:ea typeface="Noto Sans"/>
                  <a:cs typeface="Noto Sans"/>
                  <a:sym typeface="Noto Sans"/>
                </a:endParaRPr>
              </a:p>
              <a:p>
                <a:pPr indent="-298450" lvl="0" marL="457200" rtl="0" algn="l">
                  <a:spcBef>
                    <a:spcPts val="800"/>
                  </a:spcBef>
                  <a:spcAft>
                    <a:spcPts val="800"/>
                  </a:spcAft>
                  <a:buClr>
                    <a:srgbClr val="0F1B2C"/>
                  </a:buClr>
                  <a:buSzPts val="1100"/>
                  <a:buFont typeface="Noto Sans"/>
                  <a:buChar char="●"/>
                </a:pPr>
                <a:r>
                  <a:rPr lang="en-US" sz="1100">
                    <a:solidFill>
                      <a:srgbClr val="0F1B2C"/>
                    </a:solidFill>
                    <a:latin typeface="Noto Sans"/>
                    <a:ea typeface="Noto Sans"/>
                    <a:cs typeface="Noto Sans"/>
                    <a:sym typeface="Noto Sans"/>
                  </a:rPr>
                  <a:t>Capability-based permissions</a:t>
                </a:r>
                <a:endParaRPr sz="1100">
                  <a:solidFill>
                    <a:srgbClr val="0F1B2C"/>
                  </a:solidFill>
                  <a:latin typeface="Noto Sans"/>
                  <a:ea typeface="Noto Sans"/>
                  <a:cs typeface="Noto Sans"/>
                  <a:sym typeface="Noto Sans"/>
                </a:endParaRPr>
              </a:p>
            </p:txBody>
          </p:sp>
        </p:grpSp>
        <p:grpSp>
          <p:nvGrpSpPr>
            <p:cNvPr id="1372" name="Google Shape;1372;p39"/>
            <p:cNvGrpSpPr/>
            <p:nvPr/>
          </p:nvGrpSpPr>
          <p:grpSpPr>
            <a:xfrm>
              <a:off x="5905500" y="3952875"/>
              <a:ext cx="5676900" cy="2333700"/>
              <a:chOff x="0" y="0"/>
              <a:chExt cx="5676900" cy="2333700"/>
            </a:xfrm>
          </p:grpSpPr>
          <p:sp>
            <p:nvSpPr>
              <p:cNvPr id="1373" name="Google Shape;1373;p39"/>
              <p:cNvSpPr/>
              <p:nvPr/>
            </p:nvSpPr>
            <p:spPr>
              <a:xfrm>
                <a:off x="0" y="0"/>
                <a:ext cx="5676900" cy="2333700"/>
              </a:xfrm>
              <a:prstGeom prst="roundRect">
                <a:avLst>
                  <a:gd fmla="val 4081" name="adj"/>
                </a:avLst>
              </a:prstGeom>
              <a:solidFill>
                <a:srgbClr val="F8FAFC"/>
              </a:solidFill>
              <a:ln cap="flat" cmpd="sng" w="14300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74" name="Google Shape;1374;p39"/>
              <p:cNvSpPr txBox="1"/>
              <p:nvPr/>
            </p:nvSpPr>
            <p:spPr>
              <a:xfrm>
                <a:off x="228600" y="190500"/>
                <a:ext cx="5219700" cy="1952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400">
                    <a:solidFill>
                      <a:srgbClr val="00AEEF"/>
                    </a:solidFill>
                    <a:latin typeface="Noto Sans"/>
                    <a:ea typeface="Noto Sans"/>
                    <a:cs typeface="Noto Sans"/>
                    <a:sym typeface="Noto Sans"/>
                  </a:rPr>
                  <a:t>3. Content Validation</a:t>
                </a:r>
                <a:endParaRPr b="1" sz="1400">
                  <a:solidFill>
                    <a:srgbClr val="00AEEF"/>
                  </a:solidFill>
                  <a:latin typeface="Noto Sans"/>
                  <a:ea typeface="Noto Sans"/>
                  <a:cs typeface="Noto Sans"/>
                  <a:sym typeface="Noto Sans"/>
                </a:endParaRPr>
              </a:p>
              <a:p>
                <a:pPr indent="-298450" lvl="0" marL="457200" rtl="0" algn="l">
                  <a:spcBef>
                    <a:spcPts val="1200"/>
                  </a:spcBef>
                  <a:spcAft>
                    <a:spcPts val="0"/>
                  </a:spcAft>
                  <a:buClr>
                    <a:srgbClr val="0F1B2C"/>
                  </a:buClr>
                  <a:buSzPts val="1100"/>
                  <a:buFont typeface="Noto Sans"/>
                  <a:buChar char="●"/>
                </a:pPr>
                <a:r>
                  <a:rPr lang="en-US" sz="1100">
                    <a:solidFill>
                      <a:srgbClr val="0F1B2C"/>
                    </a:solidFill>
                    <a:latin typeface="Noto Sans"/>
                    <a:ea typeface="Noto Sans"/>
                    <a:cs typeface="Noto Sans"/>
                    <a:sym typeface="Noto Sans"/>
                  </a:rPr>
                  <a:t>Input sanitization and validation</a:t>
                </a:r>
                <a:endParaRPr sz="1100">
                  <a:solidFill>
                    <a:srgbClr val="0F1B2C"/>
                  </a:solidFill>
                  <a:latin typeface="Noto Sans"/>
                  <a:ea typeface="Noto Sans"/>
                  <a:cs typeface="Noto Sans"/>
                  <a:sym typeface="Noto Sans"/>
                </a:endParaRPr>
              </a:p>
              <a:p>
                <a:pPr indent="-298450" lvl="0" marL="457200" rtl="0" algn="l">
                  <a:spcBef>
                    <a:spcPts val="800"/>
                  </a:spcBef>
                  <a:spcAft>
                    <a:spcPts val="0"/>
                  </a:spcAft>
                  <a:buClr>
                    <a:srgbClr val="0F1B2C"/>
                  </a:buClr>
                  <a:buSzPts val="1100"/>
                  <a:buFont typeface="Noto Sans"/>
                  <a:buChar char="●"/>
                </a:pPr>
                <a:r>
                  <a:rPr lang="en-US" sz="1100">
                    <a:solidFill>
                      <a:srgbClr val="0F1B2C"/>
                    </a:solidFill>
                    <a:latin typeface="Noto Sans"/>
                    <a:ea typeface="Noto Sans"/>
                    <a:cs typeface="Noto Sans"/>
                    <a:sym typeface="Noto Sans"/>
                  </a:rPr>
                  <a:t>Output filtering and escaping</a:t>
                </a:r>
                <a:endParaRPr sz="1100">
                  <a:solidFill>
                    <a:srgbClr val="0F1B2C"/>
                  </a:solidFill>
                  <a:latin typeface="Noto Sans"/>
                  <a:ea typeface="Noto Sans"/>
                  <a:cs typeface="Noto Sans"/>
                  <a:sym typeface="Noto Sans"/>
                </a:endParaRPr>
              </a:p>
              <a:p>
                <a:pPr indent="-298450" lvl="0" marL="457200" rtl="0" algn="l">
                  <a:spcBef>
                    <a:spcPts val="800"/>
                  </a:spcBef>
                  <a:spcAft>
                    <a:spcPts val="800"/>
                  </a:spcAft>
                  <a:buClr>
                    <a:srgbClr val="0F1B2C"/>
                  </a:buClr>
                  <a:buSzPts val="1100"/>
                  <a:buFont typeface="Noto Sans"/>
                  <a:buChar char="●"/>
                </a:pPr>
                <a:r>
                  <a:rPr lang="en-US" sz="1100">
                    <a:solidFill>
                      <a:srgbClr val="0F1B2C"/>
                    </a:solidFill>
                    <a:latin typeface="Noto Sans"/>
                    <a:ea typeface="Noto Sans"/>
                    <a:cs typeface="Noto Sans"/>
                    <a:sym typeface="Noto Sans"/>
                  </a:rPr>
                  <a:t>Schema validation for all messages</a:t>
                </a:r>
                <a:endParaRPr sz="1100">
                  <a:solidFill>
                    <a:srgbClr val="0F1B2C"/>
                  </a:solidFill>
                  <a:latin typeface="Noto Sans"/>
                  <a:ea typeface="Noto Sans"/>
                  <a:cs typeface="Noto Sans"/>
                  <a:sym typeface="Noto Sans"/>
                </a:endParaRPr>
              </a:p>
            </p:txBody>
          </p:sp>
        </p:grpSp>
        <p:grpSp>
          <p:nvGrpSpPr>
            <p:cNvPr id="1375" name="Google Shape;1375;p39"/>
            <p:cNvGrpSpPr/>
            <p:nvPr/>
          </p:nvGrpSpPr>
          <p:grpSpPr>
            <a:xfrm>
              <a:off x="11849100" y="3952875"/>
              <a:ext cx="5676900" cy="2333700"/>
              <a:chOff x="0" y="0"/>
              <a:chExt cx="5676900" cy="2333700"/>
            </a:xfrm>
          </p:grpSpPr>
          <p:sp>
            <p:nvSpPr>
              <p:cNvPr id="1376" name="Google Shape;1376;p39"/>
              <p:cNvSpPr/>
              <p:nvPr/>
            </p:nvSpPr>
            <p:spPr>
              <a:xfrm>
                <a:off x="0" y="0"/>
                <a:ext cx="5676900" cy="2333700"/>
              </a:xfrm>
              <a:prstGeom prst="roundRect">
                <a:avLst>
                  <a:gd fmla="val 4081" name="adj"/>
                </a:avLst>
              </a:prstGeom>
              <a:solidFill>
                <a:srgbClr val="F8FAFC"/>
              </a:solidFill>
              <a:ln cap="flat" cmpd="sng" w="14300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77" name="Google Shape;1377;p39"/>
              <p:cNvSpPr txBox="1"/>
              <p:nvPr/>
            </p:nvSpPr>
            <p:spPr>
              <a:xfrm>
                <a:off x="228600" y="190500"/>
                <a:ext cx="5219700" cy="1952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400">
                    <a:solidFill>
                      <a:srgbClr val="00AEEF"/>
                    </a:solidFill>
                    <a:latin typeface="Noto Sans"/>
                    <a:ea typeface="Noto Sans"/>
                    <a:cs typeface="Noto Sans"/>
                    <a:sym typeface="Noto Sans"/>
                  </a:rPr>
                  <a:t>4. Human-in-the-Loop Controls</a:t>
                </a:r>
                <a:endParaRPr b="1" sz="1400">
                  <a:solidFill>
                    <a:srgbClr val="00AEEF"/>
                  </a:solidFill>
                  <a:latin typeface="Noto Sans"/>
                  <a:ea typeface="Noto Sans"/>
                  <a:cs typeface="Noto Sans"/>
                  <a:sym typeface="Noto Sans"/>
                </a:endParaRPr>
              </a:p>
              <a:p>
                <a:pPr indent="-298450" lvl="0" marL="457200" rtl="0" algn="l">
                  <a:spcBef>
                    <a:spcPts val="1200"/>
                  </a:spcBef>
                  <a:spcAft>
                    <a:spcPts val="0"/>
                  </a:spcAft>
                  <a:buClr>
                    <a:srgbClr val="0F1B2C"/>
                  </a:buClr>
                  <a:buSzPts val="1100"/>
                  <a:buFont typeface="Noto Sans"/>
                  <a:buChar char="●"/>
                </a:pPr>
                <a:r>
                  <a:rPr lang="en-US" sz="1100">
                    <a:solidFill>
                      <a:srgbClr val="0F1B2C"/>
                    </a:solidFill>
                    <a:latin typeface="Noto Sans"/>
                    <a:ea typeface="Noto Sans"/>
                    <a:cs typeface="Noto Sans"/>
                    <a:sym typeface="Noto Sans"/>
                  </a:rPr>
                  <a:t>User approval for sensitive operations (sampling, tool execution)</a:t>
                </a:r>
                <a:endParaRPr sz="1100">
                  <a:solidFill>
                    <a:srgbClr val="0F1B2C"/>
                  </a:solidFill>
                  <a:latin typeface="Noto Sans"/>
                  <a:ea typeface="Noto Sans"/>
                  <a:cs typeface="Noto Sans"/>
                  <a:sym typeface="Noto Sans"/>
                </a:endParaRPr>
              </a:p>
              <a:p>
                <a:pPr indent="-298450" lvl="0" marL="457200" rtl="0" algn="l">
                  <a:spcBef>
                    <a:spcPts val="800"/>
                  </a:spcBef>
                  <a:spcAft>
                    <a:spcPts val="0"/>
                  </a:spcAft>
                  <a:buClr>
                    <a:srgbClr val="0F1B2C"/>
                  </a:buClr>
                  <a:buSzPts val="1100"/>
                  <a:buFont typeface="Noto Sans"/>
                  <a:buChar char="●"/>
                </a:pPr>
                <a:r>
                  <a:rPr lang="en-US" sz="1100">
                    <a:solidFill>
                      <a:srgbClr val="0F1B2C"/>
                    </a:solidFill>
                    <a:latin typeface="Noto Sans"/>
                    <a:ea typeface="Noto Sans"/>
                    <a:cs typeface="Noto Sans"/>
                    <a:sym typeface="Noto Sans"/>
                  </a:rPr>
                  <a:t>Audit logging and monitoring</a:t>
                </a:r>
                <a:endParaRPr sz="1100">
                  <a:solidFill>
                    <a:srgbClr val="0F1B2C"/>
                  </a:solidFill>
                  <a:latin typeface="Noto Sans"/>
                  <a:ea typeface="Noto Sans"/>
                  <a:cs typeface="Noto Sans"/>
                  <a:sym typeface="Noto Sans"/>
                </a:endParaRPr>
              </a:p>
              <a:p>
                <a:pPr indent="-298450" lvl="0" marL="457200" rtl="0" algn="l">
                  <a:spcBef>
                    <a:spcPts val="800"/>
                  </a:spcBef>
                  <a:spcAft>
                    <a:spcPts val="800"/>
                  </a:spcAft>
                  <a:buClr>
                    <a:srgbClr val="0F1B2C"/>
                  </a:buClr>
                  <a:buSzPts val="1100"/>
                  <a:buFont typeface="Noto Sans"/>
                  <a:buChar char="●"/>
                </a:pPr>
                <a:r>
                  <a:rPr lang="en-US" sz="1100">
                    <a:solidFill>
                      <a:srgbClr val="0F1B2C"/>
                    </a:solidFill>
                    <a:latin typeface="Noto Sans"/>
                    <a:ea typeface="Noto Sans"/>
                    <a:cs typeface="Noto Sans"/>
                    <a:sym typeface="Noto Sans"/>
                  </a:rPr>
                  <a:t>Rate limiting and quota management</a:t>
                </a:r>
                <a:endParaRPr sz="1100">
                  <a:solidFill>
                    <a:srgbClr val="0F1B2C"/>
                  </a:solidFill>
                  <a:latin typeface="Noto Sans"/>
                  <a:ea typeface="Noto Sans"/>
                  <a:cs typeface="Noto Sans"/>
                  <a:sym typeface="Noto Sans"/>
                </a:endParaRPr>
              </a:p>
            </p:txBody>
          </p:sp>
        </p:grpSp>
        <p:grpSp>
          <p:nvGrpSpPr>
            <p:cNvPr id="1378" name="Google Shape;1378;p39"/>
            <p:cNvGrpSpPr/>
            <p:nvPr/>
          </p:nvGrpSpPr>
          <p:grpSpPr>
            <a:xfrm>
              <a:off x="5905500" y="6477000"/>
              <a:ext cx="11620500" cy="2952900"/>
              <a:chOff x="0" y="0"/>
              <a:chExt cx="11620500" cy="2952900"/>
            </a:xfrm>
          </p:grpSpPr>
          <p:sp>
            <p:nvSpPr>
              <p:cNvPr id="1379" name="Google Shape;1379;p39"/>
              <p:cNvSpPr/>
              <p:nvPr/>
            </p:nvSpPr>
            <p:spPr>
              <a:xfrm>
                <a:off x="0" y="0"/>
                <a:ext cx="11620500" cy="2952900"/>
              </a:xfrm>
              <a:prstGeom prst="roundRect">
                <a:avLst>
                  <a:gd fmla="val 3225" name="adj"/>
                </a:avLst>
              </a:prstGeom>
              <a:solidFill>
                <a:srgbClr val="F8FAFC"/>
              </a:solidFill>
              <a:ln cap="flat" cmpd="sng" w="14300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80" name="Google Shape;1380;p39"/>
              <p:cNvSpPr/>
              <p:nvPr/>
            </p:nvSpPr>
            <p:spPr>
              <a:xfrm>
                <a:off x="0" y="0"/>
                <a:ext cx="11620500" cy="419100"/>
              </a:xfrm>
              <a:custGeom>
                <a:rect b="b" l="l" r="r" t="t"/>
                <a:pathLst>
                  <a:path extrusionOk="0" h="120000" w="120000">
                    <a:moveTo>
                      <a:pt x="0" y="27273"/>
                    </a:moveTo>
                    <a:cubicBezTo>
                      <a:pt x="0" y="12210"/>
                      <a:pt x="440" y="0"/>
                      <a:pt x="984" y="0"/>
                    </a:cubicBezTo>
                    <a:lnTo>
                      <a:pt x="119016" y="0"/>
                    </a:lnTo>
                    <a:cubicBezTo>
                      <a:pt x="119560" y="0"/>
                      <a:pt x="120000" y="12210"/>
                      <a:pt x="120000" y="27273"/>
                    </a:cubicBezTo>
                    <a:lnTo>
                      <a:pt x="120000" y="120000"/>
                    </a:lnTo>
                    <a:lnTo>
                      <a:pt x="0" y="120000"/>
                    </a:lnTo>
                    <a:close/>
                  </a:path>
                </a:pathLst>
              </a:custGeom>
              <a:solidFill>
                <a:srgbClr val="00AEE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81" name="Google Shape;1381;p39"/>
              <p:cNvSpPr txBox="1"/>
              <p:nvPr/>
            </p:nvSpPr>
            <p:spPr>
              <a:xfrm>
                <a:off x="228600" y="0"/>
                <a:ext cx="11163300" cy="41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400">
                    <a:solidFill>
                      <a:srgbClr val="FFFFFF"/>
                    </a:solidFill>
                    <a:latin typeface="Noto Sans"/>
                    <a:ea typeface="Noto Sans"/>
                    <a:cs typeface="Noto Sans"/>
                    <a:sym typeface="Noto Sans"/>
                  </a:rPr>
                  <a:t>Implementation Recommendations</a:t>
                </a:r>
                <a:endParaRPr b="1" sz="1400">
                  <a:solidFill>
                    <a:srgbClr val="FFFFFF"/>
                  </a:solidFill>
                  <a:latin typeface="Noto Sans"/>
                  <a:ea typeface="Noto Sans"/>
                  <a:cs typeface="Noto Sans"/>
                  <a:sym typeface="Noto Sans"/>
                </a:endParaRPr>
              </a:p>
            </p:txBody>
          </p:sp>
          <p:sp>
            <p:nvSpPr>
              <p:cNvPr id="1382" name="Google Shape;1382;p39"/>
              <p:cNvSpPr txBox="1"/>
              <p:nvPr/>
            </p:nvSpPr>
            <p:spPr>
              <a:xfrm>
                <a:off x="228600" y="571500"/>
                <a:ext cx="5334000" cy="2190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-304800" lvl="0" marL="45720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0F1B2C"/>
                  </a:buClr>
                  <a:buSzPts val="1200"/>
                  <a:buFont typeface="Noto Sans"/>
                  <a:buChar char="●"/>
                </a:pPr>
                <a:r>
                  <a:rPr b="1" lang="en-US" sz="1200">
                    <a:solidFill>
                      <a:srgbClr val="0F1B2C"/>
                    </a:solidFill>
                    <a:latin typeface="Noto Sans"/>
                    <a:ea typeface="Noto Sans"/>
                    <a:cs typeface="Noto Sans"/>
                    <a:sym typeface="Noto Sans"/>
                  </a:rPr>
                  <a:t>Zero Trust Inputs:</a:t>
                </a:r>
                <a:r>
                  <a:rPr lang="en-US" sz="1200">
                    <a:solidFill>
                      <a:srgbClr val="0F1B2C"/>
                    </a:solidFill>
                    <a:latin typeface="Noto Sans"/>
                    <a:ea typeface="Noto Sans"/>
                    <a:cs typeface="Noto Sans"/>
                    <a:sym typeface="Noto Sans"/>
                  </a:rPr>
                  <a:t> Never trust client-provided data without validation</a:t>
                </a:r>
                <a:endParaRPr sz="1200">
                  <a:solidFill>
                    <a:srgbClr val="0F1B2C"/>
                  </a:solidFill>
                  <a:latin typeface="Noto Sans"/>
                  <a:ea typeface="Noto Sans"/>
                  <a:cs typeface="Noto Sans"/>
                  <a:sym typeface="Noto Sans"/>
                </a:endParaRPr>
              </a:p>
              <a:p>
                <a:pPr indent="-304800" lvl="0" marL="457200" rtl="0" algn="l">
                  <a:spcBef>
                    <a:spcPts val="1200"/>
                  </a:spcBef>
                  <a:spcAft>
                    <a:spcPts val="0"/>
                  </a:spcAft>
                  <a:buClr>
                    <a:srgbClr val="0F1B2C"/>
                  </a:buClr>
                  <a:buSzPts val="1200"/>
                  <a:buFont typeface="Noto Sans"/>
                  <a:buChar char="●"/>
                </a:pPr>
                <a:r>
                  <a:rPr b="1" lang="en-US" sz="1200">
                    <a:solidFill>
                      <a:srgbClr val="0F1B2C"/>
                    </a:solidFill>
                    <a:latin typeface="Noto Sans"/>
                    <a:ea typeface="Noto Sans"/>
                    <a:cs typeface="Noto Sans"/>
                    <a:sym typeface="Noto Sans"/>
                  </a:rPr>
                  <a:t>Defense-in-Depth:</a:t>
                </a:r>
                <a:r>
                  <a:rPr lang="en-US" sz="1200">
                    <a:solidFill>
                      <a:srgbClr val="0F1B2C"/>
                    </a:solidFill>
                    <a:latin typeface="Noto Sans"/>
                    <a:ea typeface="Noto Sans"/>
                    <a:cs typeface="Noto Sans"/>
                    <a:sym typeface="Noto Sans"/>
                  </a:rPr>
                  <a:t> Implement layered security controls across all vectors</a:t>
                </a:r>
                <a:endParaRPr sz="1200">
                  <a:solidFill>
                    <a:srgbClr val="0F1B2C"/>
                  </a:solidFill>
                  <a:latin typeface="Noto Sans"/>
                  <a:ea typeface="Noto Sans"/>
                  <a:cs typeface="Noto Sans"/>
                  <a:sym typeface="Noto Sans"/>
                </a:endParaRPr>
              </a:p>
              <a:p>
                <a:pPr indent="-304800" lvl="0" marL="457200" rtl="0" algn="l">
                  <a:spcBef>
                    <a:spcPts val="1200"/>
                  </a:spcBef>
                  <a:spcAft>
                    <a:spcPts val="1200"/>
                  </a:spcAft>
                  <a:buClr>
                    <a:srgbClr val="0F1B2C"/>
                  </a:buClr>
                  <a:buSzPts val="1200"/>
                  <a:buFont typeface="Noto Sans"/>
                  <a:buChar char="●"/>
                </a:pPr>
                <a:r>
                  <a:rPr b="1" lang="en-US" sz="1200">
                    <a:solidFill>
                      <a:srgbClr val="0F1B2C"/>
                    </a:solidFill>
                    <a:latin typeface="Noto Sans"/>
                    <a:ea typeface="Noto Sans"/>
                    <a:cs typeface="Noto Sans"/>
                    <a:sym typeface="Noto Sans"/>
                  </a:rPr>
                  <a:t>Least Privilege:</a:t>
                </a:r>
                <a:r>
                  <a:rPr lang="en-US" sz="1200">
                    <a:solidFill>
                      <a:srgbClr val="0F1B2C"/>
                    </a:solidFill>
                    <a:latin typeface="Noto Sans"/>
                    <a:ea typeface="Noto Sans"/>
                    <a:cs typeface="Noto Sans"/>
                    <a:sym typeface="Noto Sans"/>
                  </a:rPr>
                  <a:t> Restrict all capabilities to minimum needed access</a:t>
                </a:r>
                <a:endParaRPr sz="1200">
                  <a:solidFill>
                    <a:srgbClr val="0F1B2C"/>
                  </a:solidFill>
                  <a:latin typeface="Noto Sans"/>
                  <a:ea typeface="Noto Sans"/>
                  <a:cs typeface="Noto Sans"/>
                  <a:sym typeface="Noto Sans"/>
                </a:endParaRPr>
              </a:p>
            </p:txBody>
          </p:sp>
          <p:sp>
            <p:nvSpPr>
              <p:cNvPr id="1383" name="Google Shape;1383;p39"/>
              <p:cNvSpPr txBox="1"/>
              <p:nvPr/>
            </p:nvSpPr>
            <p:spPr>
              <a:xfrm>
                <a:off x="5943600" y="571500"/>
                <a:ext cx="5334000" cy="2190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-304800" lvl="0" marL="45720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0F1B2C"/>
                  </a:buClr>
                  <a:buSzPts val="1200"/>
                  <a:buFont typeface="Noto Sans"/>
                  <a:buChar char="●"/>
                </a:pPr>
                <a:r>
                  <a:rPr b="1" lang="en-US" sz="1200">
                    <a:solidFill>
                      <a:srgbClr val="0F1B2C"/>
                    </a:solidFill>
                    <a:latin typeface="Noto Sans"/>
                    <a:ea typeface="Noto Sans"/>
                    <a:cs typeface="Noto Sans"/>
                    <a:sym typeface="Noto Sans"/>
                  </a:rPr>
                  <a:t>Credential Hygiene:</a:t>
                </a:r>
                <a:r>
                  <a:rPr lang="en-US" sz="1200">
                    <a:solidFill>
                      <a:srgbClr val="0F1B2C"/>
                    </a:solidFill>
                    <a:latin typeface="Noto Sans"/>
                    <a:ea typeface="Noto Sans"/>
                    <a:cs typeface="Noto Sans"/>
                    <a:sym typeface="Noto Sans"/>
                  </a:rPr>
                  <a:t> Regularly audit and rotate access credentials</a:t>
                </a:r>
                <a:endParaRPr sz="1200">
                  <a:solidFill>
                    <a:srgbClr val="0F1B2C"/>
                  </a:solidFill>
                  <a:latin typeface="Noto Sans"/>
                  <a:ea typeface="Noto Sans"/>
                  <a:cs typeface="Noto Sans"/>
                  <a:sym typeface="Noto Sans"/>
                </a:endParaRPr>
              </a:p>
              <a:p>
                <a:pPr indent="-304800" lvl="0" marL="457200" rtl="0" algn="l">
                  <a:spcBef>
                    <a:spcPts val="1200"/>
                  </a:spcBef>
                  <a:spcAft>
                    <a:spcPts val="1200"/>
                  </a:spcAft>
                  <a:buClr>
                    <a:srgbClr val="0F1B2C"/>
                  </a:buClr>
                  <a:buSzPts val="1200"/>
                  <a:buFont typeface="Noto Sans"/>
                  <a:buChar char="●"/>
                </a:pPr>
                <a:r>
                  <a:rPr b="1" lang="en-US" sz="1200">
                    <a:solidFill>
                      <a:srgbClr val="0F1B2C"/>
                    </a:solidFill>
                    <a:latin typeface="Noto Sans"/>
                    <a:ea typeface="Noto Sans"/>
                    <a:cs typeface="Noto Sans"/>
                    <a:sym typeface="Noto Sans"/>
                  </a:rPr>
                  <a:t>Continuous Monitoring:</a:t>
                </a:r>
                <a:r>
                  <a:rPr lang="en-US" sz="1200">
                    <a:solidFill>
                      <a:srgbClr val="0F1B2C"/>
                    </a:solidFill>
                    <a:latin typeface="Noto Sans"/>
                    <a:ea typeface="Noto Sans"/>
                    <a:cs typeface="Noto Sans"/>
                    <a:sym typeface="Noto Sans"/>
                  </a:rPr>
                  <a:t> Monitor for anomalous behavior patterns</a:t>
                </a:r>
                <a:endParaRPr sz="1200">
                  <a:solidFill>
                    <a:srgbClr val="0F1B2C"/>
                  </a:solidFill>
                  <a:latin typeface="Noto Sans"/>
                  <a:ea typeface="Noto Sans"/>
                  <a:cs typeface="Noto Sans"/>
                  <a:sym typeface="Noto Sans"/>
                </a:endParaRPr>
              </a:p>
            </p:txBody>
          </p:sp>
        </p:grpSp>
        <p:grpSp>
          <p:nvGrpSpPr>
            <p:cNvPr id="1384" name="Google Shape;1384;p39"/>
            <p:cNvGrpSpPr/>
            <p:nvPr/>
          </p:nvGrpSpPr>
          <p:grpSpPr>
            <a:xfrm>
              <a:off x="0" y="9715500"/>
              <a:ext cx="18288000" cy="457350"/>
              <a:chOff x="0" y="0"/>
              <a:chExt cx="18288000" cy="457350"/>
            </a:xfrm>
          </p:grpSpPr>
          <p:cxnSp>
            <p:nvCxnSpPr>
              <p:cNvPr id="1385" name="Google Shape;1385;p39"/>
              <p:cNvCxnSpPr/>
              <p:nvPr/>
            </p:nvCxnSpPr>
            <p:spPr>
              <a:xfrm>
                <a:off x="0" y="0"/>
                <a:ext cx="18288000" cy="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9525">
                <a:solidFill>
                  <a:srgbClr val="CBD5E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1386" name="Google Shape;1386;p39"/>
              <p:cNvSpPr txBox="1"/>
              <p:nvPr/>
            </p:nvSpPr>
            <p:spPr>
              <a:xfrm>
                <a:off x="666750" y="171450"/>
                <a:ext cx="38100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100">
                    <a:solidFill>
                      <a:srgbClr val="64748B"/>
                    </a:solidFill>
                    <a:latin typeface="Roboto"/>
                    <a:ea typeface="Roboto"/>
                    <a:cs typeface="Roboto"/>
                    <a:sym typeface="Roboto"/>
                  </a:rPr>
                  <a:t>Criterion Proprietary &amp; Confidential</a:t>
                </a:r>
                <a:endParaRPr sz="1100">
                  <a:solidFill>
                    <a:srgbClr val="64748B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</p:grp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0" name="Shape 1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91" name="Google Shape;1391;p40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sp>
          <p:nvSpPr>
            <p:cNvPr id="1392" name="Google Shape;1392;p40"/>
            <p:cNvSpPr/>
            <p:nvPr/>
          </p:nvSpPr>
          <p:spPr>
            <a:xfrm>
              <a:off x="0" y="0"/>
              <a:ext cx="18288000" cy="10287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3" name="Google Shape;1393;p40"/>
            <p:cNvSpPr/>
            <p:nvPr/>
          </p:nvSpPr>
          <p:spPr>
            <a:xfrm>
              <a:off x="0" y="0"/>
              <a:ext cx="5334000" cy="10287000"/>
            </a:xfrm>
            <a:prstGeom prst="rect">
              <a:avLst/>
            </a:prstGeom>
            <a:solidFill>
              <a:srgbClr val="0F172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394" name="Google Shape;1394;p40"/>
            <p:cNvCxnSpPr/>
            <p:nvPr/>
          </p:nvCxnSpPr>
          <p:spPr>
            <a:xfrm>
              <a:off x="5334000" y="0"/>
              <a:ext cx="0" cy="10287000"/>
            </a:xfrm>
            <a:prstGeom prst="straightConnector1">
              <a:avLst/>
            </a:prstGeom>
            <a:solidFill>
              <a:srgbClr val="FFFFFF"/>
            </a:solidFill>
            <a:ln cap="flat" cmpd="sng" w="19050">
              <a:solidFill>
                <a:srgbClr val="1E293B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395" name="Google Shape;1395;p40"/>
            <p:cNvSpPr txBox="1"/>
            <p:nvPr/>
          </p:nvSpPr>
          <p:spPr>
            <a:xfrm>
              <a:off x="666750" y="2667000"/>
              <a:ext cx="4000500" cy="476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00AEEF"/>
                  </a:solidFill>
                  <a:latin typeface="Roboto"/>
                  <a:ea typeface="Roboto"/>
                  <a:cs typeface="Roboto"/>
                  <a:sym typeface="Roboto"/>
                </a:rPr>
                <a:t>TECHNICAL IMPLEMENTATION</a:t>
              </a:r>
              <a:endParaRPr b="1" sz="1200">
                <a:solidFill>
                  <a:srgbClr val="00AEE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-US" sz="42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SDK Architecture</a:t>
              </a:r>
              <a:endParaRPr b="1" sz="4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1" lang="en-US" sz="4200">
                  <a:solidFill>
                    <a:srgbClr val="00AEEF"/>
                  </a:solidFill>
                  <a:latin typeface="Roboto"/>
                  <a:ea typeface="Roboto"/>
                  <a:cs typeface="Roboto"/>
                  <a:sym typeface="Roboto"/>
                </a:rPr>
                <a:t>&amp; Examples</a:t>
              </a:r>
              <a:endParaRPr b="1" sz="4200">
                <a:solidFill>
                  <a:srgbClr val="00AEE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1600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94A3B8"/>
                  </a:solidFill>
                  <a:latin typeface="Roboto"/>
                  <a:ea typeface="Roboto"/>
                  <a:cs typeface="Roboto"/>
                  <a:sym typeface="Roboto"/>
                </a:rPr>
                <a:t>Official SDKs for multiple languages and complete FastMCP Python server-side implementation.</a:t>
              </a:r>
              <a:endParaRPr b="0" sz="1300">
                <a:solidFill>
                  <a:srgbClr val="94A3B8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396" name="Google Shape;1396;p40"/>
            <p:cNvSpPr txBox="1"/>
            <p:nvPr/>
          </p:nvSpPr>
          <p:spPr>
            <a:xfrm>
              <a:off x="5905500" y="476250"/>
              <a:ext cx="11620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000">
                  <a:solidFill>
                    <a:srgbClr val="0F1B2C"/>
                  </a:solidFill>
                  <a:latin typeface="Roboto"/>
                  <a:ea typeface="Roboto"/>
                  <a:cs typeface="Roboto"/>
                  <a:sym typeface="Roboto"/>
                </a:rPr>
                <a:t>SDK Architecture &amp; Code Examples</a:t>
              </a:r>
              <a:endParaRPr b="1" sz="3000">
                <a:solidFill>
                  <a:srgbClr val="0F1B2C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00AEEF"/>
                  </a:solidFill>
                  <a:latin typeface="Noto Sans"/>
                  <a:ea typeface="Noto Sans"/>
                  <a:cs typeface="Noto Sans"/>
                  <a:sym typeface="Noto Sans"/>
                </a:rPr>
                <a:t>Supported Language Implementations &amp; FastMCP Server</a:t>
              </a:r>
              <a:endParaRPr b="1" sz="1300">
                <a:solidFill>
                  <a:srgbClr val="00AEEF"/>
                </a:solidFill>
                <a:latin typeface="Noto Sans"/>
                <a:ea typeface="Noto Sans"/>
                <a:cs typeface="Noto Sans"/>
                <a:sym typeface="Noto Sans"/>
              </a:endParaRPr>
            </a:p>
          </p:txBody>
        </p:sp>
        <p:grpSp>
          <p:nvGrpSpPr>
            <p:cNvPr id="1397" name="Google Shape;1397;p40"/>
            <p:cNvGrpSpPr/>
            <p:nvPr/>
          </p:nvGrpSpPr>
          <p:grpSpPr>
            <a:xfrm>
              <a:off x="5905500" y="1333500"/>
              <a:ext cx="5334000" cy="8001000"/>
              <a:chOff x="0" y="0"/>
              <a:chExt cx="5334000" cy="8001000"/>
            </a:xfrm>
          </p:grpSpPr>
          <p:sp>
            <p:nvSpPr>
              <p:cNvPr id="1398" name="Google Shape;1398;p40"/>
              <p:cNvSpPr/>
              <p:nvPr/>
            </p:nvSpPr>
            <p:spPr>
              <a:xfrm>
                <a:off x="0" y="0"/>
                <a:ext cx="5334000" cy="8001000"/>
              </a:xfrm>
              <a:prstGeom prst="roundRect">
                <a:avLst>
                  <a:gd fmla="val 1785" name="adj"/>
                </a:avLst>
              </a:prstGeom>
              <a:solidFill>
                <a:srgbClr val="F8FAFC"/>
              </a:solidFill>
              <a:ln cap="flat" cmpd="sng" w="14300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9" name="Google Shape;1399;p40"/>
              <p:cNvSpPr/>
              <p:nvPr/>
            </p:nvSpPr>
            <p:spPr>
              <a:xfrm>
                <a:off x="0" y="0"/>
                <a:ext cx="5334000" cy="419100"/>
              </a:xfrm>
              <a:custGeom>
                <a:rect b="b" l="l" r="r" t="t"/>
                <a:pathLst>
                  <a:path extrusionOk="0" h="120000" w="120000">
                    <a:moveTo>
                      <a:pt x="0" y="27273"/>
                    </a:moveTo>
                    <a:cubicBezTo>
                      <a:pt x="0" y="12210"/>
                      <a:pt x="959" y="0"/>
                      <a:pt x="2143" y="0"/>
                    </a:cubicBezTo>
                    <a:lnTo>
                      <a:pt x="117857" y="0"/>
                    </a:lnTo>
                    <a:cubicBezTo>
                      <a:pt x="119041" y="0"/>
                      <a:pt x="120000" y="12210"/>
                      <a:pt x="120000" y="27273"/>
                    </a:cubicBezTo>
                    <a:lnTo>
                      <a:pt x="120000" y="120000"/>
                    </a:lnTo>
                    <a:lnTo>
                      <a:pt x="0" y="120000"/>
                    </a:lnTo>
                    <a:close/>
                  </a:path>
                </a:pathLst>
              </a:custGeom>
              <a:solidFill>
                <a:srgbClr val="00AEE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0" name="Google Shape;1400;p40"/>
              <p:cNvSpPr txBox="1"/>
              <p:nvPr/>
            </p:nvSpPr>
            <p:spPr>
              <a:xfrm>
                <a:off x="228600" y="0"/>
                <a:ext cx="4876800" cy="41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400">
                    <a:solidFill>
                      <a:srgbClr val="FFFFFF"/>
                    </a:solidFill>
                    <a:latin typeface="Noto Sans"/>
                    <a:ea typeface="Noto Sans"/>
                    <a:cs typeface="Noto Sans"/>
                    <a:sym typeface="Noto Sans"/>
                  </a:rPr>
                  <a:t>Supported Language SDKs</a:t>
                </a:r>
                <a:endParaRPr b="1" sz="1400">
                  <a:solidFill>
                    <a:srgbClr val="FFFFFF"/>
                  </a:solidFill>
                  <a:latin typeface="Noto Sans"/>
                  <a:ea typeface="Noto Sans"/>
                  <a:cs typeface="Noto Sans"/>
                  <a:sym typeface="Noto Sans"/>
                </a:endParaRPr>
              </a:p>
            </p:txBody>
          </p:sp>
          <p:grpSp>
            <p:nvGrpSpPr>
              <p:cNvPr id="1401" name="Google Shape;1401;p40"/>
              <p:cNvGrpSpPr/>
              <p:nvPr/>
            </p:nvGrpSpPr>
            <p:grpSpPr>
              <a:xfrm>
                <a:off x="228600" y="571500"/>
                <a:ext cx="4876800" cy="1000200"/>
                <a:chOff x="0" y="0"/>
                <a:chExt cx="4876800" cy="1000200"/>
              </a:xfrm>
            </p:grpSpPr>
            <p:sp>
              <p:nvSpPr>
                <p:cNvPr id="1402" name="Google Shape;1402;p40"/>
                <p:cNvSpPr/>
                <p:nvPr/>
              </p:nvSpPr>
              <p:spPr>
                <a:xfrm>
                  <a:off x="0" y="0"/>
                  <a:ext cx="4876800" cy="1000200"/>
                </a:xfrm>
                <a:prstGeom prst="roundRect">
                  <a:avLst>
                    <a:gd fmla="val 7619" name="adj"/>
                  </a:avLst>
                </a:prstGeom>
                <a:solidFill>
                  <a:srgbClr val="FFFFFF"/>
                </a:solidFill>
                <a:ln cap="flat" cmpd="sng" w="9525">
                  <a:solidFill>
                    <a:srgbClr val="E2E8F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03" name="Google Shape;1403;p40"/>
                <p:cNvSpPr txBox="1"/>
                <p:nvPr/>
              </p:nvSpPr>
              <p:spPr>
                <a:xfrm>
                  <a:off x="190500" y="142875"/>
                  <a:ext cx="4495800" cy="714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-US" sz="1400">
                      <a:solidFill>
                        <a:srgbClr val="0F1B2C"/>
                      </a:solidFill>
                      <a:latin typeface="Noto Sans"/>
                      <a:ea typeface="Noto Sans"/>
                      <a:cs typeface="Noto Sans"/>
                      <a:sym typeface="Noto Sans"/>
                    </a:rPr>
                    <a:t>TypeScript</a:t>
                  </a:r>
                  <a:endParaRPr b="1" sz="1400">
                    <a:solidFill>
                      <a:srgbClr val="0F1B2C"/>
                    </a:solidFill>
                    <a:latin typeface="Noto Sans"/>
                    <a:ea typeface="Noto Sans"/>
                    <a:cs typeface="Noto Sans"/>
                    <a:sym typeface="Noto Sans"/>
                  </a:endParaRPr>
                </a:p>
                <a:p>
                  <a:pPr indent="0" lvl="0" marL="0" rtl="0" algn="l">
                    <a:spcBef>
                      <a:spcPts val="400"/>
                    </a:spcBef>
                    <a:spcAft>
                      <a:spcPts val="0"/>
                    </a:spcAft>
                    <a:buNone/>
                  </a:pPr>
                  <a:r>
                    <a:rPr b="0" lang="en-US" sz="1100">
                      <a:solidFill>
                        <a:srgbClr val="475569"/>
                      </a:solidFill>
                      <a:latin typeface="Noto Sans"/>
                      <a:ea typeface="Noto Sans"/>
                      <a:cs typeface="Noto Sans"/>
                      <a:sym typeface="Noto Sans"/>
                    </a:rPr>
                    <a:t>Official reference implementation</a:t>
                  </a:r>
                  <a:endParaRPr b="0" sz="1100">
                    <a:solidFill>
                      <a:srgbClr val="475569"/>
                    </a:solidFill>
                    <a:latin typeface="Noto Sans"/>
                    <a:ea typeface="Noto Sans"/>
                    <a:cs typeface="Noto Sans"/>
                    <a:sym typeface="Noto Sans"/>
                  </a:endParaRPr>
                </a:p>
              </p:txBody>
            </p:sp>
          </p:grpSp>
          <p:grpSp>
            <p:nvGrpSpPr>
              <p:cNvPr id="1404" name="Google Shape;1404;p40"/>
              <p:cNvGrpSpPr/>
              <p:nvPr/>
            </p:nvGrpSpPr>
            <p:grpSpPr>
              <a:xfrm>
                <a:off x="228600" y="1714500"/>
                <a:ext cx="4876800" cy="1000200"/>
                <a:chOff x="0" y="0"/>
                <a:chExt cx="4876800" cy="1000200"/>
              </a:xfrm>
            </p:grpSpPr>
            <p:sp>
              <p:nvSpPr>
                <p:cNvPr id="1405" name="Google Shape;1405;p40"/>
                <p:cNvSpPr/>
                <p:nvPr/>
              </p:nvSpPr>
              <p:spPr>
                <a:xfrm>
                  <a:off x="0" y="0"/>
                  <a:ext cx="4876800" cy="1000200"/>
                </a:xfrm>
                <a:prstGeom prst="roundRect">
                  <a:avLst>
                    <a:gd fmla="val 7619" name="adj"/>
                  </a:avLst>
                </a:prstGeom>
                <a:solidFill>
                  <a:srgbClr val="FFFFFF"/>
                </a:solidFill>
                <a:ln cap="flat" cmpd="sng" w="9525">
                  <a:solidFill>
                    <a:srgbClr val="E2E8F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06" name="Google Shape;1406;p40"/>
                <p:cNvSpPr txBox="1"/>
                <p:nvPr/>
              </p:nvSpPr>
              <p:spPr>
                <a:xfrm>
                  <a:off x="190500" y="142875"/>
                  <a:ext cx="4495800" cy="714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-US" sz="1400">
                      <a:solidFill>
                        <a:srgbClr val="0F1B2C"/>
                      </a:solidFill>
                      <a:latin typeface="Noto Sans"/>
                      <a:ea typeface="Noto Sans"/>
                      <a:cs typeface="Noto Sans"/>
                      <a:sym typeface="Noto Sans"/>
                    </a:rPr>
                    <a:t>Python</a:t>
                  </a:r>
                  <a:endParaRPr b="1" sz="1400">
                    <a:solidFill>
                      <a:srgbClr val="0F1B2C"/>
                    </a:solidFill>
                    <a:latin typeface="Noto Sans"/>
                    <a:ea typeface="Noto Sans"/>
                    <a:cs typeface="Noto Sans"/>
                    <a:sym typeface="Noto Sans"/>
                  </a:endParaRPr>
                </a:p>
                <a:p>
                  <a:pPr indent="0" lvl="0" marL="0" rtl="0" algn="l">
                    <a:spcBef>
                      <a:spcPts val="400"/>
                    </a:spcBef>
                    <a:spcAft>
                      <a:spcPts val="0"/>
                    </a:spcAft>
                    <a:buNone/>
                  </a:pPr>
                  <a:r>
                    <a:rPr b="0" lang="en-US" sz="1100">
                      <a:solidFill>
                        <a:srgbClr val="475569"/>
                      </a:solidFill>
                      <a:latin typeface="Noto Sans"/>
                      <a:ea typeface="Noto Sans"/>
                      <a:cs typeface="Noto Sans"/>
                      <a:sym typeface="Noto Sans"/>
                    </a:rPr>
                    <a:t>Full-featured client &amp; server</a:t>
                  </a:r>
                  <a:endParaRPr b="0" sz="1100">
                    <a:solidFill>
                      <a:srgbClr val="475569"/>
                    </a:solidFill>
                    <a:latin typeface="Noto Sans"/>
                    <a:ea typeface="Noto Sans"/>
                    <a:cs typeface="Noto Sans"/>
                    <a:sym typeface="Noto Sans"/>
                  </a:endParaRPr>
                </a:p>
              </p:txBody>
            </p:sp>
          </p:grpSp>
          <p:grpSp>
            <p:nvGrpSpPr>
              <p:cNvPr id="1407" name="Google Shape;1407;p40"/>
              <p:cNvGrpSpPr/>
              <p:nvPr/>
            </p:nvGrpSpPr>
            <p:grpSpPr>
              <a:xfrm>
                <a:off x="228600" y="2857500"/>
                <a:ext cx="4876800" cy="1000200"/>
                <a:chOff x="0" y="0"/>
                <a:chExt cx="4876800" cy="1000200"/>
              </a:xfrm>
            </p:grpSpPr>
            <p:sp>
              <p:nvSpPr>
                <p:cNvPr id="1408" name="Google Shape;1408;p40"/>
                <p:cNvSpPr/>
                <p:nvPr/>
              </p:nvSpPr>
              <p:spPr>
                <a:xfrm>
                  <a:off x="0" y="0"/>
                  <a:ext cx="4876800" cy="1000200"/>
                </a:xfrm>
                <a:prstGeom prst="roundRect">
                  <a:avLst>
                    <a:gd fmla="val 7619" name="adj"/>
                  </a:avLst>
                </a:prstGeom>
                <a:solidFill>
                  <a:srgbClr val="FFFFFF"/>
                </a:solidFill>
                <a:ln cap="flat" cmpd="sng" w="9525">
                  <a:solidFill>
                    <a:srgbClr val="E2E8F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09" name="Google Shape;1409;p40"/>
                <p:cNvSpPr txBox="1"/>
                <p:nvPr/>
              </p:nvSpPr>
              <p:spPr>
                <a:xfrm>
                  <a:off x="190500" y="142875"/>
                  <a:ext cx="4495800" cy="714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-US" sz="1400">
                      <a:solidFill>
                        <a:srgbClr val="0F1B2C"/>
                      </a:solidFill>
                      <a:latin typeface="Noto Sans"/>
                      <a:ea typeface="Noto Sans"/>
                      <a:cs typeface="Noto Sans"/>
                      <a:sym typeface="Noto Sans"/>
                    </a:rPr>
                    <a:t>Rust</a:t>
                  </a:r>
                  <a:endParaRPr b="1" sz="1400">
                    <a:solidFill>
                      <a:srgbClr val="0F1B2C"/>
                    </a:solidFill>
                    <a:latin typeface="Noto Sans"/>
                    <a:ea typeface="Noto Sans"/>
                    <a:cs typeface="Noto Sans"/>
                    <a:sym typeface="Noto Sans"/>
                  </a:endParaRPr>
                </a:p>
                <a:p>
                  <a:pPr indent="0" lvl="0" marL="0" rtl="0" algn="l">
                    <a:spcBef>
                      <a:spcPts val="400"/>
                    </a:spcBef>
                    <a:spcAft>
                      <a:spcPts val="0"/>
                    </a:spcAft>
                    <a:buNone/>
                  </a:pPr>
                  <a:r>
                    <a:rPr b="0" lang="en-US" sz="1100">
                      <a:solidFill>
                        <a:srgbClr val="475569"/>
                      </a:solidFill>
                      <a:latin typeface="Noto Sans"/>
                      <a:ea typeface="Noto Sans"/>
                      <a:cs typeface="Noto Sans"/>
                      <a:sym typeface="Noto Sans"/>
                    </a:rPr>
                    <a:t>High-performance implementation</a:t>
                  </a:r>
                  <a:endParaRPr b="0" sz="1100">
                    <a:solidFill>
                      <a:srgbClr val="475569"/>
                    </a:solidFill>
                    <a:latin typeface="Noto Sans"/>
                    <a:ea typeface="Noto Sans"/>
                    <a:cs typeface="Noto Sans"/>
                    <a:sym typeface="Noto Sans"/>
                  </a:endParaRPr>
                </a:p>
              </p:txBody>
            </p:sp>
          </p:grpSp>
          <p:grpSp>
            <p:nvGrpSpPr>
              <p:cNvPr id="1410" name="Google Shape;1410;p40"/>
              <p:cNvGrpSpPr/>
              <p:nvPr/>
            </p:nvGrpSpPr>
            <p:grpSpPr>
              <a:xfrm>
                <a:off x="228600" y="4000500"/>
                <a:ext cx="4876800" cy="1000200"/>
                <a:chOff x="0" y="0"/>
                <a:chExt cx="4876800" cy="1000200"/>
              </a:xfrm>
            </p:grpSpPr>
            <p:sp>
              <p:nvSpPr>
                <p:cNvPr id="1411" name="Google Shape;1411;p40"/>
                <p:cNvSpPr/>
                <p:nvPr/>
              </p:nvSpPr>
              <p:spPr>
                <a:xfrm>
                  <a:off x="0" y="0"/>
                  <a:ext cx="4876800" cy="1000200"/>
                </a:xfrm>
                <a:prstGeom prst="roundRect">
                  <a:avLst>
                    <a:gd fmla="val 7619" name="adj"/>
                  </a:avLst>
                </a:prstGeom>
                <a:solidFill>
                  <a:srgbClr val="FFFFFF"/>
                </a:solidFill>
                <a:ln cap="flat" cmpd="sng" w="9525">
                  <a:solidFill>
                    <a:srgbClr val="E2E8F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12" name="Google Shape;1412;p40"/>
                <p:cNvSpPr txBox="1"/>
                <p:nvPr/>
              </p:nvSpPr>
              <p:spPr>
                <a:xfrm>
                  <a:off x="190500" y="142875"/>
                  <a:ext cx="4495800" cy="714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-US" sz="1400">
                      <a:solidFill>
                        <a:srgbClr val="0F1B2C"/>
                      </a:solidFill>
                      <a:latin typeface="Noto Sans"/>
                      <a:ea typeface="Noto Sans"/>
                      <a:cs typeface="Noto Sans"/>
                      <a:sym typeface="Noto Sans"/>
                    </a:rPr>
                    <a:t>Go</a:t>
                  </a:r>
                  <a:endParaRPr b="1" sz="1400">
                    <a:solidFill>
                      <a:srgbClr val="0F1B2C"/>
                    </a:solidFill>
                    <a:latin typeface="Noto Sans"/>
                    <a:ea typeface="Noto Sans"/>
                    <a:cs typeface="Noto Sans"/>
                    <a:sym typeface="Noto Sans"/>
                  </a:endParaRPr>
                </a:p>
                <a:p>
                  <a:pPr indent="0" lvl="0" marL="0" rtl="0" algn="l">
                    <a:spcBef>
                      <a:spcPts val="400"/>
                    </a:spcBef>
                    <a:spcAft>
                      <a:spcPts val="0"/>
                    </a:spcAft>
                    <a:buNone/>
                  </a:pPr>
                  <a:r>
                    <a:rPr b="0" lang="en-US" sz="1100">
                      <a:solidFill>
                        <a:srgbClr val="475569"/>
                      </a:solidFill>
                      <a:latin typeface="Noto Sans"/>
                      <a:ea typeface="Noto Sans"/>
                      <a:cs typeface="Noto Sans"/>
                      <a:sym typeface="Noto Sans"/>
                    </a:rPr>
                    <a:t>Lightweight and efficient</a:t>
                  </a:r>
                  <a:endParaRPr b="0" sz="1100">
                    <a:solidFill>
                      <a:srgbClr val="475569"/>
                    </a:solidFill>
                    <a:latin typeface="Noto Sans"/>
                    <a:ea typeface="Noto Sans"/>
                    <a:cs typeface="Noto Sans"/>
                    <a:sym typeface="Noto Sans"/>
                  </a:endParaRPr>
                </a:p>
              </p:txBody>
            </p:sp>
          </p:grpSp>
          <p:grpSp>
            <p:nvGrpSpPr>
              <p:cNvPr id="1413" name="Google Shape;1413;p40"/>
              <p:cNvGrpSpPr/>
              <p:nvPr/>
            </p:nvGrpSpPr>
            <p:grpSpPr>
              <a:xfrm>
                <a:off x="228600" y="5143500"/>
                <a:ext cx="4876800" cy="1000200"/>
                <a:chOff x="0" y="0"/>
                <a:chExt cx="4876800" cy="1000200"/>
              </a:xfrm>
            </p:grpSpPr>
            <p:sp>
              <p:nvSpPr>
                <p:cNvPr id="1414" name="Google Shape;1414;p40"/>
                <p:cNvSpPr/>
                <p:nvPr/>
              </p:nvSpPr>
              <p:spPr>
                <a:xfrm>
                  <a:off x="0" y="0"/>
                  <a:ext cx="4876800" cy="1000200"/>
                </a:xfrm>
                <a:prstGeom prst="roundRect">
                  <a:avLst>
                    <a:gd fmla="val 7619" name="adj"/>
                  </a:avLst>
                </a:prstGeom>
                <a:solidFill>
                  <a:srgbClr val="FFFFFF"/>
                </a:solidFill>
                <a:ln cap="flat" cmpd="sng" w="9525">
                  <a:solidFill>
                    <a:srgbClr val="E2E8F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15" name="Google Shape;1415;p40"/>
                <p:cNvSpPr txBox="1"/>
                <p:nvPr/>
              </p:nvSpPr>
              <p:spPr>
                <a:xfrm>
                  <a:off x="190500" y="142875"/>
                  <a:ext cx="4495800" cy="714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-US" sz="1400">
                      <a:solidFill>
                        <a:srgbClr val="0F1B2C"/>
                      </a:solidFill>
                      <a:latin typeface="Noto Sans"/>
                      <a:ea typeface="Noto Sans"/>
                      <a:cs typeface="Noto Sans"/>
                      <a:sym typeface="Noto Sans"/>
                    </a:rPr>
                    <a:t>Java</a:t>
                  </a:r>
                  <a:endParaRPr b="1" sz="1400">
                    <a:solidFill>
                      <a:srgbClr val="0F1B2C"/>
                    </a:solidFill>
                    <a:latin typeface="Noto Sans"/>
                    <a:ea typeface="Noto Sans"/>
                    <a:cs typeface="Noto Sans"/>
                    <a:sym typeface="Noto Sans"/>
                  </a:endParaRPr>
                </a:p>
                <a:p>
                  <a:pPr indent="0" lvl="0" marL="0" rtl="0" algn="l">
                    <a:spcBef>
                      <a:spcPts val="400"/>
                    </a:spcBef>
                    <a:spcAft>
                      <a:spcPts val="0"/>
                    </a:spcAft>
                    <a:buNone/>
                  </a:pPr>
                  <a:r>
                    <a:rPr b="0" lang="en-US" sz="1100">
                      <a:solidFill>
                        <a:srgbClr val="475569"/>
                      </a:solidFill>
                      <a:latin typeface="Noto Sans"/>
                      <a:ea typeface="Noto Sans"/>
                      <a:cs typeface="Noto Sans"/>
                      <a:sym typeface="Noto Sans"/>
                    </a:rPr>
                    <a:t>Enterprise-ready</a:t>
                  </a:r>
                  <a:endParaRPr b="0" sz="1100">
                    <a:solidFill>
                      <a:srgbClr val="475569"/>
                    </a:solidFill>
                    <a:latin typeface="Noto Sans"/>
                    <a:ea typeface="Noto Sans"/>
                    <a:cs typeface="Noto Sans"/>
                    <a:sym typeface="Noto Sans"/>
                  </a:endParaRPr>
                </a:p>
              </p:txBody>
            </p:sp>
          </p:grpSp>
          <p:grpSp>
            <p:nvGrpSpPr>
              <p:cNvPr id="1416" name="Google Shape;1416;p40"/>
              <p:cNvGrpSpPr/>
              <p:nvPr/>
            </p:nvGrpSpPr>
            <p:grpSpPr>
              <a:xfrm>
                <a:off x="228600" y="6286500"/>
                <a:ext cx="4876800" cy="1000200"/>
                <a:chOff x="0" y="0"/>
                <a:chExt cx="4876800" cy="1000200"/>
              </a:xfrm>
            </p:grpSpPr>
            <p:sp>
              <p:nvSpPr>
                <p:cNvPr id="1417" name="Google Shape;1417;p40"/>
                <p:cNvSpPr/>
                <p:nvPr/>
              </p:nvSpPr>
              <p:spPr>
                <a:xfrm>
                  <a:off x="0" y="0"/>
                  <a:ext cx="4876800" cy="1000200"/>
                </a:xfrm>
                <a:prstGeom prst="roundRect">
                  <a:avLst>
                    <a:gd fmla="val 7619" name="adj"/>
                  </a:avLst>
                </a:prstGeom>
                <a:solidFill>
                  <a:srgbClr val="FFFFFF"/>
                </a:solidFill>
                <a:ln cap="flat" cmpd="sng" w="9525">
                  <a:solidFill>
                    <a:srgbClr val="E2E8F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18" name="Google Shape;1418;p40"/>
                <p:cNvSpPr txBox="1"/>
                <p:nvPr/>
              </p:nvSpPr>
              <p:spPr>
                <a:xfrm>
                  <a:off x="190500" y="142875"/>
                  <a:ext cx="4495800" cy="714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-US" sz="1400">
                      <a:solidFill>
                        <a:srgbClr val="0F1B2C"/>
                      </a:solidFill>
                      <a:latin typeface="Noto Sans"/>
                      <a:ea typeface="Noto Sans"/>
                      <a:cs typeface="Noto Sans"/>
                      <a:sym typeface="Noto Sans"/>
                    </a:rPr>
                    <a:t>C#</a:t>
                  </a:r>
                  <a:endParaRPr b="1" sz="1400">
                    <a:solidFill>
                      <a:srgbClr val="0F1B2C"/>
                    </a:solidFill>
                    <a:latin typeface="Noto Sans"/>
                    <a:ea typeface="Noto Sans"/>
                    <a:cs typeface="Noto Sans"/>
                    <a:sym typeface="Noto Sans"/>
                  </a:endParaRPr>
                </a:p>
                <a:p>
                  <a:pPr indent="0" lvl="0" marL="0" rtl="0" algn="l">
                    <a:spcBef>
                      <a:spcPts val="400"/>
                    </a:spcBef>
                    <a:spcAft>
                      <a:spcPts val="0"/>
                    </a:spcAft>
                    <a:buNone/>
                  </a:pPr>
                  <a:r>
                    <a:rPr b="0" lang="en-US" sz="1100">
                      <a:solidFill>
                        <a:srgbClr val="475569"/>
                      </a:solidFill>
                      <a:latin typeface="Noto Sans"/>
                      <a:ea typeface="Noto Sans"/>
                      <a:cs typeface="Noto Sans"/>
                      <a:sym typeface="Noto Sans"/>
                    </a:rPr>
                    <a:t>.NET integration</a:t>
                  </a:r>
                  <a:endParaRPr b="0" sz="1100">
                    <a:solidFill>
                      <a:srgbClr val="475569"/>
                    </a:solidFill>
                    <a:latin typeface="Noto Sans"/>
                    <a:ea typeface="Noto Sans"/>
                    <a:cs typeface="Noto Sans"/>
                    <a:sym typeface="Noto Sans"/>
                  </a:endParaRPr>
                </a:p>
              </p:txBody>
            </p:sp>
          </p:grpSp>
        </p:grpSp>
        <p:grpSp>
          <p:nvGrpSpPr>
            <p:cNvPr id="1419" name="Google Shape;1419;p40"/>
            <p:cNvGrpSpPr/>
            <p:nvPr/>
          </p:nvGrpSpPr>
          <p:grpSpPr>
            <a:xfrm>
              <a:off x="11525250" y="1333500"/>
              <a:ext cx="6191400" cy="8001000"/>
              <a:chOff x="0" y="0"/>
              <a:chExt cx="6191400" cy="8001000"/>
            </a:xfrm>
          </p:grpSpPr>
          <p:sp>
            <p:nvSpPr>
              <p:cNvPr id="1420" name="Google Shape;1420;p40"/>
              <p:cNvSpPr/>
              <p:nvPr/>
            </p:nvSpPr>
            <p:spPr>
              <a:xfrm>
                <a:off x="0" y="0"/>
                <a:ext cx="6191400" cy="8001000"/>
              </a:xfrm>
              <a:prstGeom prst="roundRect">
                <a:avLst>
                  <a:gd fmla="val 1538" name="adj"/>
                </a:avLst>
              </a:prstGeom>
              <a:solidFill>
                <a:srgbClr val="0F172A"/>
              </a:solidFill>
              <a:ln cap="flat" cmpd="sng" w="14300">
                <a:solidFill>
                  <a:srgbClr val="1E293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1" name="Google Shape;1421;p40"/>
              <p:cNvSpPr/>
              <p:nvPr/>
            </p:nvSpPr>
            <p:spPr>
              <a:xfrm>
                <a:off x="0" y="0"/>
                <a:ext cx="6191400" cy="342900"/>
              </a:xfrm>
              <a:custGeom>
                <a:rect b="b" l="l" r="r" t="t"/>
                <a:pathLst>
                  <a:path extrusionOk="0" h="120000" w="120000">
                    <a:moveTo>
                      <a:pt x="0" y="33333"/>
                    </a:moveTo>
                    <a:cubicBezTo>
                      <a:pt x="0" y="14923"/>
                      <a:pt x="827" y="0"/>
                      <a:pt x="1846" y="0"/>
                    </a:cubicBezTo>
                    <a:lnTo>
                      <a:pt x="118154" y="0"/>
                    </a:lnTo>
                    <a:cubicBezTo>
                      <a:pt x="119173" y="0"/>
                      <a:pt x="120000" y="14923"/>
                      <a:pt x="120000" y="33333"/>
                    </a:cubicBezTo>
                    <a:lnTo>
                      <a:pt x="120000" y="120000"/>
                    </a:lnTo>
                    <a:lnTo>
                      <a:pt x="0" y="120000"/>
                    </a:lnTo>
                    <a:close/>
                  </a:path>
                </a:pathLst>
              </a:custGeom>
              <a:solidFill>
                <a:srgbClr val="1E293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2" name="Google Shape;1422;p40"/>
              <p:cNvSpPr/>
              <p:nvPr/>
            </p:nvSpPr>
            <p:spPr>
              <a:xfrm>
                <a:off x="142875" y="123825"/>
                <a:ext cx="95400" cy="95400"/>
              </a:xfrm>
              <a:prstGeom prst="ellipse">
                <a:avLst/>
              </a:prstGeom>
              <a:solidFill>
                <a:srgbClr val="EF4444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3" name="Google Shape;1423;p40"/>
              <p:cNvSpPr/>
              <p:nvPr/>
            </p:nvSpPr>
            <p:spPr>
              <a:xfrm>
                <a:off x="295275" y="123825"/>
                <a:ext cx="95400" cy="95400"/>
              </a:xfrm>
              <a:prstGeom prst="ellipse">
                <a:avLst/>
              </a:prstGeom>
              <a:solidFill>
                <a:srgbClr val="F59E0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4" name="Google Shape;1424;p40"/>
              <p:cNvSpPr/>
              <p:nvPr/>
            </p:nvSpPr>
            <p:spPr>
              <a:xfrm>
                <a:off x="447675" y="123825"/>
                <a:ext cx="95400" cy="95400"/>
              </a:xfrm>
              <a:prstGeom prst="ellipse">
                <a:avLst/>
              </a:prstGeom>
              <a:solidFill>
                <a:srgbClr val="10B981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5" name="Google Shape;1425;p40"/>
              <p:cNvSpPr txBox="1"/>
              <p:nvPr/>
            </p:nvSpPr>
            <p:spPr>
              <a:xfrm>
                <a:off x="762000" y="0"/>
                <a:ext cx="4667400" cy="34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1100">
                    <a:solidFill>
                      <a:srgbClr val="94A3B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server_example.py</a:t>
                </a:r>
                <a:endParaRPr b="0" sz="1100">
                  <a:solidFill>
                    <a:srgbClr val="94A3B8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  <p:sp>
            <p:nvSpPr>
              <p:cNvPr id="1426" name="Google Shape;1426;p40"/>
              <p:cNvSpPr/>
              <p:nvPr/>
            </p:nvSpPr>
            <p:spPr>
              <a:xfrm>
                <a:off x="152400" y="495300"/>
                <a:ext cx="5886600" cy="7353300"/>
              </a:xfrm>
              <a:prstGeom prst="roundRect">
                <a:avLst>
                  <a:gd fmla="val 970" name="adj"/>
                </a:avLst>
              </a:prstGeom>
              <a:solidFill>
                <a:srgbClr val="162235"/>
              </a:solidFill>
              <a:ln cap="flat" cmpd="sng" w="9525">
                <a:solidFill>
                  <a:srgbClr val="1E2D4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7" name="Google Shape;1427;p40"/>
              <p:cNvSpPr txBox="1"/>
              <p:nvPr/>
            </p:nvSpPr>
            <p:spPr>
              <a:xfrm>
                <a:off x="304800" y="647700"/>
                <a:ext cx="5581800" cy="70485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-US" sz="1250" u="none" strike="noStrike">
                    <a:solidFill>
                      <a:srgbClr val="64748B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// Server SDK Example (Python)</a:t>
                </a:r>
                <a:endParaRPr b="1" i="0" sz="1250" u="none" strike="noStrike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1" i="0" lang="en-US" sz="1250" u="none" strike="noStrike">
                    <a:solidFill>
                      <a:srgbClr val="38BDF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from</a:t>
                </a:r>
                <a:r>
                  <a:rPr b="1" i="0" lang="en-US" sz="1250" u="none" strike="noStrike">
                    <a:solidFill>
                      <a:srgbClr val="64748B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</a:t>
                </a:r>
                <a:r>
                  <a:rPr b="1" i="0" lang="en-US" sz="1250" u="none" strike="noStrike">
                    <a:solidFill>
                      <a:srgbClr val="E2E8F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fastmcp</a:t>
                </a:r>
                <a:r>
                  <a:rPr b="1" i="0" lang="en-US" sz="1250" u="none" strike="noStrike">
                    <a:solidFill>
                      <a:srgbClr val="64748B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</a:t>
                </a:r>
                <a:r>
                  <a:rPr b="1" i="0" lang="en-US" sz="1250" u="none" strike="noStrike">
                    <a:solidFill>
                      <a:srgbClr val="38BDF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import</a:t>
                </a:r>
                <a:r>
                  <a:rPr b="1" i="0" lang="en-US" sz="1250" u="none" strike="noStrike">
                    <a:solidFill>
                      <a:srgbClr val="64748B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</a:t>
                </a:r>
                <a:r>
                  <a:rPr b="1" i="0" lang="en-US" sz="1250" u="none" strike="noStrike">
                    <a:solidFill>
                      <a:srgbClr val="93C5FD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FastMCP</a:t>
                </a:r>
                <a:endParaRPr b="1" i="0" sz="1250" u="none" strike="noStrike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1" i="0" lang="en-US" sz="1250" u="none" strike="noStrike">
                    <a:solidFill>
                      <a:srgbClr val="E2E8F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mcp = </a:t>
                </a:r>
                <a:r>
                  <a:rPr b="1" i="0" lang="en-US" sz="1250" u="none" strike="noStrike">
                    <a:solidFill>
                      <a:srgbClr val="93C5FD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FastMCP</a:t>
                </a:r>
                <a:r>
                  <a:rPr b="1" i="0" lang="en-US" sz="1250" u="none" strike="noStrike">
                    <a:solidFill>
                      <a:srgbClr val="E2E8F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(</a:t>
                </a:r>
                <a:r>
                  <a:rPr b="1" i="0" lang="en-US" sz="1250" u="none" strike="noStrike">
                    <a:solidFill>
                      <a:srgbClr val="34D399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"MyServer"</a:t>
                </a:r>
                <a:r>
                  <a:rPr b="1" i="0" lang="en-US" sz="1250" u="none" strike="noStrike">
                    <a:solidFill>
                      <a:srgbClr val="E2E8F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)</a:t>
                </a:r>
                <a:endParaRPr b="1" i="0" sz="1250" u="none" strike="noStrike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1" i="0" lang="en-US" sz="1250" u="none" strike="noStrike">
                    <a:solidFill>
                      <a:srgbClr val="F472B6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@mcp.tool</a:t>
                </a:r>
                <a:endParaRPr b="1" i="0" sz="1250" u="none" strike="noStrike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1" i="0" lang="en-US" sz="1250" u="none" strike="noStrike">
                    <a:solidFill>
                      <a:srgbClr val="38BDF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def</a:t>
                </a:r>
                <a:r>
                  <a:rPr b="1" i="0" lang="en-US" sz="1250" u="none" strike="noStrike">
                    <a:solidFill>
                      <a:srgbClr val="64748B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</a:t>
                </a:r>
                <a:r>
                  <a:rPr b="1" i="0" lang="en-US" sz="1250" u="none" strike="noStrike">
                    <a:solidFill>
                      <a:srgbClr val="93C5FD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multiply</a:t>
                </a:r>
                <a:r>
                  <a:rPr b="1" i="0" lang="en-US" sz="1250" u="none" strike="noStrike">
                    <a:solidFill>
                      <a:srgbClr val="E2E8F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(a: </a:t>
                </a:r>
                <a:r>
                  <a:rPr b="1" i="0" lang="en-US" sz="1250" u="none" strike="noStrike">
                    <a:solidFill>
                      <a:srgbClr val="38BDF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float</a:t>
                </a:r>
                <a:r>
                  <a:rPr b="1" i="0" lang="en-US" sz="1250" u="none" strike="noStrike">
                    <a:solidFill>
                      <a:srgbClr val="E2E8F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, b: </a:t>
                </a:r>
                <a:r>
                  <a:rPr b="1" i="0" lang="en-US" sz="1250" u="none" strike="noStrike">
                    <a:solidFill>
                      <a:srgbClr val="38BDF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float</a:t>
                </a:r>
                <a:r>
                  <a:rPr b="1" i="0" lang="en-US" sz="1250" u="none" strike="noStrike">
                    <a:solidFill>
                      <a:srgbClr val="E2E8F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) -&gt; </a:t>
                </a:r>
                <a:r>
                  <a:rPr b="1" i="0" lang="en-US" sz="1250" u="none" strike="noStrike">
                    <a:solidFill>
                      <a:srgbClr val="38BDF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float</a:t>
                </a:r>
                <a:r>
                  <a:rPr b="1" i="0" lang="en-US" sz="1250" u="none" strike="noStrike">
                    <a:solidFill>
                      <a:srgbClr val="E2E8F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:</a:t>
                </a:r>
                <a:endParaRPr b="1" i="0" sz="1250" u="none" strike="noStrike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indent="0" lvl="0" marL="152400" marR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1" i="0" lang="en-US" sz="1250" u="none" strike="noStrike">
                    <a:solidFill>
                      <a:srgbClr val="34D399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"""Multiplies two numbers together."""</a:t>
                </a:r>
                <a:endParaRPr b="1" i="0" sz="1250" u="none" strike="noStrike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indent="0" lvl="0" marL="152400" marR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1" i="0" lang="en-US" sz="1250" u="none" strike="noStrike">
                    <a:solidFill>
                      <a:srgbClr val="38BDF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return</a:t>
                </a:r>
                <a:r>
                  <a:rPr b="1" i="0" lang="en-US" sz="1250" u="none" strike="noStrike">
                    <a:solidFill>
                      <a:srgbClr val="64748B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</a:t>
                </a:r>
                <a:r>
                  <a:rPr b="1" i="0" lang="en-US" sz="1250" u="none" strike="noStrike">
                    <a:solidFill>
                      <a:srgbClr val="E2E8F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a * b</a:t>
                </a:r>
                <a:endParaRPr b="1" i="0" sz="1250" u="none" strike="noStrike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1" i="0" lang="en-US" sz="1250" u="none" strike="noStrike">
                    <a:solidFill>
                      <a:srgbClr val="F472B6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@mcp.resource</a:t>
                </a:r>
                <a:r>
                  <a:rPr b="1" i="0" lang="en-US" sz="1250" u="none" strike="noStrike">
                    <a:solidFill>
                      <a:srgbClr val="E2E8F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(</a:t>
                </a:r>
                <a:r>
                  <a:rPr b="1" i="0" lang="en-US" sz="1250" u="none" strike="noStrike">
                    <a:solidFill>
                      <a:srgbClr val="34D399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"data://config"</a:t>
                </a:r>
                <a:r>
                  <a:rPr b="1" i="0" lang="en-US" sz="1250" u="none" strike="noStrike">
                    <a:solidFill>
                      <a:srgbClr val="E2E8F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)</a:t>
                </a:r>
                <a:endParaRPr b="1" i="0" sz="1250" u="none" strike="noStrike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1" i="0" lang="en-US" sz="1250" u="none" strike="noStrike">
                    <a:solidFill>
                      <a:srgbClr val="38BDF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def</a:t>
                </a:r>
                <a:r>
                  <a:rPr b="1" i="0" lang="en-US" sz="1250" u="none" strike="noStrike">
                    <a:solidFill>
                      <a:srgbClr val="64748B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</a:t>
                </a:r>
                <a:r>
                  <a:rPr b="1" i="0" lang="en-US" sz="1250" u="none" strike="noStrike">
                    <a:solidFill>
                      <a:srgbClr val="93C5FD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get_config</a:t>
                </a:r>
                <a:r>
                  <a:rPr b="1" i="0" lang="en-US" sz="1250" u="none" strike="noStrike">
                    <a:solidFill>
                      <a:srgbClr val="E2E8F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() -&gt; </a:t>
                </a:r>
                <a:r>
                  <a:rPr b="1" i="0" lang="en-US" sz="1250" u="none" strike="noStrike">
                    <a:solidFill>
                      <a:srgbClr val="38BDF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dict</a:t>
                </a:r>
                <a:r>
                  <a:rPr b="1" i="0" lang="en-US" sz="1250" u="none" strike="noStrike">
                    <a:solidFill>
                      <a:srgbClr val="E2E8F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:</a:t>
                </a:r>
                <a:endParaRPr b="1" i="0" sz="1250" u="none" strike="noStrike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indent="0" lvl="0" marL="152400" marR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1" i="0" lang="en-US" sz="1250" u="none" strike="noStrike">
                    <a:solidFill>
                      <a:srgbClr val="38BDF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return</a:t>
                </a:r>
                <a:r>
                  <a:rPr b="1" i="0" lang="en-US" sz="1250" u="none" strike="noStrike">
                    <a:solidFill>
                      <a:srgbClr val="64748B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</a:t>
                </a:r>
                <a:r>
                  <a:rPr b="1" i="0" lang="en-US" sz="1250" u="none" strike="noStrike">
                    <a:solidFill>
                      <a:srgbClr val="E2E8F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{</a:t>
                </a:r>
                <a:r>
                  <a:rPr b="1" i="0" lang="en-US" sz="1250" u="none" strike="noStrike">
                    <a:solidFill>
                      <a:srgbClr val="34D399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"theme"</a:t>
                </a:r>
                <a:r>
                  <a:rPr b="1" i="0" lang="en-US" sz="1250" u="none" strike="noStrike">
                    <a:solidFill>
                      <a:srgbClr val="E2E8F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: </a:t>
                </a:r>
                <a:r>
                  <a:rPr b="1" i="0" lang="en-US" sz="1250" u="none" strike="noStrike">
                    <a:solidFill>
                      <a:srgbClr val="34D399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"dark"</a:t>
                </a:r>
                <a:r>
                  <a:rPr b="1" i="0" lang="en-US" sz="1250" u="none" strike="noStrike">
                    <a:solidFill>
                      <a:srgbClr val="E2E8F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, </a:t>
                </a:r>
                <a:r>
                  <a:rPr b="1" i="0" lang="en-US" sz="1250" u="none" strike="noStrike">
                    <a:solidFill>
                      <a:srgbClr val="34D399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"version"</a:t>
                </a:r>
                <a:r>
                  <a:rPr b="1" i="0" lang="en-US" sz="1250" u="none" strike="noStrike">
                    <a:solidFill>
                      <a:srgbClr val="E2E8F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: </a:t>
                </a:r>
                <a:r>
                  <a:rPr b="1" i="0" lang="en-US" sz="1250" u="none" strike="noStrike">
                    <a:solidFill>
                      <a:srgbClr val="34D399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"1.0"</a:t>
                </a:r>
                <a:r>
                  <a:rPr b="1" i="0" lang="en-US" sz="1250" u="none" strike="noStrike">
                    <a:solidFill>
                      <a:srgbClr val="E2E8F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}</a:t>
                </a:r>
                <a:endParaRPr b="1" i="0" sz="1250" u="none" strike="noStrike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1" i="0" lang="en-US" sz="1250" u="none" strike="noStrike">
                    <a:solidFill>
                      <a:srgbClr val="F472B6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@mcp.prompt</a:t>
                </a:r>
                <a:endParaRPr b="1" i="0" sz="1250" u="none" strike="noStrike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1" i="0" lang="en-US" sz="1250" u="none" strike="noStrike">
                    <a:solidFill>
                      <a:srgbClr val="38BDF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def</a:t>
                </a:r>
                <a:r>
                  <a:rPr b="1" i="0" lang="en-US" sz="1250" u="none" strike="noStrike">
                    <a:solidFill>
                      <a:srgbClr val="64748B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</a:t>
                </a:r>
                <a:r>
                  <a:rPr b="1" i="0" lang="en-US" sz="1250" u="none" strike="noStrike">
                    <a:solidFill>
                      <a:srgbClr val="93C5FD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analyze_data</a:t>
                </a:r>
                <a:r>
                  <a:rPr b="1" i="0" lang="en-US" sz="1250" u="none" strike="noStrike">
                    <a:solidFill>
                      <a:srgbClr val="E2E8F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(data_points: </a:t>
                </a:r>
                <a:r>
                  <a:rPr b="1" i="0" lang="en-US" sz="1250" u="none" strike="noStrike">
                    <a:solidFill>
                      <a:srgbClr val="38BDF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list</a:t>
                </a:r>
                <a:r>
                  <a:rPr b="1" i="0" lang="en-US" sz="1250" u="none" strike="noStrike">
                    <a:solidFill>
                      <a:srgbClr val="E2E8F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[</a:t>
                </a:r>
                <a:r>
                  <a:rPr b="1" i="0" lang="en-US" sz="1250" u="none" strike="noStrike">
                    <a:solidFill>
                      <a:srgbClr val="38BDF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float</a:t>
                </a:r>
                <a:r>
                  <a:rPr b="1" i="0" lang="en-US" sz="1250" u="none" strike="noStrike">
                    <a:solidFill>
                      <a:srgbClr val="E2E8F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]) -&gt; </a:t>
                </a:r>
                <a:r>
                  <a:rPr b="1" i="0" lang="en-US" sz="1250" u="none" strike="noStrike">
                    <a:solidFill>
                      <a:srgbClr val="38BDF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str</a:t>
                </a:r>
                <a:r>
                  <a:rPr b="1" i="0" lang="en-US" sz="1250" u="none" strike="noStrike">
                    <a:solidFill>
                      <a:srgbClr val="E2E8F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:</a:t>
                </a:r>
                <a:endParaRPr b="1" i="0" sz="1250" u="none" strike="noStrike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indent="0" lvl="0" marL="152400" marR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1" i="0" lang="en-US" sz="1250" u="none" strike="noStrike">
                    <a:solidFill>
                      <a:srgbClr val="E2E8F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formatted_data = </a:t>
                </a:r>
                <a:r>
                  <a:rPr b="1" i="0" lang="en-US" sz="1250" u="none" strike="noStrike">
                    <a:solidFill>
                      <a:srgbClr val="34D399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", "</a:t>
                </a:r>
                <a:r>
                  <a:rPr b="1" i="0" lang="en-US" sz="1250" u="none" strike="noStrike">
                    <a:solidFill>
                      <a:srgbClr val="E2E8F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.join(</a:t>
                </a:r>
                <a:r>
                  <a:rPr b="1" i="0" lang="en-US" sz="1250" u="none" strike="noStrike">
                    <a:solidFill>
                      <a:srgbClr val="38BDF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str</a:t>
                </a:r>
                <a:r>
                  <a:rPr b="1" i="0" lang="en-US" sz="1250" u="none" strike="noStrike">
                    <a:solidFill>
                      <a:srgbClr val="E2E8F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(point) </a:t>
                </a:r>
                <a:r>
                  <a:rPr b="1" i="0" lang="en-US" sz="1250" u="none" strike="noStrike">
                    <a:solidFill>
                      <a:srgbClr val="38BDF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for</a:t>
                </a:r>
                <a:r>
                  <a:rPr b="1" i="0" lang="en-US" sz="1250" u="none" strike="noStrike">
                    <a:solidFill>
                      <a:srgbClr val="64748B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</a:t>
                </a:r>
                <a:r>
                  <a:rPr b="1" i="0" lang="en-US" sz="1250" u="none" strike="noStrike">
                    <a:solidFill>
                      <a:srgbClr val="E2E8F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point </a:t>
                </a:r>
                <a:r>
                  <a:rPr b="1" i="0" lang="en-US" sz="1250" u="none" strike="noStrike">
                    <a:solidFill>
                      <a:srgbClr val="38BDF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in</a:t>
                </a:r>
                <a:r>
                  <a:rPr b="1" i="0" lang="en-US" sz="1250" u="none" strike="noStrike">
                    <a:solidFill>
                      <a:srgbClr val="64748B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</a:t>
                </a:r>
                <a:r>
                  <a:rPr b="1" i="0" lang="en-US" sz="1250" u="none" strike="noStrike">
                    <a:solidFill>
                      <a:srgbClr val="E2E8F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data_points)</a:t>
                </a:r>
                <a:endParaRPr b="1" i="0" sz="1250" u="none" strike="noStrike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indent="0" lvl="0" marL="152400" marR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1" i="0" lang="en-US" sz="1250" u="none" strike="noStrike">
                    <a:solidFill>
                      <a:srgbClr val="38BDF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return</a:t>
                </a:r>
                <a:r>
                  <a:rPr b="1" i="0" lang="en-US" sz="1250" u="none" strike="noStrike">
                    <a:solidFill>
                      <a:srgbClr val="64748B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</a:t>
                </a:r>
                <a:r>
                  <a:rPr b="1" i="0" lang="en-US" sz="1250" u="none" strike="noStrike">
                    <a:solidFill>
                      <a:srgbClr val="34D399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f"Please analyze these data points: {formatted_data}"</a:t>
                </a:r>
                <a:endParaRPr b="1" i="0" sz="1250" u="none" strike="noStrike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1" i="0" lang="en-US" sz="1250" u="none" strike="noStrike">
                    <a:solidFill>
                      <a:srgbClr val="38BDF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if</a:t>
                </a:r>
                <a:r>
                  <a:rPr b="1" i="0" lang="en-US" sz="1250" u="none" strike="noStrike">
                    <a:solidFill>
                      <a:srgbClr val="64748B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</a:t>
                </a:r>
                <a:r>
                  <a:rPr b="1" i="0" lang="en-US" sz="1250" u="none" strike="noStrike">
                    <a:solidFill>
                      <a:srgbClr val="E2E8F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__name__ == </a:t>
                </a:r>
                <a:r>
                  <a:rPr b="1" i="0" lang="en-US" sz="1250" u="none" strike="noStrike">
                    <a:solidFill>
                      <a:srgbClr val="34D399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"__main__"</a:t>
                </a:r>
                <a:r>
                  <a:rPr b="1" i="0" lang="en-US" sz="1250" u="none" strike="noStrike">
                    <a:solidFill>
                      <a:srgbClr val="E2E8F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:</a:t>
                </a:r>
                <a:endParaRPr b="1" i="0" sz="1250" u="none" strike="noStrike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indent="0" lvl="0" marL="152400" marR="0" rtl="0" algn="l">
                  <a:spcBef>
                    <a:spcPts val="600"/>
                  </a:spcBef>
                  <a:spcAft>
                    <a:spcPts val="600"/>
                  </a:spcAft>
                  <a:buNone/>
                </a:pPr>
                <a:r>
                  <a:rPr b="1" i="0" lang="en-US" sz="1250" u="none" strike="noStrike">
                    <a:solidFill>
                      <a:srgbClr val="E2E8F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mcp.run(transport=</a:t>
                </a:r>
                <a:r>
                  <a:rPr b="1" i="0" lang="en-US" sz="1250" u="none" strike="noStrike">
                    <a:solidFill>
                      <a:srgbClr val="34D399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"http"</a:t>
                </a:r>
                <a:r>
                  <a:rPr b="1" i="0" lang="en-US" sz="1250" u="none" strike="noStrike">
                    <a:solidFill>
                      <a:srgbClr val="E2E8F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, host=</a:t>
                </a:r>
                <a:r>
                  <a:rPr b="1" i="0" lang="en-US" sz="1250" u="none" strike="noStrike">
                    <a:solidFill>
                      <a:srgbClr val="34D399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"127.0.0.1"</a:t>
                </a:r>
                <a:r>
                  <a:rPr b="1" i="0" lang="en-US" sz="1250" u="none" strike="noStrike">
                    <a:solidFill>
                      <a:srgbClr val="E2E8F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, port=</a:t>
                </a:r>
                <a:r>
                  <a:rPr b="1" i="0" lang="en-US" sz="1250" u="none" strike="noStrike">
                    <a:solidFill>
                      <a:srgbClr val="F472B6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9000</a:t>
                </a:r>
                <a:r>
                  <a:rPr b="1" i="0" lang="en-US" sz="1250" u="none" strike="noStrike">
                    <a:solidFill>
                      <a:srgbClr val="E2E8F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)</a:t>
                </a:r>
                <a:endParaRPr b="1" i="0" sz="1250" u="none" strike="noStrike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  <p:grpSp>
          <p:nvGrpSpPr>
            <p:cNvPr id="1428" name="Google Shape;1428;p40"/>
            <p:cNvGrpSpPr/>
            <p:nvPr/>
          </p:nvGrpSpPr>
          <p:grpSpPr>
            <a:xfrm>
              <a:off x="0" y="9715500"/>
              <a:ext cx="18288000" cy="457350"/>
              <a:chOff x="0" y="0"/>
              <a:chExt cx="18288000" cy="457350"/>
            </a:xfrm>
          </p:grpSpPr>
          <p:cxnSp>
            <p:nvCxnSpPr>
              <p:cNvPr id="1429" name="Google Shape;1429;p40"/>
              <p:cNvCxnSpPr/>
              <p:nvPr/>
            </p:nvCxnSpPr>
            <p:spPr>
              <a:xfrm>
                <a:off x="0" y="0"/>
                <a:ext cx="18288000" cy="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9525">
                <a:solidFill>
                  <a:srgbClr val="CBD5E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1430" name="Google Shape;1430;p40"/>
              <p:cNvSpPr txBox="1"/>
              <p:nvPr/>
            </p:nvSpPr>
            <p:spPr>
              <a:xfrm>
                <a:off x="666750" y="171450"/>
                <a:ext cx="38100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1100">
                    <a:solidFill>
                      <a:srgbClr val="64748B"/>
                    </a:solidFill>
                    <a:latin typeface="Roboto"/>
                    <a:ea typeface="Roboto"/>
                    <a:cs typeface="Roboto"/>
                    <a:sym typeface="Roboto"/>
                  </a:rPr>
                  <a:t>Criterion Proprietary &amp; Confidential</a:t>
                </a:r>
                <a:endParaRPr b="0" sz="1100">
                  <a:solidFill>
                    <a:srgbClr val="64748B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</p:grp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4" name="Shape 1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preencoded.png" id="1435" name="Google Shape;1435;p41"/>
          <p:cNvSpPr/>
          <p:nvPr/>
        </p:nvSpPr>
        <p:spPr>
          <a:xfrm>
            <a:off x="0" y="0"/>
            <a:ext cx="18288000" cy="10275739"/>
          </a:xfrm>
          <a:custGeom>
            <a:rect b="b" l="l" r="r" t="t"/>
            <a:pathLst>
              <a:path extrusionOk="0" h="14222476" w="24384000">
                <a:moveTo>
                  <a:pt x="0" y="0"/>
                </a:moveTo>
                <a:lnTo>
                  <a:pt x="24384000" y="0"/>
                </a:lnTo>
                <a:lnTo>
                  <a:pt x="24384000" y="14222476"/>
                </a:lnTo>
                <a:lnTo>
                  <a:pt x="0" y="1422247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grpSp>
        <p:nvGrpSpPr>
          <p:cNvPr id="1436" name="Google Shape;1436;p41"/>
          <p:cNvGrpSpPr/>
          <p:nvPr/>
        </p:nvGrpSpPr>
        <p:grpSpPr>
          <a:xfrm>
            <a:off x="0" y="0"/>
            <a:ext cx="5334000" cy="10287000"/>
            <a:chOff x="0" y="0"/>
            <a:chExt cx="5334000" cy="10287000"/>
          </a:xfrm>
        </p:grpSpPr>
        <p:sp>
          <p:nvSpPr>
            <p:cNvPr id="1437" name="Google Shape;1437;p41"/>
            <p:cNvSpPr/>
            <p:nvPr/>
          </p:nvSpPr>
          <p:spPr>
            <a:xfrm>
              <a:off x="0" y="0"/>
              <a:ext cx="5334000" cy="10287000"/>
            </a:xfrm>
            <a:prstGeom prst="rect">
              <a:avLst/>
            </a:prstGeom>
            <a:solidFill>
              <a:srgbClr val="0F172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438" name="Google Shape;1438;p41"/>
            <p:cNvCxnSpPr/>
            <p:nvPr/>
          </p:nvCxnSpPr>
          <p:spPr>
            <a:xfrm>
              <a:off x="5334000" y="0"/>
              <a:ext cx="0" cy="10287000"/>
            </a:xfrm>
            <a:prstGeom prst="straightConnector1">
              <a:avLst/>
            </a:prstGeom>
            <a:solidFill>
              <a:srgbClr val="FFFFFF"/>
            </a:solidFill>
            <a:ln cap="flat" cmpd="sng" w="19050">
              <a:solidFill>
                <a:srgbClr val="1E293B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439" name="Google Shape;1439;p41"/>
            <p:cNvSpPr txBox="1"/>
            <p:nvPr/>
          </p:nvSpPr>
          <p:spPr>
            <a:xfrm>
              <a:off x="666750" y="2667000"/>
              <a:ext cx="4000500" cy="476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00AEEF"/>
                  </a:solidFill>
                  <a:latin typeface="Roboto"/>
                  <a:ea typeface="Roboto"/>
                  <a:cs typeface="Roboto"/>
                  <a:sym typeface="Roboto"/>
                </a:rPr>
                <a:t>TECHNICAL IMPLEMENTATION</a:t>
              </a:r>
              <a:endParaRPr b="1" sz="1200">
                <a:solidFill>
                  <a:srgbClr val="00AEE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-US" sz="42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SDK Architecture</a:t>
              </a:r>
              <a:endParaRPr b="1" sz="1200">
                <a:solidFill>
                  <a:srgbClr val="00AEE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1" lang="en-US" sz="4200">
                  <a:solidFill>
                    <a:srgbClr val="00AEEF"/>
                  </a:solidFill>
                  <a:latin typeface="Roboto"/>
                  <a:ea typeface="Roboto"/>
                  <a:cs typeface="Roboto"/>
                  <a:sym typeface="Roboto"/>
                </a:rPr>
                <a:t>&amp; Examples</a:t>
              </a:r>
              <a:endParaRPr b="1" sz="1200">
                <a:solidFill>
                  <a:srgbClr val="00AEE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1600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94A3B8"/>
                  </a:solidFill>
                  <a:latin typeface="Roboto"/>
                  <a:ea typeface="Roboto"/>
                  <a:cs typeface="Roboto"/>
                  <a:sym typeface="Roboto"/>
                </a:rPr>
                <a:t>Official SDKs for multiple languages and complete client &amp; server Python implementations.</a:t>
              </a:r>
              <a:endParaRPr b="1" sz="1200">
                <a:solidFill>
                  <a:srgbClr val="00AEE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440" name="Google Shape;1440;p41"/>
          <p:cNvSpPr txBox="1"/>
          <p:nvPr/>
        </p:nvSpPr>
        <p:spPr>
          <a:xfrm>
            <a:off x="5905500" y="476250"/>
            <a:ext cx="116205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0F1B2C"/>
                </a:solidFill>
                <a:latin typeface="Roboto"/>
                <a:ea typeface="Roboto"/>
                <a:cs typeface="Roboto"/>
                <a:sym typeface="Roboto"/>
              </a:rPr>
              <a:t>SDK Architecture &amp; Code Examples</a:t>
            </a:r>
            <a:endParaRPr b="1" sz="3000">
              <a:solidFill>
                <a:srgbClr val="0F1B2C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00AEEF"/>
                </a:solidFill>
                <a:latin typeface="Noto Sans"/>
                <a:ea typeface="Noto Sans"/>
                <a:cs typeface="Noto Sans"/>
                <a:sym typeface="Noto Sans"/>
              </a:rPr>
              <a:t>Supported Language Implementations &amp; FastMCP Client Example</a:t>
            </a:r>
            <a:endParaRPr b="1" sz="1300">
              <a:solidFill>
                <a:srgbClr val="0F1B2C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441" name="Google Shape;1441;p41"/>
          <p:cNvGrpSpPr/>
          <p:nvPr/>
        </p:nvGrpSpPr>
        <p:grpSpPr>
          <a:xfrm>
            <a:off x="5905500" y="1333500"/>
            <a:ext cx="5334000" cy="8001000"/>
            <a:chOff x="0" y="0"/>
            <a:chExt cx="5334000" cy="8001000"/>
          </a:xfrm>
        </p:grpSpPr>
        <p:sp>
          <p:nvSpPr>
            <p:cNvPr id="1442" name="Google Shape;1442;p41"/>
            <p:cNvSpPr/>
            <p:nvPr/>
          </p:nvSpPr>
          <p:spPr>
            <a:xfrm>
              <a:off x="0" y="0"/>
              <a:ext cx="5334000" cy="8001000"/>
            </a:xfrm>
            <a:prstGeom prst="roundRect">
              <a:avLst>
                <a:gd fmla="val 1785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3" name="Google Shape;1443;p41"/>
            <p:cNvSpPr/>
            <p:nvPr/>
          </p:nvSpPr>
          <p:spPr>
            <a:xfrm>
              <a:off x="0" y="0"/>
              <a:ext cx="5334000" cy="419100"/>
            </a:xfrm>
            <a:custGeom>
              <a:rect b="b" l="l" r="r" t="t"/>
              <a:pathLst>
                <a:path extrusionOk="0" h="120000" w="120000">
                  <a:moveTo>
                    <a:pt x="0" y="27273"/>
                  </a:moveTo>
                  <a:cubicBezTo>
                    <a:pt x="0" y="12218"/>
                    <a:pt x="960" y="0"/>
                    <a:pt x="2143" y="0"/>
                  </a:cubicBezTo>
                  <a:lnTo>
                    <a:pt x="117857" y="0"/>
                  </a:lnTo>
                  <a:cubicBezTo>
                    <a:pt x="119040" y="0"/>
                    <a:pt x="120000" y="12218"/>
                    <a:pt x="120000" y="27273"/>
                  </a:cubicBezTo>
                  <a:lnTo>
                    <a:pt x="12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00AEE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4" name="Google Shape;1444;p41"/>
            <p:cNvSpPr txBox="1"/>
            <p:nvPr/>
          </p:nvSpPr>
          <p:spPr>
            <a:xfrm>
              <a:off x="228600" y="0"/>
              <a:ext cx="4876800" cy="41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FFFFFF"/>
                  </a:solidFill>
                  <a:latin typeface="Noto Sans"/>
                  <a:ea typeface="Noto Sans"/>
                  <a:cs typeface="Noto Sans"/>
                  <a:sym typeface="Noto Sans"/>
                </a:rPr>
                <a:t>Supported Language SDKs</a:t>
              </a:r>
              <a:endParaRPr b="1" sz="14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endParaRPr>
            </a:p>
          </p:txBody>
        </p:sp>
        <p:grpSp>
          <p:nvGrpSpPr>
            <p:cNvPr id="1445" name="Google Shape;1445;p41"/>
            <p:cNvGrpSpPr/>
            <p:nvPr/>
          </p:nvGrpSpPr>
          <p:grpSpPr>
            <a:xfrm>
              <a:off x="228600" y="571500"/>
              <a:ext cx="4876800" cy="1000200"/>
              <a:chOff x="0" y="0"/>
              <a:chExt cx="4876800" cy="1000200"/>
            </a:xfrm>
          </p:grpSpPr>
          <p:sp>
            <p:nvSpPr>
              <p:cNvPr id="1446" name="Google Shape;1446;p41"/>
              <p:cNvSpPr/>
              <p:nvPr/>
            </p:nvSpPr>
            <p:spPr>
              <a:xfrm>
                <a:off x="0" y="0"/>
                <a:ext cx="4876800" cy="1000200"/>
              </a:xfrm>
              <a:prstGeom prst="roundRect">
                <a:avLst>
                  <a:gd fmla="val 7619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7" name="Google Shape;1447;p41"/>
              <p:cNvSpPr txBox="1"/>
              <p:nvPr/>
            </p:nvSpPr>
            <p:spPr>
              <a:xfrm>
                <a:off x="190500" y="142875"/>
                <a:ext cx="4495800" cy="714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400">
                    <a:solidFill>
                      <a:srgbClr val="0F1B2C"/>
                    </a:solidFill>
                    <a:latin typeface="Noto Sans"/>
                    <a:ea typeface="Noto Sans"/>
                    <a:cs typeface="Noto Sans"/>
                    <a:sym typeface="Noto Sans"/>
                  </a:rPr>
                  <a:t>TypeScript</a:t>
                </a:r>
                <a:endParaRPr b="1" sz="1400">
                  <a:solidFill>
                    <a:srgbClr val="0F1B2C"/>
                  </a:solidFill>
                  <a:latin typeface="Noto Sans"/>
                  <a:ea typeface="Noto Sans"/>
                  <a:cs typeface="Noto Sans"/>
                  <a:sym typeface="Noto Sans"/>
                </a:endParaRPr>
              </a:p>
              <a:p>
                <a:pPr indent="0" lvl="0" marL="0" rtl="0" algn="l">
                  <a:spcBef>
                    <a:spcPts val="400"/>
                  </a:spcBef>
                  <a:spcAft>
                    <a:spcPts val="0"/>
                  </a:spcAft>
                  <a:buNone/>
                </a:pPr>
                <a:r>
                  <a:rPr b="0" lang="en-US" sz="1100">
                    <a:solidFill>
                      <a:srgbClr val="475569"/>
                    </a:solidFill>
                    <a:latin typeface="Noto Sans"/>
                    <a:ea typeface="Noto Sans"/>
                    <a:cs typeface="Noto Sans"/>
                    <a:sym typeface="Noto Sans"/>
                  </a:rPr>
                  <a:t>Official reference implementation</a:t>
                </a:r>
                <a:endParaRPr b="1" sz="1100">
                  <a:solidFill>
                    <a:srgbClr val="0F1B2C"/>
                  </a:solidFill>
                  <a:latin typeface="Noto Sans"/>
                  <a:ea typeface="Noto Sans"/>
                  <a:cs typeface="Noto Sans"/>
                  <a:sym typeface="Noto Sans"/>
                </a:endParaRPr>
              </a:p>
            </p:txBody>
          </p:sp>
        </p:grpSp>
        <p:grpSp>
          <p:nvGrpSpPr>
            <p:cNvPr id="1448" name="Google Shape;1448;p41"/>
            <p:cNvGrpSpPr/>
            <p:nvPr/>
          </p:nvGrpSpPr>
          <p:grpSpPr>
            <a:xfrm>
              <a:off x="228600" y="1714500"/>
              <a:ext cx="4876800" cy="1000200"/>
              <a:chOff x="0" y="0"/>
              <a:chExt cx="4876800" cy="1000200"/>
            </a:xfrm>
          </p:grpSpPr>
          <p:sp>
            <p:nvSpPr>
              <p:cNvPr id="1449" name="Google Shape;1449;p41"/>
              <p:cNvSpPr/>
              <p:nvPr/>
            </p:nvSpPr>
            <p:spPr>
              <a:xfrm>
                <a:off x="0" y="0"/>
                <a:ext cx="4876800" cy="1000200"/>
              </a:xfrm>
              <a:prstGeom prst="roundRect">
                <a:avLst>
                  <a:gd fmla="val 7619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0" name="Google Shape;1450;p41"/>
              <p:cNvSpPr txBox="1"/>
              <p:nvPr/>
            </p:nvSpPr>
            <p:spPr>
              <a:xfrm>
                <a:off x="190500" y="142875"/>
                <a:ext cx="4495800" cy="714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400">
                    <a:solidFill>
                      <a:srgbClr val="0F1B2C"/>
                    </a:solidFill>
                    <a:latin typeface="Noto Sans"/>
                    <a:ea typeface="Noto Sans"/>
                    <a:cs typeface="Noto Sans"/>
                    <a:sym typeface="Noto Sans"/>
                  </a:rPr>
                  <a:t>Python</a:t>
                </a:r>
                <a:endParaRPr b="1" sz="1400">
                  <a:solidFill>
                    <a:srgbClr val="0F1B2C"/>
                  </a:solidFill>
                  <a:latin typeface="Noto Sans"/>
                  <a:ea typeface="Noto Sans"/>
                  <a:cs typeface="Noto Sans"/>
                  <a:sym typeface="Noto Sans"/>
                </a:endParaRPr>
              </a:p>
              <a:p>
                <a:pPr indent="0" lvl="0" marL="0" rtl="0" algn="l">
                  <a:spcBef>
                    <a:spcPts val="400"/>
                  </a:spcBef>
                  <a:spcAft>
                    <a:spcPts val="0"/>
                  </a:spcAft>
                  <a:buNone/>
                </a:pPr>
                <a:r>
                  <a:rPr b="0" lang="en-US" sz="1100">
                    <a:solidFill>
                      <a:srgbClr val="475569"/>
                    </a:solidFill>
                    <a:latin typeface="Noto Sans"/>
                    <a:ea typeface="Noto Sans"/>
                    <a:cs typeface="Noto Sans"/>
                    <a:sym typeface="Noto Sans"/>
                  </a:rPr>
                  <a:t>Full-featured client &amp; server</a:t>
                </a:r>
                <a:endParaRPr b="1" sz="1100">
                  <a:solidFill>
                    <a:srgbClr val="0F1B2C"/>
                  </a:solidFill>
                  <a:latin typeface="Noto Sans"/>
                  <a:ea typeface="Noto Sans"/>
                  <a:cs typeface="Noto Sans"/>
                  <a:sym typeface="Noto Sans"/>
                </a:endParaRPr>
              </a:p>
            </p:txBody>
          </p:sp>
        </p:grpSp>
        <p:grpSp>
          <p:nvGrpSpPr>
            <p:cNvPr id="1451" name="Google Shape;1451;p41"/>
            <p:cNvGrpSpPr/>
            <p:nvPr/>
          </p:nvGrpSpPr>
          <p:grpSpPr>
            <a:xfrm>
              <a:off x="228600" y="2857500"/>
              <a:ext cx="4876800" cy="1000200"/>
              <a:chOff x="0" y="0"/>
              <a:chExt cx="4876800" cy="1000200"/>
            </a:xfrm>
          </p:grpSpPr>
          <p:sp>
            <p:nvSpPr>
              <p:cNvPr id="1452" name="Google Shape;1452;p41"/>
              <p:cNvSpPr/>
              <p:nvPr/>
            </p:nvSpPr>
            <p:spPr>
              <a:xfrm>
                <a:off x="0" y="0"/>
                <a:ext cx="4876800" cy="1000200"/>
              </a:xfrm>
              <a:prstGeom prst="roundRect">
                <a:avLst>
                  <a:gd fmla="val 7619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3" name="Google Shape;1453;p41"/>
              <p:cNvSpPr txBox="1"/>
              <p:nvPr/>
            </p:nvSpPr>
            <p:spPr>
              <a:xfrm>
                <a:off x="190500" y="142875"/>
                <a:ext cx="4495800" cy="714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400">
                    <a:solidFill>
                      <a:srgbClr val="0F1B2C"/>
                    </a:solidFill>
                    <a:latin typeface="Noto Sans"/>
                    <a:ea typeface="Noto Sans"/>
                    <a:cs typeface="Noto Sans"/>
                    <a:sym typeface="Noto Sans"/>
                  </a:rPr>
                  <a:t>Rust</a:t>
                </a:r>
                <a:endParaRPr b="1" sz="1400">
                  <a:solidFill>
                    <a:srgbClr val="0F1B2C"/>
                  </a:solidFill>
                  <a:latin typeface="Noto Sans"/>
                  <a:ea typeface="Noto Sans"/>
                  <a:cs typeface="Noto Sans"/>
                  <a:sym typeface="Noto Sans"/>
                </a:endParaRPr>
              </a:p>
              <a:p>
                <a:pPr indent="0" lvl="0" marL="0" rtl="0" algn="l">
                  <a:spcBef>
                    <a:spcPts val="400"/>
                  </a:spcBef>
                  <a:spcAft>
                    <a:spcPts val="0"/>
                  </a:spcAft>
                  <a:buNone/>
                </a:pPr>
                <a:r>
                  <a:rPr b="0" lang="en-US" sz="1100">
                    <a:solidFill>
                      <a:srgbClr val="475569"/>
                    </a:solidFill>
                    <a:latin typeface="Noto Sans"/>
                    <a:ea typeface="Noto Sans"/>
                    <a:cs typeface="Noto Sans"/>
                    <a:sym typeface="Noto Sans"/>
                  </a:rPr>
                  <a:t>High-performance implementation</a:t>
                </a:r>
                <a:endParaRPr b="1" sz="1100">
                  <a:solidFill>
                    <a:srgbClr val="0F1B2C"/>
                  </a:solidFill>
                  <a:latin typeface="Noto Sans"/>
                  <a:ea typeface="Noto Sans"/>
                  <a:cs typeface="Noto Sans"/>
                  <a:sym typeface="Noto Sans"/>
                </a:endParaRPr>
              </a:p>
            </p:txBody>
          </p:sp>
        </p:grpSp>
        <p:grpSp>
          <p:nvGrpSpPr>
            <p:cNvPr id="1454" name="Google Shape;1454;p41"/>
            <p:cNvGrpSpPr/>
            <p:nvPr/>
          </p:nvGrpSpPr>
          <p:grpSpPr>
            <a:xfrm>
              <a:off x="228600" y="4000500"/>
              <a:ext cx="4876800" cy="1000200"/>
              <a:chOff x="0" y="0"/>
              <a:chExt cx="4876800" cy="1000200"/>
            </a:xfrm>
          </p:grpSpPr>
          <p:sp>
            <p:nvSpPr>
              <p:cNvPr id="1455" name="Google Shape;1455;p41"/>
              <p:cNvSpPr/>
              <p:nvPr/>
            </p:nvSpPr>
            <p:spPr>
              <a:xfrm>
                <a:off x="0" y="0"/>
                <a:ext cx="4876800" cy="1000200"/>
              </a:xfrm>
              <a:prstGeom prst="roundRect">
                <a:avLst>
                  <a:gd fmla="val 7619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6" name="Google Shape;1456;p41"/>
              <p:cNvSpPr txBox="1"/>
              <p:nvPr/>
            </p:nvSpPr>
            <p:spPr>
              <a:xfrm>
                <a:off x="190500" y="142875"/>
                <a:ext cx="4495800" cy="714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400">
                    <a:solidFill>
                      <a:srgbClr val="0F1B2C"/>
                    </a:solidFill>
                    <a:latin typeface="Noto Sans"/>
                    <a:ea typeface="Noto Sans"/>
                    <a:cs typeface="Noto Sans"/>
                    <a:sym typeface="Noto Sans"/>
                  </a:rPr>
                  <a:t>Go</a:t>
                </a:r>
                <a:endParaRPr b="1" sz="1400">
                  <a:solidFill>
                    <a:srgbClr val="0F1B2C"/>
                  </a:solidFill>
                  <a:latin typeface="Noto Sans"/>
                  <a:ea typeface="Noto Sans"/>
                  <a:cs typeface="Noto Sans"/>
                  <a:sym typeface="Noto Sans"/>
                </a:endParaRPr>
              </a:p>
              <a:p>
                <a:pPr indent="0" lvl="0" marL="0" rtl="0" algn="l">
                  <a:spcBef>
                    <a:spcPts val="400"/>
                  </a:spcBef>
                  <a:spcAft>
                    <a:spcPts val="0"/>
                  </a:spcAft>
                  <a:buNone/>
                </a:pPr>
                <a:r>
                  <a:rPr b="0" lang="en-US" sz="1100">
                    <a:solidFill>
                      <a:srgbClr val="475569"/>
                    </a:solidFill>
                    <a:latin typeface="Noto Sans"/>
                    <a:ea typeface="Noto Sans"/>
                    <a:cs typeface="Noto Sans"/>
                    <a:sym typeface="Noto Sans"/>
                  </a:rPr>
                  <a:t>Lightweight and efficient</a:t>
                </a:r>
                <a:endParaRPr b="1" sz="1100">
                  <a:solidFill>
                    <a:srgbClr val="0F1B2C"/>
                  </a:solidFill>
                  <a:latin typeface="Noto Sans"/>
                  <a:ea typeface="Noto Sans"/>
                  <a:cs typeface="Noto Sans"/>
                  <a:sym typeface="Noto Sans"/>
                </a:endParaRPr>
              </a:p>
            </p:txBody>
          </p:sp>
        </p:grpSp>
        <p:grpSp>
          <p:nvGrpSpPr>
            <p:cNvPr id="1457" name="Google Shape;1457;p41"/>
            <p:cNvGrpSpPr/>
            <p:nvPr/>
          </p:nvGrpSpPr>
          <p:grpSpPr>
            <a:xfrm>
              <a:off x="228600" y="5143500"/>
              <a:ext cx="4876800" cy="1000200"/>
              <a:chOff x="0" y="0"/>
              <a:chExt cx="4876800" cy="1000200"/>
            </a:xfrm>
          </p:grpSpPr>
          <p:sp>
            <p:nvSpPr>
              <p:cNvPr id="1458" name="Google Shape;1458;p41"/>
              <p:cNvSpPr/>
              <p:nvPr/>
            </p:nvSpPr>
            <p:spPr>
              <a:xfrm>
                <a:off x="0" y="0"/>
                <a:ext cx="4876800" cy="1000200"/>
              </a:xfrm>
              <a:prstGeom prst="roundRect">
                <a:avLst>
                  <a:gd fmla="val 7619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9" name="Google Shape;1459;p41"/>
              <p:cNvSpPr txBox="1"/>
              <p:nvPr/>
            </p:nvSpPr>
            <p:spPr>
              <a:xfrm>
                <a:off x="190500" y="142875"/>
                <a:ext cx="4495800" cy="714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400">
                    <a:solidFill>
                      <a:srgbClr val="0F1B2C"/>
                    </a:solidFill>
                    <a:latin typeface="Noto Sans"/>
                    <a:ea typeface="Noto Sans"/>
                    <a:cs typeface="Noto Sans"/>
                    <a:sym typeface="Noto Sans"/>
                  </a:rPr>
                  <a:t>Java</a:t>
                </a:r>
                <a:endParaRPr b="1" sz="1400">
                  <a:solidFill>
                    <a:srgbClr val="0F1B2C"/>
                  </a:solidFill>
                  <a:latin typeface="Noto Sans"/>
                  <a:ea typeface="Noto Sans"/>
                  <a:cs typeface="Noto Sans"/>
                  <a:sym typeface="Noto Sans"/>
                </a:endParaRPr>
              </a:p>
              <a:p>
                <a:pPr indent="0" lvl="0" marL="0" rtl="0" algn="l">
                  <a:spcBef>
                    <a:spcPts val="400"/>
                  </a:spcBef>
                  <a:spcAft>
                    <a:spcPts val="0"/>
                  </a:spcAft>
                  <a:buNone/>
                </a:pPr>
                <a:r>
                  <a:rPr b="0" lang="en-US" sz="1100">
                    <a:solidFill>
                      <a:srgbClr val="475569"/>
                    </a:solidFill>
                    <a:latin typeface="Noto Sans"/>
                    <a:ea typeface="Noto Sans"/>
                    <a:cs typeface="Noto Sans"/>
                    <a:sym typeface="Noto Sans"/>
                  </a:rPr>
                  <a:t>Enterprise-ready</a:t>
                </a:r>
                <a:endParaRPr b="1" sz="1100">
                  <a:solidFill>
                    <a:srgbClr val="0F1B2C"/>
                  </a:solidFill>
                  <a:latin typeface="Noto Sans"/>
                  <a:ea typeface="Noto Sans"/>
                  <a:cs typeface="Noto Sans"/>
                  <a:sym typeface="Noto Sans"/>
                </a:endParaRPr>
              </a:p>
            </p:txBody>
          </p:sp>
        </p:grpSp>
        <p:grpSp>
          <p:nvGrpSpPr>
            <p:cNvPr id="1460" name="Google Shape;1460;p41"/>
            <p:cNvGrpSpPr/>
            <p:nvPr/>
          </p:nvGrpSpPr>
          <p:grpSpPr>
            <a:xfrm>
              <a:off x="228600" y="6286500"/>
              <a:ext cx="4876800" cy="1000200"/>
              <a:chOff x="0" y="0"/>
              <a:chExt cx="4876800" cy="1000200"/>
            </a:xfrm>
          </p:grpSpPr>
          <p:sp>
            <p:nvSpPr>
              <p:cNvPr id="1461" name="Google Shape;1461;p41"/>
              <p:cNvSpPr/>
              <p:nvPr/>
            </p:nvSpPr>
            <p:spPr>
              <a:xfrm>
                <a:off x="0" y="0"/>
                <a:ext cx="4876800" cy="1000200"/>
              </a:xfrm>
              <a:prstGeom prst="roundRect">
                <a:avLst>
                  <a:gd fmla="val 7619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2" name="Google Shape;1462;p41"/>
              <p:cNvSpPr txBox="1"/>
              <p:nvPr/>
            </p:nvSpPr>
            <p:spPr>
              <a:xfrm>
                <a:off x="190500" y="142875"/>
                <a:ext cx="4495800" cy="714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400">
                    <a:solidFill>
                      <a:srgbClr val="0F1B2C"/>
                    </a:solidFill>
                    <a:latin typeface="Noto Sans"/>
                    <a:ea typeface="Noto Sans"/>
                    <a:cs typeface="Noto Sans"/>
                    <a:sym typeface="Noto Sans"/>
                  </a:rPr>
                  <a:t>C#</a:t>
                </a:r>
                <a:endParaRPr b="1" sz="1400">
                  <a:solidFill>
                    <a:srgbClr val="0F1B2C"/>
                  </a:solidFill>
                  <a:latin typeface="Noto Sans"/>
                  <a:ea typeface="Noto Sans"/>
                  <a:cs typeface="Noto Sans"/>
                  <a:sym typeface="Noto Sans"/>
                </a:endParaRPr>
              </a:p>
              <a:p>
                <a:pPr indent="0" lvl="0" marL="0" rtl="0" algn="l">
                  <a:spcBef>
                    <a:spcPts val="400"/>
                  </a:spcBef>
                  <a:spcAft>
                    <a:spcPts val="0"/>
                  </a:spcAft>
                  <a:buNone/>
                </a:pPr>
                <a:r>
                  <a:rPr b="0" lang="en-US" sz="1100">
                    <a:solidFill>
                      <a:srgbClr val="475569"/>
                    </a:solidFill>
                    <a:latin typeface="Noto Sans"/>
                    <a:ea typeface="Noto Sans"/>
                    <a:cs typeface="Noto Sans"/>
                    <a:sym typeface="Noto Sans"/>
                  </a:rPr>
                  <a:t>.NET integration</a:t>
                </a:r>
                <a:endParaRPr b="1" sz="1100">
                  <a:solidFill>
                    <a:srgbClr val="0F1B2C"/>
                  </a:solidFill>
                  <a:latin typeface="Noto Sans"/>
                  <a:ea typeface="Noto Sans"/>
                  <a:cs typeface="Noto Sans"/>
                  <a:sym typeface="Noto Sans"/>
                </a:endParaRPr>
              </a:p>
            </p:txBody>
          </p:sp>
        </p:grpSp>
      </p:grpSp>
      <p:grpSp>
        <p:nvGrpSpPr>
          <p:cNvPr id="1463" name="Google Shape;1463;p41"/>
          <p:cNvGrpSpPr/>
          <p:nvPr/>
        </p:nvGrpSpPr>
        <p:grpSpPr>
          <a:xfrm>
            <a:off x="11525250" y="1333500"/>
            <a:ext cx="6191400" cy="8001000"/>
            <a:chOff x="0" y="0"/>
            <a:chExt cx="6191400" cy="8001000"/>
          </a:xfrm>
        </p:grpSpPr>
        <p:sp>
          <p:nvSpPr>
            <p:cNvPr id="1464" name="Google Shape;1464;p41"/>
            <p:cNvSpPr/>
            <p:nvPr/>
          </p:nvSpPr>
          <p:spPr>
            <a:xfrm>
              <a:off x="0" y="0"/>
              <a:ext cx="6191400" cy="8001000"/>
            </a:xfrm>
            <a:prstGeom prst="roundRect">
              <a:avLst>
                <a:gd fmla="val 1538" name="adj"/>
              </a:avLst>
            </a:prstGeom>
            <a:solidFill>
              <a:srgbClr val="0F172A"/>
            </a:solidFill>
            <a:ln cap="flat" cmpd="sng" w="14300">
              <a:solidFill>
                <a:srgbClr val="1E29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5" name="Google Shape;1465;p41"/>
            <p:cNvSpPr/>
            <p:nvPr/>
          </p:nvSpPr>
          <p:spPr>
            <a:xfrm>
              <a:off x="0" y="0"/>
              <a:ext cx="6191400" cy="342900"/>
            </a:xfrm>
            <a:custGeom>
              <a:rect b="b" l="l" r="r" t="t"/>
              <a:pathLst>
                <a:path extrusionOk="0" h="120000" w="120000">
                  <a:moveTo>
                    <a:pt x="0" y="33333"/>
                  </a:moveTo>
                  <a:cubicBezTo>
                    <a:pt x="0" y="14933"/>
                    <a:pt x="827" y="0"/>
                    <a:pt x="1846" y="0"/>
                  </a:cubicBezTo>
                  <a:lnTo>
                    <a:pt x="118154" y="0"/>
                  </a:lnTo>
                  <a:cubicBezTo>
                    <a:pt x="119173" y="0"/>
                    <a:pt x="120000" y="14933"/>
                    <a:pt x="120000" y="33333"/>
                  </a:cubicBezTo>
                  <a:lnTo>
                    <a:pt x="12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6" name="Google Shape;1466;p41"/>
            <p:cNvSpPr/>
            <p:nvPr/>
          </p:nvSpPr>
          <p:spPr>
            <a:xfrm>
              <a:off x="142875" y="123825"/>
              <a:ext cx="95400" cy="95400"/>
            </a:xfrm>
            <a:prstGeom prst="ellipse">
              <a:avLst/>
            </a:prstGeom>
            <a:solidFill>
              <a:srgbClr val="EF44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7" name="Google Shape;1467;p41"/>
            <p:cNvSpPr/>
            <p:nvPr/>
          </p:nvSpPr>
          <p:spPr>
            <a:xfrm>
              <a:off x="295275" y="123825"/>
              <a:ext cx="95400" cy="95400"/>
            </a:xfrm>
            <a:prstGeom prst="ellipse">
              <a:avLst/>
            </a:prstGeom>
            <a:solidFill>
              <a:srgbClr val="F59E0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8" name="Google Shape;1468;p41"/>
            <p:cNvSpPr/>
            <p:nvPr/>
          </p:nvSpPr>
          <p:spPr>
            <a:xfrm>
              <a:off x="447675" y="123825"/>
              <a:ext cx="95400" cy="95400"/>
            </a:xfrm>
            <a:prstGeom prst="ellipse">
              <a:avLst/>
            </a:prstGeom>
            <a:solidFill>
              <a:srgbClr val="10B98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9" name="Google Shape;1469;p41"/>
            <p:cNvSpPr txBox="1"/>
            <p:nvPr/>
          </p:nvSpPr>
          <p:spPr>
            <a:xfrm>
              <a:off x="762000" y="0"/>
              <a:ext cx="46674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94A3B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client_example.py</a:t>
              </a:r>
              <a:endParaRPr b="0" sz="1100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1470" name="Google Shape;1470;p41"/>
            <p:cNvSpPr/>
            <p:nvPr/>
          </p:nvSpPr>
          <p:spPr>
            <a:xfrm>
              <a:off x="152400" y="495300"/>
              <a:ext cx="5886600" cy="7353300"/>
            </a:xfrm>
            <a:prstGeom prst="roundRect">
              <a:avLst>
                <a:gd fmla="val 970" name="adj"/>
              </a:avLst>
            </a:prstGeom>
            <a:solidFill>
              <a:srgbClr val="162235"/>
            </a:solidFill>
            <a:ln cap="flat" cmpd="sng" w="9525">
              <a:solidFill>
                <a:srgbClr val="1E2D4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1" name="Google Shape;1471;p41"/>
            <p:cNvSpPr txBox="1"/>
            <p:nvPr/>
          </p:nvSpPr>
          <p:spPr>
            <a:xfrm>
              <a:off x="304800" y="647700"/>
              <a:ext cx="5581800" cy="704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50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# Client SDK Example (Python)</a:t>
              </a:r>
              <a:endParaRPr b="1" sz="115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1150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# In-memory server (ideal for testing)</a:t>
              </a:r>
              <a:endParaRPr b="1" sz="115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115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server = </a:t>
              </a:r>
              <a:r>
                <a:rPr b="1" lang="en-US" sz="1150">
                  <a:solidFill>
                    <a:srgbClr val="93C5FD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FastMCP</a:t>
              </a:r>
              <a:r>
                <a:rPr b="1" lang="en-US" sz="115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(</a:t>
              </a:r>
              <a:r>
                <a:rPr b="1" lang="en-US" sz="1150">
                  <a:solidFill>
                    <a:srgbClr val="34D39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"TestServer"</a:t>
              </a:r>
              <a:r>
                <a:rPr b="1" lang="en-US" sz="115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)</a:t>
              </a:r>
              <a:endParaRPr b="1" sz="115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115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client = </a:t>
              </a:r>
              <a:r>
                <a:rPr b="1" lang="en-US" sz="1150">
                  <a:solidFill>
                    <a:srgbClr val="93C5FD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Client</a:t>
              </a:r>
              <a:r>
                <a:rPr b="1" lang="en-US" sz="115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(server)</a:t>
              </a:r>
              <a:endParaRPr b="1" sz="115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-US" sz="1150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# HTTP server</a:t>
              </a:r>
              <a:endParaRPr b="1" sz="115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115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client = </a:t>
              </a:r>
              <a:r>
                <a:rPr b="1" lang="en-US" sz="1150">
                  <a:solidFill>
                    <a:srgbClr val="93C5FD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Client</a:t>
              </a:r>
              <a:r>
                <a:rPr b="1" lang="en-US" sz="115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(</a:t>
              </a:r>
              <a:r>
                <a:rPr b="1" lang="en-US" sz="1150">
                  <a:solidFill>
                    <a:srgbClr val="34D39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"[link removed]"</a:t>
              </a:r>
              <a:r>
                <a:rPr b="1" lang="en-US" sz="115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)</a:t>
              </a:r>
              <a:endParaRPr b="1" sz="115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-US" sz="1150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# Local Python script</a:t>
              </a:r>
              <a:endParaRPr b="1" sz="115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115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client = </a:t>
              </a:r>
              <a:r>
                <a:rPr b="1" lang="en-US" sz="1150">
                  <a:solidFill>
                    <a:srgbClr val="93C5FD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Client</a:t>
              </a:r>
              <a:r>
                <a:rPr b="1" lang="en-US" sz="115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(</a:t>
              </a:r>
              <a:r>
                <a:rPr b="1" lang="en-US" sz="1150">
                  <a:solidFill>
                    <a:srgbClr val="34D39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"my_mcp_server.py"</a:t>
              </a:r>
              <a:r>
                <a:rPr b="1" lang="en-US" sz="115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)</a:t>
              </a:r>
              <a:endParaRPr b="1" sz="115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1400"/>
                </a:spcBef>
                <a:spcAft>
                  <a:spcPts val="0"/>
                </a:spcAft>
                <a:buNone/>
              </a:pPr>
              <a:r>
                <a:rPr b="1" lang="en-US" sz="1150">
                  <a:solidFill>
                    <a:srgbClr val="38BDF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async def</a:t>
              </a:r>
              <a:r>
                <a:rPr b="1" lang="en-US" sz="1150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b="1" lang="en-US" sz="1150">
                  <a:solidFill>
                    <a:srgbClr val="93C5FD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main</a:t>
              </a:r>
              <a:r>
                <a:rPr b="1" lang="en-US" sz="115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():</a:t>
              </a:r>
              <a:endParaRPr b="1" sz="115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203200" marR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1150">
                  <a:solidFill>
                    <a:srgbClr val="38BDF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async with</a:t>
              </a:r>
              <a:r>
                <a:rPr b="1" lang="en-US" sz="1150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b="1" lang="en-US" sz="115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client:</a:t>
              </a:r>
              <a:endParaRPr b="1" sz="115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406400" marR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1150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# List available operations</a:t>
              </a:r>
              <a:endParaRPr b="1" sz="115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406400" marR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115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tools = </a:t>
              </a:r>
              <a:r>
                <a:rPr b="1" lang="en-US" sz="1150">
                  <a:solidFill>
                    <a:srgbClr val="38BDF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await</a:t>
              </a:r>
              <a:r>
                <a:rPr b="1" lang="en-US" sz="1150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b="1" lang="en-US" sz="115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client.</a:t>
              </a:r>
              <a:r>
                <a:rPr b="1" lang="en-US" sz="1150">
                  <a:solidFill>
                    <a:srgbClr val="93C5FD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list_tools</a:t>
              </a:r>
              <a:r>
                <a:rPr b="1" lang="en-US" sz="115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()</a:t>
              </a:r>
              <a:endParaRPr b="1" sz="115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406400" marR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115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resources = </a:t>
              </a:r>
              <a:r>
                <a:rPr b="1" lang="en-US" sz="1150">
                  <a:solidFill>
                    <a:srgbClr val="38BDF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await</a:t>
              </a:r>
              <a:r>
                <a:rPr b="1" lang="en-US" sz="1150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b="1" lang="en-US" sz="115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client.</a:t>
              </a:r>
              <a:r>
                <a:rPr b="1" lang="en-US" sz="1150">
                  <a:solidFill>
                    <a:srgbClr val="93C5FD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list_resources</a:t>
              </a:r>
              <a:r>
                <a:rPr b="1" lang="en-US" sz="115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()</a:t>
              </a:r>
              <a:endParaRPr b="1" sz="115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406400" marR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115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prompts = </a:t>
              </a:r>
              <a:r>
                <a:rPr b="1" lang="en-US" sz="1150">
                  <a:solidFill>
                    <a:srgbClr val="38BDF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await</a:t>
              </a:r>
              <a:r>
                <a:rPr b="1" lang="en-US" sz="1150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b="1" lang="en-US" sz="115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client.</a:t>
              </a:r>
              <a:r>
                <a:rPr b="1" lang="en-US" sz="1150">
                  <a:solidFill>
                    <a:srgbClr val="93C5FD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list_prompts</a:t>
              </a:r>
              <a:r>
                <a:rPr b="1" lang="en-US" sz="115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()</a:t>
              </a:r>
              <a:endParaRPr b="1" sz="115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406400" marR="0" rtl="0" algn="l">
                <a:spcBef>
                  <a:spcPts val="1000"/>
                </a:spcBef>
                <a:spcAft>
                  <a:spcPts val="0"/>
                </a:spcAft>
                <a:buNone/>
              </a:pPr>
              <a:r>
                <a:rPr b="1" lang="en-US" sz="1150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# Execute operations</a:t>
              </a:r>
              <a:endParaRPr b="1" sz="115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406400" marR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115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result = </a:t>
              </a:r>
              <a:r>
                <a:rPr b="1" lang="en-US" sz="1150">
                  <a:solidFill>
                    <a:srgbClr val="38BDF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await</a:t>
              </a:r>
              <a:r>
                <a:rPr b="1" lang="en-US" sz="1150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b="1" lang="en-US" sz="115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client.</a:t>
              </a:r>
              <a:r>
                <a:rPr b="1" lang="en-US" sz="1150">
                  <a:solidFill>
                    <a:srgbClr val="93C5FD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call_tool</a:t>
              </a:r>
              <a:r>
                <a:rPr b="1" lang="en-US" sz="115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(</a:t>
              </a:r>
              <a:r>
                <a:rPr b="1" lang="en-US" sz="1150">
                  <a:solidFill>
                    <a:srgbClr val="34D39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"example_tool"</a:t>
              </a:r>
              <a:r>
                <a:rPr b="1" lang="en-US" sz="115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, {</a:t>
              </a:r>
              <a:r>
                <a:rPr b="1" lang="en-US" sz="1150">
                  <a:solidFill>
                    <a:srgbClr val="34D39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"param"</a:t>
              </a:r>
              <a:r>
                <a:rPr b="1" lang="en-US" sz="115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: </a:t>
              </a:r>
              <a:r>
                <a:rPr b="1" lang="en-US" sz="1150">
                  <a:solidFill>
                    <a:srgbClr val="34D39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"value"</a:t>
              </a:r>
              <a:r>
                <a:rPr b="1" lang="en-US" sz="115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})</a:t>
              </a:r>
              <a:endParaRPr b="1" sz="115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406400" marR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1150">
                  <a:solidFill>
                    <a:srgbClr val="38BDF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print</a:t>
              </a:r>
              <a:r>
                <a:rPr b="1" lang="en-US" sz="115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(result)</a:t>
              </a:r>
              <a:endParaRPr b="1" sz="115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grpSp>
        <p:nvGrpSpPr>
          <p:cNvPr id="1472" name="Google Shape;1472;p41"/>
          <p:cNvGrpSpPr/>
          <p:nvPr/>
        </p:nvGrpSpPr>
        <p:grpSpPr>
          <a:xfrm>
            <a:off x="0" y="9715500"/>
            <a:ext cx="18288000" cy="457350"/>
            <a:chOff x="0" y="0"/>
            <a:chExt cx="18288000" cy="457350"/>
          </a:xfrm>
        </p:grpSpPr>
        <p:cxnSp>
          <p:nvCxnSpPr>
            <p:cNvPr id="1473" name="Google Shape;1473;p41"/>
            <p:cNvCxnSpPr/>
            <p:nvPr/>
          </p:nvCxnSpPr>
          <p:spPr>
            <a:xfrm>
              <a:off x="0" y="0"/>
              <a:ext cx="182880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474" name="Google Shape;1474;p41"/>
            <p:cNvSpPr txBox="1"/>
            <p:nvPr/>
          </p:nvSpPr>
          <p:spPr>
            <a:xfrm>
              <a:off x="666750" y="171450"/>
              <a:ext cx="3810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64748B"/>
                  </a:solidFill>
                  <a:latin typeface="Roboto"/>
                  <a:ea typeface="Roboto"/>
                  <a:cs typeface="Roboto"/>
                  <a:sym typeface="Roboto"/>
                </a:rPr>
                <a:t>Criterion Proprietary &amp; Confidential</a:t>
              </a:r>
              <a:endParaRPr b="0" sz="1100">
                <a:solidFill>
                  <a:srgbClr val="64748B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8" name="Shape 1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79" name="Google Shape;1479;p42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sp>
          <p:nvSpPr>
            <p:cNvPr id="1480" name="Google Shape;1480;p42"/>
            <p:cNvSpPr/>
            <p:nvPr/>
          </p:nvSpPr>
          <p:spPr>
            <a:xfrm>
              <a:off x="0" y="0"/>
              <a:ext cx="18288000" cy="10287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1" name="Google Shape;1481;p42"/>
            <p:cNvSpPr/>
            <p:nvPr/>
          </p:nvSpPr>
          <p:spPr>
            <a:xfrm>
              <a:off x="0" y="0"/>
              <a:ext cx="4953000" cy="10287000"/>
            </a:xfrm>
            <a:prstGeom prst="rect">
              <a:avLst/>
            </a:prstGeom>
            <a:solidFill>
              <a:srgbClr val="0F172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482" name="Google Shape;1482;p42"/>
            <p:cNvCxnSpPr/>
            <p:nvPr/>
          </p:nvCxnSpPr>
          <p:spPr>
            <a:xfrm>
              <a:off x="4953000" y="0"/>
              <a:ext cx="0" cy="10287000"/>
            </a:xfrm>
            <a:prstGeom prst="straightConnector1">
              <a:avLst/>
            </a:prstGeom>
            <a:solidFill>
              <a:srgbClr val="FFFFFF"/>
            </a:solidFill>
            <a:ln cap="flat" cmpd="sng" w="19050">
              <a:solidFill>
                <a:srgbClr val="1E293B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483" name="Google Shape;1483;p42"/>
            <p:cNvSpPr txBox="1"/>
            <p:nvPr/>
          </p:nvSpPr>
          <p:spPr>
            <a:xfrm>
              <a:off x="571500" y="2476500"/>
              <a:ext cx="3810000" cy="476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00AEEF"/>
                  </a:solidFill>
                  <a:latin typeface="Roboto"/>
                  <a:ea typeface="Roboto"/>
                  <a:cs typeface="Roboto"/>
                  <a:sym typeface="Roboto"/>
                </a:rPr>
                <a:t>PROTOCOL ROADMAP</a:t>
              </a:r>
              <a:endParaRPr b="1" sz="1200">
                <a:solidFill>
                  <a:srgbClr val="00AEE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-US" sz="42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Protocol</a:t>
              </a:r>
              <a:endParaRPr b="1" sz="4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1" lang="en-US" sz="4200">
                  <a:solidFill>
                    <a:srgbClr val="00AEEF"/>
                  </a:solidFill>
                  <a:latin typeface="Roboto"/>
                  <a:ea typeface="Roboto"/>
                  <a:cs typeface="Roboto"/>
                  <a:sym typeface="Roboto"/>
                </a:rPr>
                <a:t>Extensions &amp;</a:t>
              </a:r>
              <a:endParaRPr b="1" sz="4200">
                <a:solidFill>
                  <a:srgbClr val="00AEE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4200">
                  <a:solidFill>
                    <a:srgbClr val="00AEEF"/>
                  </a:solidFill>
                  <a:latin typeface="Roboto"/>
                  <a:ea typeface="Roboto"/>
                  <a:cs typeface="Roboto"/>
                  <a:sym typeface="Roboto"/>
                </a:rPr>
                <a:t>Future Roadmap</a:t>
              </a:r>
              <a:endParaRPr b="1" sz="4200">
                <a:solidFill>
                  <a:srgbClr val="00AEE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2000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94A3B8"/>
                  </a:solidFill>
                  <a:latin typeface="Roboto"/>
                  <a:ea typeface="Roboto"/>
                  <a:cs typeface="Roboto"/>
                  <a:sym typeface="Roboto"/>
                </a:rPr>
                <a:t>Extensible architecture built for modular capabilities, custom vendor features, and seamless backward compatibility.</a:t>
              </a:r>
              <a:endParaRPr b="0" sz="1300">
                <a:solidFill>
                  <a:srgbClr val="94A3B8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484" name="Google Shape;1484;p42"/>
            <p:cNvSpPr txBox="1"/>
            <p:nvPr/>
          </p:nvSpPr>
          <p:spPr>
            <a:xfrm>
              <a:off x="5524500" y="428625"/>
              <a:ext cx="12192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800">
                  <a:solidFill>
                    <a:srgbClr val="0F1B2C"/>
                  </a:solidFill>
                  <a:latin typeface="Roboto"/>
                  <a:ea typeface="Roboto"/>
                  <a:cs typeface="Roboto"/>
                  <a:sym typeface="Roboto"/>
                </a:rPr>
                <a:t>Protocol Extensions &amp; Future Roadmap</a:t>
              </a:r>
              <a:endParaRPr b="1" sz="2800">
                <a:solidFill>
                  <a:srgbClr val="0F1B2C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00AEEF"/>
                  </a:solidFill>
                  <a:latin typeface="Roboto"/>
                  <a:ea typeface="Roboto"/>
                  <a:cs typeface="Roboto"/>
                  <a:sym typeface="Roboto"/>
                </a:rPr>
                <a:t>Extensibility Architecture &amp; Planned Features</a:t>
              </a:r>
              <a:endParaRPr b="1" sz="1300">
                <a:solidFill>
                  <a:srgbClr val="00AEE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1485" name="Google Shape;1485;p42"/>
            <p:cNvGrpSpPr/>
            <p:nvPr/>
          </p:nvGrpSpPr>
          <p:grpSpPr>
            <a:xfrm>
              <a:off x="5524500" y="1333500"/>
              <a:ext cx="12192000" cy="2952900"/>
              <a:chOff x="0" y="0"/>
              <a:chExt cx="12192000" cy="2952900"/>
            </a:xfrm>
          </p:grpSpPr>
          <p:sp>
            <p:nvSpPr>
              <p:cNvPr id="1486" name="Google Shape;1486;p42"/>
              <p:cNvSpPr/>
              <p:nvPr/>
            </p:nvSpPr>
            <p:spPr>
              <a:xfrm>
                <a:off x="0" y="0"/>
                <a:ext cx="12192000" cy="2952900"/>
              </a:xfrm>
              <a:prstGeom prst="roundRect">
                <a:avLst>
                  <a:gd fmla="val 3225" name="adj"/>
                </a:avLst>
              </a:prstGeom>
              <a:solidFill>
                <a:srgbClr val="F8FAFC"/>
              </a:solidFill>
              <a:ln cap="flat" cmpd="sng" w="14300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7" name="Google Shape;1487;p42"/>
              <p:cNvSpPr/>
              <p:nvPr/>
            </p:nvSpPr>
            <p:spPr>
              <a:xfrm>
                <a:off x="0" y="0"/>
                <a:ext cx="12192000" cy="419100"/>
              </a:xfrm>
              <a:custGeom>
                <a:rect b="b" l="l" r="r" t="t"/>
                <a:pathLst>
                  <a:path extrusionOk="0" h="120000" w="120000">
                    <a:moveTo>
                      <a:pt x="0" y="27273"/>
                    </a:moveTo>
                    <a:cubicBezTo>
                      <a:pt x="0" y="12273"/>
                      <a:pt x="422" y="0"/>
                      <a:pt x="938" y="0"/>
                    </a:cubicBezTo>
                    <a:lnTo>
                      <a:pt x="119063" y="0"/>
                    </a:lnTo>
                    <a:cubicBezTo>
                      <a:pt x="119578" y="0"/>
                      <a:pt x="120000" y="12273"/>
                      <a:pt x="120000" y="27273"/>
                    </a:cubicBezTo>
                    <a:lnTo>
                      <a:pt x="120000" y="120000"/>
                    </a:lnTo>
                    <a:lnTo>
                      <a:pt x="0" y="120000"/>
                    </a:lnTo>
                    <a:close/>
                  </a:path>
                </a:pathLst>
              </a:custGeom>
              <a:solidFill>
                <a:srgbClr val="00AEE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8" name="Google Shape;1488;p42"/>
              <p:cNvSpPr txBox="1"/>
              <p:nvPr/>
            </p:nvSpPr>
            <p:spPr>
              <a:xfrm>
                <a:off x="228600" y="0"/>
                <a:ext cx="11734800" cy="41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300">
                    <a:solidFill>
                      <a:srgbClr val="FFFFFF"/>
                    </a:solidFill>
                    <a:latin typeface="Noto Sans"/>
                    <a:ea typeface="Noto Sans"/>
                    <a:cs typeface="Noto Sans"/>
                    <a:sym typeface="Noto Sans"/>
                  </a:rPr>
                  <a:t>Extension Mechanisms</a:t>
                </a:r>
                <a:endParaRPr b="1" sz="1300">
                  <a:solidFill>
                    <a:srgbClr val="FFFFFF"/>
                  </a:solidFill>
                  <a:latin typeface="Noto Sans"/>
                  <a:ea typeface="Noto Sans"/>
                  <a:cs typeface="Noto Sans"/>
                  <a:sym typeface="Noto Sans"/>
                </a:endParaRPr>
              </a:p>
            </p:txBody>
          </p:sp>
          <p:grpSp>
            <p:nvGrpSpPr>
              <p:cNvPr id="1489" name="Google Shape;1489;p42"/>
              <p:cNvGrpSpPr/>
              <p:nvPr/>
            </p:nvGrpSpPr>
            <p:grpSpPr>
              <a:xfrm>
                <a:off x="228600" y="571500"/>
                <a:ext cx="3733800" cy="2143200"/>
                <a:chOff x="0" y="0"/>
                <a:chExt cx="3733800" cy="2143200"/>
              </a:xfrm>
            </p:grpSpPr>
            <p:sp>
              <p:nvSpPr>
                <p:cNvPr id="1490" name="Google Shape;1490;p42"/>
                <p:cNvSpPr/>
                <p:nvPr/>
              </p:nvSpPr>
              <p:spPr>
                <a:xfrm>
                  <a:off x="0" y="0"/>
                  <a:ext cx="3733800" cy="2143200"/>
                </a:xfrm>
                <a:prstGeom prst="roundRect">
                  <a:avLst>
                    <a:gd fmla="val 3555" name="adj"/>
                  </a:avLst>
                </a:prstGeom>
                <a:solidFill>
                  <a:srgbClr val="FFFFFF"/>
                </a:solidFill>
                <a:ln cap="flat" cmpd="sng" w="9525">
                  <a:solidFill>
                    <a:srgbClr val="E2E8F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91" name="Google Shape;1491;p42"/>
                <p:cNvSpPr txBox="1"/>
                <p:nvPr/>
              </p:nvSpPr>
              <p:spPr>
                <a:xfrm>
                  <a:off x="190500" y="190500"/>
                  <a:ext cx="3352800" cy="17622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-US" sz="1500">
                      <a:solidFill>
                        <a:srgbClr val="0F1B2C"/>
                      </a:solidFill>
                      <a:latin typeface="Noto Sans"/>
                      <a:ea typeface="Noto Sans"/>
                      <a:cs typeface="Noto Sans"/>
                      <a:sym typeface="Noto Sans"/>
                    </a:rPr>
                    <a:t>Capability Discovery</a:t>
                  </a:r>
                  <a:endParaRPr b="1" sz="1500">
                    <a:solidFill>
                      <a:srgbClr val="0F1B2C"/>
                    </a:solidFill>
                    <a:latin typeface="Noto Sans"/>
                    <a:ea typeface="Noto Sans"/>
                    <a:cs typeface="Noto Sans"/>
                    <a:sym typeface="Noto Sans"/>
                  </a:endParaRPr>
                </a:p>
                <a:p>
                  <a:pPr indent="0" lvl="0" marL="0" rtl="0" algn="l">
                    <a:spcBef>
                      <a:spcPts val="800"/>
                    </a:spcBef>
                    <a:spcAft>
                      <a:spcPts val="0"/>
                    </a:spcAft>
                    <a:buNone/>
                  </a:pPr>
                  <a:r>
                    <a:rPr b="0" lang="en-US" sz="1150">
                      <a:solidFill>
                        <a:srgbClr val="475569"/>
                      </a:solidFill>
                      <a:latin typeface="Noto Sans"/>
                      <a:ea typeface="Noto Sans"/>
                      <a:cs typeface="Noto Sans"/>
                      <a:sym typeface="Noto Sans"/>
                    </a:rPr>
                    <a:t>Clients can query server capabilities dynamically to discover supported features.</a:t>
                  </a:r>
                  <a:endParaRPr b="0" sz="1150">
                    <a:solidFill>
                      <a:srgbClr val="475569"/>
                    </a:solidFill>
                    <a:latin typeface="Noto Sans"/>
                    <a:ea typeface="Noto Sans"/>
                    <a:cs typeface="Noto Sans"/>
                    <a:sym typeface="Noto Sans"/>
                  </a:endParaRPr>
                </a:p>
              </p:txBody>
            </p:sp>
          </p:grpSp>
          <p:grpSp>
            <p:nvGrpSpPr>
              <p:cNvPr id="1492" name="Google Shape;1492;p42"/>
              <p:cNvGrpSpPr/>
              <p:nvPr/>
            </p:nvGrpSpPr>
            <p:grpSpPr>
              <a:xfrm>
                <a:off x="4229100" y="571500"/>
                <a:ext cx="3733800" cy="2143200"/>
                <a:chOff x="0" y="0"/>
                <a:chExt cx="3733800" cy="2143200"/>
              </a:xfrm>
            </p:grpSpPr>
            <p:sp>
              <p:nvSpPr>
                <p:cNvPr id="1493" name="Google Shape;1493;p42"/>
                <p:cNvSpPr/>
                <p:nvPr/>
              </p:nvSpPr>
              <p:spPr>
                <a:xfrm>
                  <a:off x="0" y="0"/>
                  <a:ext cx="3733800" cy="2143200"/>
                </a:xfrm>
                <a:prstGeom prst="roundRect">
                  <a:avLst>
                    <a:gd fmla="val 3555" name="adj"/>
                  </a:avLst>
                </a:prstGeom>
                <a:solidFill>
                  <a:srgbClr val="FFFFFF"/>
                </a:solidFill>
                <a:ln cap="flat" cmpd="sng" w="9525">
                  <a:solidFill>
                    <a:srgbClr val="E2E8F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94" name="Google Shape;1494;p42"/>
                <p:cNvSpPr txBox="1"/>
                <p:nvPr/>
              </p:nvSpPr>
              <p:spPr>
                <a:xfrm>
                  <a:off x="190500" y="190500"/>
                  <a:ext cx="3352800" cy="17622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-US" sz="1500">
                      <a:solidFill>
                        <a:srgbClr val="0F1B2C"/>
                      </a:solidFill>
                      <a:latin typeface="Noto Sans"/>
                      <a:ea typeface="Noto Sans"/>
                      <a:cs typeface="Noto Sans"/>
                      <a:sym typeface="Noto Sans"/>
                    </a:rPr>
                    <a:t>Custom Methods</a:t>
                  </a:r>
                  <a:endParaRPr b="1" sz="1500">
                    <a:solidFill>
                      <a:srgbClr val="0F1B2C"/>
                    </a:solidFill>
                    <a:latin typeface="Noto Sans"/>
                    <a:ea typeface="Noto Sans"/>
                    <a:cs typeface="Noto Sans"/>
                    <a:sym typeface="Noto Sans"/>
                  </a:endParaRPr>
                </a:p>
                <a:p>
                  <a:pPr indent="0" lvl="0" marL="0" rtl="0" algn="l">
                    <a:spcBef>
                      <a:spcPts val="800"/>
                    </a:spcBef>
                    <a:spcAft>
                      <a:spcPts val="0"/>
                    </a:spcAft>
                    <a:buNone/>
                  </a:pPr>
                  <a:r>
                    <a:rPr b="0" lang="en-US" sz="1150">
                      <a:solidFill>
                        <a:srgbClr val="475569"/>
                      </a:solidFill>
                      <a:latin typeface="Noto Sans"/>
                      <a:ea typeface="Noto Sans"/>
                      <a:cs typeface="Noto Sans"/>
                      <a:sym typeface="Noto Sans"/>
                    </a:rPr>
                    <a:t>Servers can implement vendor-specific extensions using custom method namespaces.</a:t>
                  </a:r>
                  <a:endParaRPr b="0" sz="1150">
                    <a:solidFill>
                      <a:srgbClr val="475569"/>
                    </a:solidFill>
                    <a:latin typeface="Noto Sans"/>
                    <a:ea typeface="Noto Sans"/>
                    <a:cs typeface="Noto Sans"/>
                    <a:sym typeface="Noto Sans"/>
                  </a:endParaRPr>
                </a:p>
              </p:txBody>
            </p:sp>
          </p:grpSp>
          <p:grpSp>
            <p:nvGrpSpPr>
              <p:cNvPr id="1495" name="Google Shape;1495;p42"/>
              <p:cNvGrpSpPr/>
              <p:nvPr/>
            </p:nvGrpSpPr>
            <p:grpSpPr>
              <a:xfrm>
                <a:off x="8229600" y="571500"/>
                <a:ext cx="3733800" cy="2143200"/>
                <a:chOff x="0" y="0"/>
                <a:chExt cx="3733800" cy="2143200"/>
              </a:xfrm>
            </p:grpSpPr>
            <p:sp>
              <p:nvSpPr>
                <p:cNvPr id="1496" name="Google Shape;1496;p42"/>
                <p:cNvSpPr/>
                <p:nvPr/>
              </p:nvSpPr>
              <p:spPr>
                <a:xfrm>
                  <a:off x="0" y="0"/>
                  <a:ext cx="3733800" cy="2143200"/>
                </a:xfrm>
                <a:prstGeom prst="roundRect">
                  <a:avLst>
                    <a:gd fmla="val 3555" name="adj"/>
                  </a:avLst>
                </a:prstGeom>
                <a:solidFill>
                  <a:srgbClr val="FFFFFF"/>
                </a:solidFill>
                <a:ln cap="flat" cmpd="sng" w="9525">
                  <a:solidFill>
                    <a:srgbClr val="E2E8F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97" name="Google Shape;1497;p42"/>
                <p:cNvSpPr txBox="1"/>
                <p:nvPr/>
              </p:nvSpPr>
              <p:spPr>
                <a:xfrm>
                  <a:off x="190500" y="190500"/>
                  <a:ext cx="3352800" cy="17622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-US" sz="1500">
                      <a:solidFill>
                        <a:srgbClr val="0F1B2C"/>
                      </a:solidFill>
                      <a:latin typeface="Noto Sans"/>
                      <a:ea typeface="Noto Sans"/>
                      <a:cs typeface="Noto Sans"/>
                      <a:sym typeface="Noto Sans"/>
                    </a:rPr>
                    <a:t>Protocol Versioning</a:t>
                  </a:r>
                  <a:endParaRPr b="1" sz="1500">
                    <a:solidFill>
                      <a:srgbClr val="0F1B2C"/>
                    </a:solidFill>
                    <a:latin typeface="Noto Sans"/>
                    <a:ea typeface="Noto Sans"/>
                    <a:cs typeface="Noto Sans"/>
                    <a:sym typeface="Noto Sans"/>
                  </a:endParaRPr>
                </a:p>
                <a:p>
                  <a:pPr indent="0" lvl="0" marL="0" rtl="0" algn="l">
                    <a:spcBef>
                      <a:spcPts val="800"/>
                    </a:spcBef>
                    <a:spcAft>
                      <a:spcPts val="0"/>
                    </a:spcAft>
                    <a:buNone/>
                  </a:pPr>
                  <a:r>
                    <a:rPr b="0" lang="en-US" sz="1150">
                      <a:solidFill>
                        <a:srgbClr val="475569"/>
                      </a:solidFill>
                      <a:latin typeface="Noto Sans"/>
                      <a:ea typeface="Noto Sans"/>
                      <a:cs typeface="Noto Sans"/>
                      <a:sym typeface="Noto Sans"/>
                    </a:rPr>
                    <a:t>Backward-compatible version negotiation ensures interoperability across versions.</a:t>
                  </a:r>
                  <a:endParaRPr b="0" sz="1150">
                    <a:solidFill>
                      <a:srgbClr val="475569"/>
                    </a:solidFill>
                    <a:latin typeface="Noto Sans"/>
                    <a:ea typeface="Noto Sans"/>
                    <a:cs typeface="Noto Sans"/>
                    <a:sym typeface="Noto Sans"/>
                  </a:endParaRPr>
                </a:p>
              </p:txBody>
            </p:sp>
          </p:grpSp>
        </p:grpSp>
        <p:grpSp>
          <p:nvGrpSpPr>
            <p:cNvPr id="1498" name="Google Shape;1498;p42"/>
            <p:cNvGrpSpPr/>
            <p:nvPr/>
          </p:nvGrpSpPr>
          <p:grpSpPr>
            <a:xfrm>
              <a:off x="5524500" y="4524375"/>
              <a:ext cx="12192000" cy="4572000"/>
              <a:chOff x="0" y="0"/>
              <a:chExt cx="12192000" cy="4572000"/>
            </a:xfrm>
          </p:grpSpPr>
          <p:sp>
            <p:nvSpPr>
              <p:cNvPr id="1499" name="Google Shape;1499;p42"/>
              <p:cNvSpPr/>
              <p:nvPr/>
            </p:nvSpPr>
            <p:spPr>
              <a:xfrm>
                <a:off x="0" y="0"/>
                <a:ext cx="12192000" cy="4572000"/>
              </a:xfrm>
              <a:prstGeom prst="roundRect">
                <a:avLst>
                  <a:gd fmla="val 2083" name="adj"/>
                </a:avLst>
              </a:prstGeom>
              <a:solidFill>
                <a:srgbClr val="F8FAFC"/>
              </a:solidFill>
              <a:ln cap="flat" cmpd="sng" w="14300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0" name="Google Shape;1500;p42"/>
              <p:cNvSpPr/>
              <p:nvPr/>
            </p:nvSpPr>
            <p:spPr>
              <a:xfrm>
                <a:off x="0" y="0"/>
                <a:ext cx="12192000" cy="419100"/>
              </a:xfrm>
              <a:custGeom>
                <a:rect b="b" l="l" r="r" t="t"/>
                <a:pathLst>
                  <a:path extrusionOk="0" h="120000" w="120000">
                    <a:moveTo>
                      <a:pt x="0" y="27273"/>
                    </a:moveTo>
                    <a:cubicBezTo>
                      <a:pt x="0" y="12273"/>
                      <a:pt x="422" y="0"/>
                      <a:pt x="938" y="0"/>
                    </a:cubicBezTo>
                    <a:lnTo>
                      <a:pt x="119063" y="0"/>
                    </a:lnTo>
                    <a:cubicBezTo>
                      <a:pt x="119578" y="0"/>
                      <a:pt x="120000" y="12273"/>
                      <a:pt x="120000" y="27273"/>
                    </a:cubicBezTo>
                    <a:lnTo>
                      <a:pt x="120000" y="120000"/>
                    </a:lnTo>
                    <a:lnTo>
                      <a:pt x="0" y="120000"/>
                    </a:lnTo>
                    <a:close/>
                  </a:path>
                </a:pathLst>
              </a:custGeom>
              <a:solidFill>
                <a:srgbClr val="0F172A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1" name="Google Shape;1501;p42"/>
              <p:cNvSpPr txBox="1"/>
              <p:nvPr/>
            </p:nvSpPr>
            <p:spPr>
              <a:xfrm>
                <a:off x="228600" y="0"/>
                <a:ext cx="11734800" cy="41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300">
                    <a:solidFill>
                      <a:srgbClr val="FFFFFF"/>
                    </a:solidFill>
                    <a:latin typeface="Noto Sans"/>
                    <a:ea typeface="Noto Sans"/>
                    <a:cs typeface="Noto Sans"/>
                    <a:sym typeface="Noto Sans"/>
                  </a:rPr>
                  <a:t>Upcoming Features</a:t>
                </a:r>
                <a:endParaRPr b="1" sz="1300">
                  <a:solidFill>
                    <a:srgbClr val="FFFFFF"/>
                  </a:solidFill>
                  <a:latin typeface="Noto Sans"/>
                  <a:ea typeface="Noto Sans"/>
                  <a:cs typeface="Noto Sans"/>
                  <a:sym typeface="Noto Sans"/>
                </a:endParaRPr>
              </a:p>
            </p:txBody>
          </p:sp>
          <p:grpSp>
            <p:nvGrpSpPr>
              <p:cNvPr id="1502" name="Google Shape;1502;p42"/>
              <p:cNvGrpSpPr/>
              <p:nvPr/>
            </p:nvGrpSpPr>
            <p:grpSpPr>
              <a:xfrm>
                <a:off x="228600" y="571500"/>
                <a:ext cx="5753100" cy="1143000"/>
                <a:chOff x="0" y="0"/>
                <a:chExt cx="5753100" cy="1143000"/>
              </a:xfrm>
            </p:grpSpPr>
            <p:sp>
              <p:nvSpPr>
                <p:cNvPr id="1503" name="Google Shape;1503;p42"/>
                <p:cNvSpPr/>
                <p:nvPr/>
              </p:nvSpPr>
              <p:spPr>
                <a:xfrm>
                  <a:off x="0" y="0"/>
                  <a:ext cx="5753100" cy="1143000"/>
                </a:xfrm>
                <a:prstGeom prst="roundRect">
                  <a:avLst>
                    <a:gd fmla="val 6666" name="adj"/>
                  </a:avLst>
                </a:prstGeom>
                <a:solidFill>
                  <a:srgbClr val="FFFFFF"/>
                </a:solidFill>
                <a:ln cap="flat" cmpd="sng" w="9525">
                  <a:solidFill>
                    <a:srgbClr val="E2E8F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04" name="Google Shape;1504;p42"/>
                <p:cNvSpPr txBox="1"/>
                <p:nvPr/>
              </p:nvSpPr>
              <p:spPr>
                <a:xfrm>
                  <a:off x="190500" y="152400"/>
                  <a:ext cx="5372100" cy="8382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-US" sz="1400">
                      <a:solidFill>
                        <a:srgbClr val="0F1B2C"/>
                      </a:solidFill>
                      <a:latin typeface="Noto Sans"/>
                      <a:ea typeface="Noto Sans"/>
                      <a:cs typeface="Noto Sans"/>
                      <a:sym typeface="Noto Sans"/>
                    </a:rPr>
                    <a:t>Streaming Support</a:t>
                  </a:r>
                  <a:endParaRPr b="1" sz="1400">
                    <a:solidFill>
                      <a:srgbClr val="0F1B2C"/>
                    </a:solidFill>
                    <a:latin typeface="Noto Sans"/>
                    <a:ea typeface="Noto Sans"/>
                    <a:cs typeface="Noto Sans"/>
                    <a:sym typeface="Noto Sans"/>
                  </a:endParaRPr>
                </a:p>
                <a:p>
                  <a:pPr indent="0" lvl="0" marL="0" rtl="0" algn="l">
                    <a:spcBef>
                      <a:spcPts val="400"/>
                    </a:spcBef>
                    <a:spcAft>
                      <a:spcPts val="0"/>
                    </a:spcAft>
                    <a:buNone/>
                  </a:pPr>
                  <a:r>
                    <a:rPr lang="en-US" sz="1100">
                      <a:solidFill>
                        <a:srgbClr val="475569"/>
                      </a:solidFill>
                      <a:latin typeface="Noto Sans"/>
                      <a:ea typeface="Noto Sans"/>
                      <a:cs typeface="Noto Sans"/>
                      <a:sym typeface="Noto Sans"/>
                    </a:rPr>
                    <a:t>For large data transfers and real-time updates.</a:t>
                  </a:r>
                  <a:endParaRPr sz="1100">
                    <a:solidFill>
                      <a:srgbClr val="475569"/>
                    </a:solidFill>
                    <a:latin typeface="Noto Sans"/>
                    <a:ea typeface="Noto Sans"/>
                    <a:cs typeface="Noto Sans"/>
                    <a:sym typeface="Noto Sans"/>
                  </a:endParaRPr>
                </a:p>
              </p:txBody>
            </p:sp>
          </p:grpSp>
          <p:grpSp>
            <p:nvGrpSpPr>
              <p:cNvPr id="1505" name="Google Shape;1505;p42"/>
              <p:cNvGrpSpPr/>
              <p:nvPr/>
            </p:nvGrpSpPr>
            <p:grpSpPr>
              <a:xfrm>
                <a:off x="6210300" y="571500"/>
                <a:ext cx="5753100" cy="1143000"/>
                <a:chOff x="0" y="0"/>
                <a:chExt cx="5753100" cy="1143000"/>
              </a:xfrm>
            </p:grpSpPr>
            <p:sp>
              <p:nvSpPr>
                <p:cNvPr id="1506" name="Google Shape;1506;p42"/>
                <p:cNvSpPr/>
                <p:nvPr/>
              </p:nvSpPr>
              <p:spPr>
                <a:xfrm>
                  <a:off x="0" y="0"/>
                  <a:ext cx="5753100" cy="1143000"/>
                </a:xfrm>
                <a:prstGeom prst="roundRect">
                  <a:avLst>
                    <a:gd fmla="val 6666" name="adj"/>
                  </a:avLst>
                </a:prstGeom>
                <a:solidFill>
                  <a:srgbClr val="FFFFFF"/>
                </a:solidFill>
                <a:ln cap="flat" cmpd="sng" w="9525">
                  <a:solidFill>
                    <a:srgbClr val="E2E8F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07" name="Google Shape;1507;p42"/>
                <p:cNvSpPr txBox="1"/>
                <p:nvPr/>
              </p:nvSpPr>
              <p:spPr>
                <a:xfrm>
                  <a:off x="190500" y="152400"/>
                  <a:ext cx="5372100" cy="8382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-US" sz="1400">
                      <a:solidFill>
                        <a:srgbClr val="0F1B2C"/>
                      </a:solidFill>
                      <a:latin typeface="Noto Sans"/>
                      <a:ea typeface="Noto Sans"/>
                      <a:cs typeface="Noto Sans"/>
                      <a:sym typeface="Noto Sans"/>
                    </a:rPr>
                    <a:t>Enhanced Security</a:t>
                  </a:r>
                  <a:endParaRPr b="1" sz="1400">
                    <a:solidFill>
                      <a:srgbClr val="0F1B2C"/>
                    </a:solidFill>
                    <a:latin typeface="Noto Sans"/>
                    <a:ea typeface="Noto Sans"/>
                    <a:cs typeface="Noto Sans"/>
                    <a:sym typeface="Noto Sans"/>
                  </a:endParaRPr>
                </a:p>
                <a:p>
                  <a:pPr indent="0" lvl="0" marL="0" rtl="0" algn="l">
                    <a:spcBef>
                      <a:spcPts val="400"/>
                    </a:spcBef>
                    <a:spcAft>
                      <a:spcPts val="0"/>
                    </a:spcAft>
                    <a:buNone/>
                  </a:pPr>
                  <a:r>
                    <a:rPr lang="en-US" sz="1100">
                      <a:solidFill>
                        <a:srgbClr val="475569"/>
                      </a:solidFill>
                      <a:latin typeface="Noto Sans"/>
                      <a:ea typeface="Noto Sans"/>
                      <a:cs typeface="Noto Sans"/>
                      <a:sym typeface="Noto Sans"/>
                    </a:rPr>
                    <a:t>With fine-grained permissions and access controls.</a:t>
                  </a:r>
                  <a:endParaRPr sz="1100">
                    <a:solidFill>
                      <a:srgbClr val="475569"/>
                    </a:solidFill>
                    <a:latin typeface="Noto Sans"/>
                    <a:ea typeface="Noto Sans"/>
                    <a:cs typeface="Noto Sans"/>
                    <a:sym typeface="Noto Sans"/>
                  </a:endParaRPr>
                </a:p>
              </p:txBody>
            </p:sp>
          </p:grpSp>
          <p:grpSp>
            <p:nvGrpSpPr>
              <p:cNvPr id="1508" name="Google Shape;1508;p42"/>
              <p:cNvGrpSpPr/>
              <p:nvPr/>
            </p:nvGrpSpPr>
            <p:grpSpPr>
              <a:xfrm>
                <a:off x="228600" y="1857375"/>
                <a:ext cx="5753100" cy="1143000"/>
                <a:chOff x="0" y="0"/>
                <a:chExt cx="5753100" cy="1143000"/>
              </a:xfrm>
            </p:grpSpPr>
            <p:sp>
              <p:nvSpPr>
                <p:cNvPr id="1509" name="Google Shape;1509;p42"/>
                <p:cNvSpPr/>
                <p:nvPr/>
              </p:nvSpPr>
              <p:spPr>
                <a:xfrm>
                  <a:off x="0" y="0"/>
                  <a:ext cx="5753100" cy="1143000"/>
                </a:xfrm>
                <a:prstGeom prst="roundRect">
                  <a:avLst>
                    <a:gd fmla="val 6666" name="adj"/>
                  </a:avLst>
                </a:prstGeom>
                <a:solidFill>
                  <a:srgbClr val="FFFFFF"/>
                </a:solidFill>
                <a:ln cap="flat" cmpd="sng" w="9525">
                  <a:solidFill>
                    <a:srgbClr val="E2E8F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10" name="Google Shape;1510;p42"/>
                <p:cNvSpPr txBox="1"/>
                <p:nvPr/>
              </p:nvSpPr>
              <p:spPr>
                <a:xfrm>
                  <a:off x="190500" y="152400"/>
                  <a:ext cx="5372100" cy="8382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-US" sz="1400">
                      <a:solidFill>
                        <a:srgbClr val="0F1B2C"/>
                      </a:solidFill>
                      <a:latin typeface="Noto Sans"/>
                      <a:ea typeface="Noto Sans"/>
                      <a:cs typeface="Noto Sans"/>
                      <a:sym typeface="Noto Sans"/>
                    </a:rPr>
                    <a:t>Multi-Server Orchestration</a:t>
                  </a:r>
                  <a:endParaRPr b="1" sz="1400">
                    <a:solidFill>
                      <a:srgbClr val="0F1B2C"/>
                    </a:solidFill>
                    <a:latin typeface="Noto Sans"/>
                    <a:ea typeface="Noto Sans"/>
                    <a:cs typeface="Noto Sans"/>
                    <a:sym typeface="Noto Sans"/>
                  </a:endParaRPr>
                </a:p>
                <a:p>
                  <a:pPr indent="0" lvl="0" marL="0" rtl="0" algn="l">
                    <a:spcBef>
                      <a:spcPts val="400"/>
                    </a:spcBef>
                    <a:spcAft>
                      <a:spcPts val="0"/>
                    </a:spcAft>
                    <a:buNone/>
                  </a:pPr>
                  <a:r>
                    <a:rPr lang="en-US" sz="1100">
                      <a:solidFill>
                        <a:srgbClr val="475569"/>
                      </a:solidFill>
                      <a:latin typeface="Noto Sans"/>
                      <a:ea typeface="Noto Sans"/>
                      <a:cs typeface="Noto Sans"/>
                      <a:sym typeface="Noto Sans"/>
                    </a:rPr>
                    <a:t>Capabilities for complex workflows.</a:t>
                  </a:r>
                  <a:endParaRPr sz="1100">
                    <a:solidFill>
                      <a:srgbClr val="475569"/>
                    </a:solidFill>
                    <a:latin typeface="Noto Sans"/>
                    <a:ea typeface="Noto Sans"/>
                    <a:cs typeface="Noto Sans"/>
                    <a:sym typeface="Noto Sans"/>
                  </a:endParaRPr>
                </a:p>
              </p:txBody>
            </p:sp>
          </p:grpSp>
          <p:grpSp>
            <p:nvGrpSpPr>
              <p:cNvPr id="1511" name="Google Shape;1511;p42"/>
              <p:cNvGrpSpPr/>
              <p:nvPr/>
            </p:nvGrpSpPr>
            <p:grpSpPr>
              <a:xfrm>
                <a:off x="6210300" y="1857375"/>
                <a:ext cx="5753100" cy="1143000"/>
                <a:chOff x="0" y="0"/>
                <a:chExt cx="5753100" cy="1143000"/>
              </a:xfrm>
            </p:grpSpPr>
            <p:sp>
              <p:nvSpPr>
                <p:cNvPr id="1512" name="Google Shape;1512;p42"/>
                <p:cNvSpPr/>
                <p:nvPr/>
              </p:nvSpPr>
              <p:spPr>
                <a:xfrm>
                  <a:off x="0" y="0"/>
                  <a:ext cx="5753100" cy="1143000"/>
                </a:xfrm>
                <a:prstGeom prst="roundRect">
                  <a:avLst>
                    <a:gd fmla="val 6666" name="adj"/>
                  </a:avLst>
                </a:prstGeom>
                <a:solidFill>
                  <a:srgbClr val="FFFFFF"/>
                </a:solidFill>
                <a:ln cap="flat" cmpd="sng" w="9525">
                  <a:solidFill>
                    <a:srgbClr val="E2E8F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13" name="Google Shape;1513;p42"/>
                <p:cNvSpPr txBox="1"/>
                <p:nvPr/>
              </p:nvSpPr>
              <p:spPr>
                <a:xfrm>
                  <a:off x="190500" y="152400"/>
                  <a:ext cx="5372100" cy="8382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-US" sz="1400">
                      <a:solidFill>
                        <a:srgbClr val="0F1B2C"/>
                      </a:solidFill>
                      <a:latin typeface="Noto Sans"/>
                      <a:ea typeface="Noto Sans"/>
                      <a:cs typeface="Noto Sans"/>
                      <a:sym typeface="Noto Sans"/>
                    </a:rPr>
                    <a:t>Improved Developer Tooling</a:t>
                  </a:r>
                  <a:endParaRPr b="1" sz="1400">
                    <a:solidFill>
                      <a:srgbClr val="0F1B2C"/>
                    </a:solidFill>
                    <a:latin typeface="Noto Sans"/>
                    <a:ea typeface="Noto Sans"/>
                    <a:cs typeface="Noto Sans"/>
                    <a:sym typeface="Noto Sans"/>
                  </a:endParaRPr>
                </a:p>
                <a:p>
                  <a:pPr indent="0" lvl="0" marL="0" rtl="0" algn="l">
                    <a:spcBef>
                      <a:spcPts val="400"/>
                    </a:spcBef>
                    <a:spcAft>
                      <a:spcPts val="0"/>
                    </a:spcAft>
                    <a:buNone/>
                  </a:pPr>
                  <a:r>
                    <a:rPr lang="en-US" sz="1100">
                      <a:solidFill>
                        <a:srgbClr val="475569"/>
                      </a:solidFill>
                      <a:latin typeface="Noto Sans"/>
                      <a:ea typeface="Noto Sans"/>
                      <a:cs typeface="Noto Sans"/>
                      <a:sym typeface="Noto Sans"/>
                    </a:rPr>
                    <a:t>And debugging support.</a:t>
                  </a:r>
                  <a:endParaRPr sz="1100">
                    <a:solidFill>
                      <a:srgbClr val="475569"/>
                    </a:solidFill>
                    <a:latin typeface="Noto Sans"/>
                    <a:ea typeface="Noto Sans"/>
                    <a:cs typeface="Noto Sans"/>
                    <a:sym typeface="Noto Sans"/>
                  </a:endParaRPr>
                </a:p>
              </p:txBody>
            </p:sp>
          </p:grpSp>
          <p:grpSp>
            <p:nvGrpSpPr>
              <p:cNvPr id="1514" name="Google Shape;1514;p42"/>
              <p:cNvGrpSpPr/>
              <p:nvPr/>
            </p:nvGrpSpPr>
            <p:grpSpPr>
              <a:xfrm>
                <a:off x="228600" y="3143250"/>
                <a:ext cx="11734800" cy="1143000"/>
                <a:chOff x="0" y="0"/>
                <a:chExt cx="11734800" cy="1143000"/>
              </a:xfrm>
            </p:grpSpPr>
            <p:sp>
              <p:nvSpPr>
                <p:cNvPr id="1515" name="Google Shape;1515;p42"/>
                <p:cNvSpPr/>
                <p:nvPr/>
              </p:nvSpPr>
              <p:spPr>
                <a:xfrm>
                  <a:off x="0" y="0"/>
                  <a:ext cx="11734800" cy="1143000"/>
                </a:xfrm>
                <a:prstGeom prst="roundRect">
                  <a:avLst>
                    <a:gd fmla="val 6666" name="adj"/>
                  </a:avLst>
                </a:prstGeom>
                <a:solidFill>
                  <a:srgbClr val="FFFFFF"/>
                </a:solidFill>
                <a:ln cap="flat" cmpd="sng" w="9525">
                  <a:solidFill>
                    <a:srgbClr val="E2E8F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16" name="Google Shape;1516;p42"/>
                <p:cNvSpPr txBox="1"/>
                <p:nvPr/>
              </p:nvSpPr>
              <p:spPr>
                <a:xfrm>
                  <a:off x="190500" y="152400"/>
                  <a:ext cx="11353800" cy="8382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-US" sz="1400">
                      <a:solidFill>
                        <a:srgbClr val="0F1B2C"/>
                      </a:solidFill>
                      <a:latin typeface="Noto Sans"/>
                      <a:ea typeface="Noto Sans"/>
                      <a:cs typeface="Noto Sans"/>
                      <a:sym typeface="Noto Sans"/>
                    </a:rPr>
                    <a:t>Community-Driven Protocol Extensions</a:t>
                  </a:r>
                  <a:endParaRPr b="1" sz="1400">
                    <a:solidFill>
                      <a:srgbClr val="0F1B2C"/>
                    </a:solidFill>
                    <a:latin typeface="Noto Sans"/>
                    <a:ea typeface="Noto Sans"/>
                    <a:cs typeface="Noto Sans"/>
                    <a:sym typeface="Noto Sans"/>
                  </a:endParaRPr>
                </a:p>
                <a:p>
                  <a:pPr indent="0" lvl="0" marL="0" rtl="0" algn="l">
                    <a:spcBef>
                      <a:spcPts val="400"/>
                    </a:spcBef>
                    <a:spcAft>
                      <a:spcPts val="0"/>
                    </a:spcAft>
                    <a:buNone/>
                  </a:pPr>
                  <a:r>
                    <a:rPr lang="en-US" sz="1100">
                      <a:solidFill>
                        <a:srgbClr val="475569"/>
                      </a:solidFill>
                      <a:latin typeface="Noto Sans"/>
                      <a:ea typeface="Noto Sans"/>
                      <a:cs typeface="Noto Sans"/>
                      <a:sym typeface="Noto Sans"/>
                    </a:rPr>
                    <a:t>Through standardized extension mechanisms.</a:t>
                  </a:r>
                  <a:endParaRPr sz="1100">
                    <a:solidFill>
                      <a:srgbClr val="475569"/>
                    </a:solidFill>
                    <a:latin typeface="Noto Sans"/>
                    <a:ea typeface="Noto Sans"/>
                    <a:cs typeface="Noto Sans"/>
                    <a:sym typeface="Noto Sans"/>
                  </a:endParaRPr>
                </a:p>
              </p:txBody>
            </p:sp>
          </p:grpSp>
        </p:grpSp>
        <p:sp>
          <p:nvSpPr>
            <p:cNvPr id="1517" name="Google Shape;1517;p42"/>
            <p:cNvSpPr txBox="1"/>
            <p:nvPr/>
          </p:nvSpPr>
          <p:spPr>
            <a:xfrm>
              <a:off x="5524500" y="9286875"/>
              <a:ext cx="121920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150">
                  <a:solidFill>
                    <a:srgbClr val="64748B"/>
                  </a:solidFill>
                  <a:latin typeface="Noto Sans"/>
                  <a:ea typeface="Noto Sans"/>
                  <a:cs typeface="Noto Sans"/>
                  <a:sym typeface="Noto Sans"/>
                </a:rPr>
                <a:t>MCP is designed for extensibility while maintaining backward compatibility</a:t>
              </a:r>
              <a:endParaRPr i="1" sz="1150">
                <a:solidFill>
                  <a:srgbClr val="64748B"/>
                </a:solidFill>
                <a:latin typeface="Noto Sans"/>
                <a:ea typeface="Noto Sans"/>
                <a:cs typeface="Noto Sans"/>
                <a:sym typeface="Noto Sans"/>
              </a:endParaRPr>
            </a:p>
          </p:txBody>
        </p:sp>
        <p:cxnSp>
          <p:nvCxnSpPr>
            <p:cNvPr id="1518" name="Google Shape;1518;p42"/>
            <p:cNvCxnSpPr/>
            <p:nvPr/>
          </p:nvCxnSpPr>
          <p:spPr>
            <a:xfrm>
              <a:off x="0" y="9715500"/>
              <a:ext cx="182880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519" name="Google Shape;1519;p42"/>
            <p:cNvSpPr txBox="1"/>
            <p:nvPr/>
          </p:nvSpPr>
          <p:spPr>
            <a:xfrm>
              <a:off x="571500" y="9858375"/>
              <a:ext cx="3810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64748B"/>
                  </a:solidFill>
                  <a:latin typeface="Roboto"/>
                  <a:ea typeface="Roboto"/>
                  <a:cs typeface="Roboto"/>
                  <a:sym typeface="Roboto"/>
                </a:rPr>
                <a:t>Criterion Proprietary &amp; Confidential</a:t>
              </a:r>
              <a:endParaRPr sz="1100">
                <a:solidFill>
                  <a:srgbClr val="64748B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>
                <a:solidFill>
                  <a:srgbClr val="0F1B2C"/>
                </a:solidFill>
                <a:latin typeface="Noto Sans"/>
              </a:rPr>
              <a:t>The Big Picture — Client · Server · Router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2880360"/>
            <a:ext cx="3977639" cy="397763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194560" y="3136391"/>
            <a:ext cx="868680" cy="566928"/>
          </a:xfrm>
          <a:prstGeom prst="roundRect">
            <a:avLst>
              <a:gd name="adj" fmla="val 12000"/>
            </a:avLst>
          </a:prstGeom>
          <a:solidFill>
            <a:srgbClr val="00A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574036" y="3703320"/>
            <a:ext cx="109728" cy="128016"/>
          </a:xfrm>
          <a:prstGeom prst="roundRect">
            <a:avLst>
              <a:gd name="adj" fmla="val 0"/>
            </a:avLst>
          </a:prstGeom>
          <a:solidFill>
            <a:srgbClr val="1E2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372868" y="3831335"/>
            <a:ext cx="512064" cy="82296"/>
          </a:xfrm>
          <a:prstGeom prst="roundRect">
            <a:avLst>
              <a:gd name="adj" fmla="val 30000"/>
            </a:avLst>
          </a:prstGeom>
          <a:solidFill>
            <a:srgbClr val="1E2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931920"/>
            <a:ext cx="3977639" cy="5029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/>
            <a:r>
              <a:rPr sz="1300" b="1" i="0">
                <a:solidFill>
                  <a:srgbClr val="0F1B2C"/>
                </a:solidFill>
                <a:latin typeface="Noto Sans"/>
              </a:rPr>
              <a:t>MCP-Client (desktop)</a:t>
            </a:r>
          </a:p>
          <a:p>
            <a:pPr algn="ctr"/>
            <a:r>
              <a:rPr sz="1000" b="0" i="0">
                <a:solidFill>
                  <a:srgbClr val="64748B"/>
                </a:solidFill>
                <a:latin typeface="Noto Sans"/>
              </a:rPr>
              <a:t>172.18.0.2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19" y="4754879"/>
            <a:ext cx="3337559" cy="1783080"/>
          </a:xfrm>
          <a:prstGeom prst="roundRect">
            <a:avLst>
              <a:gd name="adj" fmla="val 6000"/>
            </a:avLst>
          </a:prstGeom>
          <a:solidFill>
            <a:srgbClr val="0F1B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4892040"/>
            <a:ext cx="3063239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/>
            <a:r>
              <a:rPr sz="1150" b="1" i="0">
                <a:solidFill>
                  <a:srgbClr val="00AEEF"/>
                </a:solidFill>
                <a:latin typeface="Noto Sans"/>
              </a:rPr>
              <a:t>Host application</a:t>
            </a:r>
          </a:p>
          <a:p>
            <a:pPr algn="ctr"/>
            <a:r>
              <a:rPr sz="1000" b="0" i="0">
                <a:solidFill>
                  <a:srgbClr val="EAF7FD"/>
                </a:solidFill>
                <a:latin typeface="Noto Sans"/>
              </a:rPr>
              <a:t>LibreChat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80160" y="5715000"/>
            <a:ext cx="2697479" cy="685800"/>
          </a:xfrm>
          <a:prstGeom prst="roundRect">
            <a:avLst>
              <a:gd name="adj" fmla="val 18000"/>
            </a:avLst>
          </a:prstGeom>
          <a:solidFill>
            <a:srgbClr val="00A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80160" y="5715000"/>
            <a:ext cx="2697479" cy="6858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Noto Sans"/>
              </a:rPr>
              <a:t>MCP Client</a:t>
            </a:r>
          </a:p>
        </p:txBody>
      </p:sp>
      <p:sp>
        <p:nvSpPr>
          <p:cNvPr id="12" name="Cloud 11"/>
          <p:cNvSpPr/>
          <p:nvPr/>
        </p:nvSpPr>
        <p:spPr>
          <a:xfrm>
            <a:off x="5074920" y="3886200"/>
            <a:ext cx="2148840" cy="1737360"/>
          </a:xfrm>
          <a:prstGeom prst="cloud">
            <a:avLst/>
          </a:prstGeom>
          <a:solidFill>
            <a:srgbClr val="F1F5F9"/>
          </a:solidFill>
          <a:ln w="1905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74920" y="4114800"/>
            <a:ext cx="2148840" cy="12801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/>
            <a:r>
              <a:rPr sz="1050" b="1" i="0">
                <a:solidFill>
                  <a:srgbClr val="0F1B2C"/>
                </a:solidFill>
                <a:latin typeface="Noto Sans"/>
              </a:rPr>
              <a:t>Lab network</a:t>
            </a:r>
          </a:p>
          <a:p>
            <a:pPr algn="ctr"/>
            <a:r>
              <a:rPr sz="850" b="0" i="1">
                <a:solidFill>
                  <a:srgbClr val="64748B"/>
                </a:solidFill>
                <a:latin typeface="Noto Sans"/>
              </a:rPr>
              <a:t>public-internet2</a:t>
            </a:r>
          </a:p>
          <a:p>
            <a:pPr algn="ctr"/>
            <a:r>
              <a:rPr sz="850" b="0" i="1">
                <a:solidFill>
                  <a:srgbClr val="64748B"/>
                </a:solidFill>
                <a:latin typeface="Noto Sans"/>
              </a:rPr>
              <a:t>→ switch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52360" y="2880360"/>
            <a:ext cx="4709160" cy="397763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372600" y="3136391"/>
            <a:ext cx="868680" cy="566928"/>
          </a:xfrm>
          <a:prstGeom prst="roundRect">
            <a:avLst>
              <a:gd name="adj" fmla="val 12000"/>
            </a:avLst>
          </a:prstGeom>
          <a:solidFill>
            <a:srgbClr val="00A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752076" y="3703320"/>
            <a:ext cx="109728" cy="128016"/>
          </a:xfrm>
          <a:prstGeom prst="roundRect">
            <a:avLst>
              <a:gd name="adj" fmla="val 0"/>
            </a:avLst>
          </a:prstGeom>
          <a:solidFill>
            <a:srgbClr val="1E2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550908" y="3831335"/>
            <a:ext cx="512064" cy="82296"/>
          </a:xfrm>
          <a:prstGeom prst="roundRect">
            <a:avLst>
              <a:gd name="adj" fmla="val 30000"/>
            </a:avLst>
          </a:prstGeom>
          <a:solidFill>
            <a:srgbClr val="1E2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52360" y="3931920"/>
            <a:ext cx="4709160" cy="5029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/>
            <a:r>
              <a:rPr sz="1300" b="1" i="0">
                <a:solidFill>
                  <a:srgbClr val="0F1B2C"/>
                </a:solidFill>
                <a:latin typeface="Noto Sans"/>
              </a:rPr>
              <a:t>MCP-Server (desktop)</a:t>
            </a:r>
          </a:p>
          <a:p>
            <a:pPr algn="ctr"/>
            <a:r>
              <a:rPr sz="1000" b="0" i="0">
                <a:solidFill>
                  <a:srgbClr val="64748B"/>
                </a:solidFill>
                <a:latin typeface="Noto Sans"/>
              </a:rPr>
              <a:t>172.18.1.2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0" y="4754879"/>
            <a:ext cx="4069080" cy="1783080"/>
          </a:xfrm>
          <a:prstGeom prst="roundRect">
            <a:avLst>
              <a:gd name="adj" fmla="val 6000"/>
            </a:avLst>
          </a:prstGeom>
          <a:solidFill>
            <a:srgbClr val="0F1B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09560" y="4892040"/>
            <a:ext cx="37947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/>
            <a:r>
              <a:rPr sz="1150" b="1" i="0">
                <a:solidFill>
                  <a:srgbClr val="00AEEF"/>
                </a:solidFill>
                <a:latin typeface="Noto Sans"/>
              </a:rPr>
              <a:t>MCP server script</a:t>
            </a:r>
          </a:p>
          <a:p>
            <a:pPr algn="ctr"/>
            <a:r>
              <a:rPr sz="950" b="0" i="0">
                <a:solidFill>
                  <a:srgbClr val="EAF7FD"/>
                </a:solidFill>
                <a:latin typeface="Noto Sans"/>
              </a:rPr>
              <a:t>FastMCP  ·  app/main.py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92440" y="5760720"/>
            <a:ext cx="3429000" cy="658368"/>
          </a:xfrm>
          <a:prstGeom prst="roundRect">
            <a:avLst>
              <a:gd name="adj" fmla="val 18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92440" y="5760720"/>
            <a:ext cx="3429000" cy="65836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/>
            <a:r>
              <a:rPr sz="1000" b="1" i="0">
                <a:solidFill>
                  <a:srgbClr val="0F1B2C"/>
                </a:solidFill>
                <a:latin typeface="Noto Sans"/>
              </a:rPr>
              <a:t>Tools:  get_interfaces · configure_interface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2710160" y="2880360"/>
            <a:ext cx="3657600" cy="397763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4081760" y="3200400"/>
            <a:ext cx="914400" cy="457200"/>
          </a:xfrm>
          <a:prstGeom prst="roundRect">
            <a:avLst>
              <a:gd name="adj" fmla="val 25000"/>
            </a:avLst>
          </a:prstGeom>
          <a:solidFill>
            <a:srgbClr val="00A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081760" y="3200400"/>
            <a:ext cx="914400" cy="4572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Noto Sans"/>
              </a:rPr>
              <a:t>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710160" y="3931920"/>
            <a:ext cx="3657600" cy="5029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/>
            <a:r>
              <a:rPr sz="1300" b="1" i="0">
                <a:solidFill>
                  <a:srgbClr val="0F1B2C"/>
                </a:solidFill>
                <a:latin typeface="Noto Sans"/>
              </a:rPr>
              <a:t>Router1</a:t>
            </a:r>
          </a:p>
          <a:p>
            <a:pPr algn="ctr"/>
            <a:r>
              <a:rPr sz="1000" b="0" i="0">
                <a:solidFill>
                  <a:srgbClr val="64748B"/>
                </a:solidFill>
                <a:latin typeface="Noto Sans"/>
              </a:rPr>
              <a:t>172.18.2.6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3075920" y="4754879"/>
            <a:ext cx="2926080" cy="178308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3075920" y="4846320"/>
            <a:ext cx="2926080" cy="16459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/>
            <a:r>
              <a:rPr sz="1100" b="1" i="0">
                <a:solidFill>
                  <a:srgbClr val="0F1B2C"/>
                </a:solidFill>
                <a:latin typeface="Noto Sans"/>
              </a:rPr>
              <a:t>Cisco IOS device</a:t>
            </a:r>
          </a:p>
          <a:p>
            <a:pPr algn="ctr"/>
            <a:r>
              <a:rPr sz="950" b="0" i="1">
                <a:solidFill>
                  <a:srgbClr val="64748B"/>
                </a:solidFill>
                <a:latin typeface="Noto Sans"/>
              </a:rPr>
              <a:t>(the thing we actually</a:t>
            </a:r>
          </a:p>
          <a:p>
            <a:pPr algn="ctr"/>
            <a:r>
              <a:rPr sz="950" b="0" i="1">
                <a:solidFill>
                  <a:srgbClr val="64748B"/>
                </a:solidFill>
                <a:latin typeface="Noto Sans"/>
              </a:rPr>
              <a:t>read &amp; configure)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4617720" y="4869179"/>
            <a:ext cx="457200" cy="0"/>
          </a:xfrm>
          <a:prstGeom prst="line">
            <a:avLst/>
          </a:prstGeom>
          <a:ln w="34925">
            <a:solidFill>
              <a:srgbClr val="00AEEF"/>
            </a:solidFill>
            <a:tailEnd type="triangle" w="med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7223760" y="4869179"/>
            <a:ext cx="228600" cy="0"/>
          </a:xfrm>
          <a:prstGeom prst="line">
            <a:avLst/>
          </a:prstGeom>
          <a:ln w="34925">
            <a:solidFill>
              <a:srgbClr val="00AEEF"/>
            </a:solidFill>
            <a:tailEnd type="triangle" w="med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4434840" y="3909059"/>
            <a:ext cx="3200400" cy="8229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/>
            <a:r>
              <a:rPr sz="1100" b="1" i="0">
                <a:solidFill>
                  <a:srgbClr val="00AEEF"/>
                </a:solidFill>
                <a:latin typeface="Noto Sans"/>
              </a:rPr>
              <a:t>MCP</a:t>
            </a:r>
          </a:p>
          <a:p>
            <a:pPr algn="ctr"/>
            <a:r>
              <a:rPr sz="900" b="0" i="0">
                <a:solidFill>
                  <a:srgbClr val="64748B"/>
                </a:solidFill>
                <a:latin typeface="Noto Sans"/>
              </a:rPr>
              <a:t>Streamable HTTP</a:t>
            </a:r>
          </a:p>
          <a:p>
            <a:pPr algn="ctr"/>
            <a:r>
              <a:rPr sz="900" b="0" i="0">
                <a:solidFill>
                  <a:srgbClr val="64748B"/>
                </a:solidFill>
                <a:latin typeface="Noto Sans"/>
              </a:rPr>
              <a:t>:8000/mcp · Bearer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12161520" y="4869179"/>
            <a:ext cx="548640" cy="0"/>
          </a:xfrm>
          <a:prstGeom prst="line">
            <a:avLst/>
          </a:prstGeom>
          <a:ln w="34925">
            <a:solidFill>
              <a:srgbClr val="34D399"/>
            </a:solidFill>
            <a:tailEnd type="triangle" w="med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12070080" y="4000499"/>
            <a:ext cx="731519" cy="7315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/>
            <a:r>
              <a:rPr sz="1050" b="1" i="0">
                <a:solidFill>
                  <a:srgbClr val="0E8A5E"/>
                </a:solidFill>
                <a:latin typeface="Noto Sans"/>
              </a:rPr>
              <a:t>Netmiko SSH</a:t>
            </a:r>
          </a:p>
          <a:p>
            <a:pPr algn="ctr"/>
            <a:r>
              <a:rPr sz="900" b="0" i="0">
                <a:solidFill>
                  <a:srgbClr val="64748B"/>
                </a:solidFill>
                <a:latin typeface="Noto Sans"/>
              </a:rPr>
              <a:t>show / config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" y="7863840"/>
            <a:ext cx="17007840" cy="1005840"/>
          </a:xfrm>
          <a:prstGeom prst="roundRect">
            <a:avLst>
              <a:gd name="adj" fmla="val 5000"/>
            </a:avLst>
          </a:prstGeom>
          <a:solidFill>
            <a:srgbClr val="0F1B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ctr"/>
            <a:r>
              <a:rPr sz="1250" b="1" i="0">
                <a:solidFill>
                  <a:srgbClr val="FFFFFF"/>
                </a:solidFill>
                <a:latin typeface="Noto Sans"/>
              </a:rPr>
              <a:t>One flow:  you ask LibreChat  →  its MCP client calls the server over MCP  →  the server's tools SSH into Router1  →  the answer comes back to you.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Workshop lab topology</a:t>
            </a:r>
          </a:p>
        </p:txBody>
      </p:sp>
      <p:pic>
        <p:nvPicPr>
          <p:cNvPr id="3" name="Picture 2" descr="d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32766"/>
            <a:ext cx="17190720" cy="71701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9281160"/>
            <a:ext cx="17190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444C56"/>
                </a:solidFill>
              </a:rPr>
              <a:t>The whole lab in one picture — your browser → LibreChat (:3080) → MCP server (:8000/mcp, bearer token) → SSH → Router1. LibreChat is the MCP host/client; the server drives the real device.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End-to-end query flow ("show me the interfaces")</a:t>
            </a:r>
          </a:p>
        </p:txBody>
      </p:sp>
      <p:pic>
        <p:nvPicPr>
          <p:cNvPr id="3" name="Picture 2" descr="d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0976" y="1600200"/>
            <a:ext cx="13986047" cy="7635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9281160"/>
            <a:ext cx="17190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444C56"/>
                </a:solidFill>
              </a:rPr>
              <a:t>A single question travels: LibreChat gives the LLM the tool list, the LLM picks `get_interfaces`, LibreChat calls the server, the server SSHes to Router1, and the result flows back as a plain-English answer.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Config change with the safety gate (rollback-aware)</a:t>
            </a:r>
          </a:p>
        </p:txBody>
      </p:sp>
      <p:pic>
        <p:nvPicPr>
          <p:cNvPr id="3" name="Picture 2" descr="d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0638" y="1600200"/>
            <a:ext cx="12166723" cy="7635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9281160"/>
            <a:ext cx="17190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444C56"/>
                </a:solidFill>
              </a:rPr>
              <a:t>Config-writing tools are gated: confirm first, snapshot a rollback baseline, apply, then push notifications so the client re-discovers state. Safe-by-default, auditable, reversible.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What the MCP Inspector shows (end-of-session debugger)</a:t>
            </a:r>
          </a:p>
        </p:txBody>
      </p:sp>
      <p:pic>
        <p:nvPicPr>
          <p:cNvPr id="3" name="Picture 2" descr="d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694231"/>
            <a:ext cx="17190720" cy="144717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9281160"/>
            <a:ext cx="17190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444C56"/>
                </a:solidFill>
              </a:rPr>
              <a:t>The Inspector connects to the same `/mcp` endpoint and exposes each primitive on its own tab — the clearest way to watch the raw JSON-RPC once you understand the flow.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3" name="Shape 1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preencoded.png" id="1524" name="Google Shape;1524;p43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descr="preencoded.png" id="1525" name="Google Shape;1525;p43"/>
          <p:cNvSpPr/>
          <p:nvPr/>
        </p:nvSpPr>
        <p:spPr>
          <a:xfrm>
            <a:off x="7758112" y="0"/>
            <a:ext cx="10529888" cy="6129338"/>
          </a:xfrm>
          <a:custGeom>
            <a:rect b="b" l="l" r="r" t="t"/>
            <a:pathLst>
              <a:path extrusionOk="0" h="8172450" w="14039850">
                <a:moveTo>
                  <a:pt x="0" y="0"/>
                </a:moveTo>
                <a:lnTo>
                  <a:pt x="14039850" y="0"/>
                </a:lnTo>
                <a:lnTo>
                  <a:pt x="14039850" y="8172450"/>
                </a:lnTo>
                <a:lnTo>
                  <a:pt x="0" y="81724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descr="preencoded.png" id="1526" name="Google Shape;1526;p43"/>
          <p:cNvSpPr/>
          <p:nvPr/>
        </p:nvSpPr>
        <p:spPr>
          <a:xfrm>
            <a:off x="0" y="8401050"/>
            <a:ext cx="5915025" cy="1885950"/>
          </a:xfrm>
          <a:custGeom>
            <a:rect b="b" l="l" r="r" t="t"/>
            <a:pathLst>
              <a:path extrusionOk="0" h="2514600" w="7886700">
                <a:moveTo>
                  <a:pt x="0" y="0"/>
                </a:moveTo>
                <a:lnTo>
                  <a:pt x="7886700" y="0"/>
                </a:lnTo>
                <a:lnTo>
                  <a:pt x="7886700" y="2514600"/>
                </a:lnTo>
                <a:lnTo>
                  <a:pt x="0" y="2514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descr="preencoded.png" id="1527" name="Google Shape;1527;p43"/>
          <p:cNvSpPr/>
          <p:nvPr/>
        </p:nvSpPr>
        <p:spPr>
          <a:xfrm>
            <a:off x="0" y="7400925"/>
            <a:ext cx="4443412" cy="2386012"/>
          </a:xfrm>
          <a:custGeom>
            <a:rect b="b" l="l" r="r" t="t"/>
            <a:pathLst>
              <a:path extrusionOk="0" h="3181350" w="5924550">
                <a:moveTo>
                  <a:pt x="0" y="0"/>
                </a:moveTo>
                <a:lnTo>
                  <a:pt x="5924550" y="0"/>
                </a:lnTo>
                <a:lnTo>
                  <a:pt x="5924550" y="3181350"/>
                </a:lnTo>
                <a:lnTo>
                  <a:pt x="0" y="31813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descr="preencoded.png" id="1528" name="Google Shape;1528;p43"/>
          <p:cNvSpPr/>
          <p:nvPr/>
        </p:nvSpPr>
        <p:spPr>
          <a:xfrm>
            <a:off x="11315700" y="257175"/>
            <a:ext cx="3257550" cy="1300162"/>
          </a:xfrm>
          <a:custGeom>
            <a:rect b="b" l="l" r="r" t="t"/>
            <a:pathLst>
              <a:path extrusionOk="0" h="1733550" w="4343400">
                <a:moveTo>
                  <a:pt x="0" y="0"/>
                </a:moveTo>
                <a:lnTo>
                  <a:pt x="4343400" y="0"/>
                </a:lnTo>
                <a:lnTo>
                  <a:pt x="4343400" y="1733550"/>
                </a:lnTo>
                <a:lnTo>
                  <a:pt x="0" y="17335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 amt="70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descr="preencoded.png" id="1529" name="Google Shape;1529;p43"/>
          <p:cNvSpPr/>
          <p:nvPr/>
        </p:nvSpPr>
        <p:spPr>
          <a:xfrm>
            <a:off x="5143500" y="8986838"/>
            <a:ext cx="3257550" cy="1300162"/>
          </a:xfrm>
          <a:custGeom>
            <a:rect b="b" l="l" r="r" t="t"/>
            <a:pathLst>
              <a:path extrusionOk="0" h="1733550" w="4343400">
                <a:moveTo>
                  <a:pt x="0" y="0"/>
                </a:moveTo>
                <a:lnTo>
                  <a:pt x="4343400" y="0"/>
                </a:lnTo>
                <a:lnTo>
                  <a:pt x="4343400" y="1733550"/>
                </a:lnTo>
                <a:lnTo>
                  <a:pt x="0" y="17335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 amt="60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30" name="Google Shape;1530;p43"/>
          <p:cNvSpPr/>
          <p:nvPr/>
        </p:nvSpPr>
        <p:spPr>
          <a:xfrm>
            <a:off x="0" y="471487"/>
            <a:ext cx="7680960" cy="8786812"/>
          </a:xfrm>
          <a:custGeom>
            <a:rect b="b" l="l" r="r" t="t"/>
            <a:pathLst>
              <a:path extrusionOk="0" h="11715750" w="10241280">
                <a:moveTo>
                  <a:pt x="0" y="0"/>
                </a:moveTo>
                <a:lnTo>
                  <a:pt x="10241280" y="0"/>
                </a:lnTo>
                <a:lnTo>
                  <a:pt x="10241280" y="11715750"/>
                </a:lnTo>
                <a:lnTo>
                  <a:pt x="0" y="11715750"/>
                </a:lnTo>
                <a:close/>
              </a:path>
            </a:pathLst>
          </a:custGeom>
          <a:solidFill>
            <a:srgbClr val="0F1B2C"/>
          </a:solidFill>
          <a:ln>
            <a:noFill/>
          </a:ln>
        </p:spPr>
      </p:sp>
      <p:grpSp>
        <p:nvGrpSpPr>
          <p:cNvPr id="1531" name="Google Shape;1531;p43"/>
          <p:cNvGrpSpPr/>
          <p:nvPr/>
        </p:nvGrpSpPr>
        <p:grpSpPr>
          <a:xfrm>
            <a:off x="1214979" y="3478395"/>
            <a:ext cx="1255110" cy="855464"/>
            <a:chOff x="0" y="0"/>
            <a:chExt cx="1446390" cy="985838"/>
          </a:xfrm>
        </p:grpSpPr>
        <p:sp>
          <p:nvSpPr>
            <p:cNvPr id="1532" name="Google Shape;1532;p43"/>
            <p:cNvSpPr/>
            <p:nvPr/>
          </p:nvSpPr>
          <p:spPr>
            <a:xfrm>
              <a:off x="0" y="0"/>
              <a:ext cx="1446387" cy="985837"/>
            </a:xfrm>
            <a:custGeom>
              <a:rect b="b" l="l" r="r" t="t"/>
              <a:pathLst>
                <a:path extrusionOk="0" h="985837" w="1446387">
                  <a:moveTo>
                    <a:pt x="0" y="0"/>
                  </a:moveTo>
                  <a:lnTo>
                    <a:pt x="1446387" y="0"/>
                  </a:lnTo>
                  <a:lnTo>
                    <a:pt x="1446387" y="985837"/>
                  </a:lnTo>
                  <a:lnTo>
                    <a:pt x="0" y="985837"/>
                  </a:lnTo>
                  <a:close/>
                </a:path>
              </a:pathLst>
            </a:custGeom>
            <a:blipFill rotWithShape="1">
              <a:blip r:embed="rId9">
                <a:alphaModFix amt="0"/>
              </a:blip>
              <a:stretch>
                <a:fillRect b="0" l="-37449" r="-37449" t="0"/>
              </a:stretch>
            </a:blipFill>
            <a:ln>
              <a:noFill/>
            </a:ln>
          </p:spPr>
        </p:sp>
        <p:sp>
          <p:nvSpPr>
            <p:cNvPr id="1533" name="Google Shape;1533;p43"/>
            <p:cNvSpPr txBox="1"/>
            <p:nvPr/>
          </p:nvSpPr>
          <p:spPr>
            <a:xfrm>
              <a:off x="0" y="0"/>
              <a:ext cx="1446390" cy="9858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2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4275" u="none" cap="none" strike="noStrike">
                  <a:solidFill>
                    <a:srgbClr val="FFFFFF"/>
                  </a:solidFill>
                  <a:latin typeface="Noto Sans"/>
                  <a:ea typeface="Noto Sans"/>
                  <a:cs typeface="Noto Sans"/>
                  <a:sym typeface="Noto Sans"/>
                </a:rPr>
                <a:t> The </a:t>
              </a:r>
              <a:endParaRPr/>
            </a:p>
          </p:txBody>
        </p:sp>
      </p:grpSp>
      <p:grpSp>
        <p:nvGrpSpPr>
          <p:cNvPr id="1534" name="Google Shape;1534;p43"/>
          <p:cNvGrpSpPr/>
          <p:nvPr/>
        </p:nvGrpSpPr>
        <p:grpSpPr>
          <a:xfrm>
            <a:off x="2470090" y="3478395"/>
            <a:ext cx="2351442" cy="844185"/>
            <a:chOff x="0" y="0"/>
            <a:chExt cx="3135255" cy="1125580"/>
          </a:xfrm>
        </p:grpSpPr>
        <p:sp>
          <p:nvSpPr>
            <p:cNvPr id="1535" name="Google Shape;1535;p43"/>
            <p:cNvSpPr/>
            <p:nvPr/>
          </p:nvSpPr>
          <p:spPr>
            <a:xfrm>
              <a:off x="0" y="0"/>
              <a:ext cx="3135255" cy="1125580"/>
            </a:xfrm>
            <a:custGeom>
              <a:rect b="b" l="l" r="r" t="t"/>
              <a:pathLst>
                <a:path extrusionOk="0" h="1125580" w="3135255">
                  <a:moveTo>
                    <a:pt x="0" y="0"/>
                  </a:moveTo>
                  <a:lnTo>
                    <a:pt x="3135255" y="0"/>
                  </a:lnTo>
                  <a:lnTo>
                    <a:pt x="3135255" y="1125580"/>
                  </a:lnTo>
                  <a:lnTo>
                    <a:pt x="0" y="1125580"/>
                  </a:lnTo>
                  <a:close/>
                </a:path>
              </a:pathLst>
            </a:custGeom>
            <a:blipFill rotWithShape="1">
              <a:blip r:embed="rId9">
                <a:alphaModFix amt="0"/>
              </a:blip>
              <a:stretch>
                <a:fillRect b="12415" l="-1991" r="21305" t="0"/>
              </a:stretch>
            </a:blipFill>
            <a:ln>
              <a:noFill/>
            </a:ln>
          </p:spPr>
        </p:sp>
        <p:sp>
          <p:nvSpPr>
            <p:cNvPr id="1536" name="Google Shape;1536;p43"/>
            <p:cNvSpPr txBox="1"/>
            <p:nvPr/>
          </p:nvSpPr>
          <p:spPr>
            <a:xfrm>
              <a:off x="0" y="0"/>
              <a:ext cx="3135249" cy="11255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2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4275" u="none" cap="none" strike="noStrike">
                  <a:solidFill>
                    <a:srgbClr val="00AEEF"/>
                  </a:solidFill>
                  <a:latin typeface="Noto Sans"/>
                  <a:ea typeface="Noto Sans"/>
                  <a:cs typeface="Noto Sans"/>
                  <a:sym typeface="Noto Sans"/>
                </a:rPr>
                <a:t>Future</a:t>
              </a:r>
              <a:endParaRPr/>
            </a:p>
          </p:txBody>
        </p:sp>
      </p:grpSp>
      <p:grpSp>
        <p:nvGrpSpPr>
          <p:cNvPr id="1537" name="Google Shape;1537;p43"/>
          <p:cNvGrpSpPr/>
          <p:nvPr/>
        </p:nvGrpSpPr>
        <p:grpSpPr>
          <a:xfrm>
            <a:off x="4342648" y="3478395"/>
            <a:ext cx="1699979" cy="844185"/>
            <a:chOff x="0" y="0"/>
            <a:chExt cx="2266638" cy="1125580"/>
          </a:xfrm>
        </p:grpSpPr>
        <p:sp>
          <p:nvSpPr>
            <p:cNvPr id="1538" name="Google Shape;1538;p43"/>
            <p:cNvSpPr/>
            <p:nvPr/>
          </p:nvSpPr>
          <p:spPr>
            <a:xfrm>
              <a:off x="0" y="0"/>
              <a:ext cx="2266638" cy="1125580"/>
            </a:xfrm>
            <a:custGeom>
              <a:rect b="b" l="l" r="r" t="t"/>
              <a:pathLst>
                <a:path extrusionOk="0" h="1125580" w="2266638">
                  <a:moveTo>
                    <a:pt x="0" y="0"/>
                  </a:moveTo>
                  <a:lnTo>
                    <a:pt x="2266638" y="0"/>
                  </a:lnTo>
                  <a:lnTo>
                    <a:pt x="2266638" y="1125580"/>
                  </a:lnTo>
                  <a:lnTo>
                    <a:pt x="0" y="1125580"/>
                  </a:lnTo>
                  <a:close/>
                </a:path>
              </a:pathLst>
            </a:custGeom>
            <a:blipFill rotWithShape="1">
              <a:blip r:embed="rId9">
                <a:alphaModFix amt="0"/>
              </a:blip>
              <a:stretch>
                <a:fillRect b="12415" l="-16726" r="5120" t="0"/>
              </a:stretch>
            </a:blipFill>
            <a:ln>
              <a:noFill/>
            </a:ln>
          </p:spPr>
        </p:sp>
        <p:sp>
          <p:nvSpPr>
            <p:cNvPr id="1539" name="Google Shape;1539;p43"/>
            <p:cNvSpPr txBox="1"/>
            <p:nvPr/>
          </p:nvSpPr>
          <p:spPr>
            <a:xfrm>
              <a:off x="0" y="0"/>
              <a:ext cx="2266632" cy="11255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2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4275" u="none" cap="none" strike="noStrike">
                  <a:solidFill>
                    <a:srgbClr val="FFFFFF"/>
                  </a:solidFill>
                  <a:latin typeface="Noto Sans"/>
                  <a:ea typeface="Noto Sans"/>
                  <a:cs typeface="Noto Sans"/>
                  <a:sym typeface="Noto Sans"/>
                </a:rPr>
                <a:t> of AI </a:t>
              </a:r>
              <a:endParaRPr/>
            </a:p>
          </p:txBody>
        </p:sp>
      </p:grpSp>
      <p:grpSp>
        <p:nvGrpSpPr>
          <p:cNvPr id="1540" name="Google Shape;1540;p43"/>
          <p:cNvGrpSpPr/>
          <p:nvPr/>
        </p:nvGrpSpPr>
        <p:grpSpPr>
          <a:xfrm>
            <a:off x="752551" y="4495205"/>
            <a:ext cx="4254381" cy="739378"/>
            <a:chOff x="0" y="0"/>
            <a:chExt cx="5672509" cy="985838"/>
          </a:xfrm>
        </p:grpSpPr>
        <p:sp>
          <p:nvSpPr>
            <p:cNvPr id="1541" name="Google Shape;1541;p43"/>
            <p:cNvSpPr/>
            <p:nvPr/>
          </p:nvSpPr>
          <p:spPr>
            <a:xfrm>
              <a:off x="0" y="0"/>
              <a:ext cx="5672509" cy="985837"/>
            </a:xfrm>
            <a:custGeom>
              <a:rect b="b" l="l" r="r" t="t"/>
              <a:pathLst>
                <a:path extrusionOk="0" h="985837" w="5672509">
                  <a:moveTo>
                    <a:pt x="0" y="0"/>
                  </a:moveTo>
                  <a:lnTo>
                    <a:pt x="5672509" y="0"/>
                  </a:lnTo>
                  <a:lnTo>
                    <a:pt x="5672509" y="985837"/>
                  </a:lnTo>
                  <a:lnTo>
                    <a:pt x="0" y="985837"/>
                  </a:lnTo>
                  <a:close/>
                </a:path>
              </a:pathLst>
            </a:custGeom>
            <a:blipFill rotWithShape="1">
              <a:blip r:embed="rId9">
                <a:alphaModFix amt="0"/>
              </a:blip>
              <a:stretch>
                <a:fillRect b="-62118" l="0" r="0" t="-62118"/>
              </a:stretch>
            </a:blipFill>
            <a:ln>
              <a:noFill/>
            </a:ln>
          </p:spPr>
        </p:sp>
        <p:sp>
          <p:nvSpPr>
            <p:cNvPr id="1542" name="Google Shape;1542;p43"/>
            <p:cNvSpPr txBox="1"/>
            <p:nvPr/>
          </p:nvSpPr>
          <p:spPr>
            <a:xfrm>
              <a:off x="0" y="0"/>
              <a:ext cx="5672506" cy="9858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2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4275" u="none" cap="none" strike="noStrike">
                  <a:solidFill>
                    <a:srgbClr val="FFFFFF"/>
                  </a:solidFill>
                  <a:latin typeface="Noto Sans"/>
                  <a:ea typeface="Noto Sans"/>
                  <a:cs typeface="Noto Sans"/>
                  <a:sym typeface="Noto Sans"/>
                </a:rPr>
                <a:t>Integration with </a:t>
              </a:r>
              <a:endParaRPr/>
            </a:p>
          </p:txBody>
        </p:sp>
      </p:grpSp>
      <p:grpSp>
        <p:nvGrpSpPr>
          <p:cNvPr id="1543" name="Google Shape;1543;p43"/>
          <p:cNvGrpSpPr/>
          <p:nvPr/>
        </p:nvGrpSpPr>
        <p:grpSpPr>
          <a:xfrm>
            <a:off x="5006931" y="4449945"/>
            <a:ext cx="1365219" cy="844185"/>
            <a:chOff x="0" y="0"/>
            <a:chExt cx="1820292" cy="1125580"/>
          </a:xfrm>
        </p:grpSpPr>
        <p:sp>
          <p:nvSpPr>
            <p:cNvPr id="1544" name="Google Shape;1544;p43"/>
            <p:cNvSpPr/>
            <p:nvPr/>
          </p:nvSpPr>
          <p:spPr>
            <a:xfrm>
              <a:off x="0" y="0"/>
              <a:ext cx="1820292" cy="1125580"/>
            </a:xfrm>
            <a:custGeom>
              <a:rect b="b" l="l" r="r" t="t"/>
              <a:pathLst>
                <a:path extrusionOk="0" h="1125580" w="1820292">
                  <a:moveTo>
                    <a:pt x="0" y="0"/>
                  </a:moveTo>
                  <a:lnTo>
                    <a:pt x="1820292" y="0"/>
                  </a:lnTo>
                  <a:lnTo>
                    <a:pt x="1820292" y="1125580"/>
                  </a:lnTo>
                  <a:lnTo>
                    <a:pt x="0" y="1125580"/>
                  </a:lnTo>
                  <a:close/>
                </a:path>
              </a:pathLst>
            </a:custGeom>
            <a:blipFill rotWithShape="1">
              <a:blip r:embed="rId9">
                <a:alphaModFix amt="0"/>
              </a:blip>
              <a:stretch>
                <a:fillRect b="12415" l="-25581" r="-13391" t="0"/>
              </a:stretch>
            </a:blipFill>
            <a:ln>
              <a:noFill/>
            </a:ln>
          </p:spPr>
        </p:sp>
        <p:sp>
          <p:nvSpPr>
            <p:cNvPr id="1545" name="Google Shape;1545;p43"/>
            <p:cNvSpPr txBox="1"/>
            <p:nvPr/>
          </p:nvSpPr>
          <p:spPr>
            <a:xfrm>
              <a:off x="0" y="0"/>
              <a:ext cx="1820288" cy="11255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2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4275" u="none" cap="none" strike="noStrike">
                  <a:solidFill>
                    <a:srgbClr val="00AEEF"/>
                  </a:solidFill>
                  <a:latin typeface="Noto Sans"/>
                  <a:ea typeface="Noto Sans"/>
                  <a:cs typeface="Noto Sans"/>
                  <a:sym typeface="Noto Sans"/>
                </a:rPr>
                <a:t>MCP</a:t>
              </a:r>
              <a:endParaRPr/>
            </a:p>
          </p:txBody>
        </p:sp>
      </p:grpSp>
      <p:sp>
        <p:nvSpPr>
          <p:cNvPr id="1546" name="Google Shape;1546;p43"/>
          <p:cNvSpPr/>
          <p:nvPr/>
        </p:nvSpPr>
        <p:spPr>
          <a:xfrm>
            <a:off x="7680922" y="257175"/>
            <a:ext cx="10607040" cy="8786812"/>
          </a:xfrm>
          <a:custGeom>
            <a:rect b="b" l="l" r="r" t="t"/>
            <a:pathLst>
              <a:path extrusionOk="0" h="11715750" w="14142720">
                <a:moveTo>
                  <a:pt x="0" y="0"/>
                </a:moveTo>
                <a:lnTo>
                  <a:pt x="14142720" y="0"/>
                </a:lnTo>
                <a:lnTo>
                  <a:pt x="14142720" y="11715750"/>
                </a:lnTo>
                <a:lnTo>
                  <a:pt x="0" y="1171575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547" name="Google Shape;1547;p43"/>
          <p:cNvSpPr/>
          <p:nvPr/>
        </p:nvSpPr>
        <p:spPr>
          <a:xfrm>
            <a:off x="8572443" y="885825"/>
            <a:ext cx="1828800" cy="1828800"/>
          </a:xfrm>
          <a:custGeom>
            <a:rect b="b" l="l" r="r" t="t"/>
            <a:pathLst>
              <a:path extrusionOk="0" h="2438400" w="2438400">
                <a:moveTo>
                  <a:pt x="0" y="0"/>
                </a:moveTo>
                <a:lnTo>
                  <a:pt x="2438400" y="0"/>
                </a:lnTo>
                <a:lnTo>
                  <a:pt x="2438400" y="2438400"/>
                </a:lnTo>
                <a:lnTo>
                  <a:pt x="0" y="2438400"/>
                </a:lnTo>
                <a:close/>
              </a:path>
            </a:pathLst>
          </a:custGeom>
          <a:solidFill>
            <a:srgbClr val="2E6FE7"/>
          </a:solidFill>
          <a:ln>
            <a:noFill/>
          </a:ln>
        </p:spPr>
      </p:sp>
      <p:grpSp>
        <p:nvGrpSpPr>
          <p:cNvPr id="1548" name="Google Shape;1548;p43"/>
          <p:cNvGrpSpPr/>
          <p:nvPr/>
        </p:nvGrpSpPr>
        <p:grpSpPr>
          <a:xfrm>
            <a:off x="8743893" y="1507331"/>
            <a:ext cx="1485900" cy="578644"/>
            <a:chOff x="0" y="-9525"/>
            <a:chExt cx="1981200" cy="771525"/>
          </a:xfrm>
        </p:grpSpPr>
        <p:sp>
          <p:nvSpPr>
            <p:cNvPr id="1549" name="Google Shape;1549;p43"/>
            <p:cNvSpPr/>
            <p:nvPr/>
          </p:nvSpPr>
          <p:spPr>
            <a:xfrm>
              <a:off x="0" y="0"/>
              <a:ext cx="1981200" cy="762000"/>
            </a:xfrm>
            <a:custGeom>
              <a:rect b="b" l="l" r="r" t="t"/>
              <a:pathLst>
                <a:path extrusionOk="0" h="762000" w="1981200">
                  <a:moveTo>
                    <a:pt x="0" y="0"/>
                  </a:moveTo>
                  <a:lnTo>
                    <a:pt x="1981200" y="0"/>
                  </a:lnTo>
                  <a:lnTo>
                    <a:pt x="1981200" y="762000"/>
                  </a:lnTo>
                  <a:lnTo>
                    <a:pt x="0" y="762000"/>
                  </a:lnTo>
                  <a:close/>
                </a:path>
              </a:pathLst>
            </a:custGeom>
            <a:blipFill rotWithShape="1">
              <a:blip r:embed="rId9">
                <a:alphaModFix amt="0"/>
              </a:blip>
              <a:stretch>
                <a:fillRect b="-661" l="0" r="0" t="-661"/>
              </a:stretch>
            </a:blipFill>
            <a:ln>
              <a:noFill/>
            </a:ln>
          </p:spPr>
        </p:sp>
        <p:sp>
          <p:nvSpPr>
            <p:cNvPr id="1550" name="Google Shape;1550;p43"/>
            <p:cNvSpPr txBox="1"/>
            <p:nvPr/>
          </p:nvSpPr>
          <p:spPr>
            <a:xfrm>
              <a:off x="0" y="-9525"/>
              <a:ext cx="1981200" cy="7715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1995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674" u="none" cap="none" strike="noStrike">
                  <a:solidFill>
                    <a:srgbClr val="FFFFFF"/>
                  </a:solidFill>
                  <a:latin typeface="Noto Sans"/>
                  <a:ea typeface="Noto Sans"/>
                  <a:cs typeface="Noto Sans"/>
                  <a:sym typeface="Noto Sans"/>
                </a:rPr>
                <a:t>Universal AI Connectivity</a:t>
              </a:r>
              <a:endParaRPr/>
            </a:p>
          </p:txBody>
        </p:sp>
      </p:grpSp>
      <p:sp>
        <p:nvSpPr>
          <p:cNvPr id="1551" name="Google Shape;1551;p43"/>
          <p:cNvSpPr/>
          <p:nvPr/>
        </p:nvSpPr>
        <p:spPr>
          <a:xfrm>
            <a:off x="11292621" y="885625"/>
            <a:ext cx="6709791" cy="2343531"/>
          </a:xfrm>
          <a:custGeom>
            <a:rect b="b" l="l" r="r" t="t"/>
            <a:pathLst>
              <a:path extrusionOk="0" h="3124708" w="8946388">
                <a:moveTo>
                  <a:pt x="0" y="0"/>
                </a:moveTo>
                <a:lnTo>
                  <a:pt x="8946388" y="0"/>
                </a:lnTo>
                <a:lnTo>
                  <a:pt x="8946388" y="3124708"/>
                </a:lnTo>
                <a:lnTo>
                  <a:pt x="0" y="3124708"/>
                </a:lnTo>
                <a:close/>
              </a:path>
            </a:pathLst>
          </a:custGeom>
          <a:solidFill>
            <a:srgbClr val="FFFFFF"/>
          </a:solidFill>
          <a:ln cap="sq" cmpd="sng" w="9525">
            <a:solidFill>
              <a:srgbClr val="4285F4"/>
            </a:solidFill>
            <a:prstDash val="solid"/>
            <a:miter lim="8000"/>
            <a:headEnd len="sm" w="sm" type="none"/>
            <a:tailEnd len="sm" w="sm" type="none"/>
          </a:ln>
        </p:spPr>
      </p:sp>
      <p:grpSp>
        <p:nvGrpSpPr>
          <p:cNvPr id="1552" name="Google Shape;1552;p43"/>
          <p:cNvGrpSpPr/>
          <p:nvPr/>
        </p:nvGrpSpPr>
        <p:grpSpPr>
          <a:xfrm>
            <a:off x="11864321" y="1107281"/>
            <a:ext cx="5852182" cy="435769"/>
            <a:chOff x="0" y="-9525"/>
            <a:chExt cx="7802909" cy="581026"/>
          </a:xfrm>
        </p:grpSpPr>
        <p:sp>
          <p:nvSpPr>
            <p:cNvPr id="1553" name="Google Shape;1553;p43"/>
            <p:cNvSpPr/>
            <p:nvPr/>
          </p:nvSpPr>
          <p:spPr>
            <a:xfrm>
              <a:off x="0" y="0"/>
              <a:ext cx="7802909" cy="571501"/>
            </a:xfrm>
            <a:custGeom>
              <a:rect b="b" l="l" r="r" t="t"/>
              <a:pathLst>
                <a:path extrusionOk="0" h="571501" w="7802909">
                  <a:moveTo>
                    <a:pt x="0" y="0"/>
                  </a:moveTo>
                  <a:lnTo>
                    <a:pt x="7802909" y="0"/>
                  </a:lnTo>
                  <a:lnTo>
                    <a:pt x="7802909" y="571501"/>
                  </a:lnTo>
                  <a:lnTo>
                    <a:pt x="0" y="571501"/>
                  </a:lnTo>
                  <a:close/>
                </a:path>
              </a:pathLst>
            </a:custGeom>
            <a:blipFill rotWithShape="1">
              <a:blip r:embed="rId9">
                <a:alphaModFix amt="0"/>
              </a:blip>
              <a:stretch>
                <a:fillRect b="-216042" l="0" r="0" t="-216042"/>
              </a:stretch>
            </a:blipFill>
            <a:ln>
              <a:noFill/>
            </a:ln>
          </p:spPr>
        </p:sp>
        <p:sp>
          <p:nvSpPr>
            <p:cNvPr id="1554" name="Google Shape;1554;p43"/>
            <p:cNvSpPr txBox="1"/>
            <p:nvPr/>
          </p:nvSpPr>
          <p:spPr>
            <a:xfrm>
              <a:off x="0" y="-9525"/>
              <a:ext cx="7802905" cy="5810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00" u="none" cap="none" strike="noStrike">
                  <a:solidFill>
                    <a:srgbClr val="0F1B2C"/>
                  </a:solidFill>
                  <a:latin typeface="Noto Sans"/>
                  <a:ea typeface="Noto Sans"/>
                  <a:cs typeface="Noto Sans"/>
                  <a:sym typeface="Noto Sans"/>
                </a:rPr>
                <a:t>Connect any AI to any data source</a:t>
              </a:r>
              <a:endParaRPr/>
            </a:p>
          </p:txBody>
        </p:sp>
      </p:grpSp>
      <p:grpSp>
        <p:nvGrpSpPr>
          <p:cNvPr id="1555" name="Google Shape;1555;p43"/>
          <p:cNvGrpSpPr/>
          <p:nvPr/>
        </p:nvGrpSpPr>
        <p:grpSpPr>
          <a:xfrm>
            <a:off x="11864321" y="1593056"/>
            <a:ext cx="5852182" cy="435769"/>
            <a:chOff x="0" y="-9525"/>
            <a:chExt cx="7802909" cy="581026"/>
          </a:xfrm>
        </p:grpSpPr>
        <p:sp>
          <p:nvSpPr>
            <p:cNvPr id="1556" name="Google Shape;1556;p43"/>
            <p:cNvSpPr/>
            <p:nvPr/>
          </p:nvSpPr>
          <p:spPr>
            <a:xfrm>
              <a:off x="0" y="0"/>
              <a:ext cx="7802909" cy="571501"/>
            </a:xfrm>
            <a:custGeom>
              <a:rect b="b" l="l" r="r" t="t"/>
              <a:pathLst>
                <a:path extrusionOk="0" h="571501" w="7802909">
                  <a:moveTo>
                    <a:pt x="0" y="0"/>
                  </a:moveTo>
                  <a:lnTo>
                    <a:pt x="7802909" y="0"/>
                  </a:lnTo>
                  <a:lnTo>
                    <a:pt x="7802909" y="571501"/>
                  </a:lnTo>
                  <a:lnTo>
                    <a:pt x="0" y="571501"/>
                  </a:lnTo>
                  <a:close/>
                </a:path>
              </a:pathLst>
            </a:custGeom>
            <a:blipFill rotWithShape="1">
              <a:blip r:embed="rId9">
                <a:alphaModFix amt="0"/>
              </a:blip>
              <a:stretch>
                <a:fillRect b="-216042" l="0" r="0" t="-216042"/>
              </a:stretch>
            </a:blipFill>
            <a:ln>
              <a:noFill/>
            </a:ln>
          </p:spPr>
        </p:sp>
        <p:sp>
          <p:nvSpPr>
            <p:cNvPr id="1557" name="Google Shape;1557;p43"/>
            <p:cNvSpPr txBox="1"/>
            <p:nvPr/>
          </p:nvSpPr>
          <p:spPr>
            <a:xfrm>
              <a:off x="0" y="-9525"/>
              <a:ext cx="7802905" cy="5810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00" u="none" cap="none" strike="noStrike">
                  <a:solidFill>
                    <a:srgbClr val="0F1B2C"/>
                  </a:solidFill>
                  <a:latin typeface="Noto Sans"/>
                  <a:ea typeface="Noto Sans"/>
                  <a:cs typeface="Noto Sans"/>
                  <a:sym typeface="Noto Sans"/>
                </a:rPr>
                <a:t>Eliminate vendor lock-in</a:t>
              </a:r>
              <a:endParaRPr/>
            </a:p>
          </p:txBody>
        </p:sp>
      </p:grpSp>
      <p:grpSp>
        <p:nvGrpSpPr>
          <p:cNvPr id="1558" name="Google Shape;1558;p43"/>
          <p:cNvGrpSpPr/>
          <p:nvPr/>
        </p:nvGrpSpPr>
        <p:grpSpPr>
          <a:xfrm>
            <a:off x="11864321" y="2078831"/>
            <a:ext cx="5852182" cy="864394"/>
            <a:chOff x="0" y="-9525"/>
            <a:chExt cx="7802909" cy="1152525"/>
          </a:xfrm>
        </p:grpSpPr>
        <p:sp>
          <p:nvSpPr>
            <p:cNvPr id="1559" name="Google Shape;1559;p43"/>
            <p:cNvSpPr/>
            <p:nvPr/>
          </p:nvSpPr>
          <p:spPr>
            <a:xfrm>
              <a:off x="0" y="0"/>
              <a:ext cx="7802909" cy="1143000"/>
            </a:xfrm>
            <a:custGeom>
              <a:rect b="b" l="l" r="r" t="t"/>
              <a:pathLst>
                <a:path extrusionOk="0" h="1143000" w="7802909">
                  <a:moveTo>
                    <a:pt x="0" y="0"/>
                  </a:moveTo>
                  <a:lnTo>
                    <a:pt x="7802909" y="0"/>
                  </a:lnTo>
                  <a:lnTo>
                    <a:pt x="7802909" y="1143000"/>
                  </a:lnTo>
                  <a:lnTo>
                    <a:pt x="0" y="1143000"/>
                  </a:lnTo>
                  <a:close/>
                </a:path>
              </a:pathLst>
            </a:custGeom>
            <a:blipFill rotWithShape="1">
              <a:blip r:embed="rId9">
                <a:alphaModFix amt="0"/>
              </a:blip>
              <a:stretch>
                <a:fillRect b="-83021" l="0" r="0" t="-83021"/>
              </a:stretch>
            </a:blipFill>
            <a:ln>
              <a:noFill/>
            </a:ln>
          </p:spPr>
        </p:sp>
        <p:sp>
          <p:nvSpPr>
            <p:cNvPr id="1560" name="Google Shape;1560;p43"/>
            <p:cNvSpPr txBox="1"/>
            <p:nvPr/>
          </p:nvSpPr>
          <p:spPr>
            <a:xfrm>
              <a:off x="0" y="-9525"/>
              <a:ext cx="7802905" cy="11525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00" u="none" cap="none" strike="noStrike">
                  <a:solidFill>
                    <a:srgbClr val="0F1B2C"/>
                  </a:solidFill>
                  <a:latin typeface="Noto Sans"/>
                  <a:ea typeface="Noto Sans"/>
                  <a:cs typeface="Noto Sans"/>
                  <a:sym typeface="Noto Sans"/>
                </a:rPr>
                <a:t>Standardized protocol across platforms</a:t>
              </a:r>
              <a:endParaRPr/>
            </a:p>
          </p:txBody>
        </p:sp>
      </p:grpSp>
      <p:sp>
        <p:nvSpPr>
          <p:cNvPr id="1561" name="Google Shape;1561;p43"/>
          <p:cNvSpPr/>
          <p:nvPr/>
        </p:nvSpPr>
        <p:spPr>
          <a:xfrm>
            <a:off x="8572443" y="3457575"/>
            <a:ext cx="1828800" cy="1828800"/>
          </a:xfrm>
          <a:custGeom>
            <a:rect b="b" l="l" r="r" t="t"/>
            <a:pathLst>
              <a:path extrusionOk="0" h="2438400" w="2438400">
                <a:moveTo>
                  <a:pt x="0" y="0"/>
                </a:moveTo>
                <a:lnTo>
                  <a:pt x="2438400" y="0"/>
                </a:lnTo>
                <a:lnTo>
                  <a:pt x="2438400" y="2438400"/>
                </a:lnTo>
                <a:lnTo>
                  <a:pt x="0" y="2438400"/>
                </a:lnTo>
                <a:close/>
              </a:path>
            </a:pathLst>
          </a:custGeom>
          <a:solidFill>
            <a:srgbClr val="2E6FE7"/>
          </a:solidFill>
          <a:ln>
            <a:noFill/>
          </a:ln>
        </p:spPr>
      </p:sp>
      <p:grpSp>
        <p:nvGrpSpPr>
          <p:cNvPr id="1562" name="Google Shape;1562;p43"/>
          <p:cNvGrpSpPr/>
          <p:nvPr/>
        </p:nvGrpSpPr>
        <p:grpSpPr>
          <a:xfrm>
            <a:off x="8743893" y="4079081"/>
            <a:ext cx="1485900" cy="578644"/>
            <a:chOff x="0" y="-9525"/>
            <a:chExt cx="1981200" cy="771525"/>
          </a:xfrm>
        </p:grpSpPr>
        <p:sp>
          <p:nvSpPr>
            <p:cNvPr id="1563" name="Google Shape;1563;p43"/>
            <p:cNvSpPr/>
            <p:nvPr/>
          </p:nvSpPr>
          <p:spPr>
            <a:xfrm>
              <a:off x="0" y="0"/>
              <a:ext cx="1981200" cy="762000"/>
            </a:xfrm>
            <a:custGeom>
              <a:rect b="b" l="l" r="r" t="t"/>
              <a:pathLst>
                <a:path extrusionOk="0" h="762000" w="1981200">
                  <a:moveTo>
                    <a:pt x="0" y="0"/>
                  </a:moveTo>
                  <a:lnTo>
                    <a:pt x="1981200" y="0"/>
                  </a:lnTo>
                  <a:lnTo>
                    <a:pt x="1981200" y="762000"/>
                  </a:lnTo>
                  <a:lnTo>
                    <a:pt x="0" y="762000"/>
                  </a:lnTo>
                  <a:close/>
                </a:path>
              </a:pathLst>
            </a:custGeom>
            <a:blipFill rotWithShape="1">
              <a:blip r:embed="rId9">
                <a:alphaModFix amt="0"/>
              </a:blip>
              <a:stretch>
                <a:fillRect b="-661" l="0" r="0" t="-661"/>
              </a:stretch>
            </a:blipFill>
            <a:ln>
              <a:noFill/>
            </a:ln>
          </p:spPr>
        </p:sp>
        <p:sp>
          <p:nvSpPr>
            <p:cNvPr id="1564" name="Google Shape;1564;p43"/>
            <p:cNvSpPr txBox="1"/>
            <p:nvPr/>
          </p:nvSpPr>
          <p:spPr>
            <a:xfrm>
              <a:off x="0" y="-9525"/>
              <a:ext cx="1981200" cy="7715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1995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674" u="none" cap="none" strike="noStrike">
                  <a:solidFill>
                    <a:srgbClr val="FFFFFF"/>
                  </a:solidFill>
                  <a:latin typeface="Noto Sans"/>
                  <a:ea typeface="Noto Sans"/>
                  <a:cs typeface="Noto Sans"/>
                  <a:sym typeface="Noto Sans"/>
                </a:rPr>
                <a:t>Composable Intelligence</a:t>
              </a:r>
              <a:endParaRPr/>
            </a:p>
          </p:txBody>
        </p:sp>
      </p:grpSp>
      <p:sp>
        <p:nvSpPr>
          <p:cNvPr id="1565" name="Google Shape;1565;p43"/>
          <p:cNvSpPr/>
          <p:nvPr/>
        </p:nvSpPr>
        <p:spPr>
          <a:xfrm>
            <a:off x="11292621" y="3457375"/>
            <a:ext cx="6709791" cy="1914906"/>
          </a:xfrm>
          <a:custGeom>
            <a:rect b="b" l="l" r="r" t="t"/>
            <a:pathLst>
              <a:path extrusionOk="0" h="2553208" w="8946388">
                <a:moveTo>
                  <a:pt x="0" y="0"/>
                </a:moveTo>
                <a:lnTo>
                  <a:pt x="8946388" y="0"/>
                </a:lnTo>
                <a:lnTo>
                  <a:pt x="8946388" y="2553208"/>
                </a:lnTo>
                <a:lnTo>
                  <a:pt x="0" y="2553208"/>
                </a:lnTo>
                <a:close/>
              </a:path>
            </a:pathLst>
          </a:custGeom>
          <a:solidFill>
            <a:srgbClr val="FFFFFF"/>
          </a:solidFill>
          <a:ln cap="sq" cmpd="sng" w="9525">
            <a:solidFill>
              <a:srgbClr val="4285F4"/>
            </a:solidFill>
            <a:prstDash val="solid"/>
            <a:miter lim="8000"/>
            <a:headEnd len="sm" w="sm" type="none"/>
            <a:tailEnd len="sm" w="sm" type="none"/>
          </a:ln>
        </p:spPr>
      </p:sp>
      <p:grpSp>
        <p:nvGrpSpPr>
          <p:cNvPr id="1566" name="Google Shape;1566;p43"/>
          <p:cNvGrpSpPr/>
          <p:nvPr/>
        </p:nvGrpSpPr>
        <p:grpSpPr>
          <a:xfrm>
            <a:off x="11864321" y="3679031"/>
            <a:ext cx="5852182" cy="435769"/>
            <a:chOff x="0" y="-9525"/>
            <a:chExt cx="7802909" cy="581026"/>
          </a:xfrm>
        </p:grpSpPr>
        <p:sp>
          <p:nvSpPr>
            <p:cNvPr id="1567" name="Google Shape;1567;p43"/>
            <p:cNvSpPr/>
            <p:nvPr/>
          </p:nvSpPr>
          <p:spPr>
            <a:xfrm>
              <a:off x="0" y="0"/>
              <a:ext cx="7802909" cy="571501"/>
            </a:xfrm>
            <a:custGeom>
              <a:rect b="b" l="l" r="r" t="t"/>
              <a:pathLst>
                <a:path extrusionOk="0" h="571501" w="7802909">
                  <a:moveTo>
                    <a:pt x="0" y="0"/>
                  </a:moveTo>
                  <a:lnTo>
                    <a:pt x="7802909" y="0"/>
                  </a:lnTo>
                  <a:lnTo>
                    <a:pt x="7802909" y="571501"/>
                  </a:lnTo>
                  <a:lnTo>
                    <a:pt x="0" y="571501"/>
                  </a:lnTo>
                  <a:close/>
                </a:path>
              </a:pathLst>
            </a:custGeom>
            <a:blipFill rotWithShape="1">
              <a:blip r:embed="rId9">
                <a:alphaModFix amt="0"/>
              </a:blip>
              <a:stretch>
                <a:fillRect b="-216042" l="0" r="0" t="-216042"/>
              </a:stretch>
            </a:blipFill>
            <a:ln>
              <a:noFill/>
            </a:ln>
          </p:spPr>
        </p:sp>
        <p:sp>
          <p:nvSpPr>
            <p:cNvPr id="1568" name="Google Shape;1568;p43"/>
            <p:cNvSpPr txBox="1"/>
            <p:nvPr/>
          </p:nvSpPr>
          <p:spPr>
            <a:xfrm>
              <a:off x="0" y="-9525"/>
              <a:ext cx="7802905" cy="5810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00" u="none" cap="none" strike="noStrike">
                  <a:solidFill>
                    <a:srgbClr val="0F1B2C"/>
                  </a:solidFill>
                  <a:latin typeface="Noto Sans"/>
                  <a:ea typeface="Noto Sans"/>
                  <a:cs typeface="Noto Sans"/>
                  <a:sym typeface="Noto Sans"/>
                </a:rPr>
                <a:t>Mix and match AI capabilities</a:t>
              </a:r>
              <a:endParaRPr/>
            </a:p>
          </p:txBody>
        </p:sp>
      </p:grpSp>
      <p:grpSp>
        <p:nvGrpSpPr>
          <p:cNvPr id="1569" name="Google Shape;1569;p43"/>
          <p:cNvGrpSpPr/>
          <p:nvPr/>
        </p:nvGrpSpPr>
        <p:grpSpPr>
          <a:xfrm>
            <a:off x="11864321" y="4164806"/>
            <a:ext cx="5852182" cy="435769"/>
            <a:chOff x="0" y="-9525"/>
            <a:chExt cx="7802909" cy="581026"/>
          </a:xfrm>
        </p:grpSpPr>
        <p:sp>
          <p:nvSpPr>
            <p:cNvPr id="1570" name="Google Shape;1570;p43"/>
            <p:cNvSpPr/>
            <p:nvPr/>
          </p:nvSpPr>
          <p:spPr>
            <a:xfrm>
              <a:off x="0" y="0"/>
              <a:ext cx="7802909" cy="571501"/>
            </a:xfrm>
            <a:custGeom>
              <a:rect b="b" l="l" r="r" t="t"/>
              <a:pathLst>
                <a:path extrusionOk="0" h="571501" w="7802909">
                  <a:moveTo>
                    <a:pt x="0" y="0"/>
                  </a:moveTo>
                  <a:lnTo>
                    <a:pt x="7802909" y="0"/>
                  </a:lnTo>
                  <a:lnTo>
                    <a:pt x="7802909" y="571501"/>
                  </a:lnTo>
                  <a:lnTo>
                    <a:pt x="0" y="571501"/>
                  </a:lnTo>
                  <a:close/>
                </a:path>
              </a:pathLst>
            </a:custGeom>
            <a:blipFill rotWithShape="1">
              <a:blip r:embed="rId9">
                <a:alphaModFix amt="0"/>
              </a:blip>
              <a:stretch>
                <a:fillRect b="-216042" l="0" r="0" t="-216042"/>
              </a:stretch>
            </a:blipFill>
            <a:ln>
              <a:noFill/>
            </a:ln>
          </p:spPr>
        </p:sp>
        <p:sp>
          <p:nvSpPr>
            <p:cNvPr id="1571" name="Google Shape;1571;p43"/>
            <p:cNvSpPr txBox="1"/>
            <p:nvPr/>
          </p:nvSpPr>
          <p:spPr>
            <a:xfrm>
              <a:off x="0" y="-9525"/>
              <a:ext cx="7802905" cy="5810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00" u="none" cap="none" strike="noStrike">
                  <a:solidFill>
                    <a:srgbClr val="0F1B2C"/>
                  </a:solidFill>
                  <a:latin typeface="Noto Sans"/>
                  <a:ea typeface="Noto Sans"/>
                  <a:cs typeface="Noto Sans"/>
                  <a:sym typeface="Noto Sans"/>
                </a:rPr>
                <a:t>Build custom workflows</a:t>
              </a:r>
              <a:endParaRPr/>
            </a:p>
          </p:txBody>
        </p:sp>
      </p:grpSp>
      <p:grpSp>
        <p:nvGrpSpPr>
          <p:cNvPr id="1572" name="Google Shape;1572;p43"/>
          <p:cNvGrpSpPr/>
          <p:nvPr/>
        </p:nvGrpSpPr>
        <p:grpSpPr>
          <a:xfrm>
            <a:off x="11864321" y="4650581"/>
            <a:ext cx="5852182" cy="435769"/>
            <a:chOff x="0" y="-9525"/>
            <a:chExt cx="7802909" cy="581026"/>
          </a:xfrm>
        </p:grpSpPr>
        <p:sp>
          <p:nvSpPr>
            <p:cNvPr id="1573" name="Google Shape;1573;p43"/>
            <p:cNvSpPr/>
            <p:nvPr/>
          </p:nvSpPr>
          <p:spPr>
            <a:xfrm>
              <a:off x="0" y="0"/>
              <a:ext cx="7802909" cy="571501"/>
            </a:xfrm>
            <a:custGeom>
              <a:rect b="b" l="l" r="r" t="t"/>
              <a:pathLst>
                <a:path extrusionOk="0" h="571501" w="7802909">
                  <a:moveTo>
                    <a:pt x="0" y="0"/>
                  </a:moveTo>
                  <a:lnTo>
                    <a:pt x="7802909" y="0"/>
                  </a:lnTo>
                  <a:lnTo>
                    <a:pt x="7802909" y="571501"/>
                  </a:lnTo>
                  <a:lnTo>
                    <a:pt x="0" y="571501"/>
                  </a:lnTo>
                  <a:close/>
                </a:path>
              </a:pathLst>
            </a:custGeom>
            <a:blipFill rotWithShape="1">
              <a:blip r:embed="rId9">
                <a:alphaModFix amt="0"/>
              </a:blip>
              <a:stretch>
                <a:fillRect b="-216042" l="0" r="0" t="-216042"/>
              </a:stretch>
            </a:blipFill>
            <a:ln>
              <a:noFill/>
            </a:ln>
          </p:spPr>
        </p:sp>
        <p:sp>
          <p:nvSpPr>
            <p:cNvPr id="1574" name="Google Shape;1574;p43"/>
            <p:cNvSpPr txBox="1"/>
            <p:nvPr/>
          </p:nvSpPr>
          <p:spPr>
            <a:xfrm>
              <a:off x="0" y="-9525"/>
              <a:ext cx="7802905" cy="5810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00" u="none" cap="none" strike="noStrike">
                  <a:solidFill>
                    <a:srgbClr val="0F1B2C"/>
                  </a:solidFill>
                  <a:latin typeface="Noto Sans"/>
                  <a:ea typeface="Noto Sans"/>
                  <a:cs typeface="Noto Sans"/>
                  <a:sym typeface="Noto Sans"/>
                </a:rPr>
                <a:t>Reusable components and tools</a:t>
              </a:r>
              <a:endParaRPr/>
            </a:p>
          </p:txBody>
        </p:sp>
      </p:grpSp>
      <p:sp>
        <p:nvSpPr>
          <p:cNvPr id="1575" name="Google Shape;1575;p43"/>
          <p:cNvSpPr/>
          <p:nvPr/>
        </p:nvSpPr>
        <p:spPr>
          <a:xfrm>
            <a:off x="8572443" y="5600700"/>
            <a:ext cx="1828800" cy="1828800"/>
          </a:xfrm>
          <a:custGeom>
            <a:rect b="b" l="l" r="r" t="t"/>
            <a:pathLst>
              <a:path extrusionOk="0" h="2438400" w="2438400">
                <a:moveTo>
                  <a:pt x="0" y="0"/>
                </a:moveTo>
                <a:lnTo>
                  <a:pt x="2438400" y="0"/>
                </a:lnTo>
                <a:lnTo>
                  <a:pt x="2438400" y="2438400"/>
                </a:lnTo>
                <a:lnTo>
                  <a:pt x="0" y="2438400"/>
                </a:lnTo>
                <a:close/>
              </a:path>
            </a:pathLst>
          </a:custGeom>
          <a:solidFill>
            <a:srgbClr val="2E6FE7"/>
          </a:solidFill>
          <a:ln>
            <a:noFill/>
          </a:ln>
        </p:spPr>
      </p:sp>
      <p:grpSp>
        <p:nvGrpSpPr>
          <p:cNvPr id="1576" name="Google Shape;1576;p43"/>
          <p:cNvGrpSpPr/>
          <p:nvPr/>
        </p:nvGrpSpPr>
        <p:grpSpPr>
          <a:xfrm>
            <a:off x="8739769" y="6222206"/>
            <a:ext cx="1494159" cy="578644"/>
            <a:chOff x="0" y="-9525"/>
            <a:chExt cx="1992213" cy="771525"/>
          </a:xfrm>
        </p:grpSpPr>
        <p:sp>
          <p:nvSpPr>
            <p:cNvPr id="1577" name="Google Shape;1577;p43"/>
            <p:cNvSpPr/>
            <p:nvPr/>
          </p:nvSpPr>
          <p:spPr>
            <a:xfrm>
              <a:off x="0" y="0"/>
              <a:ext cx="1992213" cy="762000"/>
            </a:xfrm>
            <a:custGeom>
              <a:rect b="b" l="l" r="r" t="t"/>
              <a:pathLst>
                <a:path extrusionOk="0" h="762000" w="1992213">
                  <a:moveTo>
                    <a:pt x="0" y="0"/>
                  </a:moveTo>
                  <a:lnTo>
                    <a:pt x="1992213" y="0"/>
                  </a:lnTo>
                  <a:lnTo>
                    <a:pt x="1992213" y="762000"/>
                  </a:lnTo>
                  <a:lnTo>
                    <a:pt x="0" y="762000"/>
                  </a:lnTo>
                  <a:close/>
                </a:path>
              </a:pathLst>
            </a:custGeom>
            <a:blipFill rotWithShape="1">
              <a:blip r:embed="rId9">
                <a:alphaModFix amt="0"/>
              </a:blip>
              <a:stretch>
                <a:fillRect b="-942" l="0" r="0" t="-942"/>
              </a:stretch>
            </a:blipFill>
            <a:ln>
              <a:noFill/>
            </a:ln>
          </p:spPr>
        </p:sp>
        <p:sp>
          <p:nvSpPr>
            <p:cNvPr id="1578" name="Google Shape;1578;p43"/>
            <p:cNvSpPr txBox="1"/>
            <p:nvPr/>
          </p:nvSpPr>
          <p:spPr>
            <a:xfrm>
              <a:off x="0" y="-9525"/>
              <a:ext cx="1992211" cy="7715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1995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674" u="none" cap="none" strike="noStrike">
                  <a:solidFill>
                    <a:srgbClr val="FFFFFF"/>
                  </a:solidFill>
                  <a:latin typeface="Noto Sans"/>
                  <a:ea typeface="Noto Sans"/>
                  <a:cs typeface="Noto Sans"/>
                  <a:sym typeface="Noto Sans"/>
                </a:rPr>
                <a:t>Democratized AI Access</a:t>
              </a:r>
              <a:endParaRPr/>
            </a:p>
          </p:txBody>
        </p:sp>
      </p:grpSp>
      <p:sp>
        <p:nvSpPr>
          <p:cNvPr id="1579" name="Google Shape;1579;p43"/>
          <p:cNvSpPr/>
          <p:nvPr/>
        </p:nvSpPr>
        <p:spPr>
          <a:xfrm>
            <a:off x="11292621" y="5600500"/>
            <a:ext cx="6709791" cy="2343531"/>
          </a:xfrm>
          <a:custGeom>
            <a:rect b="b" l="l" r="r" t="t"/>
            <a:pathLst>
              <a:path extrusionOk="0" h="3124708" w="8946388">
                <a:moveTo>
                  <a:pt x="0" y="0"/>
                </a:moveTo>
                <a:lnTo>
                  <a:pt x="8946388" y="0"/>
                </a:lnTo>
                <a:lnTo>
                  <a:pt x="8946388" y="3124708"/>
                </a:lnTo>
                <a:lnTo>
                  <a:pt x="0" y="3124708"/>
                </a:lnTo>
                <a:close/>
              </a:path>
            </a:pathLst>
          </a:custGeom>
          <a:solidFill>
            <a:srgbClr val="FFFFFF"/>
          </a:solidFill>
          <a:ln cap="sq" cmpd="sng" w="9525">
            <a:solidFill>
              <a:srgbClr val="4285F4"/>
            </a:solidFill>
            <a:prstDash val="solid"/>
            <a:miter lim="8000"/>
            <a:headEnd len="sm" w="sm" type="none"/>
            <a:tailEnd len="sm" w="sm" type="none"/>
          </a:ln>
        </p:spPr>
      </p:sp>
      <p:grpSp>
        <p:nvGrpSpPr>
          <p:cNvPr id="1580" name="Google Shape;1580;p43"/>
          <p:cNvGrpSpPr/>
          <p:nvPr/>
        </p:nvGrpSpPr>
        <p:grpSpPr>
          <a:xfrm>
            <a:off x="11864321" y="5822156"/>
            <a:ext cx="5852182" cy="435769"/>
            <a:chOff x="0" y="-9525"/>
            <a:chExt cx="7802909" cy="581026"/>
          </a:xfrm>
        </p:grpSpPr>
        <p:sp>
          <p:nvSpPr>
            <p:cNvPr id="1581" name="Google Shape;1581;p43"/>
            <p:cNvSpPr/>
            <p:nvPr/>
          </p:nvSpPr>
          <p:spPr>
            <a:xfrm>
              <a:off x="0" y="0"/>
              <a:ext cx="7802909" cy="571501"/>
            </a:xfrm>
            <a:custGeom>
              <a:rect b="b" l="l" r="r" t="t"/>
              <a:pathLst>
                <a:path extrusionOk="0" h="571501" w="7802909">
                  <a:moveTo>
                    <a:pt x="0" y="0"/>
                  </a:moveTo>
                  <a:lnTo>
                    <a:pt x="7802909" y="0"/>
                  </a:lnTo>
                  <a:lnTo>
                    <a:pt x="7802909" y="571501"/>
                  </a:lnTo>
                  <a:lnTo>
                    <a:pt x="0" y="571501"/>
                  </a:lnTo>
                  <a:close/>
                </a:path>
              </a:pathLst>
            </a:custGeom>
            <a:blipFill rotWithShape="1">
              <a:blip r:embed="rId9">
                <a:alphaModFix amt="0"/>
              </a:blip>
              <a:stretch>
                <a:fillRect b="-216042" l="0" r="0" t="-216042"/>
              </a:stretch>
            </a:blipFill>
            <a:ln>
              <a:noFill/>
            </a:ln>
          </p:spPr>
        </p:sp>
        <p:sp>
          <p:nvSpPr>
            <p:cNvPr id="1582" name="Google Shape;1582;p43"/>
            <p:cNvSpPr txBox="1"/>
            <p:nvPr/>
          </p:nvSpPr>
          <p:spPr>
            <a:xfrm>
              <a:off x="0" y="-9525"/>
              <a:ext cx="7802905" cy="5810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00" u="none" cap="none" strike="noStrike">
                  <a:solidFill>
                    <a:srgbClr val="0F1B2C"/>
                  </a:solidFill>
                  <a:latin typeface="Noto Sans"/>
                  <a:ea typeface="Noto Sans"/>
                  <a:cs typeface="Noto Sans"/>
                  <a:sym typeface="Noto Sans"/>
                </a:rPr>
                <a:t>Lower barriers to AI adoption</a:t>
              </a:r>
              <a:endParaRPr/>
            </a:p>
          </p:txBody>
        </p:sp>
      </p:grpSp>
      <p:grpSp>
        <p:nvGrpSpPr>
          <p:cNvPr id="1583" name="Google Shape;1583;p43"/>
          <p:cNvGrpSpPr/>
          <p:nvPr/>
        </p:nvGrpSpPr>
        <p:grpSpPr>
          <a:xfrm>
            <a:off x="11864321" y="6307931"/>
            <a:ext cx="5852182" cy="435770"/>
            <a:chOff x="0" y="-9525"/>
            <a:chExt cx="7802909" cy="581026"/>
          </a:xfrm>
        </p:grpSpPr>
        <p:sp>
          <p:nvSpPr>
            <p:cNvPr id="1584" name="Google Shape;1584;p43"/>
            <p:cNvSpPr/>
            <p:nvPr/>
          </p:nvSpPr>
          <p:spPr>
            <a:xfrm>
              <a:off x="0" y="0"/>
              <a:ext cx="7802909" cy="571501"/>
            </a:xfrm>
            <a:custGeom>
              <a:rect b="b" l="l" r="r" t="t"/>
              <a:pathLst>
                <a:path extrusionOk="0" h="571501" w="7802909">
                  <a:moveTo>
                    <a:pt x="0" y="0"/>
                  </a:moveTo>
                  <a:lnTo>
                    <a:pt x="7802909" y="0"/>
                  </a:lnTo>
                  <a:lnTo>
                    <a:pt x="7802909" y="571501"/>
                  </a:lnTo>
                  <a:lnTo>
                    <a:pt x="0" y="571501"/>
                  </a:lnTo>
                  <a:close/>
                </a:path>
              </a:pathLst>
            </a:custGeom>
            <a:blipFill rotWithShape="1">
              <a:blip r:embed="rId9">
                <a:alphaModFix amt="0"/>
              </a:blip>
              <a:stretch>
                <a:fillRect b="-216042" l="0" r="0" t="-216042"/>
              </a:stretch>
            </a:blipFill>
            <a:ln>
              <a:noFill/>
            </a:ln>
          </p:spPr>
        </p:sp>
        <p:sp>
          <p:nvSpPr>
            <p:cNvPr id="1585" name="Google Shape;1585;p43"/>
            <p:cNvSpPr txBox="1"/>
            <p:nvPr/>
          </p:nvSpPr>
          <p:spPr>
            <a:xfrm>
              <a:off x="0" y="-9525"/>
              <a:ext cx="7802905" cy="5810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00" u="none" cap="none" strike="noStrike">
                  <a:solidFill>
                    <a:srgbClr val="0F1B2C"/>
                  </a:solidFill>
                  <a:latin typeface="Noto Sans"/>
                  <a:ea typeface="Noto Sans"/>
                  <a:cs typeface="Noto Sans"/>
                  <a:sym typeface="Noto Sans"/>
                </a:rPr>
                <a:t>Open-source and community-driven</a:t>
              </a:r>
              <a:endParaRPr/>
            </a:p>
          </p:txBody>
        </p:sp>
      </p:grpSp>
      <p:grpSp>
        <p:nvGrpSpPr>
          <p:cNvPr id="1586" name="Google Shape;1586;p43"/>
          <p:cNvGrpSpPr/>
          <p:nvPr/>
        </p:nvGrpSpPr>
        <p:grpSpPr>
          <a:xfrm>
            <a:off x="11864321" y="6793706"/>
            <a:ext cx="5852182" cy="435770"/>
            <a:chOff x="0" y="-9525"/>
            <a:chExt cx="7802909" cy="581026"/>
          </a:xfrm>
        </p:grpSpPr>
        <p:sp>
          <p:nvSpPr>
            <p:cNvPr id="1587" name="Google Shape;1587;p43"/>
            <p:cNvSpPr/>
            <p:nvPr/>
          </p:nvSpPr>
          <p:spPr>
            <a:xfrm>
              <a:off x="0" y="0"/>
              <a:ext cx="7802909" cy="571501"/>
            </a:xfrm>
            <a:custGeom>
              <a:rect b="b" l="l" r="r" t="t"/>
              <a:pathLst>
                <a:path extrusionOk="0" h="571501" w="7802909">
                  <a:moveTo>
                    <a:pt x="0" y="0"/>
                  </a:moveTo>
                  <a:lnTo>
                    <a:pt x="7802909" y="0"/>
                  </a:lnTo>
                  <a:lnTo>
                    <a:pt x="7802909" y="571501"/>
                  </a:lnTo>
                  <a:lnTo>
                    <a:pt x="0" y="571501"/>
                  </a:lnTo>
                  <a:close/>
                </a:path>
              </a:pathLst>
            </a:custGeom>
            <a:blipFill rotWithShape="1">
              <a:blip r:embed="rId9">
                <a:alphaModFix amt="0"/>
              </a:blip>
              <a:stretch>
                <a:fillRect b="-216042" l="0" r="0" t="-216042"/>
              </a:stretch>
            </a:blipFill>
            <a:ln>
              <a:noFill/>
            </a:ln>
          </p:spPr>
        </p:sp>
        <p:sp>
          <p:nvSpPr>
            <p:cNvPr id="1588" name="Google Shape;1588;p43"/>
            <p:cNvSpPr txBox="1"/>
            <p:nvPr/>
          </p:nvSpPr>
          <p:spPr>
            <a:xfrm>
              <a:off x="0" y="-9525"/>
              <a:ext cx="7802905" cy="5810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00" u="none" cap="none" strike="noStrike">
                  <a:solidFill>
                    <a:srgbClr val="0F1B2C"/>
                  </a:solidFill>
                  <a:latin typeface="Noto Sans"/>
                  <a:ea typeface="Noto Sans"/>
                  <a:cs typeface="Noto Sans"/>
                  <a:sym typeface="Noto Sans"/>
                </a:rPr>
                <a:t>Accessible to developers of all levels</a:t>
              </a:r>
              <a:endParaRPr/>
            </a:p>
          </p:txBody>
        </p:sp>
      </p:grpSp>
      <p:sp>
        <p:nvSpPr>
          <p:cNvPr id="1589" name="Google Shape;1589;p43"/>
          <p:cNvSpPr/>
          <p:nvPr/>
        </p:nvSpPr>
        <p:spPr>
          <a:xfrm>
            <a:off x="0" y="9501188"/>
            <a:ext cx="18288000" cy="14288"/>
          </a:xfrm>
          <a:custGeom>
            <a:rect b="b" l="l" r="r" t="t"/>
            <a:pathLst>
              <a:path extrusionOk="0" h="19050" w="24384000">
                <a:moveTo>
                  <a:pt x="0" y="0"/>
                </a:moveTo>
                <a:lnTo>
                  <a:pt x="24384000" y="0"/>
                </a:lnTo>
                <a:lnTo>
                  <a:pt x="24384000" y="19050"/>
                </a:lnTo>
                <a:lnTo>
                  <a:pt x="0" y="19050"/>
                </a:lnTo>
                <a:close/>
              </a:path>
            </a:pathLst>
          </a:custGeom>
          <a:solidFill>
            <a:srgbClr val="E5E7EB"/>
          </a:solidFill>
          <a:ln>
            <a:noFill/>
          </a:ln>
        </p:spPr>
      </p:sp>
      <p:sp>
        <p:nvSpPr>
          <p:cNvPr descr="preencoded.png" id="1590" name="Google Shape;1590;p43"/>
          <p:cNvSpPr/>
          <p:nvPr/>
        </p:nvSpPr>
        <p:spPr>
          <a:xfrm>
            <a:off x="14444605" y="9601200"/>
            <a:ext cx="3500438" cy="600075"/>
          </a:xfrm>
          <a:custGeom>
            <a:rect b="b" l="l" r="r" t="t"/>
            <a:pathLst>
              <a:path extrusionOk="0" h="800100" w="4667250">
                <a:moveTo>
                  <a:pt x="0" y="0"/>
                </a:moveTo>
                <a:lnTo>
                  <a:pt x="4667250" y="0"/>
                </a:lnTo>
                <a:lnTo>
                  <a:pt x="4667250" y="800100"/>
                </a:lnTo>
                <a:lnTo>
                  <a:pt x="0" y="8001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0" l="-204" r="-204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4" name="Shape 1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5" name="Google Shape;1595;p44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596" name="Google Shape;1596;p44"/>
          <p:cNvGrpSpPr/>
          <p:nvPr/>
        </p:nvGrpSpPr>
        <p:grpSpPr>
          <a:xfrm>
            <a:off x="0" y="0"/>
            <a:ext cx="4953000" cy="10287000"/>
            <a:chOff x="0" y="0"/>
            <a:chExt cx="4953000" cy="10287000"/>
          </a:xfrm>
        </p:grpSpPr>
        <p:sp>
          <p:nvSpPr>
            <p:cNvPr id="1597" name="Google Shape;1597;p44"/>
            <p:cNvSpPr/>
            <p:nvPr/>
          </p:nvSpPr>
          <p:spPr>
            <a:xfrm>
              <a:off x="0" y="0"/>
              <a:ext cx="4953000" cy="10287000"/>
            </a:xfrm>
            <a:prstGeom prst="rect">
              <a:avLst/>
            </a:prstGeom>
            <a:solidFill>
              <a:srgbClr val="0F172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598" name="Google Shape;1598;p44"/>
            <p:cNvCxnSpPr/>
            <p:nvPr/>
          </p:nvCxnSpPr>
          <p:spPr>
            <a:xfrm>
              <a:off x="4953000" y="0"/>
              <a:ext cx="0" cy="10287000"/>
            </a:xfrm>
            <a:prstGeom prst="straightConnector1">
              <a:avLst/>
            </a:prstGeom>
            <a:solidFill>
              <a:srgbClr val="FFFFFF"/>
            </a:solidFill>
            <a:ln cap="flat" cmpd="sng" w="19050">
              <a:solidFill>
                <a:srgbClr val="1E293B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599" name="Google Shape;1599;p44"/>
            <p:cNvSpPr txBox="1"/>
            <p:nvPr/>
          </p:nvSpPr>
          <p:spPr>
            <a:xfrm>
              <a:off x="571500" y="2476500"/>
              <a:ext cx="3810000" cy="476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00AEEF"/>
                  </a:solidFill>
                  <a:latin typeface="Roboto"/>
                  <a:ea typeface="Roboto"/>
                  <a:cs typeface="Roboto"/>
                  <a:sym typeface="Roboto"/>
                </a:rPr>
                <a:t>INDUSTRY PERSPECTIVE</a:t>
              </a:r>
              <a:endParaRPr b="1" sz="1200">
                <a:solidFill>
                  <a:srgbClr val="00AEE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-US" sz="40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The Future</a:t>
              </a:r>
              <a:endParaRPr b="1" sz="4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-US" sz="4000">
                  <a:solidFill>
                    <a:srgbClr val="00AEEF"/>
                  </a:solidFill>
                  <a:latin typeface="Roboto"/>
                  <a:ea typeface="Roboto"/>
                  <a:cs typeface="Roboto"/>
                  <a:sym typeface="Roboto"/>
                </a:rPr>
                <a:t>of AI Integration</a:t>
              </a:r>
              <a:endParaRPr b="1" sz="4000">
                <a:solidFill>
                  <a:srgbClr val="00AEE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-US" sz="40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with MCP</a:t>
              </a:r>
              <a:endParaRPr b="1" sz="4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94A3B8"/>
                  </a:solidFill>
                  <a:latin typeface="Roboto"/>
                  <a:ea typeface="Roboto"/>
                  <a:cs typeface="Roboto"/>
                  <a:sym typeface="Roboto"/>
                </a:rPr>
                <a:t>Key takeaways and industry recognition on Model Context Protocol as the new open standard.</a:t>
              </a:r>
              <a:endParaRPr b="0" sz="1300">
                <a:solidFill>
                  <a:srgbClr val="94A3B8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600" name="Google Shape;1600;p44"/>
          <p:cNvSpPr txBox="1"/>
          <p:nvPr/>
        </p:nvSpPr>
        <p:spPr>
          <a:xfrm>
            <a:off x="5524500" y="523875"/>
            <a:ext cx="120015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0F1B2C"/>
                </a:solidFill>
                <a:latin typeface="Roboto"/>
                <a:ea typeface="Roboto"/>
                <a:cs typeface="Roboto"/>
                <a:sym typeface="Roboto"/>
              </a:rPr>
              <a:t>Industry Vision &amp; Impact</a:t>
            </a:r>
            <a:endParaRPr b="1" sz="3000">
              <a:solidFill>
                <a:srgbClr val="0F1B2C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00AEEF"/>
                </a:solidFill>
                <a:latin typeface="Roboto"/>
                <a:ea typeface="Roboto"/>
                <a:cs typeface="Roboto"/>
                <a:sym typeface="Roboto"/>
              </a:rPr>
              <a:t>Defining the Standard for AI Connectivity</a:t>
            </a:r>
            <a:endParaRPr b="1" sz="1300">
              <a:solidFill>
                <a:srgbClr val="00AE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601" name="Google Shape;1601;p44"/>
          <p:cNvGrpSpPr/>
          <p:nvPr/>
        </p:nvGrpSpPr>
        <p:grpSpPr>
          <a:xfrm>
            <a:off x="5524500" y="1524000"/>
            <a:ext cx="12001500" cy="4572000"/>
            <a:chOff x="0" y="0"/>
            <a:chExt cx="12001500" cy="4572000"/>
          </a:xfrm>
        </p:grpSpPr>
        <p:sp>
          <p:nvSpPr>
            <p:cNvPr id="1602" name="Google Shape;1602;p44"/>
            <p:cNvSpPr/>
            <p:nvPr/>
          </p:nvSpPr>
          <p:spPr>
            <a:xfrm>
              <a:off x="0" y="0"/>
              <a:ext cx="12001500" cy="4572000"/>
            </a:xfrm>
            <a:prstGeom prst="roundRect">
              <a:avLst>
                <a:gd fmla="val 2500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3" name="Google Shape;1603;p44"/>
            <p:cNvSpPr/>
            <p:nvPr/>
          </p:nvSpPr>
          <p:spPr>
            <a:xfrm>
              <a:off x="0" y="0"/>
              <a:ext cx="12001500" cy="457200"/>
            </a:xfrm>
            <a:custGeom>
              <a:rect b="b" l="l" r="r" t="t"/>
              <a:pathLst>
                <a:path extrusionOk="0" h="120000" w="120000">
                  <a:moveTo>
                    <a:pt x="0" y="30000"/>
                  </a:moveTo>
                  <a:cubicBezTo>
                    <a:pt x="0" y="13430"/>
                    <a:pt x="512" y="0"/>
                    <a:pt x="1143" y="0"/>
                  </a:cubicBezTo>
                  <a:lnTo>
                    <a:pt x="118857" y="0"/>
                  </a:lnTo>
                  <a:cubicBezTo>
                    <a:pt x="119488" y="0"/>
                    <a:pt x="120000" y="13430"/>
                    <a:pt x="120000" y="30000"/>
                  </a:cubicBezTo>
                  <a:lnTo>
                    <a:pt x="12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00AEE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4" name="Google Shape;1604;p44"/>
            <p:cNvSpPr txBox="1"/>
            <p:nvPr/>
          </p:nvSpPr>
          <p:spPr>
            <a:xfrm>
              <a:off x="228600" y="0"/>
              <a:ext cx="115443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FFFFFF"/>
                  </a:solidFill>
                  <a:latin typeface="Noto Sans"/>
                  <a:ea typeface="Noto Sans"/>
                  <a:cs typeface="Noto Sans"/>
                  <a:sym typeface="Noto Sans"/>
                </a:rPr>
                <a:t>Featured Insight</a:t>
              </a:r>
              <a:endParaRPr b="1" sz="13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endParaRPr>
            </a:p>
          </p:txBody>
        </p:sp>
        <p:sp>
          <p:nvSpPr>
            <p:cNvPr id="1605" name="Google Shape;1605;p44"/>
            <p:cNvSpPr/>
            <p:nvPr/>
          </p:nvSpPr>
          <p:spPr>
            <a:xfrm>
              <a:off x="228600" y="647700"/>
              <a:ext cx="11544300" cy="3695700"/>
            </a:xfrm>
            <a:prstGeom prst="roundRect">
              <a:avLst>
                <a:gd fmla="val 2061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6" name="Google Shape;1606;p44"/>
            <p:cNvSpPr txBox="1"/>
            <p:nvPr/>
          </p:nvSpPr>
          <p:spPr>
            <a:xfrm>
              <a:off x="571500" y="857250"/>
              <a:ext cx="952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7200">
                  <a:solidFill>
                    <a:srgbClr val="00AEEF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format_quote</a:t>
              </a:r>
              <a:endParaRPr sz="7200">
                <a:solidFill>
                  <a:srgbClr val="00AEEF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607" name="Google Shape;1607;p44"/>
            <p:cNvSpPr txBox="1"/>
            <p:nvPr/>
          </p:nvSpPr>
          <p:spPr>
            <a:xfrm>
              <a:off x="571500" y="1619250"/>
              <a:ext cx="10858500" cy="161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-US" sz="2600">
                  <a:solidFill>
                    <a:srgbClr val="0F1B2C"/>
                  </a:solidFill>
                  <a:latin typeface="Roboto"/>
                  <a:ea typeface="Roboto"/>
                  <a:cs typeface="Roboto"/>
                  <a:sym typeface="Roboto"/>
                </a:rPr>
                <a:t>"MCP represents a fundamental shift in how AI systems integrate with the world"</a:t>
              </a:r>
              <a:endParaRPr b="0" i="1" sz="2600">
                <a:solidFill>
                  <a:srgbClr val="0F1B2C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1608" name="Google Shape;1608;p44"/>
            <p:cNvCxnSpPr/>
            <p:nvPr/>
          </p:nvCxnSpPr>
          <p:spPr>
            <a:xfrm>
              <a:off x="571500" y="3429000"/>
              <a:ext cx="108585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609" name="Google Shape;1609;p44"/>
            <p:cNvSpPr/>
            <p:nvPr/>
          </p:nvSpPr>
          <p:spPr>
            <a:xfrm>
              <a:off x="571500" y="3667125"/>
              <a:ext cx="1714500" cy="342900"/>
            </a:xfrm>
            <a:prstGeom prst="roundRect">
              <a:avLst>
                <a:gd fmla="val 50000" name="adj"/>
              </a:avLst>
            </a:prstGeom>
            <a:solidFill>
              <a:srgbClr val="0F172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0" name="Google Shape;1610;p44"/>
            <p:cNvSpPr txBox="1"/>
            <p:nvPr/>
          </p:nvSpPr>
          <p:spPr>
            <a:xfrm>
              <a:off x="571500" y="3667125"/>
              <a:ext cx="17145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FFFFFF"/>
                  </a:solidFill>
                  <a:latin typeface="Noto Sans"/>
                  <a:ea typeface="Noto Sans"/>
                  <a:cs typeface="Noto Sans"/>
                  <a:sym typeface="Noto Sans"/>
                </a:rPr>
                <a:t>ANTHROPIC</a:t>
              </a:r>
              <a:endParaRPr b="1" sz="11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endParaRPr>
            </a:p>
          </p:txBody>
        </p:sp>
        <p:sp>
          <p:nvSpPr>
            <p:cNvPr id="1611" name="Google Shape;1611;p44"/>
            <p:cNvSpPr txBox="1"/>
            <p:nvPr/>
          </p:nvSpPr>
          <p:spPr>
            <a:xfrm>
              <a:off x="2428875" y="3667125"/>
              <a:ext cx="38100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475569"/>
                  </a:solidFill>
                  <a:latin typeface="Noto Sans"/>
                  <a:ea typeface="Noto Sans"/>
                  <a:cs typeface="Noto Sans"/>
                  <a:sym typeface="Noto Sans"/>
                </a:rPr>
                <a:t>Official Announcement, 2024</a:t>
              </a:r>
              <a:endParaRPr b="1" sz="1200">
                <a:solidFill>
                  <a:srgbClr val="475569"/>
                </a:solidFill>
                <a:latin typeface="Noto Sans"/>
                <a:ea typeface="Noto Sans"/>
                <a:cs typeface="Noto Sans"/>
                <a:sym typeface="Noto Sans"/>
              </a:endParaRPr>
            </a:p>
          </p:txBody>
        </p:sp>
      </p:grpSp>
      <p:grpSp>
        <p:nvGrpSpPr>
          <p:cNvPr id="1612" name="Google Shape;1612;p44"/>
          <p:cNvGrpSpPr/>
          <p:nvPr/>
        </p:nvGrpSpPr>
        <p:grpSpPr>
          <a:xfrm>
            <a:off x="5524500" y="6381750"/>
            <a:ext cx="12001425" cy="2762400"/>
            <a:chOff x="0" y="0"/>
            <a:chExt cx="12001425" cy="2762400"/>
          </a:xfrm>
        </p:grpSpPr>
        <p:grpSp>
          <p:nvGrpSpPr>
            <p:cNvPr id="1613" name="Google Shape;1613;p44"/>
            <p:cNvGrpSpPr/>
            <p:nvPr/>
          </p:nvGrpSpPr>
          <p:grpSpPr>
            <a:xfrm>
              <a:off x="0" y="0"/>
              <a:ext cx="3762300" cy="2762400"/>
              <a:chOff x="0" y="0"/>
              <a:chExt cx="3762300" cy="2762400"/>
            </a:xfrm>
          </p:grpSpPr>
          <p:sp>
            <p:nvSpPr>
              <p:cNvPr id="1614" name="Google Shape;1614;p44"/>
              <p:cNvSpPr/>
              <p:nvPr/>
            </p:nvSpPr>
            <p:spPr>
              <a:xfrm>
                <a:off x="0" y="0"/>
                <a:ext cx="3762300" cy="2762400"/>
              </a:xfrm>
              <a:prstGeom prst="roundRect">
                <a:avLst>
                  <a:gd fmla="val 3448" name="adj"/>
                </a:avLst>
              </a:prstGeom>
              <a:solidFill>
                <a:srgbClr val="F8FAFC"/>
              </a:solidFill>
              <a:ln cap="flat" cmpd="sng" w="14300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5" name="Google Shape;1615;p44"/>
              <p:cNvSpPr/>
              <p:nvPr/>
            </p:nvSpPr>
            <p:spPr>
              <a:xfrm>
                <a:off x="0" y="0"/>
                <a:ext cx="3762300" cy="381000"/>
              </a:xfrm>
              <a:prstGeom prst="roundRect">
                <a:avLst>
                  <a:gd fmla="val 25000" name="adj"/>
                </a:avLst>
              </a:prstGeom>
              <a:solidFill>
                <a:srgbClr val="0F172A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6" name="Google Shape;1616;p44"/>
              <p:cNvSpPr/>
              <p:nvPr/>
            </p:nvSpPr>
            <p:spPr>
              <a:xfrm>
                <a:off x="0" y="190500"/>
                <a:ext cx="3762300" cy="190500"/>
              </a:xfrm>
              <a:prstGeom prst="rect">
                <a:avLst/>
              </a:prstGeom>
              <a:solidFill>
                <a:srgbClr val="0F172A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7" name="Google Shape;1617;p44"/>
              <p:cNvSpPr txBox="1"/>
              <p:nvPr/>
            </p:nvSpPr>
            <p:spPr>
              <a:xfrm>
                <a:off x="190500" y="0"/>
                <a:ext cx="33813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200">
                    <a:solidFill>
                      <a:srgbClr val="00AEEF"/>
                    </a:solidFill>
                    <a:latin typeface="Noto Sans"/>
                    <a:ea typeface="Noto Sans"/>
                    <a:cs typeface="Noto Sans"/>
                    <a:sym typeface="Noto Sans"/>
                  </a:rPr>
                  <a:t>01 / OPEN STANDARD</a:t>
                </a:r>
                <a:endParaRPr b="1" sz="1200">
                  <a:solidFill>
                    <a:srgbClr val="00AEEF"/>
                  </a:solidFill>
                  <a:latin typeface="Noto Sans"/>
                  <a:ea typeface="Noto Sans"/>
                  <a:cs typeface="Noto Sans"/>
                  <a:sym typeface="Noto Sans"/>
                </a:endParaRPr>
              </a:p>
            </p:txBody>
          </p:sp>
          <p:sp>
            <p:nvSpPr>
              <p:cNvPr id="1618" name="Google Shape;1618;p44"/>
              <p:cNvSpPr txBox="1"/>
              <p:nvPr/>
            </p:nvSpPr>
            <p:spPr>
              <a:xfrm>
                <a:off x="190500" y="523875"/>
                <a:ext cx="3381300" cy="2047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500">
                    <a:solidFill>
                      <a:srgbClr val="0F1B2C"/>
                    </a:solidFill>
                    <a:latin typeface="Noto Sans"/>
                    <a:ea typeface="Noto Sans"/>
                    <a:cs typeface="Noto Sans"/>
                    <a:sym typeface="Noto Sans"/>
                  </a:rPr>
                  <a:t>Universal Connectivity</a:t>
                </a:r>
                <a:endParaRPr b="1" sz="1500">
                  <a:solidFill>
                    <a:srgbClr val="0F1B2C"/>
                  </a:solidFill>
                  <a:latin typeface="Noto Sans"/>
                  <a:ea typeface="Noto Sans"/>
                  <a:cs typeface="Noto Sans"/>
                  <a:sym typeface="Noto Sans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0" lang="en-US" sz="1150">
                    <a:solidFill>
                      <a:srgbClr val="475569"/>
                    </a:solidFill>
                    <a:latin typeface="Noto Sans"/>
                    <a:ea typeface="Noto Sans"/>
                    <a:cs typeface="Noto Sans"/>
                    <a:sym typeface="Noto Sans"/>
                  </a:rPr>
                  <a:t>Replaces fragmented custom connectors with a single, open protocol across data sources and AI models.</a:t>
                </a:r>
                <a:endParaRPr b="0" sz="1150">
                  <a:solidFill>
                    <a:srgbClr val="475569"/>
                  </a:solidFill>
                  <a:latin typeface="Noto Sans"/>
                  <a:ea typeface="Noto Sans"/>
                  <a:cs typeface="Noto Sans"/>
                  <a:sym typeface="Noto Sans"/>
                </a:endParaRPr>
              </a:p>
            </p:txBody>
          </p:sp>
        </p:grpSp>
        <p:grpSp>
          <p:nvGrpSpPr>
            <p:cNvPr id="1619" name="Google Shape;1619;p44"/>
            <p:cNvGrpSpPr/>
            <p:nvPr/>
          </p:nvGrpSpPr>
          <p:grpSpPr>
            <a:xfrm>
              <a:off x="4114800" y="0"/>
              <a:ext cx="3762300" cy="2762400"/>
              <a:chOff x="0" y="0"/>
              <a:chExt cx="3762300" cy="2762400"/>
            </a:xfrm>
          </p:grpSpPr>
          <p:sp>
            <p:nvSpPr>
              <p:cNvPr id="1620" name="Google Shape;1620;p44"/>
              <p:cNvSpPr/>
              <p:nvPr/>
            </p:nvSpPr>
            <p:spPr>
              <a:xfrm>
                <a:off x="0" y="0"/>
                <a:ext cx="3762300" cy="2762400"/>
              </a:xfrm>
              <a:prstGeom prst="roundRect">
                <a:avLst>
                  <a:gd fmla="val 3448" name="adj"/>
                </a:avLst>
              </a:prstGeom>
              <a:solidFill>
                <a:srgbClr val="F8FAFC"/>
              </a:solidFill>
              <a:ln cap="flat" cmpd="sng" w="14300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1" name="Google Shape;1621;p44"/>
              <p:cNvSpPr/>
              <p:nvPr/>
            </p:nvSpPr>
            <p:spPr>
              <a:xfrm>
                <a:off x="0" y="0"/>
                <a:ext cx="3762300" cy="381000"/>
              </a:xfrm>
              <a:prstGeom prst="roundRect">
                <a:avLst>
                  <a:gd fmla="val 25000" name="adj"/>
                </a:avLst>
              </a:prstGeom>
              <a:solidFill>
                <a:srgbClr val="0F172A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2" name="Google Shape;1622;p44"/>
              <p:cNvSpPr/>
              <p:nvPr/>
            </p:nvSpPr>
            <p:spPr>
              <a:xfrm>
                <a:off x="0" y="190500"/>
                <a:ext cx="3762300" cy="190500"/>
              </a:xfrm>
              <a:prstGeom prst="rect">
                <a:avLst/>
              </a:prstGeom>
              <a:solidFill>
                <a:srgbClr val="0F172A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3" name="Google Shape;1623;p44"/>
              <p:cNvSpPr txBox="1"/>
              <p:nvPr/>
            </p:nvSpPr>
            <p:spPr>
              <a:xfrm>
                <a:off x="190500" y="0"/>
                <a:ext cx="33813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200">
                    <a:solidFill>
                      <a:srgbClr val="00AEEF"/>
                    </a:solidFill>
                    <a:latin typeface="Noto Sans"/>
                    <a:ea typeface="Noto Sans"/>
                    <a:cs typeface="Noto Sans"/>
                    <a:sym typeface="Noto Sans"/>
                  </a:rPr>
                  <a:t>02 / ARCHITECTURE</a:t>
                </a:r>
                <a:endParaRPr b="1" sz="1200">
                  <a:solidFill>
                    <a:srgbClr val="00AEEF"/>
                  </a:solidFill>
                  <a:latin typeface="Noto Sans"/>
                  <a:ea typeface="Noto Sans"/>
                  <a:cs typeface="Noto Sans"/>
                  <a:sym typeface="Noto Sans"/>
                </a:endParaRPr>
              </a:p>
            </p:txBody>
          </p:sp>
          <p:sp>
            <p:nvSpPr>
              <p:cNvPr id="1624" name="Google Shape;1624;p44"/>
              <p:cNvSpPr txBox="1"/>
              <p:nvPr/>
            </p:nvSpPr>
            <p:spPr>
              <a:xfrm>
                <a:off x="190500" y="523875"/>
                <a:ext cx="3381300" cy="2047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500">
                    <a:solidFill>
                      <a:srgbClr val="0F1B2C"/>
                    </a:solidFill>
                    <a:latin typeface="Noto Sans"/>
                    <a:ea typeface="Noto Sans"/>
                    <a:cs typeface="Noto Sans"/>
                    <a:sym typeface="Noto Sans"/>
                  </a:rPr>
                  <a:t>Composable Systems</a:t>
                </a:r>
                <a:endParaRPr b="1" sz="1500">
                  <a:solidFill>
                    <a:srgbClr val="0F1B2C"/>
                  </a:solidFill>
                  <a:latin typeface="Noto Sans"/>
                  <a:ea typeface="Noto Sans"/>
                  <a:cs typeface="Noto Sans"/>
                  <a:sym typeface="Noto Sans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0" lang="en-US" sz="1150">
                    <a:solidFill>
                      <a:srgbClr val="475569"/>
                    </a:solidFill>
                    <a:latin typeface="Noto Sans"/>
                    <a:ea typeface="Noto Sans"/>
                    <a:cs typeface="Noto Sans"/>
                    <a:sym typeface="Noto Sans"/>
                  </a:rPr>
                  <a:t>Enables modular architecture where tools, prompts, and resources can be dynamically exposed and discovered.</a:t>
                </a:r>
                <a:endParaRPr b="0" sz="1150">
                  <a:solidFill>
                    <a:srgbClr val="475569"/>
                  </a:solidFill>
                  <a:latin typeface="Noto Sans"/>
                  <a:ea typeface="Noto Sans"/>
                  <a:cs typeface="Noto Sans"/>
                  <a:sym typeface="Noto Sans"/>
                </a:endParaRPr>
              </a:p>
            </p:txBody>
          </p:sp>
        </p:grpSp>
        <p:grpSp>
          <p:nvGrpSpPr>
            <p:cNvPr id="1625" name="Google Shape;1625;p44"/>
            <p:cNvGrpSpPr/>
            <p:nvPr/>
          </p:nvGrpSpPr>
          <p:grpSpPr>
            <a:xfrm>
              <a:off x="8239125" y="0"/>
              <a:ext cx="3762300" cy="2762400"/>
              <a:chOff x="0" y="0"/>
              <a:chExt cx="3762300" cy="2762400"/>
            </a:xfrm>
          </p:grpSpPr>
          <p:sp>
            <p:nvSpPr>
              <p:cNvPr id="1626" name="Google Shape;1626;p44"/>
              <p:cNvSpPr/>
              <p:nvPr/>
            </p:nvSpPr>
            <p:spPr>
              <a:xfrm>
                <a:off x="0" y="0"/>
                <a:ext cx="3762300" cy="2762400"/>
              </a:xfrm>
              <a:prstGeom prst="roundRect">
                <a:avLst>
                  <a:gd fmla="val 3448" name="adj"/>
                </a:avLst>
              </a:prstGeom>
              <a:solidFill>
                <a:srgbClr val="F8FAFC"/>
              </a:solidFill>
              <a:ln cap="flat" cmpd="sng" w="14300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7" name="Google Shape;1627;p44"/>
              <p:cNvSpPr/>
              <p:nvPr/>
            </p:nvSpPr>
            <p:spPr>
              <a:xfrm>
                <a:off x="0" y="0"/>
                <a:ext cx="3762300" cy="381000"/>
              </a:xfrm>
              <a:prstGeom prst="roundRect">
                <a:avLst>
                  <a:gd fmla="val 25000" name="adj"/>
                </a:avLst>
              </a:prstGeom>
              <a:solidFill>
                <a:srgbClr val="0F172A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8" name="Google Shape;1628;p44"/>
              <p:cNvSpPr/>
              <p:nvPr/>
            </p:nvSpPr>
            <p:spPr>
              <a:xfrm>
                <a:off x="0" y="190500"/>
                <a:ext cx="3762300" cy="190500"/>
              </a:xfrm>
              <a:prstGeom prst="rect">
                <a:avLst/>
              </a:prstGeom>
              <a:solidFill>
                <a:srgbClr val="0F172A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9" name="Google Shape;1629;p44"/>
              <p:cNvSpPr txBox="1"/>
              <p:nvPr/>
            </p:nvSpPr>
            <p:spPr>
              <a:xfrm>
                <a:off x="190500" y="0"/>
                <a:ext cx="33813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200">
                    <a:solidFill>
                      <a:srgbClr val="00AEEF"/>
                    </a:solidFill>
                    <a:latin typeface="Noto Sans"/>
                    <a:ea typeface="Noto Sans"/>
                    <a:cs typeface="Noto Sans"/>
                    <a:sym typeface="Noto Sans"/>
                  </a:rPr>
                  <a:t>03 / ECOSYSTEM</a:t>
                </a:r>
                <a:endParaRPr b="1" sz="1200">
                  <a:solidFill>
                    <a:srgbClr val="00AEEF"/>
                  </a:solidFill>
                  <a:latin typeface="Noto Sans"/>
                  <a:ea typeface="Noto Sans"/>
                  <a:cs typeface="Noto Sans"/>
                  <a:sym typeface="Noto Sans"/>
                </a:endParaRPr>
              </a:p>
            </p:txBody>
          </p:sp>
          <p:sp>
            <p:nvSpPr>
              <p:cNvPr id="1630" name="Google Shape;1630;p44"/>
              <p:cNvSpPr txBox="1"/>
              <p:nvPr/>
            </p:nvSpPr>
            <p:spPr>
              <a:xfrm>
                <a:off x="190500" y="523875"/>
                <a:ext cx="3381300" cy="2047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500">
                    <a:solidFill>
                      <a:srgbClr val="0F1B2C"/>
                    </a:solidFill>
                    <a:latin typeface="Noto Sans"/>
                    <a:ea typeface="Noto Sans"/>
                    <a:cs typeface="Noto Sans"/>
                    <a:sym typeface="Noto Sans"/>
                  </a:rPr>
                  <a:t>Rapid Adoption</a:t>
                </a:r>
                <a:endParaRPr b="1" sz="1500">
                  <a:solidFill>
                    <a:srgbClr val="0F1B2C"/>
                  </a:solidFill>
                  <a:latin typeface="Noto Sans"/>
                  <a:ea typeface="Noto Sans"/>
                  <a:cs typeface="Noto Sans"/>
                  <a:sym typeface="Noto Sans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0" lang="en-US" sz="1150">
                    <a:solidFill>
                      <a:srgbClr val="475569"/>
                    </a:solidFill>
                    <a:latin typeface="Noto Sans"/>
                    <a:ea typeface="Noto Sans"/>
                    <a:cs typeface="Noto Sans"/>
                    <a:sym typeface="Noto Sans"/>
                  </a:rPr>
                  <a:t>Empowers developers with official SDKs and community extensions to build future-proof AI integrations.</a:t>
                </a:r>
                <a:endParaRPr b="0" sz="1150">
                  <a:solidFill>
                    <a:srgbClr val="475569"/>
                  </a:solidFill>
                  <a:latin typeface="Noto Sans"/>
                  <a:ea typeface="Noto Sans"/>
                  <a:cs typeface="Noto Sans"/>
                  <a:sym typeface="Noto Sans"/>
                </a:endParaRPr>
              </a:p>
            </p:txBody>
          </p:sp>
        </p:grpSp>
      </p:grpSp>
      <p:grpSp>
        <p:nvGrpSpPr>
          <p:cNvPr id="1631" name="Google Shape;1631;p44"/>
          <p:cNvGrpSpPr/>
          <p:nvPr/>
        </p:nvGrpSpPr>
        <p:grpSpPr>
          <a:xfrm>
            <a:off x="0" y="9715500"/>
            <a:ext cx="18288000" cy="457350"/>
            <a:chOff x="0" y="0"/>
            <a:chExt cx="18288000" cy="457350"/>
          </a:xfrm>
        </p:grpSpPr>
        <p:cxnSp>
          <p:nvCxnSpPr>
            <p:cNvPr id="1632" name="Google Shape;1632;p44"/>
            <p:cNvCxnSpPr/>
            <p:nvPr/>
          </p:nvCxnSpPr>
          <p:spPr>
            <a:xfrm>
              <a:off x="0" y="0"/>
              <a:ext cx="182880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633" name="Google Shape;1633;p44"/>
            <p:cNvSpPr txBox="1"/>
            <p:nvPr/>
          </p:nvSpPr>
          <p:spPr>
            <a:xfrm>
              <a:off x="571500" y="171450"/>
              <a:ext cx="3810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64748B"/>
                  </a:solidFill>
                  <a:latin typeface="Roboto"/>
                  <a:ea typeface="Roboto"/>
                  <a:cs typeface="Roboto"/>
                  <a:sym typeface="Roboto"/>
                </a:rPr>
                <a:t>Criterion Proprietary &amp; Confidential</a:t>
              </a:r>
              <a:endParaRPr sz="1100">
                <a:solidFill>
                  <a:srgbClr val="64748B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7" name="Shape 1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preencoded.png" id="1638" name="Google Shape;1638;p45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descr="preencoded.png" id="1639" name="Google Shape;1639;p45"/>
          <p:cNvSpPr/>
          <p:nvPr/>
        </p:nvSpPr>
        <p:spPr>
          <a:xfrm>
            <a:off x="7758112" y="0"/>
            <a:ext cx="10529888" cy="6129338"/>
          </a:xfrm>
          <a:custGeom>
            <a:rect b="b" l="l" r="r" t="t"/>
            <a:pathLst>
              <a:path extrusionOk="0" h="8172450" w="14039850">
                <a:moveTo>
                  <a:pt x="0" y="0"/>
                </a:moveTo>
                <a:lnTo>
                  <a:pt x="14039850" y="0"/>
                </a:lnTo>
                <a:lnTo>
                  <a:pt x="14039850" y="8172450"/>
                </a:lnTo>
                <a:lnTo>
                  <a:pt x="0" y="81724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descr="preencoded.png" id="1640" name="Google Shape;1640;p45"/>
          <p:cNvSpPr/>
          <p:nvPr/>
        </p:nvSpPr>
        <p:spPr>
          <a:xfrm>
            <a:off x="0" y="8401050"/>
            <a:ext cx="5915025" cy="1885950"/>
          </a:xfrm>
          <a:custGeom>
            <a:rect b="b" l="l" r="r" t="t"/>
            <a:pathLst>
              <a:path extrusionOk="0" h="2514600" w="7886700">
                <a:moveTo>
                  <a:pt x="0" y="0"/>
                </a:moveTo>
                <a:lnTo>
                  <a:pt x="7886700" y="0"/>
                </a:lnTo>
                <a:lnTo>
                  <a:pt x="7886700" y="2514600"/>
                </a:lnTo>
                <a:lnTo>
                  <a:pt x="0" y="2514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descr="preencoded.png" id="1641" name="Google Shape;1641;p45"/>
          <p:cNvSpPr/>
          <p:nvPr/>
        </p:nvSpPr>
        <p:spPr>
          <a:xfrm>
            <a:off x="0" y="7400925"/>
            <a:ext cx="4443412" cy="2386012"/>
          </a:xfrm>
          <a:custGeom>
            <a:rect b="b" l="l" r="r" t="t"/>
            <a:pathLst>
              <a:path extrusionOk="0" h="3181350" w="5924550">
                <a:moveTo>
                  <a:pt x="0" y="0"/>
                </a:moveTo>
                <a:lnTo>
                  <a:pt x="5924550" y="0"/>
                </a:lnTo>
                <a:lnTo>
                  <a:pt x="5924550" y="3181350"/>
                </a:lnTo>
                <a:lnTo>
                  <a:pt x="0" y="31813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descr="preencoded.png" id="1642" name="Google Shape;1642;p45"/>
          <p:cNvSpPr/>
          <p:nvPr/>
        </p:nvSpPr>
        <p:spPr>
          <a:xfrm>
            <a:off x="11315700" y="257175"/>
            <a:ext cx="3257550" cy="1300162"/>
          </a:xfrm>
          <a:custGeom>
            <a:rect b="b" l="l" r="r" t="t"/>
            <a:pathLst>
              <a:path extrusionOk="0" h="1733550" w="4343400">
                <a:moveTo>
                  <a:pt x="0" y="0"/>
                </a:moveTo>
                <a:lnTo>
                  <a:pt x="4343400" y="0"/>
                </a:lnTo>
                <a:lnTo>
                  <a:pt x="4343400" y="1733550"/>
                </a:lnTo>
                <a:lnTo>
                  <a:pt x="0" y="17335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 amt="70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descr="preencoded.png" id="1643" name="Google Shape;1643;p45"/>
          <p:cNvSpPr/>
          <p:nvPr/>
        </p:nvSpPr>
        <p:spPr>
          <a:xfrm>
            <a:off x="5143500" y="8986838"/>
            <a:ext cx="3257550" cy="1300162"/>
          </a:xfrm>
          <a:custGeom>
            <a:rect b="b" l="l" r="r" t="t"/>
            <a:pathLst>
              <a:path extrusionOk="0" h="1733550" w="4343400">
                <a:moveTo>
                  <a:pt x="0" y="0"/>
                </a:moveTo>
                <a:lnTo>
                  <a:pt x="4343400" y="0"/>
                </a:lnTo>
                <a:lnTo>
                  <a:pt x="4343400" y="1733550"/>
                </a:lnTo>
                <a:lnTo>
                  <a:pt x="0" y="17335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 amt="60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44" name="Google Shape;1644;p45"/>
          <p:cNvSpPr/>
          <p:nvPr/>
        </p:nvSpPr>
        <p:spPr>
          <a:xfrm>
            <a:off x="0" y="1000125"/>
            <a:ext cx="17398079" cy="8443912"/>
          </a:xfrm>
          <a:custGeom>
            <a:rect b="b" l="l" r="r" t="t"/>
            <a:pathLst>
              <a:path extrusionOk="0" h="11258550" w="23197438">
                <a:moveTo>
                  <a:pt x="0" y="0"/>
                </a:moveTo>
                <a:lnTo>
                  <a:pt x="23197438" y="0"/>
                </a:lnTo>
                <a:lnTo>
                  <a:pt x="23197438" y="11258550"/>
                </a:lnTo>
                <a:lnTo>
                  <a:pt x="0" y="11258550"/>
                </a:lnTo>
                <a:close/>
              </a:path>
            </a:pathLst>
          </a:custGeom>
          <a:solidFill>
            <a:srgbClr val="0F1B2C"/>
          </a:solidFill>
          <a:ln>
            <a:noFill/>
          </a:ln>
        </p:spPr>
      </p:sp>
      <p:grpSp>
        <p:nvGrpSpPr>
          <p:cNvPr id="1645" name="Google Shape;1645;p45"/>
          <p:cNvGrpSpPr/>
          <p:nvPr/>
        </p:nvGrpSpPr>
        <p:grpSpPr>
          <a:xfrm>
            <a:off x="1815055" y="4053688"/>
            <a:ext cx="3860035" cy="1557862"/>
            <a:chOff x="0" y="0"/>
            <a:chExt cx="5146713" cy="2077149"/>
          </a:xfrm>
        </p:grpSpPr>
        <p:sp>
          <p:nvSpPr>
            <p:cNvPr id="1646" name="Google Shape;1646;p45"/>
            <p:cNvSpPr/>
            <p:nvPr/>
          </p:nvSpPr>
          <p:spPr>
            <a:xfrm>
              <a:off x="0" y="0"/>
              <a:ext cx="5146709" cy="2077149"/>
            </a:xfrm>
            <a:custGeom>
              <a:rect b="b" l="l" r="r" t="t"/>
              <a:pathLst>
                <a:path extrusionOk="0" h="2077149" w="5146709">
                  <a:moveTo>
                    <a:pt x="0" y="0"/>
                  </a:moveTo>
                  <a:lnTo>
                    <a:pt x="5146709" y="0"/>
                  </a:lnTo>
                  <a:lnTo>
                    <a:pt x="5146709" y="2077149"/>
                  </a:lnTo>
                  <a:lnTo>
                    <a:pt x="0" y="2077149"/>
                  </a:lnTo>
                  <a:close/>
                </a:path>
              </a:pathLst>
            </a:custGeom>
            <a:blipFill rotWithShape="1">
              <a:blip r:embed="rId9">
                <a:alphaModFix amt="0"/>
              </a:blip>
              <a:stretch>
                <a:fillRect b="0" l="-1781" r="-1781" t="0"/>
              </a:stretch>
            </a:blipFill>
            <a:ln>
              <a:noFill/>
            </a:ln>
          </p:spPr>
        </p:sp>
        <p:sp>
          <p:nvSpPr>
            <p:cNvPr id="1647" name="Google Shape;1647;p45"/>
            <p:cNvSpPr txBox="1"/>
            <p:nvPr/>
          </p:nvSpPr>
          <p:spPr>
            <a:xfrm>
              <a:off x="0" y="0"/>
              <a:ext cx="5146713" cy="20771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1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5061" u="none" cap="none" strike="noStrike">
                  <a:solidFill>
                    <a:srgbClr val="00AEEF"/>
                  </a:solidFill>
                  <a:latin typeface="Noto Sans"/>
                  <a:ea typeface="Noto Sans"/>
                  <a:cs typeface="Noto Sans"/>
                  <a:sym typeface="Noto Sans"/>
                </a:rPr>
                <a:t>THANK YOU</a:t>
              </a:r>
              <a:endParaRPr/>
            </a:p>
            <a:p>
              <a:pPr indent="0" lvl="0" marL="0" marR="0" rtl="0" algn="l">
                <a:lnSpc>
                  <a:spcPct val="12001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0" sz="5061" u="none" cap="none" strike="noStrike">
                <a:solidFill>
                  <a:srgbClr val="00AEEF"/>
                </a:solidFill>
                <a:latin typeface="Noto Sans"/>
                <a:ea typeface="Noto Sans"/>
                <a:cs typeface="Noto Sans"/>
                <a:sym typeface="Noto Sans"/>
              </a:endParaRPr>
            </a:p>
          </p:txBody>
        </p:sp>
      </p:grpSp>
      <p:sp>
        <p:nvSpPr>
          <p:cNvPr id="1648" name="Google Shape;1648;p45"/>
          <p:cNvSpPr/>
          <p:nvPr/>
        </p:nvSpPr>
        <p:spPr>
          <a:xfrm>
            <a:off x="7680922" y="1000125"/>
            <a:ext cx="10607040" cy="8443912"/>
          </a:xfrm>
          <a:custGeom>
            <a:rect b="b" l="l" r="r" t="t"/>
            <a:pathLst>
              <a:path extrusionOk="0" h="11258550" w="14142720">
                <a:moveTo>
                  <a:pt x="0" y="0"/>
                </a:moveTo>
                <a:lnTo>
                  <a:pt x="14142720" y="0"/>
                </a:lnTo>
                <a:lnTo>
                  <a:pt x="14142720" y="11258550"/>
                </a:lnTo>
                <a:lnTo>
                  <a:pt x="0" y="1125855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649" name="Google Shape;1649;p45"/>
          <p:cNvSpPr/>
          <p:nvPr/>
        </p:nvSpPr>
        <p:spPr>
          <a:xfrm>
            <a:off x="0" y="9444038"/>
            <a:ext cx="18288000" cy="14288"/>
          </a:xfrm>
          <a:custGeom>
            <a:rect b="b" l="l" r="r" t="t"/>
            <a:pathLst>
              <a:path extrusionOk="0" h="19050" w="24384000">
                <a:moveTo>
                  <a:pt x="0" y="0"/>
                </a:moveTo>
                <a:lnTo>
                  <a:pt x="24384000" y="0"/>
                </a:lnTo>
                <a:lnTo>
                  <a:pt x="24384000" y="19050"/>
                </a:lnTo>
                <a:lnTo>
                  <a:pt x="0" y="19050"/>
                </a:lnTo>
                <a:close/>
              </a:path>
            </a:pathLst>
          </a:custGeom>
          <a:solidFill>
            <a:srgbClr val="E5E7EB"/>
          </a:solidFill>
          <a:ln>
            <a:noFill/>
          </a:ln>
        </p:spPr>
      </p:sp>
      <p:sp>
        <p:nvSpPr>
          <p:cNvPr descr="preencoded.png" id="1650" name="Google Shape;1650;p45"/>
          <p:cNvSpPr/>
          <p:nvPr/>
        </p:nvSpPr>
        <p:spPr>
          <a:xfrm>
            <a:off x="14444605" y="9572625"/>
            <a:ext cx="3500438" cy="600075"/>
          </a:xfrm>
          <a:custGeom>
            <a:rect b="b" l="l" r="r" t="t"/>
            <a:pathLst>
              <a:path extrusionOk="0" h="800100" w="4667250">
                <a:moveTo>
                  <a:pt x="0" y="0"/>
                </a:moveTo>
                <a:lnTo>
                  <a:pt x="4667250" y="0"/>
                </a:lnTo>
                <a:lnTo>
                  <a:pt x="4667250" y="800100"/>
                </a:lnTo>
                <a:lnTo>
                  <a:pt x="0" y="8001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0" l="-204" r="-204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>
                <a:solidFill>
                  <a:srgbClr val="0F1B2C"/>
                </a:solidFill>
                <a:latin typeface="Noto Sans"/>
              </a:rPr>
              <a:t>Discovery First — tools/list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7007840" cy="640080"/>
          </a:xfrm>
          <a:prstGeom prst="rect">
            <a:avLst/>
          </a:prstGeom>
          <a:noFill/>
        </p:spPr>
        <p:txBody>
          <a:bodyPr wrap="square" anchor="t" lIns="38100" rIns="38100" tIns="38100" bIns="38100">
            <a:spAutoFit/>
          </a:bodyPr>
          <a:lstStyle/>
          <a:p>
            <a:pPr algn="l"/>
            <a:r>
              <a:rPr sz="1250" b="0" i="0">
                <a:solidFill>
                  <a:srgbClr val="334155"/>
                </a:solidFill>
                <a:latin typeface="Noto Sans"/>
              </a:rPr>
              <a:t>Before the model can call anything, the client asks the server </a:t>
            </a:r>
            <a:r>
              <a:rPr sz="1250" b="1" i="0">
                <a:solidFill>
                  <a:srgbClr val="0F1B2C"/>
                </a:solidFill>
                <a:latin typeface="Noto Sans"/>
              </a:rPr>
              <a:t>“what tools do you have?”</a:t>
            </a:r>
          </a:p>
          <a:p>
            <a:pPr algn="l"/>
            <a:r>
              <a:rPr sz="1200" b="0" i="0">
                <a:solidFill>
                  <a:srgbClr val="334155"/>
                </a:solidFill>
                <a:latin typeface="Noto Sans"/>
              </a:rPr>
              <a:t>The server answers with each tool's </a:t>
            </a:r>
            <a:r>
              <a:rPr sz="1200" b="1" i="0">
                <a:solidFill>
                  <a:srgbClr val="0F1B2C"/>
                </a:solidFill>
                <a:latin typeface="Noto Sans"/>
              </a:rPr>
              <a:t>name</a:t>
            </a:r>
            <a:r>
              <a:rPr sz="1200" b="0" i="0">
                <a:solidFill>
                  <a:srgbClr val="334155"/>
                </a:solidFill>
                <a:latin typeface="Noto Sans"/>
              </a:rPr>
              <a:t>, </a:t>
            </a:r>
            <a:r>
              <a:rPr sz="1200" b="1" i="0">
                <a:solidFill>
                  <a:srgbClr val="0F1B2C"/>
                </a:solidFill>
                <a:latin typeface="Noto Sans"/>
              </a:rPr>
              <a:t>description</a:t>
            </a:r>
            <a:r>
              <a:rPr sz="1200" b="0" i="0">
                <a:solidFill>
                  <a:srgbClr val="334155"/>
                </a:solidFill>
                <a:latin typeface="Noto Sans"/>
              </a:rPr>
              <a:t> and </a:t>
            </a:r>
            <a:r>
              <a:rPr sz="1200" b="1" i="0">
                <a:solidFill>
                  <a:srgbClr val="0F1B2C"/>
                </a:solidFill>
                <a:latin typeface="Noto Sans"/>
              </a:rPr>
              <a:t>inputSchema</a:t>
            </a:r>
            <a:r>
              <a:rPr sz="1200" b="0" i="0">
                <a:solidFill>
                  <a:srgbClr val="334155"/>
                </a:solidFill>
                <a:latin typeface="Noto Sans"/>
              </a:rPr>
              <a:t> — that is how the LLM learns what it can do.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148840"/>
            <a:ext cx="8138160" cy="320040"/>
          </a:xfrm>
          <a:prstGeom prst="rect">
            <a:avLst/>
          </a:prstGeom>
          <a:noFill/>
        </p:spPr>
        <p:txBody>
          <a:bodyPr wrap="square" anchor="t" lIns="38100" rIns="38100" tIns="38100" bIns="38100">
            <a:spAutoFit/>
          </a:bodyPr>
          <a:lstStyle/>
          <a:p>
            <a:pPr algn="l"/>
            <a:r>
              <a:rPr sz="1300" b="1" i="0">
                <a:solidFill>
                  <a:srgbClr val="00AEEF"/>
                </a:solidFill>
                <a:latin typeface="Noto Sans"/>
              </a:rPr>
              <a:t>1. Request  —  client asks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2148840"/>
            <a:ext cx="8229600" cy="320040"/>
          </a:xfrm>
          <a:prstGeom prst="rect">
            <a:avLst/>
          </a:prstGeom>
          <a:noFill/>
        </p:spPr>
        <p:txBody>
          <a:bodyPr wrap="square" anchor="t" lIns="38100" rIns="38100" tIns="38100" bIns="38100">
            <a:spAutoFit/>
          </a:bodyPr>
          <a:lstStyle/>
          <a:p>
            <a:pPr algn="l"/>
            <a:r>
              <a:rPr sz="1300" b="1" i="0">
                <a:solidFill>
                  <a:srgbClr val="00AEEF"/>
                </a:solidFill>
                <a:latin typeface="Noto Sans"/>
              </a:rPr>
              <a:t>2. Response  —  server lists its tools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514600"/>
            <a:ext cx="8138160" cy="5394960"/>
          </a:xfrm>
          <a:prstGeom prst="roundRect">
            <a:avLst>
              <a:gd name="adj" fmla="val 4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2514600"/>
            <a:ext cx="8138160" cy="384048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04671" y="2642616"/>
            <a:ext cx="118872" cy="118872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05839" y="2642616"/>
            <a:ext cx="118872" cy="118872"/>
          </a:xfrm>
          <a:prstGeom prst="ellipse">
            <a:avLst/>
          </a:prstGeom>
          <a:solidFill>
            <a:srgbClr val="F5C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207007" y="2642616"/>
            <a:ext cx="118872" cy="118872"/>
          </a:xfrm>
          <a:prstGeom prst="ellipse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63040" y="2560320"/>
            <a:ext cx="72237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94A3B8"/>
                </a:solidFill>
                <a:latin typeface="Courier New"/>
              </a:rPr>
              <a:t>tools_list_request.json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063240"/>
            <a:ext cx="7680960" cy="4709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>
                <a:solidFill>
                  <a:srgbClr val="94A3B8"/>
                </a:solidFill>
                <a:latin typeface="Courier New"/>
              </a:rPr>
              <a:t>{</a:t>
            </a:r>
          </a:p>
          <a:p>
            <a:pPr algn="l">
              <a:lnSpc>
                <a:spcPct val="105000"/>
              </a:lnSpc>
            </a:pPr>
            <a:r>
              <a:rPr sz="1150">
                <a:solidFill>
                  <a:srgbClr val="38BDF8"/>
                </a:solidFill>
                <a:latin typeface="Courier New"/>
              </a:rPr>
              <a:t>  "jsonrpc"</a:t>
            </a:r>
            <a:r>
              <a:rPr sz="1150">
                <a:solidFill>
                  <a:srgbClr val="94A3B8"/>
                </a:solidFill>
                <a:latin typeface="Courier New"/>
              </a:rPr>
              <a:t>: </a:t>
            </a:r>
            <a:r>
              <a:rPr sz="1150">
                <a:solidFill>
                  <a:srgbClr val="34D399"/>
                </a:solidFill>
                <a:latin typeface="Courier New"/>
              </a:rPr>
              <a:t>"2.0"</a:t>
            </a:r>
            <a:r>
              <a:rPr sz="1150">
                <a:solidFill>
                  <a:srgbClr val="94A3B8"/>
                </a:solidFill>
                <a:latin typeface="Courier New"/>
              </a:rPr>
              <a:t>,</a:t>
            </a:r>
          </a:p>
          <a:p>
            <a:pPr algn="l">
              <a:lnSpc>
                <a:spcPct val="105000"/>
              </a:lnSpc>
            </a:pPr>
            <a:r>
              <a:rPr sz="1150">
                <a:solidFill>
                  <a:srgbClr val="38BDF8"/>
                </a:solidFill>
                <a:latin typeface="Courier New"/>
              </a:rPr>
              <a:t>  "id"</a:t>
            </a:r>
            <a:r>
              <a:rPr sz="1150">
                <a:solidFill>
                  <a:srgbClr val="94A3B8"/>
                </a:solidFill>
                <a:latin typeface="Courier New"/>
              </a:rPr>
              <a:t>: </a:t>
            </a:r>
            <a:r>
              <a:rPr sz="1150">
                <a:solidFill>
                  <a:srgbClr val="F472B6"/>
                </a:solidFill>
                <a:latin typeface="Courier New"/>
              </a:rPr>
              <a:t>1</a:t>
            </a:r>
            <a:r>
              <a:rPr sz="1150">
                <a:solidFill>
                  <a:srgbClr val="94A3B8"/>
                </a:solidFill>
                <a:latin typeface="Courier New"/>
              </a:rPr>
              <a:t>,</a:t>
            </a:r>
          </a:p>
          <a:p>
            <a:pPr algn="l">
              <a:lnSpc>
                <a:spcPct val="105000"/>
              </a:lnSpc>
            </a:pPr>
            <a:r>
              <a:rPr sz="1150">
                <a:solidFill>
                  <a:srgbClr val="38BDF8"/>
                </a:solidFill>
                <a:latin typeface="Courier New"/>
              </a:rPr>
              <a:t>  "method"</a:t>
            </a:r>
            <a:r>
              <a:rPr sz="1150">
                <a:solidFill>
                  <a:srgbClr val="94A3B8"/>
                </a:solidFill>
                <a:latin typeface="Courier New"/>
              </a:rPr>
              <a:t>: </a:t>
            </a:r>
            <a:r>
              <a:rPr sz="1150">
                <a:solidFill>
                  <a:srgbClr val="34D399"/>
                </a:solidFill>
                <a:latin typeface="Courier New"/>
              </a:rPr>
              <a:t>"tools/list"</a:t>
            </a:r>
          </a:p>
          <a:p>
            <a:pPr algn="l">
              <a:lnSpc>
                <a:spcPct val="105000"/>
              </a:lnSpc>
            </a:pPr>
            <a:r>
              <a:rPr sz="1150">
                <a:solidFill>
                  <a:srgbClr val="94A3B8"/>
                </a:solidFill>
                <a:latin typeface="Courier New"/>
              </a:rPr>
              <a:t>}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0" y="2514600"/>
            <a:ext cx="8229600" cy="5394960"/>
          </a:xfrm>
          <a:prstGeom prst="roundRect">
            <a:avLst>
              <a:gd name="adj" fmla="val 4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144000" y="2514600"/>
            <a:ext cx="8229600" cy="384048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308592" y="2642616"/>
            <a:ext cx="118872" cy="118872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509760" y="2642616"/>
            <a:ext cx="118872" cy="118872"/>
          </a:xfrm>
          <a:prstGeom prst="ellipse">
            <a:avLst/>
          </a:prstGeom>
          <a:solidFill>
            <a:srgbClr val="F5C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710928" y="2642616"/>
            <a:ext cx="118872" cy="118872"/>
          </a:xfrm>
          <a:prstGeom prst="ellipse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66960" y="2560320"/>
            <a:ext cx="7315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94A3B8"/>
                </a:solidFill>
                <a:latin typeface="Courier New"/>
              </a:rPr>
              <a:t>tools_list_response.json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72600" y="3063240"/>
            <a:ext cx="7772400" cy="4709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>
                <a:solidFill>
                  <a:srgbClr val="94A3B8"/>
                </a:solidFill>
                <a:latin typeface="Courier New"/>
              </a:rPr>
              <a:t>{</a:t>
            </a:r>
          </a:p>
          <a:p>
            <a:pPr algn="l">
              <a:lnSpc>
                <a:spcPct val="105000"/>
              </a:lnSpc>
            </a:pPr>
            <a:r>
              <a:rPr sz="1150">
                <a:solidFill>
                  <a:srgbClr val="38BDF8"/>
                </a:solidFill>
                <a:latin typeface="Courier New"/>
              </a:rPr>
              <a:t>  "jsonrpc"</a:t>
            </a:r>
            <a:r>
              <a:rPr sz="1150">
                <a:solidFill>
                  <a:srgbClr val="94A3B8"/>
                </a:solidFill>
                <a:latin typeface="Courier New"/>
              </a:rPr>
              <a:t>: </a:t>
            </a:r>
            <a:r>
              <a:rPr sz="1150">
                <a:solidFill>
                  <a:srgbClr val="34D399"/>
                </a:solidFill>
                <a:latin typeface="Courier New"/>
              </a:rPr>
              <a:t>"2.0"</a:t>
            </a:r>
            <a:r>
              <a:rPr sz="1150">
                <a:solidFill>
                  <a:srgbClr val="94A3B8"/>
                </a:solidFill>
                <a:latin typeface="Courier New"/>
              </a:rPr>
              <a:t>, </a:t>
            </a:r>
            <a:r>
              <a:rPr sz="1150">
                <a:solidFill>
                  <a:srgbClr val="38BDF8"/>
                </a:solidFill>
                <a:latin typeface="Courier New"/>
              </a:rPr>
              <a:t>"id"</a:t>
            </a:r>
            <a:r>
              <a:rPr sz="1150">
                <a:solidFill>
                  <a:srgbClr val="94A3B8"/>
                </a:solidFill>
                <a:latin typeface="Courier New"/>
              </a:rPr>
              <a:t>: </a:t>
            </a:r>
            <a:r>
              <a:rPr sz="1150">
                <a:solidFill>
                  <a:srgbClr val="F472B6"/>
                </a:solidFill>
                <a:latin typeface="Courier New"/>
              </a:rPr>
              <a:t>1</a:t>
            </a:r>
            <a:r>
              <a:rPr sz="1150">
                <a:solidFill>
                  <a:srgbClr val="94A3B8"/>
                </a:solidFill>
                <a:latin typeface="Courier New"/>
              </a:rPr>
              <a:t>,</a:t>
            </a:r>
          </a:p>
          <a:p>
            <a:pPr algn="l">
              <a:lnSpc>
                <a:spcPct val="105000"/>
              </a:lnSpc>
            </a:pPr>
            <a:r>
              <a:rPr sz="1150">
                <a:solidFill>
                  <a:srgbClr val="38BDF8"/>
                </a:solidFill>
                <a:latin typeface="Courier New"/>
              </a:rPr>
              <a:t>  "result"</a:t>
            </a:r>
            <a:r>
              <a:rPr sz="1150">
                <a:solidFill>
                  <a:srgbClr val="94A3B8"/>
                </a:solidFill>
                <a:latin typeface="Courier New"/>
              </a:rPr>
              <a:t>: { </a:t>
            </a:r>
            <a:r>
              <a:rPr sz="1150">
                <a:solidFill>
                  <a:srgbClr val="38BDF8"/>
                </a:solidFill>
                <a:latin typeface="Courier New"/>
              </a:rPr>
              <a:t>"tools"</a:t>
            </a:r>
            <a:r>
              <a:rPr sz="1150">
                <a:solidFill>
                  <a:srgbClr val="94A3B8"/>
                </a:solidFill>
                <a:latin typeface="Courier New"/>
              </a:rPr>
              <a:t>: [</a:t>
            </a:r>
          </a:p>
          <a:p>
            <a:pPr algn="l">
              <a:lnSpc>
                <a:spcPct val="105000"/>
              </a:lnSpc>
            </a:pPr>
            <a:r>
              <a:rPr sz="1150">
                <a:solidFill>
                  <a:srgbClr val="94A3B8"/>
                </a:solidFill>
                <a:latin typeface="Courier New"/>
              </a:rPr>
              <a:t>    {</a:t>
            </a:r>
          </a:p>
          <a:p>
            <a:pPr algn="l">
              <a:lnSpc>
                <a:spcPct val="105000"/>
              </a:lnSpc>
            </a:pPr>
            <a:r>
              <a:rPr sz="1150">
                <a:solidFill>
                  <a:srgbClr val="38BDF8"/>
                </a:solidFill>
                <a:latin typeface="Courier New"/>
              </a:rPr>
              <a:t>      "name"</a:t>
            </a:r>
            <a:r>
              <a:rPr sz="1150">
                <a:solidFill>
                  <a:srgbClr val="94A3B8"/>
                </a:solidFill>
                <a:latin typeface="Courier New"/>
              </a:rPr>
              <a:t>: </a:t>
            </a:r>
            <a:r>
              <a:rPr sz="1150">
                <a:solidFill>
                  <a:srgbClr val="34D399"/>
                </a:solidFill>
                <a:latin typeface="Courier New"/>
              </a:rPr>
              <a:t>"get_interfaces"</a:t>
            </a:r>
            <a:r>
              <a:rPr sz="1150">
                <a:solidFill>
                  <a:srgbClr val="94A3B8"/>
                </a:solidFill>
                <a:latin typeface="Courier New"/>
              </a:rPr>
              <a:t>,</a:t>
            </a:r>
          </a:p>
          <a:p>
            <a:pPr algn="l">
              <a:lnSpc>
                <a:spcPct val="105000"/>
              </a:lnSpc>
            </a:pPr>
            <a:r>
              <a:rPr sz="1150">
                <a:solidFill>
                  <a:srgbClr val="38BDF8"/>
                </a:solidFill>
                <a:latin typeface="Courier New"/>
              </a:rPr>
              <a:t>      "description"</a:t>
            </a:r>
            <a:r>
              <a:rPr sz="1150">
                <a:solidFill>
                  <a:srgbClr val="94A3B8"/>
                </a:solidFill>
                <a:latin typeface="Courier New"/>
              </a:rPr>
              <a:t>: </a:t>
            </a:r>
            <a:r>
              <a:rPr sz="1150">
                <a:solidFill>
                  <a:srgbClr val="34D399"/>
                </a:solidFill>
                <a:latin typeface="Courier New"/>
              </a:rPr>
              <a:t>"Get all router</a:t>
            </a:r>
          </a:p>
          <a:p>
            <a:pPr algn="l">
              <a:lnSpc>
                <a:spcPct val="105000"/>
              </a:lnSpc>
            </a:pPr>
            <a:r>
              <a:rPr sz="1150">
                <a:solidFill>
                  <a:srgbClr val="34D399"/>
                </a:solidFill>
                <a:latin typeface="Courier New"/>
              </a:rPr>
              <a:t>         interfaces and status",</a:t>
            </a:r>
          </a:p>
          <a:p>
            <a:pPr algn="l">
              <a:lnSpc>
                <a:spcPct val="105000"/>
              </a:lnSpc>
            </a:pPr>
            <a:r>
              <a:rPr sz="1150">
                <a:solidFill>
                  <a:srgbClr val="38BDF8"/>
                </a:solidFill>
                <a:latin typeface="Courier New"/>
              </a:rPr>
              <a:t>      "inputSchema"</a:t>
            </a:r>
            <a:r>
              <a:rPr sz="1150">
                <a:solidFill>
                  <a:srgbClr val="94A3B8"/>
                </a:solidFill>
                <a:latin typeface="Courier New"/>
              </a:rPr>
              <a:t>: { </a:t>
            </a:r>
            <a:r>
              <a:rPr sz="1150">
                <a:solidFill>
                  <a:srgbClr val="38BDF8"/>
                </a:solidFill>
                <a:latin typeface="Courier New"/>
              </a:rPr>
              <a:t>"type"</a:t>
            </a:r>
            <a:r>
              <a:rPr sz="1150">
                <a:solidFill>
                  <a:srgbClr val="94A3B8"/>
                </a:solidFill>
                <a:latin typeface="Courier New"/>
              </a:rPr>
              <a:t>: </a:t>
            </a:r>
            <a:r>
              <a:rPr sz="1150">
                <a:solidFill>
                  <a:srgbClr val="34D399"/>
                </a:solidFill>
                <a:latin typeface="Courier New"/>
              </a:rPr>
              <a:t>"object"</a:t>
            </a:r>
            <a:r>
              <a:rPr sz="1150">
                <a:solidFill>
                  <a:srgbClr val="94A3B8"/>
                </a:solidFill>
                <a:latin typeface="Courier New"/>
              </a:rPr>
              <a:t> }</a:t>
            </a:r>
          </a:p>
          <a:p>
            <a:pPr algn="l">
              <a:lnSpc>
                <a:spcPct val="105000"/>
              </a:lnSpc>
            </a:pPr>
            <a:r>
              <a:rPr sz="1150">
                <a:solidFill>
                  <a:srgbClr val="94A3B8"/>
                </a:solidFill>
                <a:latin typeface="Courier New"/>
              </a:rPr>
              <a:t>    },</a:t>
            </a:r>
          </a:p>
          <a:p>
            <a:pPr algn="l">
              <a:lnSpc>
                <a:spcPct val="105000"/>
              </a:lnSpc>
            </a:pPr>
            <a:r>
              <a:rPr sz="1150">
                <a:solidFill>
                  <a:srgbClr val="94A3B8"/>
                </a:solidFill>
                <a:latin typeface="Courier New"/>
              </a:rPr>
              <a:t>    { </a:t>
            </a:r>
            <a:r>
              <a:rPr sz="1150">
                <a:solidFill>
                  <a:srgbClr val="38BDF8"/>
                </a:solidFill>
                <a:latin typeface="Courier New"/>
              </a:rPr>
              <a:t>"name"</a:t>
            </a:r>
            <a:r>
              <a:rPr sz="1150">
                <a:solidFill>
                  <a:srgbClr val="94A3B8"/>
                </a:solidFill>
                <a:latin typeface="Courier New"/>
              </a:rPr>
              <a:t>: </a:t>
            </a:r>
            <a:r>
              <a:rPr sz="1150">
                <a:solidFill>
                  <a:srgbClr val="34D399"/>
                </a:solidFill>
                <a:latin typeface="Courier New"/>
              </a:rPr>
              <a:t>"configure_interface"</a:t>
            </a:r>
            <a:r>
              <a:rPr sz="1150">
                <a:solidFill>
                  <a:srgbClr val="94A3B8"/>
                </a:solidFill>
                <a:latin typeface="Courier New"/>
              </a:rPr>
              <a:t>, … }</a:t>
            </a:r>
          </a:p>
          <a:p>
            <a:pPr algn="l">
              <a:lnSpc>
                <a:spcPct val="105000"/>
              </a:lnSpc>
            </a:pPr>
            <a:r>
              <a:rPr sz="1150">
                <a:solidFill>
                  <a:srgbClr val="94A3B8"/>
                </a:solidFill>
                <a:latin typeface="Courier New"/>
              </a:rPr>
              <a:t>  ] }</a:t>
            </a:r>
          </a:p>
          <a:p>
            <a:pPr algn="l">
              <a:lnSpc>
                <a:spcPct val="105000"/>
              </a:lnSpc>
            </a:pPr>
            <a:r>
              <a:rPr sz="1150">
                <a:solidFill>
                  <a:srgbClr val="94A3B8"/>
                </a:solidFill>
                <a:latin typeface="Courier New"/>
              </a:rPr>
              <a:t>}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8092440"/>
            <a:ext cx="17007840" cy="868680"/>
          </a:xfrm>
          <a:prstGeom prst="roundRect">
            <a:avLst>
              <a:gd name="adj" fmla="val 5000"/>
            </a:avLst>
          </a:prstGeom>
          <a:solidFill>
            <a:srgbClr val="0F1B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8138160"/>
            <a:ext cx="164592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50" b="0">
                <a:solidFill>
                  <a:srgbClr val="FFFFFF"/>
                </a:solidFill>
                <a:latin typeface="Noto Sans"/>
              </a:rPr>
              <a:t>Discovery (</a:t>
            </a:r>
            <a:r>
              <a:rPr sz="1250" b="1">
                <a:solidFill>
                  <a:srgbClr val="00AEEF"/>
                </a:solidFill>
                <a:latin typeface="Noto Sans"/>
              </a:rPr>
              <a:t>tools/list</a:t>
            </a:r>
            <a:r>
              <a:rPr sz="1250" b="0">
                <a:solidFill>
                  <a:srgbClr val="FFFFFF"/>
                </a:solidFill>
                <a:latin typeface="Noto Sans"/>
              </a:rPr>
              <a:t>) comes first  →  then the client can invoke a specific tool with  </a:t>
            </a:r>
            <a:r>
              <a:rPr sz="1250" b="1">
                <a:solidFill>
                  <a:srgbClr val="00AEEF"/>
                </a:solidFill>
                <a:latin typeface="Noto Sans"/>
              </a:rPr>
              <a:t>tools/call</a:t>
            </a:r>
            <a:r>
              <a:rPr sz="1250" b="0">
                <a:solidFill>
                  <a:srgbClr val="FFFFFF"/>
                </a:solidFill>
                <a:latin typeface="Noto Sans"/>
              </a:rPr>
              <a:t>  — shown on the next slide.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