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10287000" cx="18288000"/>
  <p:notesSz cx="6858000" cy="9144000"/>
  <p:embeddedFontLst>
    <p:embeddedFont>
      <p:font typeface="Roboto"/>
      <p:bold r:id="rId54"/>
      <p:boldItalic r:id="rId55"/>
    </p:embeddedFont>
    <p:embeddedFont>
      <p:font typeface="Noto Sans ExtraBold"/>
      <p:bold r:id="rId56"/>
      <p:boldItalic r:id="rId57"/>
    </p:embeddedFont>
    <p:embeddedFont>
      <p:font typeface="Noto Sans Medium"/>
      <p:regular r:id="rId58"/>
      <p:bold r:id="rId59"/>
      <p:italic r:id="rId60"/>
      <p:boldItalic r:id="rId61"/>
    </p:embeddedFont>
    <p:embeddedFont>
      <p:font typeface="Roboto Medium"/>
      <p:regular r:id="rId62"/>
      <p:bold r:id="rId63"/>
      <p:italic r:id="rId64"/>
      <p:boldItalic r:id="rId65"/>
    </p:embeddedFont>
    <p:embeddedFont>
      <p:font typeface="Arimo"/>
      <p:regular r:id="rId66"/>
      <p:bold r:id="rId67"/>
      <p:italic r:id="rId68"/>
      <p:boldItalic r:id="rId69"/>
    </p:embeddedFont>
    <p:embeddedFont>
      <p:font typeface="Noto Sans"/>
      <p:bold r:id="rId70"/>
      <p:boldItalic r:id="rId71"/>
    </p:embeddedFont>
    <p:embeddedFont>
      <p:font typeface="Noto Sans SemiBold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6" roundtripDataSignature="AMtx7mj2erFOvCxisjTPaOVv/iAYKJf3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NotoSansSemiBold-bold.fntdata"/><Relationship Id="rId72" Type="http://schemas.openxmlformats.org/officeDocument/2006/relationships/font" Target="fonts/NotoSansSemiBold-regular.fntdata"/><Relationship Id="rId31" Type="http://schemas.openxmlformats.org/officeDocument/2006/relationships/slide" Target="slides/slide26.xml"/><Relationship Id="rId75" Type="http://schemas.openxmlformats.org/officeDocument/2006/relationships/font" Target="fonts/NotoSansSemiBold-boldItalic.fntdata"/><Relationship Id="rId30" Type="http://schemas.openxmlformats.org/officeDocument/2006/relationships/slide" Target="slides/slide25.xml"/><Relationship Id="rId74" Type="http://schemas.openxmlformats.org/officeDocument/2006/relationships/font" Target="fonts/NotoSansSemiBold-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customschemas.google.com/relationships/presentationmetadata" Target="meta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NotoSans-boldItalic.fntdata"/><Relationship Id="rId70" Type="http://schemas.openxmlformats.org/officeDocument/2006/relationships/font" Target="fonts/NotoSans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edium-regular.fntdata"/><Relationship Id="rId61" Type="http://schemas.openxmlformats.org/officeDocument/2006/relationships/font" Target="fonts/NotoSansMedium-boldItalic.fntdata"/><Relationship Id="rId20" Type="http://schemas.openxmlformats.org/officeDocument/2006/relationships/slide" Target="slides/slide15.xml"/><Relationship Id="rId64" Type="http://schemas.openxmlformats.org/officeDocument/2006/relationships/font" Target="fonts/RobotoMedium-italic.fntdata"/><Relationship Id="rId63" Type="http://schemas.openxmlformats.org/officeDocument/2006/relationships/font" Target="fonts/RobotoMedium-bold.fntdata"/><Relationship Id="rId22" Type="http://schemas.openxmlformats.org/officeDocument/2006/relationships/slide" Target="slides/slide17.xml"/><Relationship Id="rId66" Type="http://schemas.openxmlformats.org/officeDocument/2006/relationships/font" Target="fonts/Arimo-regular.fntdata"/><Relationship Id="rId21" Type="http://schemas.openxmlformats.org/officeDocument/2006/relationships/slide" Target="slides/slide16.xml"/><Relationship Id="rId65" Type="http://schemas.openxmlformats.org/officeDocument/2006/relationships/font" Target="fonts/RobotoMedium-boldItalic.fntdata"/><Relationship Id="rId24" Type="http://schemas.openxmlformats.org/officeDocument/2006/relationships/slide" Target="slides/slide19.xml"/><Relationship Id="rId68" Type="http://schemas.openxmlformats.org/officeDocument/2006/relationships/font" Target="fonts/Arimo-italic.fntdata"/><Relationship Id="rId23" Type="http://schemas.openxmlformats.org/officeDocument/2006/relationships/slide" Target="slides/slide18.xml"/><Relationship Id="rId67" Type="http://schemas.openxmlformats.org/officeDocument/2006/relationships/font" Target="fonts/Arimo-bold.fntdata"/><Relationship Id="rId60" Type="http://schemas.openxmlformats.org/officeDocument/2006/relationships/font" Target="fonts/NotoSansMedium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Arim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-bold.fntdata"/><Relationship Id="rId13" Type="http://schemas.openxmlformats.org/officeDocument/2006/relationships/slide" Target="slides/slide8.xml"/><Relationship Id="rId57" Type="http://schemas.openxmlformats.org/officeDocument/2006/relationships/font" Target="fonts/NotoSansExtraBold-boldItalic.fntdata"/><Relationship Id="rId12" Type="http://schemas.openxmlformats.org/officeDocument/2006/relationships/slide" Target="slides/slide7.xml"/><Relationship Id="rId56" Type="http://schemas.openxmlformats.org/officeDocument/2006/relationships/font" Target="fonts/NotoSansExtraBold-bold.fntdata"/><Relationship Id="rId15" Type="http://schemas.openxmlformats.org/officeDocument/2006/relationships/slide" Target="slides/slide10.xml"/><Relationship Id="rId59" Type="http://schemas.openxmlformats.org/officeDocument/2006/relationships/font" Target="fonts/NotoSansMedium-bold.fntdata"/><Relationship Id="rId14" Type="http://schemas.openxmlformats.org/officeDocument/2006/relationships/slide" Target="slides/slide9.xml"/><Relationship Id="rId58" Type="http://schemas.openxmlformats.org/officeDocument/2006/relationships/font" Target="fonts/NotoSansMedium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bf35cb889_9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bf35cb889_9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bf35cb889_9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bf35cb889_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f35cb889_9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bf35cb889_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f35cb889_9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bf35cb889_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bf35cb889_9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bf35cb889_9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bf35cb889_9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bf35cb889_9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bf35cb889_9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bf35cb889_9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bf35cb889_9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fbf35cb889_9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bf35cb889_9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bf35cb889_9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bf35cb889_9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fbf35cb889_9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7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jpg"/><Relationship Id="rId5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37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16.png"/><Relationship Id="rId6" Type="http://schemas.openxmlformats.org/officeDocument/2006/relationships/image" Target="../media/image4.jpg"/><Relationship Id="rId7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37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4.jpg"/><Relationship Id="rId7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4.jpg"/><Relationship Id="rId7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4.jpg"/><Relationship Id="rId8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35.png"/><Relationship Id="rId5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Relationship Id="rId4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4.jpg"/><Relationship Id="rId8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31.png"/><Relationship Id="rId7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12.png"/><Relationship Id="rId5" Type="http://schemas.openxmlformats.org/officeDocument/2006/relationships/image" Target="../media/image41.png"/><Relationship Id="rId6" Type="http://schemas.openxmlformats.org/officeDocument/2006/relationships/image" Target="../media/image62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9.png"/><Relationship Id="rId4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Relationship Id="rId5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5.png"/><Relationship Id="rId4" Type="http://schemas.openxmlformats.org/officeDocument/2006/relationships/image" Target="../media/image12.png"/><Relationship Id="rId5" Type="http://schemas.openxmlformats.org/officeDocument/2006/relationships/image" Target="../media/image53.png"/><Relationship Id="rId6" Type="http://schemas.openxmlformats.org/officeDocument/2006/relationships/image" Target="../media/image59.png"/><Relationship Id="rId7" Type="http://schemas.openxmlformats.org/officeDocument/2006/relationships/image" Target="../media/image42.png"/><Relationship Id="rId8" Type="http://schemas.openxmlformats.org/officeDocument/2006/relationships/image" Target="../media/image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0.png"/><Relationship Id="rId4" Type="http://schemas.openxmlformats.org/officeDocument/2006/relationships/image" Target="../media/image63.png"/><Relationship Id="rId10" Type="http://schemas.openxmlformats.org/officeDocument/2006/relationships/image" Target="../media/image40.png"/><Relationship Id="rId9" Type="http://schemas.openxmlformats.org/officeDocument/2006/relationships/image" Target="../media/image4.jpg"/><Relationship Id="rId5" Type="http://schemas.openxmlformats.org/officeDocument/2006/relationships/image" Target="../media/image66.png"/><Relationship Id="rId6" Type="http://schemas.openxmlformats.org/officeDocument/2006/relationships/image" Target="../media/image15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10" Type="http://schemas.openxmlformats.org/officeDocument/2006/relationships/image" Target="../media/image40.png"/><Relationship Id="rId9" Type="http://schemas.openxmlformats.org/officeDocument/2006/relationships/image" Target="../media/image4.jpg"/><Relationship Id="rId5" Type="http://schemas.openxmlformats.org/officeDocument/2006/relationships/image" Target="../media/image66.png"/><Relationship Id="rId6" Type="http://schemas.openxmlformats.org/officeDocument/2006/relationships/image" Target="../media/image15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0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0" y="0"/>
                </a:moveTo>
                <a:lnTo>
                  <a:pt x="12192000" y="0"/>
                </a:lnTo>
                <a:lnTo>
                  <a:pt x="12192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sp>
        <p:nvSpPr>
          <p:cNvPr id="85" name="Google Shape;85;p2"/>
          <p:cNvSpPr txBox="1"/>
          <p:nvPr/>
        </p:nvSpPr>
        <p:spPr>
          <a:xfrm>
            <a:off x="1005840" y="3693795"/>
            <a:ext cx="3443754" cy="125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Agenda</a:t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9715500" y="17145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2"/>
          <p:cNvGrpSpPr/>
          <p:nvPr/>
        </p:nvGrpSpPr>
        <p:grpSpPr>
          <a:xfrm>
            <a:off x="9725216" y="1715557"/>
            <a:ext cx="552079" cy="569385"/>
            <a:chOff x="0" y="0"/>
            <a:chExt cx="736105" cy="759181"/>
          </a:xfrm>
        </p:grpSpPr>
        <p:sp>
          <p:nvSpPr>
            <p:cNvPr id="88" name="Google Shape;88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89" name="Google Shape;89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  <p:sp>
        <p:nvSpPr>
          <p:cNvPr id="90" name="Google Shape;90;p2"/>
          <p:cNvSpPr txBox="1"/>
          <p:nvPr/>
        </p:nvSpPr>
        <p:spPr>
          <a:xfrm>
            <a:off x="10607040" y="17411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Understanding LLMs &amp; AI Applications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10607040" y="2141220"/>
            <a:ext cx="6903720" cy="727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Large Language Models, AI-powered applications, and agentic workflows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715500" y="32004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2"/>
          <p:cNvGrpSpPr/>
          <p:nvPr/>
        </p:nvGrpSpPr>
        <p:grpSpPr>
          <a:xfrm>
            <a:off x="9725216" y="3201457"/>
            <a:ext cx="552079" cy="569385"/>
            <a:chOff x="0" y="0"/>
            <a:chExt cx="736105" cy="759181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10607040" y="32270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The Integration Challenge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0607040" y="3627120"/>
            <a:ext cx="6903720" cy="42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API architecture, the MxN problem, and current limitations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9715500" y="46863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2"/>
          <p:cNvGrpSpPr/>
          <p:nvPr/>
        </p:nvGrpSpPr>
        <p:grpSpPr>
          <a:xfrm>
            <a:off x="9725216" y="4687357"/>
            <a:ext cx="552079" cy="569385"/>
            <a:chOff x="0" y="0"/>
            <a:chExt cx="736105" cy="759181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0607040" y="47129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Introducing Model Context Protocol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607040" y="5113020"/>
            <a:ext cx="6903720" cy="42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MCP architecture, capabilities, and the paradigm shift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9715500" y="61722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2"/>
          <p:cNvGrpSpPr/>
          <p:nvPr/>
        </p:nvGrpSpPr>
        <p:grpSpPr>
          <a:xfrm>
            <a:off x="9725216" y="6173257"/>
            <a:ext cx="552079" cy="569385"/>
            <a:chOff x="0" y="0"/>
            <a:chExt cx="736105" cy="759181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/>
            </a:p>
          </p:txBody>
        </p:sp>
      </p:grpSp>
      <p:sp>
        <p:nvSpPr>
          <p:cNvPr id="108" name="Google Shape;108;p2"/>
          <p:cNvSpPr txBox="1"/>
          <p:nvPr/>
        </p:nvSpPr>
        <p:spPr>
          <a:xfrm>
            <a:off x="10607040" y="61988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Technical Implementation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607040" y="6598920"/>
            <a:ext cx="6903720" cy="42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Core capabilities, security, SDKs, and protocol extensions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9715500" y="76581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2"/>
          <p:cNvGrpSpPr/>
          <p:nvPr/>
        </p:nvGrpSpPr>
        <p:grpSpPr>
          <a:xfrm>
            <a:off x="9725216" y="7659157"/>
            <a:ext cx="552079" cy="569385"/>
            <a:chOff x="0" y="0"/>
            <a:chExt cx="736105" cy="759181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/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10607040" y="76847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Getting Started &amp; Future Vision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0607040" y="8084820"/>
            <a:ext cx="6903720" cy="727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Handson Implementation guide, resources, and the future path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118" name="Google Shape;118;p2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  <p:pic>
        <p:nvPicPr>
          <p:cNvPr id="119" name="Google Shape;11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24" name="Google Shape;124;p3"/>
          <p:cNvSpPr/>
          <p:nvPr/>
        </p:nvSpPr>
        <p:spPr>
          <a:xfrm>
            <a:off x="0" y="7472362"/>
            <a:ext cx="4743450" cy="2814638"/>
          </a:xfrm>
          <a:custGeom>
            <a:rect b="b" l="l" r="r" t="t"/>
            <a:pathLst>
              <a:path extrusionOk="0" h="3752850" w="6324600">
                <a:moveTo>
                  <a:pt x="0" y="0"/>
                </a:moveTo>
                <a:lnTo>
                  <a:pt x="6324600" y="0"/>
                </a:lnTo>
                <a:lnTo>
                  <a:pt x="63246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3"/>
          <p:cNvGrpSpPr/>
          <p:nvPr/>
        </p:nvGrpSpPr>
        <p:grpSpPr>
          <a:xfrm>
            <a:off x="2571750" y="3007300"/>
            <a:ext cx="4857750" cy="1309078"/>
            <a:chOff x="0" y="0"/>
            <a:chExt cx="6477000" cy="1745437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6477000" cy="1745435"/>
            </a:xfrm>
            <a:custGeom>
              <a:rect b="b" l="l" r="r" t="t"/>
              <a:pathLst>
                <a:path extrusionOk="0" h="1745435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1745435"/>
                  </a:lnTo>
                  <a:lnTo>
                    <a:pt x="0" y="174543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304" l="0" r="0" t="-22304"/>
              </a:stretch>
            </a:blipFill>
            <a:ln>
              <a:noFill/>
            </a:ln>
          </p:spPr>
        </p:sp>
        <p:sp>
          <p:nvSpPr>
            <p:cNvPr id="127" name="Google Shape;127;p3"/>
            <p:cNvSpPr txBox="1"/>
            <p:nvPr/>
          </p:nvSpPr>
          <p:spPr>
            <a:xfrm>
              <a:off x="0" y="0"/>
              <a:ext cx="6477000" cy="1745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1. </a:t>
              </a:r>
              <a:endParaRPr/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2571750" y="5783532"/>
            <a:ext cx="4857750" cy="1185862"/>
            <a:chOff x="0" y="0"/>
            <a:chExt cx="6477000" cy="1581150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6477000" cy="1581149"/>
            </a:xfrm>
            <a:custGeom>
              <a:rect b="b" l="l" r="r" t="t"/>
              <a:pathLst>
                <a:path extrusionOk="0" h="1581149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1581149"/>
                  </a:lnTo>
                  <a:lnTo>
                    <a:pt x="0" y="158114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819" l="0" r="0" t="-29819"/>
              </a:stretch>
            </a:blipFill>
            <a:ln>
              <a:noFill/>
            </a:ln>
          </p:spPr>
        </p:sp>
        <p:sp>
          <p:nvSpPr>
            <p:cNvPr id="130" name="Google Shape;130;p3"/>
            <p:cNvSpPr txBox="1"/>
            <p:nvPr/>
          </p:nvSpPr>
          <p:spPr>
            <a:xfrm>
              <a:off x="0" y="0"/>
              <a:ext cx="6477000" cy="1581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2. Discovery</a:t>
              </a:r>
              <a:endParaRPr/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342900" y="9726215"/>
            <a:ext cx="212527" cy="285750"/>
            <a:chOff x="0" y="-9525"/>
            <a:chExt cx="283368" cy="38100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283368" cy="371475"/>
            </a:xfrm>
            <a:custGeom>
              <a:rect b="b" l="l" r="r" t="t"/>
              <a:pathLst>
                <a:path extrusionOk="0" h="371475" w="283368">
                  <a:moveTo>
                    <a:pt x="0" y="0"/>
                  </a:moveTo>
                  <a:lnTo>
                    <a:pt x="283368" y="0"/>
                  </a:lnTo>
                  <a:lnTo>
                    <a:pt x="283368" y="371475"/>
                  </a:lnTo>
                  <a:lnTo>
                    <a:pt x="0" y="371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8199" r="-118196" t="0"/>
              </a:stretch>
            </a:blipFill>
            <a:ln>
              <a:noFill/>
            </a:ln>
          </p:spPr>
        </p:sp>
        <p:sp>
          <p:nvSpPr>
            <p:cNvPr id="133" name="Google Shape;133;p3"/>
            <p:cNvSpPr txBox="1"/>
            <p:nvPr/>
          </p:nvSpPr>
          <p:spPr>
            <a:xfrm>
              <a:off x="0" y="-9525"/>
              <a:ext cx="2833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9" u="none" cap="none" strike="noStrike">
                  <a:solidFill>
                    <a:srgbClr val="4B5563"/>
                  </a:solidFill>
                  <a:latin typeface="Noto Sans"/>
                  <a:ea typeface="Noto Sans"/>
                  <a:cs typeface="Noto Sans"/>
                  <a:sym typeface="Noto Sans"/>
                </a:rPr>
                <a:t>24</a:t>
              </a:r>
              <a:endParaRPr/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4127354" y="9726215"/>
            <a:ext cx="3087719" cy="285750"/>
            <a:chOff x="0" y="-9525"/>
            <a:chExt cx="4116959" cy="381000"/>
          </a:xfrm>
        </p:grpSpPr>
        <p:sp>
          <p:nvSpPr>
            <p:cNvPr id="135" name="Google Shape;135;p3"/>
            <p:cNvSpPr/>
            <p:nvPr/>
          </p:nvSpPr>
          <p:spPr>
            <a:xfrm>
              <a:off x="0" y="0"/>
              <a:ext cx="4116957" cy="371475"/>
            </a:xfrm>
            <a:custGeom>
              <a:rect b="b" l="l" r="r" t="t"/>
              <a:pathLst>
                <a:path extrusionOk="0" h="371475" w="4116957">
                  <a:moveTo>
                    <a:pt x="0" y="0"/>
                  </a:moveTo>
                  <a:lnTo>
                    <a:pt x="4116957" y="0"/>
                  </a:lnTo>
                  <a:lnTo>
                    <a:pt x="4116957" y="371475"/>
                  </a:lnTo>
                  <a:lnTo>
                    <a:pt x="0" y="371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5945" l="0" r="0" t="-165945"/>
              </a:stretch>
            </a:blipFill>
            <a:ln>
              <a:noFill/>
            </a:ln>
          </p:spPr>
        </p:sp>
        <p:sp>
          <p:nvSpPr>
            <p:cNvPr id="136" name="Google Shape;136;p3"/>
            <p:cNvSpPr txBox="1"/>
            <p:nvPr/>
          </p:nvSpPr>
          <p:spPr>
            <a:xfrm>
              <a:off x="0" y="-9525"/>
              <a:ext cx="4116959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9" u="none" cap="none" strike="noStrike">
                  <a:solidFill>
                    <a:srgbClr val="4B5563"/>
                  </a:solidFill>
                  <a:latin typeface="Noto Sans"/>
                  <a:ea typeface="Noto Sans"/>
                  <a:cs typeface="Noto Sans"/>
                  <a:sym typeface="Noto Sans"/>
                </a:rPr>
                <a:t>Criterion Proprietary &amp; Confidential</a:t>
              </a:r>
              <a:endParaRPr/>
            </a:p>
          </p:txBody>
        </p:sp>
      </p:grpSp>
      <p:grpSp>
        <p:nvGrpSpPr>
          <p:cNvPr id="137" name="Google Shape;137;p3"/>
          <p:cNvGrpSpPr/>
          <p:nvPr/>
        </p:nvGrpSpPr>
        <p:grpSpPr>
          <a:xfrm>
            <a:off x="0" y="8505825"/>
            <a:ext cx="4276726" cy="407195"/>
            <a:chOff x="0" y="-19050"/>
            <a:chExt cx="5702301" cy="542927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5702301" cy="523877"/>
            </a:xfrm>
            <a:custGeom>
              <a:rect b="b" l="l" r="r" t="t"/>
              <a:pathLst>
                <a:path extrusionOk="0" h="523877" w="5702301">
                  <a:moveTo>
                    <a:pt x="0" y="0"/>
                  </a:moveTo>
                  <a:lnTo>
                    <a:pt x="5702301" y="0"/>
                  </a:lnTo>
                  <a:lnTo>
                    <a:pt x="5702301" y="523877"/>
                  </a:lnTo>
                  <a:lnTo>
                    <a:pt x="0" y="52387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98" l="0" r="0" t="-162098"/>
              </a:stretch>
            </a:blipFill>
            <a:ln>
              <a:noFill/>
            </a:ln>
          </p:spPr>
        </p:sp>
        <p:sp>
          <p:nvSpPr>
            <p:cNvPr id="139" name="Google Shape;139;p3"/>
            <p:cNvSpPr txBox="1"/>
            <p:nvPr/>
          </p:nvSpPr>
          <p:spPr>
            <a:xfrm>
              <a:off x="0" y="-19050"/>
              <a:ext cx="5702300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/>
            </a:p>
          </p:txBody>
        </p:sp>
      </p:grpSp>
      <p:sp>
        <p:nvSpPr>
          <p:cNvPr id="140" name="Google Shape;140;p3"/>
          <p:cNvSpPr txBox="1"/>
          <p:nvPr/>
        </p:nvSpPr>
        <p:spPr>
          <a:xfrm>
            <a:off x="9727349" y="1322708"/>
            <a:ext cx="7562383" cy="6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Please share the following: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Name and Job Profile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AI/ML/MCP exposure so far – Rate yourself (1-5, 1 is a Beginner and 5 an Expert)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Happy with Agenda? 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Logistics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Coffee breaks &amp; Lunch (bits and bites) !!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Criterion Network’s SDCloud portal account – is the Sandbox visible ?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0" y="0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0" y="0"/>
                </a:moveTo>
                <a:lnTo>
                  <a:pt x="12192000" y="0"/>
                </a:lnTo>
                <a:lnTo>
                  <a:pt x="12192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sp>
        <p:nvSpPr>
          <p:cNvPr id="142" name="Google Shape;142;p3"/>
          <p:cNvSpPr txBox="1"/>
          <p:nvPr/>
        </p:nvSpPr>
        <p:spPr>
          <a:xfrm>
            <a:off x="1248194" y="3652314"/>
            <a:ext cx="5966879" cy="125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Introductions</a:t>
            </a:r>
            <a:endParaRPr/>
          </a:p>
        </p:txBody>
      </p:sp>
      <p:grpSp>
        <p:nvGrpSpPr>
          <p:cNvPr id="143" name="Google Shape;143;p3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145" name="Google Shape;145;p3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50" name="Google Shape;150;p4"/>
          <p:cNvSpPr/>
          <p:nvPr/>
        </p:nvSpPr>
        <p:spPr>
          <a:xfrm>
            <a:off x="0" y="0"/>
            <a:ext cx="18288000" cy="10292923"/>
          </a:xfrm>
          <a:custGeom>
            <a:rect b="b" l="l" r="r" t="t"/>
            <a:pathLst>
              <a:path extrusionOk="0" h="14917279" w="24384000">
                <a:moveTo>
                  <a:pt x="0" y="0"/>
                </a:moveTo>
                <a:lnTo>
                  <a:pt x="24384000" y="0"/>
                </a:lnTo>
                <a:lnTo>
                  <a:pt x="24384000" y="14917279"/>
                </a:lnTo>
                <a:lnTo>
                  <a:pt x="0" y="1491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379" r="-4379" t="0"/>
            </a:stretch>
          </a:blipFill>
          <a:ln>
            <a:noFill/>
          </a:ln>
        </p:spPr>
      </p:sp>
      <p:sp>
        <p:nvSpPr>
          <p:cNvPr descr="preencoded.png" id="151" name="Google Shape;151;p4"/>
          <p:cNvSpPr/>
          <p:nvPr/>
        </p:nvSpPr>
        <p:spPr>
          <a:xfrm>
            <a:off x="4643438" y="0"/>
            <a:ext cx="13644562" cy="7615238"/>
          </a:xfrm>
          <a:custGeom>
            <a:rect b="b" l="l" r="r" t="t"/>
            <a:pathLst>
              <a:path extrusionOk="0" h="10153650" w="18192750">
                <a:moveTo>
                  <a:pt x="0" y="0"/>
                </a:moveTo>
                <a:lnTo>
                  <a:pt x="18192750" y="0"/>
                </a:lnTo>
                <a:lnTo>
                  <a:pt x="18192750" y="10153650"/>
                </a:lnTo>
                <a:lnTo>
                  <a:pt x="0" y="1015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2" name="Google Shape;152;p4"/>
          <p:cNvGrpSpPr/>
          <p:nvPr/>
        </p:nvGrpSpPr>
        <p:grpSpPr>
          <a:xfrm>
            <a:off x="1508646" y="3298984"/>
            <a:ext cx="14311610" cy="2215992"/>
            <a:chOff x="0" y="0"/>
            <a:chExt cx="19082147" cy="2954656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19082147" cy="2954656"/>
            </a:xfrm>
            <a:custGeom>
              <a:rect b="b" l="l" r="r" t="t"/>
              <a:pathLst>
                <a:path extrusionOk="0" h="2954656" w="19082147">
                  <a:moveTo>
                    <a:pt x="0" y="0"/>
                  </a:moveTo>
                  <a:lnTo>
                    <a:pt x="19082147" y="0"/>
                  </a:lnTo>
                  <a:lnTo>
                    <a:pt x="19082147" y="2954656"/>
                  </a:lnTo>
                  <a:lnTo>
                    <a:pt x="0" y="2954656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75843" l="0" r="0" t="-75843"/>
              </a:stretch>
            </a:blipFill>
            <a:ln>
              <a:noFill/>
            </a:ln>
          </p:spPr>
        </p:sp>
        <p:sp>
          <p:nvSpPr>
            <p:cNvPr id="154" name="Google Shape;154;p4"/>
            <p:cNvSpPr txBox="1"/>
            <p:nvPr/>
          </p:nvSpPr>
          <p:spPr>
            <a:xfrm>
              <a:off x="0" y="0"/>
              <a:ext cx="19082144" cy="2954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Understanding 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Large Language Models (LLMs)</a:t>
              </a:r>
              <a:endParaRPr/>
            </a:p>
          </p:txBody>
        </p:sp>
      </p:grpSp>
      <p:sp>
        <p:nvSpPr>
          <p:cNvPr id="155" name="Google Shape;155;p4"/>
          <p:cNvSpPr/>
          <p:nvPr/>
        </p:nvSpPr>
        <p:spPr>
          <a:xfrm>
            <a:off x="13902080" y="9352153"/>
            <a:ext cx="4385722" cy="934805"/>
          </a:xfrm>
          <a:custGeom>
            <a:rect b="b" l="l" r="r" t="t"/>
            <a:pathLst>
              <a:path extrusionOk="0" h="1250575" w="5867187">
                <a:moveTo>
                  <a:pt x="0" y="0"/>
                </a:moveTo>
                <a:lnTo>
                  <a:pt x="5867187" y="0"/>
                </a:lnTo>
                <a:lnTo>
                  <a:pt x="5867187" y="1250575"/>
                </a:lnTo>
                <a:lnTo>
                  <a:pt x="0" y="1250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preencoded.png" id="156" name="Google Shape;156;p4"/>
          <p:cNvSpPr/>
          <p:nvPr/>
        </p:nvSpPr>
        <p:spPr>
          <a:xfrm>
            <a:off x="14130717" y="9498108"/>
            <a:ext cx="3928627" cy="642938"/>
          </a:xfrm>
          <a:custGeom>
            <a:rect b="b" l="l" r="r" t="t"/>
            <a:pathLst>
              <a:path extrusionOk="0" h="857250" w="5238169">
                <a:moveTo>
                  <a:pt x="0" y="0"/>
                </a:moveTo>
                <a:lnTo>
                  <a:pt x="5238169" y="0"/>
                </a:lnTo>
                <a:lnTo>
                  <a:pt x="5238169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834" l="0" r="0" t="-2835"/>
            </a:stretch>
          </a:blipFill>
          <a:ln>
            <a:noFill/>
          </a:ln>
        </p:spPr>
      </p:sp>
      <p:pic>
        <p:nvPicPr>
          <p:cNvPr id="157" name="Google Shape;157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62" name="Google Shape;162;p5"/>
          <p:cNvSpPr/>
          <p:nvPr/>
        </p:nvSpPr>
        <p:spPr>
          <a:xfrm>
            <a:off x="0" y="714375"/>
            <a:ext cx="18288000" cy="10372725"/>
          </a:xfrm>
          <a:custGeom>
            <a:rect b="b" l="l" r="r" t="t"/>
            <a:pathLst>
              <a:path extrusionOk="0" h="13830300" w="24384000">
                <a:moveTo>
                  <a:pt x="0" y="0"/>
                </a:moveTo>
                <a:lnTo>
                  <a:pt x="24384000" y="0"/>
                </a:lnTo>
                <a:lnTo>
                  <a:pt x="24384000" y="13830300"/>
                </a:lnTo>
                <a:lnTo>
                  <a:pt x="0" y="13830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6" r="-416" t="0"/>
            </a:stretch>
          </a:blipFill>
          <a:ln>
            <a:noFill/>
          </a:ln>
        </p:spPr>
      </p:sp>
      <p:sp>
        <p:nvSpPr>
          <p:cNvPr descr="preencoded.png" id="163" name="Google Shape;163;p5"/>
          <p:cNvSpPr/>
          <p:nvPr/>
        </p:nvSpPr>
        <p:spPr>
          <a:xfrm>
            <a:off x="14859000" y="342900"/>
            <a:ext cx="2743200" cy="1828800"/>
          </a:xfrm>
          <a:custGeom>
            <a:rect b="b" l="l" r="r" t="t"/>
            <a:pathLst>
              <a:path extrusionOk="0" h="2438400" w="3657600">
                <a:moveTo>
                  <a:pt x="0" y="0"/>
                </a:moveTo>
                <a:lnTo>
                  <a:pt x="3657600" y="0"/>
                </a:lnTo>
                <a:lnTo>
                  <a:pt x="36576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>
            <a:off x="0" y="0"/>
            <a:ext cx="7786688" cy="10287000"/>
          </a:xfrm>
          <a:custGeom>
            <a:rect b="b" l="l" r="r" t="t"/>
            <a:pathLst>
              <a:path extrusionOk="0" h="13716000" w="10382250">
                <a:moveTo>
                  <a:pt x="0" y="0"/>
                </a:moveTo>
                <a:lnTo>
                  <a:pt x="10382250" y="0"/>
                </a:lnTo>
                <a:lnTo>
                  <a:pt x="103822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F1A2B"/>
          </a:solidFill>
          <a:ln>
            <a:noFill/>
          </a:ln>
        </p:spPr>
      </p:sp>
      <p:sp>
        <p:nvSpPr>
          <p:cNvPr descr="preencoded.png" id="165" name="Google Shape;165;p5"/>
          <p:cNvSpPr/>
          <p:nvPr/>
        </p:nvSpPr>
        <p:spPr>
          <a:xfrm>
            <a:off x="0" y="7829550"/>
            <a:ext cx="7786688" cy="2457450"/>
          </a:xfrm>
          <a:custGeom>
            <a:rect b="b" l="l" r="r" t="t"/>
            <a:pathLst>
              <a:path extrusionOk="0" h="3276600" w="10382250">
                <a:moveTo>
                  <a:pt x="0" y="0"/>
                </a:moveTo>
                <a:lnTo>
                  <a:pt x="10382250" y="0"/>
                </a:lnTo>
                <a:lnTo>
                  <a:pt x="1038225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9999"/>
            </a:blip>
            <a:stretch>
              <a:fillRect b="0" l="-17186" r="-17186" t="0"/>
            </a:stretch>
          </a:blipFill>
          <a:ln>
            <a:noFill/>
          </a:ln>
        </p:spPr>
      </p:sp>
      <p:grpSp>
        <p:nvGrpSpPr>
          <p:cNvPr id="166" name="Google Shape;166;p5"/>
          <p:cNvGrpSpPr/>
          <p:nvPr/>
        </p:nvGrpSpPr>
        <p:grpSpPr>
          <a:xfrm>
            <a:off x="620559" y="2907014"/>
            <a:ext cx="3588214" cy="2015522"/>
            <a:chOff x="0" y="0"/>
            <a:chExt cx="4477868" cy="2515246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4477867" cy="2515246"/>
            </a:xfrm>
            <a:custGeom>
              <a:rect b="b" l="l" r="r" t="t"/>
              <a:pathLst>
                <a:path extrusionOk="0" h="2515246" w="4477867">
                  <a:moveTo>
                    <a:pt x="0" y="0"/>
                  </a:moveTo>
                  <a:lnTo>
                    <a:pt x="4477867" y="0"/>
                  </a:lnTo>
                  <a:lnTo>
                    <a:pt x="4477867" y="2515246"/>
                  </a:lnTo>
                  <a:lnTo>
                    <a:pt x="0" y="2515246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40601" l="0" r="0" t="-9979"/>
              </a:stretch>
            </a:blipFill>
            <a:ln>
              <a:noFill/>
            </a:ln>
          </p:spPr>
        </p:sp>
        <p:sp>
          <p:nvSpPr>
            <p:cNvPr id="168" name="Google Shape;168;p5"/>
            <p:cNvSpPr txBox="1"/>
            <p:nvPr/>
          </p:nvSpPr>
          <p:spPr>
            <a:xfrm>
              <a:off x="0" y="0"/>
              <a:ext cx="4477868" cy="2515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What Are </a:t>
              </a:r>
              <a:endParaRPr/>
            </a:p>
          </p:txBody>
        </p:sp>
      </p:grpSp>
      <p:grpSp>
        <p:nvGrpSpPr>
          <p:cNvPr id="169" name="Google Shape;169;p5"/>
          <p:cNvGrpSpPr/>
          <p:nvPr/>
        </p:nvGrpSpPr>
        <p:grpSpPr>
          <a:xfrm>
            <a:off x="669617" y="4295533"/>
            <a:ext cx="5813519" cy="1067285"/>
            <a:chOff x="0" y="0"/>
            <a:chExt cx="7751358" cy="1423046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7751352" cy="1423046"/>
            </a:xfrm>
            <a:custGeom>
              <a:rect b="b" l="l" r="r" t="t"/>
              <a:pathLst>
                <a:path extrusionOk="0" h="1423046" w="7751352">
                  <a:moveTo>
                    <a:pt x="0" y="0"/>
                  </a:moveTo>
                  <a:lnTo>
                    <a:pt x="7751352" y="0"/>
                  </a:lnTo>
                  <a:lnTo>
                    <a:pt x="7751352" y="1423046"/>
                  </a:lnTo>
                  <a:lnTo>
                    <a:pt x="0" y="1423046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5575" l="0" r="41677" t="-18226"/>
              </a:stretch>
            </a:blipFill>
            <a:ln>
              <a:noFill/>
            </a:ln>
          </p:spPr>
        </p:sp>
        <p:sp>
          <p:nvSpPr>
            <p:cNvPr id="171" name="Google Shape;171;p5"/>
            <p:cNvSpPr txBox="1"/>
            <p:nvPr/>
          </p:nvSpPr>
          <p:spPr>
            <a:xfrm>
              <a:off x="0" y="0"/>
              <a:ext cx="7751358" cy="142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Large Language</a:t>
              </a:r>
              <a:endParaRPr/>
            </a:p>
          </p:txBody>
        </p:sp>
      </p:grpSp>
      <p:grpSp>
        <p:nvGrpSpPr>
          <p:cNvPr id="172" name="Google Shape;172;p5"/>
          <p:cNvGrpSpPr/>
          <p:nvPr/>
        </p:nvGrpSpPr>
        <p:grpSpPr>
          <a:xfrm>
            <a:off x="669617" y="5434600"/>
            <a:ext cx="3588310" cy="932268"/>
            <a:chOff x="0" y="-11"/>
            <a:chExt cx="4784413" cy="1243024"/>
          </a:xfrm>
        </p:grpSpPr>
        <p:sp>
          <p:nvSpPr>
            <p:cNvPr id="173" name="Google Shape;173;p5"/>
            <p:cNvSpPr/>
            <p:nvPr/>
          </p:nvSpPr>
          <p:spPr>
            <a:xfrm>
              <a:off x="0" y="0"/>
              <a:ext cx="3954811" cy="1243013"/>
            </a:xfrm>
            <a:custGeom>
              <a:rect b="b" l="l" r="r" t="t"/>
              <a:pathLst>
                <a:path extrusionOk="0" h="1243013" w="3954811">
                  <a:moveTo>
                    <a:pt x="0" y="0"/>
                  </a:moveTo>
                  <a:lnTo>
                    <a:pt x="3954811" y="0"/>
                  </a:lnTo>
                  <a:lnTo>
                    <a:pt x="3954811" y="1243013"/>
                  </a:lnTo>
                  <a:lnTo>
                    <a:pt x="0" y="12430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1995" l="0" r="0" t="-11995"/>
              </a:stretch>
            </a:blipFill>
            <a:ln>
              <a:noFill/>
            </a:ln>
          </p:spPr>
        </p:sp>
        <p:sp>
          <p:nvSpPr>
            <p:cNvPr id="174" name="Google Shape;174;p5"/>
            <p:cNvSpPr txBox="1"/>
            <p:nvPr/>
          </p:nvSpPr>
          <p:spPr>
            <a:xfrm>
              <a:off x="13" y="-11"/>
              <a:ext cx="4784400" cy="12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b="1" lang="en-US" sz="5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</a:t>
              </a:r>
              <a:r>
                <a:rPr b="1" i="0" lang="en-US" sz="5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odels? </a:t>
              </a:r>
              <a:endParaRPr/>
            </a:p>
          </p:txBody>
        </p:sp>
      </p:grpSp>
      <p:sp>
        <p:nvSpPr>
          <p:cNvPr id="175" name="Google Shape;175;p5"/>
          <p:cNvSpPr/>
          <p:nvPr/>
        </p:nvSpPr>
        <p:spPr>
          <a:xfrm>
            <a:off x="8472488" y="685800"/>
            <a:ext cx="1767173" cy="571500"/>
          </a:xfrm>
          <a:custGeom>
            <a:rect b="b" l="l" r="r" t="t"/>
            <a:pathLst>
              <a:path extrusionOk="0" h="762000" w="2356231">
                <a:moveTo>
                  <a:pt x="0" y="127000"/>
                </a:moveTo>
                <a:cubicBezTo>
                  <a:pt x="0" y="56896"/>
                  <a:pt x="56896" y="0"/>
                  <a:pt x="127000" y="0"/>
                </a:cubicBezTo>
                <a:lnTo>
                  <a:pt x="2229231" y="0"/>
                </a:lnTo>
                <a:cubicBezTo>
                  <a:pt x="2299335" y="0"/>
                  <a:pt x="2356231" y="56896"/>
                  <a:pt x="2356231" y="127000"/>
                </a:cubicBezTo>
                <a:lnTo>
                  <a:pt x="2356231" y="635000"/>
                </a:lnTo>
                <a:cubicBezTo>
                  <a:pt x="2356231" y="705104"/>
                  <a:pt x="2299335" y="762000"/>
                  <a:pt x="2229231" y="762000"/>
                </a:cubicBezTo>
                <a:lnTo>
                  <a:pt x="127000" y="762000"/>
                </a:lnTo>
                <a:cubicBezTo>
                  <a:pt x="56896" y="762000"/>
                  <a:pt x="0" y="705104"/>
                  <a:pt x="0" y="635000"/>
                </a:cubicBezTo>
                <a:close/>
              </a:path>
            </a:pathLst>
          </a:custGeom>
          <a:solidFill>
            <a:srgbClr val="2B7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5"/>
          <p:cNvGrpSpPr/>
          <p:nvPr/>
        </p:nvGrpSpPr>
        <p:grpSpPr>
          <a:xfrm>
            <a:off x="8472488" y="698116"/>
            <a:ext cx="1767128" cy="539727"/>
            <a:chOff x="0" y="-9525"/>
            <a:chExt cx="2356171" cy="719636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2356171" cy="710111"/>
            </a:xfrm>
            <a:custGeom>
              <a:rect b="b" l="l" r="r" t="t"/>
              <a:pathLst>
                <a:path extrusionOk="0" h="710111" w="2356171">
                  <a:moveTo>
                    <a:pt x="0" y="0"/>
                  </a:moveTo>
                  <a:lnTo>
                    <a:pt x="2356171" y="0"/>
                  </a:lnTo>
                  <a:lnTo>
                    <a:pt x="2356171" y="710111"/>
                  </a:lnTo>
                  <a:lnTo>
                    <a:pt x="0" y="710111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4226" l="0" r="-14809" t="-24226"/>
              </a:stretch>
            </a:blip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0" y="-9525"/>
              <a:ext cx="2356168" cy="71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Definition</a:t>
              </a:r>
              <a:endParaRPr/>
            </a:p>
          </p:txBody>
        </p:sp>
      </p:grpSp>
      <p:sp>
        <p:nvSpPr>
          <p:cNvPr id="179" name="Google Shape;179;p5"/>
          <p:cNvSpPr/>
          <p:nvPr/>
        </p:nvSpPr>
        <p:spPr>
          <a:xfrm>
            <a:off x="8472287" y="1485700"/>
            <a:ext cx="9130094" cy="1857756"/>
          </a:xfrm>
          <a:custGeom>
            <a:rect b="b" l="l" r="r" t="t"/>
            <a:pathLst>
              <a:path extrusionOk="0" h="2477008" w="12173458">
                <a:moveTo>
                  <a:pt x="0" y="0"/>
                </a:moveTo>
                <a:lnTo>
                  <a:pt x="12173458" y="0"/>
                </a:lnTo>
                <a:lnTo>
                  <a:pt x="12173458" y="2477008"/>
                </a:lnTo>
                <a:lnTo>
                  <a:pt x="0" y="24770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2B7FD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80" name="Google Shape;180;p5"/>
          <p:cNvGrpSpPr/>
          <p:nvPr/>
        </p:nvGrpSpPr>
        <p:grpSpPr>
          <a:xfrm>
            <a:off x="8815388" y="1821656"/>
            <a:ext cx="8443912" cy="1121570"/>
            <a:chOff x="0" y="-9525"/>
            <a:chExt cx="11258550" cy="1495426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11258549" cy="1485901"/>
            </a:xfrm>
            <a:custGeom>
              <a:rect b="b" l="l" r="r" t="t"/>
              <a:pathLst>
                <a:path extrusionOk="0" h="1485901" w="11258549">
                  <a:moveTo>
                    <a:pt x="0" y="0"/>
                  </a:moveTo>
                  <a:lnTo>
                    <a:pt x="11258549" y="0"/>
                  </a:lnTo>
                  <a:lnTo>
                    <a:pt x="11258549" y="1485901"/>
                  </a:lnTo>
                  <a:lnTo>
                    <a:pt x="0" y="1485901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97632" l="0" r="0" t="-97632"/>
              </a:stretch>
            </a:blipFill>
            <a:ln>
              <a:noFill/>
            </a:ln>
          </p:spPr>
        </p:sp>
        <p:sp>
          <p:nvSpPr>
            <p:cNvPr id="182" name="Google Shape;182;p5"/>
            <p:cNvSpPr txBox="1"/>
            <p:nvPr/>
          </p:nvSpPr>
          <p:spPr>
            <a:xfrm>
              <a:off x="0" y="-9525"/>
              <a:ext cx="11258550" cy="1495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Large language models (LLMs) are deep learning models trained on immense amounts of data, capable of understanding and generating natural language to perform a wide range of tasks.</a:t>
              </a:r>
              <a:endParaRPr/>
            </a:p>
          </p:txBody>
        </p:sp>
      </p:grpSp>
      <p:sp>
        <p:nvSpPr>
          <p:cNvPr id="183" name="Google Shape;183;p5"/>
          <p:cNvSpPr/>
          <p:nvPr/>
        </p:nvSpPr>
        <p:spPr>
          <a:xfrm>
            <a:off x="8472488" y="3629025"/>
            <a:ext cx="2514124" cy="571500"/>
          </a:xfrm>
          <a:custGeom>
            <a:rect b="b" l="l" r="r" t="t"/>
            <a:pathLst>
              <a:path extrusionOk="0" h="762000" w="3352165">
                <a:moveTo>
                  <a:pt x="0" y="127000"/>
                </a:moveTo>
                <a:cubicBezTo>
                  <a:pt x="0" y="56896"/>
                  <a:pt x="56896" y="0"/>
                  <a:pt x="127000" y="0"/>
                </a:cubicBezTo>
                <a:lnTo>
                  <a:pt x="3225165" y="0"/>
                </a:lnTo>
                <a:cubicBezTo>
                  <a:pt x="3295269" y="0"/>
                  <a:pt x="3352165" y="56896"/>
                  <a:pt x="3352165" y="127000"/>
                </a:cubicBezTo>
                <a:lnTo>
                  <a:pt x="3352165" y="635000"/>
                </a:lnTo>
                <a:cubicBezTo>
                  <a:pt x="3352165" y="705104"/>
                  <a:pt x="3295269" y="762000"/>
                  <a:pt x="3225165" y="762000"/>
                </a:cubicBezTo>
                <a:lnTo>
                  <a:pt x="127000" y="762000"/>
                </a:lnTo>
                <a:cubicBezTo>
                  <a:pt x="56896" y="762000"/>
                  <a:pt x="0" y="705104"/>
                  <a:pt x="0" y="635000"/>
                </a:cubicBezTo>
                <a:close/>
              </a:path>
            </a:pathLst>
          </a:custGeom>
          <a:solidFill>
            <a:srgbClr val="2B7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5"/>
          <p:cNvGrpSpPr/>
          <p:nvPr/>
        </p:nvGrpSpPr>
        <p:grpSpPr>
          <a:xfrm>
            <a:off x="8472488" y="3621881"/>
            <a:ext cx="2514153" cy="578644"/>
            <a:chOff x="0" y="-9525"/>
            <a:chExt cx="3352205" cy="771525"/>
          </a:xfrm>
        </p:grpSpPr>
        <p:sp>
          <p:nvSpPr>
            <p:cNvPr id="185" name="Google Shape;185;p5"/>
            <p:cNvSpPr/>
            <p:nvPr/>
          </p:nvSpPr>
          <p:spPr>
            <a:xfrm>
              <a:off x="0" y="0"/>
              <a:ext cx="3352205" cy="762000"/>
            </a:xfrm>
            <a:custGeom>
              <a:rect b="b" l="l" r="r" t="t"/>
              <a:pathLst>
                <a:path extrusionOk="0" h="762000" w="3352205">
                  <a:moveTo>
                    <a:pt x="0" y="0"/>
                  </a:moveTo>
                  <a:lnTo>
                    <a:pt x="3352205" y="0"/>
                  </a:lnTo>
                  <a:lnTo>
                    <a:pt x="3352205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5719" l="0" r="0" t="-35719"/>
              </a:stretch>
            </a:blipFill>
            <a:ln>
              <a:noFill/>
            </a:ln>
          </p:spPr>
        </p:sp>
        <p:sp>
          <p:nvSpPr>
            <p:cNvPr id="186" name="Google Shape;186;p5"/>
            <p:cNvSpPr txBox="1"/>
            <p:nvPr/>
          </p:nvSpPr>
          <p:spPr>
            <a:xfrm>
              <a:off x="0" y="-9525"/>
              <a:ext cx="3352203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Core Mechanism</a:t>
              </a:r>
              <a:endParaRPr/>
            </a:p>
          </p:txBody>
        </p:sp>
      </p:grpSp>
      <p:sp>
        <p:nvSpPr>
          <p:cNvPr id="187" name="Google Shape;187;p5"/>
          <p:cNvSpPr/>
          <p:nvPr/>
        </p:nvSpPr>
        <p:spPr>
          <a:xfrm>
            <a:off x="8472287" y="4428925"/>
            <a:ext cx="9130094" cy="1857756"/>
          </a:xfrm>
          <a:custGeom>
            <a:rect b="b" l="l" r="r" t="t"/>
            <a:pathLst>
              <a:path extrusionOk="0" h="2477008" w="12173458">
                <a:moveTo>
                  <a:pt x="0" y="0"/>
                </a:moveTo>
                <a:lnTo>
                  <a:pt x="12173458" y="0"/>
                </a:lnTo>
                <a:lnTo>
                  <a:pt x="12173458" y="2477008"/>
                </a:lnTo>
                <a:lnTo>
                  <a:pt x="0" y="24770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2B7FD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88" name="Google Shape;188;p5"/>
          <p:cNvGrpSpPr/>
          <p:nvPr/>
        </p:nvGrpSpPr>
        <p:grpSpPr>
          <a:xfrm>
            <a:off x="8815388" y="4779168"/>
            <a:ext cx="8443912" cy="1121570"/>
            <a:chOff x="0" y="-9525"/>
            <a:chExt cx="11258550" cy="1495426"/>
          </a:xfrm>
        </p:grpSpPr>
        <p:sp>
          <p:nvSpPr>
            <p:cNvPr id="189" name="Google Shape;189;p5"/>
            <p:cNvSpPr/>
            <p:nvPr/>
          </p:nvSpPr>
          <p:spPr>
            <a:xfrm>
              <a:off x="0" y="0"/>
              <a:ext cx="11258549" cy="1485901"/>
            </a:xfrm>
            <a:custGeom>
              <a:rect b="b" l="l" r="r" t="t"/>
              <a:pathLst>
                <a:path extrusionOk="0" h="1485901" w="11258549">
                  <a:moveTo>
                    <a:pt x="0" y="0"/>
                  </a:moveTo>
                  <a:lnTo>
                    <a:pt x="11258549" y="0"/>
                  </a:lnTo>
                  <a:lnTo>
                    <a:pt x="11258549" y="1485901"/>
                  </a:lnTo>
                  <a:lnTo>
                    <a:pt x="0" y="1485901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97632" l="0" r="0" t="-97632"/>
              </a:stretch>
            </a:blipFill>
            <a:ln>
              <a:noFill/>
            </a:ln>
          </p:spPr>
        </p:sp>
        <p:sp>
          <p:nvSpPr>
            <p:cNvPr id="190" name="Google Shape;190;p5"/>
            <p:cNvSpPr txBox="1"/>
            <p:nvPr/>
          </p:nvSpPr>
          <p:spPr>
            <a:xfrm>
              <a:off x="0" y="-9525"/>
              <a:ext cx="11258550" cy="1495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LLMs work as giant statistical prediction machines that repeatedly predict the next word in a sequence. They learn patterns in text and generate language that follows those patterns.</a:t>
              </a:r>
              <a:endParaRPr/>
            </a:p>
          </p:txBody>
        </p:sp>
      </p:grpSp>
      <p:sp>
        <p:nvSpPr>
          <p:cNvPr id="191" name="Google Shape;191;p5"/>
          <p:cNvSpPr/>
          <p:nvPr/>
        </p:nvSpPr>
        <p:spPr>
          <a:xfrm>
            <a:off x="8472488" y="6586538"/>
            <a:ext cx="3517011" cy="571500"/>
          </a:xfrm>
          <a:custGeom>
            <a:rect b="b" l="l" r="r" t="t"/>
            <a:pathLst>
              <a:path extrusionOk="0" h="762000" w="4689348">
                <a:moveTo>
                  <a:pt x="0" y="127000"/>
                </a:moveTo>
                <a:cubicBezTo>
                  <a:pt x="0" y="56896"/>
                  <a:pt x="56896" y="0"/>
                  <a:pt x="127000" y="0"/>
                </a:cubicBezTo>
                <a:lnTo>
                  <a:pt x="4562348" y="0"/>
                </a:lnTo>
                <a:cubicBezTo>
                  <a:pt x="4632452" y="0"/>
                  <a:pt x="4689348" y="56896"/>
                  <a:pt x="4689348" y="127000"/>
                </a:cubicBezTo>
                <a:lnTo>
                  <a:pt x="4689348" y="635000"/>
                </a:lnTo>
                <a:cubicBezTo>
                  <a:pt x="4689348" y="705104"/>
                  <a:pt x="4632452" y="762000"/>
                  <a:pt x="4562348" y="762000"/>
                </a:cubicBezTo>
                <a:lnTo>
                  <a:pt x="127000" y="762000"/>
                </a:lnTo>
                <a:cubicBezTo>
                  <a:pt x="56896" y="762000"/>
                  <a:pt x="0" y="705104"/>
                  <a:pt x="0" y="635000"/>
                </a:cubicBezTo>
                <a:close/>
              </a:path>
            </a:pathLst>
          </a:custGeom>
          <a:solidFill>
            <a:srgbClr val="2B7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5"/>
          <p:cNvGrpSpPr/>
          <p:nvPr/>
        </p:nvGrpSpPr>
        <p:grpSpPr>
          <a:xfrm>
            <a:off x="8472487" y="6579394"/>
            <a:ext cx="3517014" cy="578644"/>
            <a:chOff x="0" y="-9525"/>
            <a:chExt cx="4689352" cy="771525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4689352" cy="762000"/>
            </a:xfrm>
            <a:custGeom>
              <a:rect b="b" l="l" r="r" t="t"/>
              <a:pathLst>
                <a:path extrusionOk="0" h="762000" w="4689352">
                  <a:moveTo>
                    <a:pt x="0" y="0"/>
                  </a:moveTo>
                  <a:lnTo>
                    <a:pt x="4689352" y="0"/>
                  </a:lnTo>
                  <a:lnTo>
                    <a:pt x="4689352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9910" l="0" r="0" t="-69910"/>
              </a:stretch>
            </a:blip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9525"/>
              <a:ext cx="4689348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Breakthrough Technology</a:t>
              </a:r>
              <a:endParaRPr/>
            </a:p>
          </p:txBody>
        </p:sp>
      </p:grpSp>
      <p:sp>
        <p:nvSpPr>
          <p:cNvPr id="195" name="Google Shape;195;p5"/>
          <p:cNvSpPr/>
          <p:nvPr/>
        </p:nvSpPr>
        <p:spPr>
          <a:xfrm>
            <a:off x="8472287" y="7386437"/>
            <a:ext cx="9130094" cy="1486281"/>
          </a:xfrm>
          <a:custGeom>
            <a:rect b="b" l="l" r="r" t="t"/>
            <a:pathLst>
              <a:path extrusionOk="0" h="1981708" w="12173458">
                <a:moveTo>
                  <a:pt x="0" y="0"/>
                </a:moveTo>
                <a:lnTo>
                  <a:pt x="12173458" y="0"/>
                </a:lnTo>
                <a:lnTo>
                  <a:pt x="12173458" y="1981708"/>
                </a:lnTo>
                <a:lnTo>
                  <a:pt x="0" y="19817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2B7FD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96" name="Google Shape;196;p5"/>
          <p:cNvGrpSpPr/>
          <p:nvPr/>
        </p:nvGrpSpPr>
        <p:grpSpPr>
          <a:xfrm>
            <a:off x="8815388" y="7750968"/>
            <a:ext cx="8443912" cy="750094"/>
            <a:chOff x="0" y="-9525"/>
            <a:chExt cx="11258550" cy="1000125"/>
          </a:xfrm>
        </p:grpSpPr>
        <p:sp>
          <p:nvSpPr>
            <p:cNvPr id="197" name="Google Shape;197;p5"/>
            <p:cNvSpPr/>
            <p:nvPr/>
          </p:nvSpPr>
          <p:spPr>
            <a:xfrm>
              <a:off x="0" y="0"/>
              <a:ext cx="11258549" cy="990600"/>
            </a:xfrm>
            <a:custGeom>
              <a:rect b="b" l="l" r="r" t="t"/>
              <a:pathLst>
                <a:path extrusionOk="0" h="990600" w="11258549">
                  <a:moveTo>
                    <a:pt x="0" y="0"/>
                  </a:moveTo>
                  <a:lnTo>
                    <a:pt x="11258549" y="0"/>
                  </a:lnTo>
                  <a:lnTo>
                    <a:pt x="11258549" y="990600"/>
                  </a:lnTo>
                  <a:lnTo>
                    <a:pt x="0" y="9906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71454" l="0" r="0" t="-171454"/>
              </a:stretch>
            </a:blipFill>
            <a:ln>
              <a:noFill/>
            </a:ln>
          </p:spPr>
        </p:sp>
        <p:sp>
          <p:nvSpPr>
            <p:cNvPr id="198" name="Google Shape;198;p5"/>
            <p:cNvSpPr txBox="1"/>
            <p:nvPr/>
          </p:nvSpPr>
          <p:spPr>
            <a:xfrm>
              <a:off x="0" y="-9525"/>
              <a:ext cx="11258550" cy="100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LLMs represent the first AI system that can handle unstructured human language at scale, allowing for natural communication with machines.</a:t>
              </a:r>
              <a:endParaRPr/>
            </a:p>
          </p:txBody>
        </p:sp>
      </p:grpSp>
      <p:sp>
        <p:nvSpPr>
          <p:cNvPr descr="preencoded.png" id="199" name="Google Shape;199;p5"/>
          <p:cNvSpPr/>
          <p:nvPr/>
        </p:nvSpPr>
        <p:spPr>
          <a:xfrm>
            <a:off x="14130717" y="9498108"/>
            <a:ext cx="3928627" cy="642938"/>
          </a:xfrm>
          <a:custGeom>
            <a:rect b="b" l="l" r="r" t="t"/>
            <a:pathLst>
              <a:path extrusionOk="0" h="857250" w="5238169">
                <a:moveTo>
                  <a:pt x="0" y="0"/>
                </a:moveTo>
                <a:lnTo>
                  <a:pt x="5238169" y="0"/>
                </a:lnTo>
                <a:lnTo>
                  <a:pt x="5238169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834" l="0" r="0" t="-2835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04" name="Google Shape;204;p6"/>
          <p:cNvSpPr/>
          <p:nvPr/>
        </p:nvSpPr>
        <p:spPr>
          <a:xfrm>
            <a:off x="0" y="809625"/>
            <a:ext cx="18288000" cy="8448675"/>
          </a:xfrm>
          <a:custGeom>
            <a:rect b="b" l="l" r="r" t="t"/>
            <a:pathLst>
              <a:path extrusionOk="0" h="11264900" w="24384000">
                <a:moveTo>
                  <a:pt x="0" y="0"/>
                </a:moveTo>
                <a:lnTo>
                  <a:pt x="24384000" y="0"/>
                </a:lnTo>
                <a:lnTo>
                  <a:pt x="24384000" y="11264900"/>
                </a:lnTo>
                <a:lnTo>
                  <a:pt x="0" y="11264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878" l="-7526" r="0" t="-20044"/>
            </a:stretch>
          </a:blipFill>
          <a:ln>
            <a:noFill/>
          </a:ln>
        </p:spPr>
      </p:sp>
      <p:sp>
        <p:nvSpPr>
          <p:cNvPr descr="preencoded.png" id="205" name="Google Shape;205;p6"/>
          <p:cNvSpPr/>
          <p:nvPr/>
        </p:nvSpPr>
        <p:spPr>
          <a:xfrm>
            <a:off x="7758112" y="-19050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206" name="Google Shape;206;p6"/>
          <p:cNvSpPr/>
          <p:nvPr/>
        </p:nvSpPr>
        <p:spPr>
          <a:xfrm>
            <a:off x="0" y="82105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207" name="Google Shape;207;p6"/>
          <p:cNvSpPr/>
          <p:nvPr/>
        </p:nvSpPr>
        <p:spPr>
          <a:xfrm>
            <a:off x="0" y="7210425"/>
            <a:ext cx="4443412" cy="2386012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208" name="Google Shape;208;p6"/>
          <p:cNvSpPr/>
          <p:nvPr/>
        </p:nvSpPr>
        <p:spPr>
          <a:xfrm>
            <a:off x="5143500" y="8796338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6"/>
          <p:cNvSpPr/>
          <p:nvPr/>
        </p:nvSpPr>
        <p:spPr>
          <a:xfrm>
            <a:off x="0" y="809625"/>
            <a:ext cx="9110160" cy="8542576"/>
          </a:xfrm>
          <a:custGeom>
            <a:rect b="b" l="l" r="r" t="t"/>
            <a:pathLst>
              <a:path extrusionOk="0" h="11432410" w="12192000">
                <a:moveTo>
                  <a:pt x="0" y="0"/>
                </a:moveTo>
                <a:lnTo>
                  <a:pt x="12192000" y="0"/>
                </a:lnTo>
                <a:lnTo>
                  <a:pt x="12192000" y="11432410"/>
                </a:lnTo>
                <a:lnTo>
                  <a:pt x="0" y="1143241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210" name="Google Shape;210;p6"/>
          <p:cNvGrpSpPr/>
          <p:nvPr/>
        </p:nvGrpSpPr>
        <p:grpSpPr>
          <a:xfrm>
            <a:off x="914400" y="3094980"/>
            <a:ext cx="6247543" cy="979459"/>
            <a:chOff x="0" y="-9525"/>
            <a:chExt cx="8330057" cy="1305946"/>
          </a:xfrm>
        </p:grpSpPr>
        <p:sp>
          <p:nvSpPr>
            <p:cNvPr id="211" name="Google Shape;211;p6"/>
            <p:cNvSpPr/>
            <p:nvPr/>
          </p:nvSpPr>
          <p:spPr>
            <a:xfrm>
              <a:off x="0" y="0"/>
              <a:ext cx="8330056" cy="1296421"/>
            </a:xfrm>
            <a:custGeom>
              <a:rect b="b" l="l" r="r" t="t"/>
              <a:pathLst>
                <a:path extrusionOk="0" h="1296421" w="8330056">
                  <a:moveTo>
                    <a:pt x="0" y="0"/>
                  </a:moveTo>
                  <a:lnTo>
                    <a:pt x="8330056" y="0"/>
                  </a:lnTo>
                  <a:lnTo>
                    <a:pt x="8330056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58579" l="0" r="4293" t="-81068"/>
              </a:stretch>
            </a:blipFill>
            <a:ln>
              <a:noFill/>
            </a:ln>
          </p:spPr>
        </p:sp>
        <p:sp>
          <p:nvSpPr>
            <p:cNvPr id="212" name="Google Shape;212;p6"/>
            <p:cNvSpPr txBox="1"/>
            <p:nvPr/>
          </p:nvSpPr>
          <p:spPr>
            <a:xfrm>
              <a:off x="0" y="-9525"/>
              <a:ext cx="8330057" cy="130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How LLMs Work: The</a:t>
              </a:r>
              <a:endParaRPr/>
            </a:p>
          </p:txBody>
        </p:sp>
      </p:grpSp>
      <p:grpSp>
        <p:nvGrpSpPr>
          <p:cNvPr id="213" name="Google Shape;213;p6"/>
          <p:cNvGrpSpPr/>
          <p:nvPr/>
        </p:nvGrpSpPr>
        <p:grpSpPr>
          <a:xfrm>
            <a:off x="914400" y="4101430"/>
            <a:ext cx="3808672" cy="979459"/>
            <a:chOff x="0" y="-9525"/>
            <a:chExt cx="5078229" cy="1305946"/>
          </a:xfrm>
        </p:grpSpPr>
        <p:sp>
          <p:nvSpPr>
            <p:cNvPr id="214" name="Google Shape;214;p6"/>
            <p:cNvSpPr/>
            <p:nvPr/>
          </p:nvSpPr>
          <p:spPr>
            <a:xfrm>
              <a:off x="0" y="0"/>
              <a:ext cx="5078229" cy="1296421"/>
            </a:xfrm>
            <a:custGeom>
              <a:rect b="b" l="l" r="r" t="t"/>
              <a:pathLst>
                <a:path extrusionOk="0" h="1296421" w="5078229">
                  <a:moveTo>
                    <a:pt x="0" y="0"/>
                  </a:moveTo>
                  <a:lnTo>
                    <a:pt x="5078229" y="0"/>
                  </a:lnTo>
                  <a:lnTo>
                    <a:pt x="5078229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0837" l="0" r="5560" t="-33324"/>
              </a:stretch>
            </a:blipFill>
            <a:ln>
              <a:noFill/>
            </a:ln>
          </p:spPr>
        </p:sp>
        <p:sp>
          <p:nvSpPr>
            <p:cNvPr id="215" name="Google Shape;215;p6"/>
            <p:cNvSpPr txBox="1"/>
            <p:nvPr/>
          </p:nvSpPr>
          <p:spPr>
            <a:xfrm>
              <a:off x="0" y="-9525"/>
              <a:ext cx="5078229" cy="130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Transformer</a:t>
              </a:r>
              <a:endParaRPr/>
            </a:p>
          </p:txBody>
        </p:sp>
      </p:grpSp>
      <p:grpSp>
        <p:nvGrpSpPr>
          <p:cNvPr id="216" name="Google Shape;216;p6"/>
          <p:cNvGrpSpPr/>
          <p:nvPr/>
        </p:nvGrpSpPr>
        <p:grpSpPr>
          <a:xfrm>
            <a:off x="4743450" y="4101430"/>
            <a:ext cx="3657600" cy="979459"/>
            <a:chOff x="0" y="-9525"/>
            <a:chExt cx="4876800" cy="1305946"/>
          </a:xfrm>
        </p:grpSpPr>
        <p:sp>
          <p:nvSpPr>
            <p:cNvPr id="217" name="Google Shape;217;p6"/>
            <p:cNvSpPr/>
            <p:nvPr/>
          </p:nvSpPr>
          <p:spPr>
            <a:xfrm>
              <a:off x="0" y="0"/>
              <a:ext cx="4876800" cy="1296421"/>
            </a:xfrm>
            <a:custGeom>
              <a:rect b="b" l="l" r="r" t="t"/>
              <a:pathLst>
                <a:path extrusionOk="0" h="12964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7258" l="0" r="6542" t="-29745"/>
              </a:stretch>
            </a:blipFill>
            <a:ln>
              <a:noFill/>
            </a:ln>
          </p:spPr>
        </p:sp>
        <p:sp>
          <p:nvSpPr>
            <p:cNvPr id="218" name="Google Shape;218;p6"/>
            <p:cNvSpPr txBox="1"/>
            <p:nvPr/>
          </p:nvSpPr>
          <p:spPr>
            <a:xfrm>
              <a:off x="0" y="-9525"/>
              <a:ext cx="4876800" cy="130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Architecture</a:t>
              </a:r>
              <a:endParaRPr/>
            </a:p>
          </p:txBody>
        </p:sp>
      </p:grpSp>
      <p:grpSp>
        <p:nvGrpSpPr>
          <p:cNvPr id="219" name="Google Shape;219;p6"/>
          <p:cNvGrpSpPr/>
          <p:nvPr/>
        </p:nvGrpSpPr>
        <p:grpSpPr>
          <a:xfrm>
            <a:off x="914400" y="6003046"/>
            <a:ext cx="7315200" cy="643766"/>
            <a:chOff x="0" y="0"/>
            <a:chExt cx="9753600" cy="858355"/>
          </a:xfrm>
        </p:grpSpPr>
        <p:sp>
          <p:nvSpPr>
            <p:cNvPr id="220" name="Google Shape;220;p6"/>
            <p:cNvSpPr/>
            <p:nvPr/>
          </p:nvSpPr>
          <p:spPr>
            <a:xfrm>
              <a:off x="0" y="0"/>
              <a:ext cx="9753600" cy="858355"/>
            </a:xfrm>
            <a:custGeom>
              <a:rect b="b" l="l" r="r" t="t"/>
              <a:pathLst>
                <a:path extrusionOk="0" h="85835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8355"/>
                  </a:lnTo>
                  <a:lnTo>
                    <a:pt x="0" y="85835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71415" l="0" r="0" t="-171415"/>
              </a:stretch>
            </a:blipFill>
            <a:ln>
              <a:noFill/>
            </a:ln>
          </p:spPr>
        </p:sp>
        <p:sp>
          <p:nvSpPr>
            <p:cNvPr id="221" name="Google Shape;221;p6"/>
            <p:cNvSpPr txBox="1"/>
            <p:nvPr/>
          </p:nvSpPr>
          <p:spPr>
            <a:xfrm>
              <a:off x="0" y="0"/>
              <a:ext cx="9753600" cy="858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Built on neural networks called transformers, introduced in 2017 </a:t>
              </a:r>
              <a:endParaRPr/>
            </a:p>
          </p:txBody>
        </p:sp>
      </p:grpSp>
      <p:sp>
        <p:nvSpPr>
          <p:cNvPr id="222" name="Google Shape;222;p6"/>
          <p:cNvSpPr/>
          <p:nvPr/>
        </p:nvSpPr>
        <p:spPr>
          <a:xfrm>
            <a:off x="9144000" y="809625"/>
            <a:ext cx="9144000" cy="8126730"/>
          </a:xfrm>
          <a:custGeom>
            <a:rect b="b" l="l" r="r" t="t"/>
            <a:pathLst>
              <a:path extrusionOk="0" h="10835640" w="12192000">
                <a:moveTo>
                  <a:pt x="0" y="0"/>
                </a:moveTo>
                <a:lnTo>
                  <a:pt x="12192000" y="0"/>
                </a:lnTo>
                <a:lnTo>
                  <a:pt x="12192000" y="10835640"/>
                </a:lnTo>
                <a:lnTo>
                  <a:pt x="0" y="108356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23" name="Google Shape;223;p6"/>
          <p:cNvGrpSpPr/>
          <p:nvPr/>
        </p:nvGrpSpPr>
        <p:grpSpPr>
          <a:xfrm>
            <a:off x="9715500" y="1819275"/>
            <a:ext cx="5778062" cy="795700"/>
            <a:chOff x="0" y="0"/>
            <a:chExt cx="7704083" cy="1060934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7704079" cy="1060934"/>
            </a:xfrm>
            <a:custGeom>
              <a:rect b="b" l="l" r="r" t="t"/>
              <a:pathLst>
                <a:path extrusionOk="0" h="1060934" w="7704079">
                  <a:moveTo>
                    <a:pt x="0" y="0"/>
                  </a:moveTo>
                  <a:lnTo>
                    <a:pt x="7704079" y="0"/>
                  </a:lnTo>
                  <a:lnTo>
                    <a:pt x="7704079" y="1060934"/>
                  </a:lnTo>
                  <a:lnTo>
                    <a:pt x="0" y="1060934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56807" l="0" r="20266" t="-68824"/>
              </a:stretch>
            </a:blip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0"/>
              <a:ext cx="7704083" cy="1060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Key Components &amp;</a:t>
              </a:r>
              <a:endParaRPr/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9715500" y="2410758"/>
            <a:ext cx="5038482" cy="795700"/>
            <a:chOff x="0" y="0"/>
            <a:chExt cx="6717977" cy="1060934"/>
          </a:xfrm>
        </p:grpSpPr>
        <p:sp>
          <p:nvSpPr>
            <p:cNvPr id="227" name="Google Shape;227;p6"/>
            <p:cNvSpPr/>
            <p:nvPr/>
          </p:nvSpPr>
          <p:spPr>
            <a:xfrm>
              <a:off x="0" y="0"/>
              <a:ext cx="6717977" cy="1060934"/>
            </a:xfrm>
            <a:custGeom>
              <a:rect b="b" l="l" r="r" t="t"/>
              <a:pathLst>
                <a:path extrusionOk="0" h="1060934" w="6717977">
                  <a:moveTo>
                    <a:pt x="0" y="0"/>
                  </a:moveTo>
                  <a:lnTo>
                    <a:pt x="6717977" y="0"/>
                  </a:lnTo>
                  <a:lnTo>
                    <a:pt x="6717977" y="1060934"/>
                  </a:lnTo>
                  <a:lnTo>
                    <a:pt x="0" y="1060934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0875" l="0" r="21476" t="-52893"/>
              </a:stretch>
            </a:blipFill>
            <a:ln>
              <a:noFill/>
            </a:ln>
          </p:spPr>
        </p:sp>
        <p:sp>
          <p:nvSpPr>
            <p:cNvPr id="228" name="Google Shape;228;p6"/>
            <p:cNvSpPr txBox="1"/>
            <p:nvPr/>
          </p:nvSpPr>
          <p:spPr>
            <a:xfrm>
              <a:off x="0" y="0"/>
              <a:ext cx="6717975" cy="1060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E55A46"/>
                  </a:solidFill>
                  <a:latin typeface="Noto Sans"/>
                  <a:ea typeface="Noto Sans"/>
                  <a:cs typeface="Noto Sans"/>
                  <a:sym typeface="Noto Sans"/>
                </a:rPr>
                <a:t>Training Process</a:t>
              </a:r>
              <a:endParaRPr/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9715500" y="3211782"/>
            <a:ext cx="8001000" cy="428626"/>
            <a:chOff x="0" y="0"/>
            <a:chExt cx="10668000" cy="571501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10668000" cy="571501"/>
            </a:xfrm>
            <a:custGeom>
              <a:rect b="b" l="l" r="r" t="t"/>
              <a:pathLst>
                <a:path extrusionOk="0" h="571501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313742" l="0" r="0" t="-313742"/>
              </a:stretch>
            </a:blipFill>
            <a:ln>
              <a:noFill/>
            </a:ln>
          </p:spPr>
        </p:sp>
        <p:sp>
          <p:nvSpPr>
            <p:cNvPr id="231" name="Google Shape;231;p6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Tokenization &amp; Embeddings</a:t>
              </a:r>
              <a:endParaRPr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9715500" y="3918556"/>
            <a:ext cx="8001000" cy="522418"/>
            <a:chOff x="0" y="-9525"/>
            <a:chExt cx="10668000" cy="696557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10668000" cy="687027"/>
            </a:xfrm>
            <a:custGeom>
              <a:rect b="b" l="l" r="r" t="t"/>
              <a:pathLst>
                <a:path extrusionOk="0" h="687027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87027"/>
                  </a:lnTo>
                  <a:lnTo>
                    <a:pt x="0" y="68702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252553" l="0" r="0" t="-252553"/>
              </a:stretch>
            </a:blip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9525"/>
              <a:ext cx="10668000" cy="696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Text is broken into tokens (words/subwords) and mapped to numerical vectors called embeddings that capture semantic meaning. </a:t>
              </a:r>
              <a:endParaRPr/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9715500" y="4897707"/>
            <a:ext cx="8001000" cy="428626"/>
            <a:chOff x="0" y="0"/>
            <a:chExt cx="10668000" cy="571501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10668000" cy="571501"/>
            </a:xfrm>
            <a:custGeom>
              <a:rect b="b" l="l" r="r" t="t"/>
              <a:pathLst>
                <a:path extrusionOk="0" h="571501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313742" l="0" r="0" t="-313742"/>
              </a:stretch>
            </a:blip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Self-Attention Mechanism</a:t>
              </a:r>
              <a:endParaRPr/>
            </a:p>
          </p:txBody>
        </p:sp>
      </p:grpSp>
      <p:grpSp>
        <p:nvGrpSpPr>
          <p:cNvPr id="238" name="Google Shape;238;p6"/>
          <p:cNvGrpSpPr/>
          <p:nvPr/>
        </p:nvGrpSpPr>
        <p:grpSpPr>
          <a:xfrm>
            <a:off x="9715500" y="5470903"/>
            <a:ext cx="8001000" cy="780050"/>
            <a:chOff x="0" y="-9525"/>
            <a:chExt cx="10668000" cy="1040067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10668000" cy="1030539"/>
            </a:xfrm>
            <a:custGeom>
              <a:rect b="b" l="l" r="r" t="t"/>
              <a:pathLst>
                <a:path extrusionOk="0" h="1030539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030539"/>
                  </a:lnTo>
                  <a:lnTo>
                    <a:pt x="0" y="1030539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51710" l="0" r="0" t="-151710"/>
              </a:stretch>
            </a:blipFill>
            <a:ln>
              <a:noFill/>
            </a:ln>
          </p:spPr>
        </p:sp>
        <p:sp>
          <p:nvSpPr>
            <p:cNvPr id="240" name="Google Shape;240;p6"/>
            <p:cNvSpPr txBox="1"/>
            <p:nvPr/>
          </p:nvSpPr>
          <p:spPr>
            <a:xfrm>
              <a:off x="0" y="-9525"/>
              <a:ext cx="10668000" cy="1040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Each token "pays attention" to other tokens to understand context. The model calculates relationships between all tokens, determining which words matter most to each other. </a:t>
              </a:r>
              <a:endParaRPr/>
            </a:p>
          </p:txBody>
        </p:sp>
      </p:grpSp>
      <p:grpSp>
        <p:nvGrpSpPr>
          <p:cNvPr id="241" name="Google Shape;241;p6"/>
          <p:cNvGrpSpPr/>
          <p:nvPr/>
        </p:nvGrpSpPr>
        <p:grpSpPr>
          <a:xfrm>
            <a:off x="9715500" y="6764607"/>
            <a:ext cx="8001000" cy="428626"/>
            <a:chOff x="0" y="0"/>
            <a:chExt cx="10668000" cy="571501"/>
          </a:xfrm>
        </p:grpSpPr>
        <p:sp>
          <p:nvSpPr>
            <p:cNvPr id="242" name="Google Shape;242;p6"/>
            <p:cNvSpPr/>
            <p:nvPr/>
          </p:nvSpPr>
          <p:spPr>
            <a:xfrm>
              <a:off x="0" y="0"/>
              <a:ext cx="10668000" cy="571501"/>
            </a:xfrm>
            <a:custGeom>
              <a:rect b="b" l="l" r="r" t="t"/>
              <a:pathLst>
                <a:path extrusionOk="0" h="571501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313742" l="0" r="0" t="-313742"/>
              </a:stretch>
            </a:blipFill>
            <a:ln>
              <a:noFill/>
            </a:ln>
          </p:spPr>
        </p:sp>
        <p:sp>
          <p:nvSpPr>
            <p:cNvPr id="243" name="Google Shape;243;p6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Parameters &amp; Training</a:t>
              </a:r>
              <a:endParaRPr/>
            </a:p>
          </p:txBody>
        </p:sp>
      </p:grpSp>
      <p:grpSp>
        <p:nvGrpSpPr>
          <p:cNvPr id="244" name="Google Shape;244;p6"/>
          <p:cNvGrpSpPr/>
          <p:nvPr/>
        </p:nvGrpSpPr>
        <p:grpSpPr>
          <a:xfrm>
            <a:off x="9715500" y="7528303"/>
            <a:ext cx="8001000" cy="780050"/>
            <a:chOff x="0" y="-9525"/>
            <a:chExt cx="10668000" cy="1040067"/>
          </a:xfrm>
        </p:grpSpPr>
        <p:sp>
          <p:nvSpPr>
            <p:cNvPr id="245" name="Google Shape;245;p6"/>
            <p:cNvSpPr/>
            <p:nvPr/>
          </p:nvSpPr>
          <p:spPr>
            <a:xfrm>
              <a:off x="0" y="0"/>
              <a:ext cx="10668000" cy="1030539"/>
            </a:xfrm>
            <a:custGeom>
              <a:rect b="b" l="l" r="r" t="t"/>
              <a:pathLst>
                <a:path extrusionOk="0" h="1030539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030539"/>
                  </a:lnTo>
                  <a:lnTo>
                    <a:pt x="0" y="1030539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51710" l="0" r="0" t="-151710"/>
              </a:stretch>
            </a:blipFill>
            <a:ln>
              <a:noFill/>
            </a:ln>
          </p:spPr>
        </p:sp>
        <p:sp>
          <p:nvSpPr>
            <p:cNvPr id="246" name="Google Shape;246;p6"/>
            <p:cNvSpPr txBox="1"/>
            <p:nvPr/>
          </p:nvSpPr>
          <p:spPr>
            <a:xfrm>
              <a:off x="0" y="-9525"/>
              <a:ext cx="10668000" cy="1040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LLMs contain billions of parameters (weights) that are optimized through training on massive datasets. The model learns patterns by predicting the next word millions of times. </a:t>
              </a:r>
              <a:endParaRPr/>
            </a:p>
          </p:txBody>
        </p:sp>
      </p:grpSp>
      <p:grpSp>
        <p:nvGrpSpPr>
          <p:cNvPr id="247" name="Google Shape;247;p6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248" name="Google Shape;248;p6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249" name="Google Shape;249;p6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fbf35cb889_9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g3fbf35cb889_9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g3fbf35cb889_9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6275" y="-21170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fbf35cb889_9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775" y="-236625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bf35cb889_9_28"/>
          <p:cNvSpPr/>
          <p:nvPr/>
        </p:nvSpPr>
        <p:spPr>
          <a:xfrm>
            <a:off x="3986783" y="3829483"/>
            <a:ext cx="855100" cy="977750"/>
          </a:xfrm>
          <a:custGeom>
            <a:rect b="b" l="l" r="r" t="t"/>
            <a:pathLst>
              <a:path extrusionOk="0" h="39110" w="34204">
                <a:moveTo>
                  <a:pt x="31324" y="10716"/>
                </a:moveTo>
                <a:cubicBezTo>
                  <a:pt x="32222" y="8921"/>
                  <a:pt x="35121" y="6759"/>
                  <a:pt x="33815" y="5236"/>
                </a:cubicBezTo>
                <a:cubicBezTo>
                  <a:pt x="27323" y="-2338"/>
                  <a:pt x="9633" y="-1451"/>
                  <a:pt x="3925" y="6730"/>
                </a:cubicBezTo>
                <a:cubicBezTo>
                  <a:pt x="-189" y="12626"/>
                  <a:pt x="-436" y="13543"/>
                  <a:pt x="438" y="20679"/>
                </a:cubicBezTo>
                <a:cubicBezTo>
                  <a:pt x="1186" y="26785"/>
                  <a:pt x="2766" y="26597"/>
                  <a:pt x="6914" y="31140"/>
                </a:cubicBezTo>
                <a:cubicBezTo>
                  <a:pt x="8220" y="32570"/>
                  <a:pt x="12762" y="32397"/>
                  <a:pt x="11896" y="34129"/>
                </a:cubicBezTo>
                <a:cubicBezTo>
                  <a:pt x="10398" y="37126"/>
                  <a:pt x="9655" y="36620"/>
                  <a:pt x="7413" y="3911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3fbf35cb889_9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fbf35cb889_9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3fbf35cb889_9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90" name="Google Shape;290;p10"/>
          <p:cNvSpPr/>
          <p:nvPr/>
        </p:nvSpPr>
        <p:spPr>
          <a:xfrm>
            <a:off x="0" y="0"/>
            <a:ext cx="18288000" cy="11315700"/>
          </a:xfrm>
          <a:custGeom>
            <a:rect b="b" l="l" r="r" t="t"/>
            <a:pathLst>
              <a:path extrusionOk="0" h="15087600" w="24384000">
                <a:moveTo>
                  <a:pt x="0" y="0"/>
                </a:moveTo>
                <a:lnTo>
                  <a:pt x="24384000" y="0"/>
                </a:lnTo>
                <a:lnTo>
                  <a:pt x="24384000" y="15087600"/>
                </a:lnTo>
                <a:lnTo>
                  <a:pt x="0" y="15087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999" r="-4999" t="0"/>
            </a:stretch>
          </a:blipFill>
          <a:ln>
            <a:noFill/>
          </a:ln>
        </p:spPr>
      </p:sp>
      <p:sp>
        <p:nvSpPr>
          <p:cNvPr descr="preencoded.png" id="291" name="Google Shape;291;p10"/>
          <p:cNvSpPr/>
          <p:nvPr/>
        </p:nvSpPr>
        <p:spPr>
          <a:xfrm>
            <a:off x="4643438" y="0"/>
            <a:ext cx="13644562" cy="7615238"/>
          </a:xfrm>
          <a:custGeom>
            <a:rect b="b" l="l" r="r" t="t"/>
            <a:pathLst>
              <a:path extrusionOk="0" h="10153650" w="18192750">
                <a:moveTo>
                  <a:pt x="0" y="0"/>
                </a:moveTo>
                <a:lnTo>
                  <a:pt x="18192750" y="0"/>
                </a:lnTo>
                <a:lnTo>
                  <a:pt x="18192750" y="10153650"/>
                </a:lnTo>
                <a:lnTo>
                  <a:pt x="0" y="1015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0"/>
          <p:cNvGrpSpPr/>
          <p:nvPr/>
        </p:nvGrpSpPr>
        <p:grpSpPr>
          <a:xfrm>
            <a:off x="1508646" y="3298984"/>
            <a:ext cx="14977947" cy="2521596"/>
            <a:chOff x="0" y="0"/>
            <a:chExt cx="19970595" cy="3362128"/>
          </a:xfrm>
        </p:grpSpPr>
        <p:sp>
          <p:nvSpPr>
            <p:cNvPr id="293" name="Google Shape;293;p10"/>
            <p:cNvSpPr/>
            <p:nvPr/>
          </p:nvSpPr>
          <p:spPr>
            <a:xfrm>
              <a:off x="0" y="0"/>
              <a:ext cx="19970587" cy="3362128"/>
            </a:xfrm>
            <a:custGeom>
              <a:rect b="b" l="l" r="r" t="t"/>
              <a:pathLst>
                <a:path extrusionOk="0" h="3362128" w="19970587">
                  <a:moveTo>
                    <a:pt x="0" y="0"/>
                  </a:moveTo>
                  <a:lnTo>
                    <a:pt x="19970587" y="0"/>
                  </a:lnTo>
                  <a:lnTo>
                    <a:pt x="19970587" y="3362128"/>
                  </a:lnTo>
                  <a:lnTo>
                    <a:pt x="0" y="3362128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641" l="0" r="52117" t="-11478"/>
              </a:stretch>
            </a:blipFill>
            <a:ln>
              <a:noFill/>
            </a:ln>
          </p:spPr>
        </p:sp>
        <p:sp>
          <p:nvSpPr>
            <p:cNvPr id="294" name="Google Shape;294;p10"/>
            <p:cNvSpPr txBox="1"/>
            <p:nvPr/>
          </p:nvSpPr>
          <p:spPr>
            <a:xfrm>
              <a:off x="0" y="0"/>
              <a:ext cx="19970595" cy="3362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Understanding APIs</a:t>
              </a:r>
              <a:endParaRPr/>
            </a:p>
          </p:txBody>
        </p:sp>
      </p:grpSp>
      <p:grpSp>
        <p:nvGrpSpPr>
          <p:cNvPr id="295" name="Google Shape;295;p10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296" name="Google Shape;296;p10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297" name="Google Shape;297;p10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02" name="Google Shape;302;p11"/>
          <p:cNvSpPr/>
          <p:nvPr/>
        </p:nvSpPr>
        <p:spPr>
          <a:xfrm>
            <a:off x="10681954" y="-1479423"/>
            <a:ext cx="3700462" cy="2528888"/>
          </a:xfrm>
          <a:custGeom>
            <a:rect b="b" l="l" r="r" t="t"/>
            <a:pathLst>
              <a:path extrusionOk="0" h="3371850" w="4933950">
                <a:moveTo>
                  <a:pt x="0" y="0"/>
                </a:moveTo>
                <a:lnTo>
                  <a:pt x="4933950" y="0"/>
                </a:lnTo>
                <a:lnTo>
                  <a:pt x="493395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303" name="Google Shape;303;p11"/>
          <p:cNvSpPr/>
          <p:nvPr/>
        </p:nvSpPr>
        <p:spPr>
          <a:xfrm>
            <a:off x="-190833" y="7704534"/>
            <a:ext cx="4743450" cy="2814638"/>
          </a:xfrm>
          <a:custGeom>
            <a:rect b="b" l="l" r="r" t="t"/>
            <a:pathLst>
              <a:path extrusionOk="0" h="3752850" w="6324600">
                <a:moveTo>
                  <a:pt x="0" y="0"/>
                </a:moveTo>
                <a:lnTo>
                  <a:pt x="6324600" y="0"/>
                </a:lnTo>
                <a:lnTo>
                  <a:pt x="63246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53" l="0" r="0" t="-253"/>
            </a:stretch>
          </a:blipFill>
          <a:ln>
            <a:noFill/>
          </a:ln>
        </p:spPr>
      </p:sp>
      <p:sp>
        <p:nvSpPr>
          <p:cNvPr descr="preencoded.png" id="304" name="Google Shape;304;p11"/>
          <p:cNvSpPr/>
          <p:nvPr/>
        </p:nvSpPr>
        <p:spPr>
          <a:xfrm>
            <a:off x="-190833" y="6661547"/>
            <a:ext cx="2443162" cy="3357562"/>
          </a:xfrm>
          <a:custGeom>
            <a:rect b="b" l="l" r="r" t="t"/>
            <a:pathLst>
              <a:path extrusionOk="0" h="4476750" w="3257550">
                <a:moveTo>
                  <a:pt x="0" y="0"/>
                </a:moveTo>
                <a:lnTo>
                  <a:pt x="3257550" y="0"/>
                </a:lnTo>
                <a:lnTo>
                  <a:pt x="3257550" y="4476750"/>
                </a:lnTo>
                <a:lnTo>
                  <a:pt x="0" y="4476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12" l="0" r="0" t="-212"/>
            </a:stretch>
          </a:blipFill>
          <a:ln>
            <a:noFill/>
          </a:ln>
        </p:spPr>
      </p:sp>
      <p:grpSp>
        <p:nvGrpSpPr>
          <p:cNvPr id="305" name="Google Shape;305;p11"/>
          <p:cNvGrpSpPr/>
          <p:nvPr/>
        </p:nvGrpSpPr>
        <p:grpSpPr>
          <a:xfrm>
            <a:off x="290084" y="94259"/>
            <a:ext cx="1818084" cy="946547"/>
            <a:chOff x="0" y="-9525"/>
            <a:chExt cx="2424112" cy="1262064"/>
          </a:xfrm>
        </p:grpSpPr>
        <p:sp>
          <p:nvSpPr>
            <p:cNvPr id="306" name="Google Shape;306;p11"/>
            <p:cNvSpPr/>
            <p:nvPr/>
          </p:nvSpPr>
          <p:spPr>
            <a:xfrm>
              <a:off x="0" y="0"/>
              <a:ext cx="2424112" cy="1252539"/>
            </a:xfrm>
            <a:custGeom>
              <a:rect b="b" l="l" r="r" t="t"/>
              <a:pathLst>
                <a:path extrusionOk="0" h="1252539" w="2424112">
                  <a:moveTo>
                    <a:pt x="0" y="0"/>
                  </a:moveTo>
                  <a:lnTo>
                    <a:pt x="2424112" y="0"/>
                  </a:lnTo>
                  <a:lnTo>
                    <a:pt x="2424112" y="1252539"/>
                  </a:lnTo>
                  <a:lnTo>
                    <a:pt x="0" y="1252539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6294" r="-16294" t="0"/>
              </a:stretch>
            </a:blipFill>
            <a:ln>
              <a:noFill/>
            </a:ln>
          </p:spPr>
        </p:sp>
        <p:sp>
          <p:nvSpPr>
            <p:cNvPr id="307" name="Google Shape;307;p11"/>
            <p:cNvSpPr txBox="1"/>
            <p:nvPr/>
          </p:nvSpPr>
          <p:spPr>
            <a:xfrm>
              <a:off x="0" y="-9525"/>
              <a:ext cx="2424112" cy="126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How </a:t>
              </a:r>
              <a:endParaRPr/>
            </a:p>
          </p:txBody>
        </p:sp>
      </p:grpSp>
      <p:grpSp>
        <p:nvGrpSpPr>
          <p:cNvPr id="308" name="Google Shape;308;p11"/>
          <p:cNvGrpSpPr/>
          <p:nvPr/>
        </p:nvGrpSpPr>
        <p:grpSpPr>
          <a:xfrm>
            <a:off x="2157723" y="94250"/>
            <a:ext cx="5061600" cy="946574"/>
            <a:chOff x="-15" y="-9537"/>
            <a:chExt cx="6748800" cy="1262100"/>
          </a:xfrm>
        </p:grpSpPr>
        <p:sp>
          <p:nvSpPr>
            <p:cNvPr id="309" name="Google Shape;309;p11"/>
            <p:cNvSpPr/>
            <p:nvPr/>
          </p:nvSpPr>
          <p:spPr>
            <a:xfrm>
              <a:off x="0" y="0"/>
              <a:ext cx="5286376" cy="1252539"/>
            </a:xfrm>
            <a:custGeom>
              <a:rect b="b" l="l" r="r" t="t"/>
              <a:pathLst>
                <a:path extrusionOk="0" h="1252539" w="5286376">
                  <a:moveTo>
                    <a:pt x="0" y="0"/>
                  </a:moveTo>
                  <a:lnTo>
                    <a:pt x="5286376" y="0"/>
                  </a:lnTo>
                  <a:lnTo>
                    <a:pt x="5286376" y="1252539"/>
                  </a:lnTo>
                  <a:lnTo>
                    <a:pt x="0" y="1252539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2237" l="0" r="0" t="-32237"/>
              </a:stretch>
            </a:blipFill>
            <a:ln>
              <a:noFill/>
            </a:ln>
          </p:spPr>
        </p:sp>
        <p:sp>
          <p:nvSpPr>
            <p:cNvPr id="310" name="Google Shape;310;p11"/>
            <p:cNvSpPr txBox="1"/>
            <p:nvPr/>
          </p:nvSpPr>
          <p:spPr>
            <a:xfrm>
              <a:off x="-15" y="-9537"/>
              <a:ext cx="67488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00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APIs Work:</a:t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6224008" y="-43165"/>
            <a:ext cx="8309467" cy="1221395"/>
            <a:chOff x="0" y="-9525"/>
            <a:chExt cx="11079290" cy="1628528"/>
          </a:xfrm>
        </p:grpSpPr>
        <p:sp>
          <p:nvSpPr>
            <p:cNvPr id="312" name="Google Shape;312;p11"/>
            <p:cNvSpPr/>
            <p:nvPr/>
          </p:nvSpPr>
          <p:spPr>
            <a:xfrm>
              <a:off x="0" y="0"/>
              <a:ext cx="11079289" cy="1619003"/>
            </a:xfrm>
            <a:custGeom>
              <a:rect b="b" l="l" r="r" t="t"/>
              <a:pathLst>
                <a:path extrusionOk="0" h="1619003" w="11079289">
                  <a:moveTo>
                    <a:pt x="0" y="0"/>
                  </a:moveTo>
                  <a:lnTo>
                    <a:pt x="11079289" y="0"/>
                  </a:lnTo>
                  <a:lnTo>
                    <a:pt x="11079289" y="1619003"/>
                  </a:lnTo>
                  <a:lnTo>
                    <a:pt x="0" y="161900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6673" l="0" r="4013" t="-89310"/>
              </a:stretch>
            </a:blipFill>
            <a:ln>
              <a:noFill/>
            </a:ln>
          </p:spPr>
        </p:sp>
        <p:sp>
          <p:nvSpPr>
            <p:cNvPr id="313" name="Google Shape;313;p11"/>
            <p:cNvSpPr txBox="1"/>
            <p:nvPr/>
          </p:nvSpPr>
          <p:spPr>
            <a:xfrm>
              <a:off x="0" y="-9525"/>
              <a:ext cx="11079290" cy="162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 Technical Architecture</a:t>
              </a:r>
              <a:endParaRPr/>
            </a:p>
          </p:txBody>
        </p:sp>
      </p:grpSp>
      <p:sp>
        <p:nvSpPr>
          <p:cNvPr id="314" name="Google Shape;314;p11"/>
          <p:cNvSpPr/>
          <p:nvPr/>
        </p:nvSpPr>
        <p:spPr>
          <a:xfrm>
            <a:off x="441375" y="1503559"/>
            <a:ext cx="8393248" cy="2039982"/>
          </a:xfrm>
          <a:custGeom>
            <a:rect b="b" l="l" r="r" t="t"/>
            <a:pathLst>
              <a:path extrusionOk="0" h="2759669" w="11354308">
                <a:moveTo>
                  <a:pt x="0" y="0"/>
                </a:moveTo>
                <a:lnTo>
                  <a:pt x="11354308" y="0"/>
                </a:lnTo>
                <a:lnTo>
                  <a:pt x="11354308" y="2759669"/>
                </a:lnTo>
                <a:lnTo>
                  <a:pt x="0" y="2759669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15" name="Google Shape;315;p11"/>
          <p:cNvGrpSpPr/>
          <p:nvPr/>
        </p:nvGrpSpPr>
        <p:grpSpPr>
          <a:xfrm>
            <a:off x="637842" y="1691545"/>
            <a:ext cx="3263299" cy="578644"/>
            <a:chOff x="0" y="-9525"/>
            <a:chExt cx="4351064" cy="771525"/>
          </a:xfrm>
        </p:grpSpPr>
        <p:sp>
          <p:nvSpPr>
            <p:cNvPr id="316" name="Google Shape;316;p11"/>
            <p:cNvSpPr/>
            <p:nvPr/>
          </p:nvSpPr>
          <p:spPr>
            <a:xfrm>
              <a:off x="0" y="0"/>
              <a:ext cx="4351020" cy="762000"/>
            </a:xfrm>
            <a:custGeom>
              <a:rect b="b" l="l" r="r" t="t"/>
              <a:pathLst>
                <a:path extrusionOk="0" h="762000" w="4351020">
                  <a:moveTo>
                    <a:pt x="0" y="0"/>
                  </a:moveTo>
                  <a:lnTo>
                    <a:pt x="4351020" y="0"/>
                  </a:lnTo>
                  <a:lnTo>
                    <a:pt x="435102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</p:sp>
        <p:grpSp>
          <p:nvGrpSpPr>
            <p:cNvPr id="317" name="Google Shape;317;p11"/>
            <p:cNvGrpSpPr/>
            <p:nvPr/>
          </p:nvGrpSpPr>
          <p:grpSpPr>
            <a:xfrm>
              <a:off x="0" y="-9525"/>
              <a:ext cx="4351064" cy="771525"/>
              <a:chOff x="0" y="-9525"/>
              <a:chExt cx="4351064" cy="771525"/>
            </a:xfrm>
          </p:grpSpPr>
          <p:sp>
            <p:nvSpPr>
              <p:cNvPr id="318" name="Google Shape;318;p11"/>
              <p:cNvSpPr/>
              <p:nvPr/>
            </p:nvSpPr>
            <p:spPr>
              <a:xfrm>
                <a:off x="0" y="0"/>
                <a:ext cx="4351064" cy="762000"/>
              </a:xfrm>
              <a:custGeom>
                <a:rect b="b" l="l" r="r" t="t"/>
                <a:pathLst>
                  <a:path extrusionOk="0" h="762000" w="4351064">
                    <a:moveTo>
                      <a:pt x="0" y="0"/>
                    </a:moveTo>
                    <a:lnTo>
                      <a:pt x="4351064" y="0"/>
                    </a:lnTo>
                    <a:lnTo>
                      <a:pt x="4351064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61259" l="0" r="0" t="-61259"/>
                </a:stretch>
              </a:blipFill>
              <a:ln>
                <a:noFill/>
              </a:ln>
            </p:spPr>
          </p:sp>
          <p:sp>
            <p:nvSpPr>
              <p:cNvPr id="319" name="Google Shape;319;p11"/>
              <p:cNvSpPr txBox="1"/>
              <p:nvPr/>
            </p:nvSpPr>
            <p:spPr>
              <a:xfrm>
                <a:off x="0" y="-9525"/>
                <a:ext cx="4351058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674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Request-Response Cycle</a:t>
                </a:r>
                <a:endParaRPr/>
              </a:p>
            </p:txBody>
          </p:sp>
        </p:grpSp>
      </p:grpSp>
      <p:grpSp>
        <p:nvGrpSpPr>
          <p:cNvPr id="320" name="Google Shape;320;p11"/>
          <p:cNvGrpSpPr/>
          <p:nvPr/>
        </p:nvGrpSpPr>
        <p:grpSpPr>
          <a:xfrm>
            <a:off x="760325" y="2413064"/>
            <a:ext cx="4688091" cy="292894"/>
            <a:chOff x="0" y="0"/>
            <a:chExt cx="6250788" cy="390525"/>
          </a:xfrm>
        </p:grpSpPr>
        <p:sp>
          <p:nvSpPr>
            <p:cNvPr id="321" name="Google Shape;321;p11"/>
            <p:cNvSpPr/>
            <p:nvPr/>
          </p:nvSpPr>
          <p:spPr>
            <a:xfrm>
              <a:off x="0" y="0"/>
              <a:ext cx="6250781" cy="390525"/>
            </a:xfrm>
            <a:custGeom>
              <a:rect b="b" l="l" r="r" t="t"/>
              <a:pathLst>
                <a:path extrusionOk="0" h="390525" w="6250781">
                  <a:moveTo>
                    <a:pt x="0" y="0"/>
                  </a:moveTo>
                  <a:lnTo>
                    <a:pt x="6250781" y="0"/>
                  </a:lnTo>
                  <a:lnTo>
                    <a:pt x="6250781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61876" l="0" r="0" t="-261876"/>
              </a:stretch>
            </a:blipFill>
            <a:ln>
              <a:noFill/>
            </a:ln>
          </p:spPr>
        </p:sp>
        <p:sp>
          <p:nvSpPr>
            <p:cNvPr id="322" name="Google Shape;322;p11"/>
            <p:cNvSpPr txBox="1"/>
            <p:nvPr/>
          </p:nvSpPr>
          <p:spPr>
            <a:xfrm>
              <a:off x="0" y="0"/>
              <a:ext cx="625078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Client sends HTTP request to server endpoint</a:t>
              </a:r>
              <a:endParaRPr/>
            </a:p>
          </p:txBody>
        </p:sp>
      </p:grpSp>
      <p:grpSp>
        <p:nvGrpSpPr>
          <p:cNvPr id="323" name="Google Shape;323;p11"/>
          <p:cNvGrpSpPr/>
          <p:nvPr/>
        </p:nvGrpSpPr>
        <p:grpSpPr>
          <a:xfrm>
            <a:off x="760325" y="2753716"/>
            <a:ext cx="5463687" cy="292894"/>
            <a:chOff x="0" y="0"/>
            <a:chExt cx="7284915" cy="390525"/>
          </a:xfrm>
        </p:grpSpPr>
        <p:sp>
          <p:nvSpPr>
            <p:cNvPr id="324" name="Google Shape;324;p11"/>
            <p:cNvSpPr/>
            <p:nvPr/>
          </p:nvSpPr>
          <p:spPr>
            <a:xfrm>
              <a:off x="0" y="0"/>
              <a:ext cx="7284915" cy="390525"/>
            </a:xfrm>
            <a:custGeom>
              <a:rect b="b" l="l" r="r" t="t"/>
              <a:pathLst>
                <a:path extrusionOk="0" h="390525" w="7284915">
                  <a:moveTo>
                    <a:pt x="0" y="0"/>
                  </a:moveTo>
                  <a:lnTo>
                    <a:pt x="7284915" y="0"/>
                  </a:lnTo>
                  <a:lnTo>
                    <a:pt x="728491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13478" l="0" r="0" t="-313478"/>
              </a:stretch>
            </a:blipFill>
            <a:ln>
              <a:noFill/>
            </a:ln>
          </p:spPr>
        </p:sp>
        <p:sp>
          <p:nvSpPr>
            <p:cNvPr id="325" name="Google Shape;325;p11"/>
            <p:cNvSpPr txBox="1"/>
            <p:nvPr/>
          </p:nvSpPr>
          <p:spPr>
            <a:xfrm>
              <a:off x="0" y="0"/>
              <a:ext cx="728491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Server processes request and returns HTTP response</a:t>
              </a:r>
              <a:endParaRPr/>
            </a:p>
          </p:txBody>
        </p:sp>
      </p:grpSp>
      <p:grpSp>
        <p:nvGrpSpPr>
          <p:cNvPr id="326" name="Google Shape;326;p11"/>
          <p:cNvGrpSpPr/>
          <p:nvPr/>
        </p:nvGrpSpPr>
        <p:grpSpPr>
          <a:xfrm>
            <a:off x="760325" y="3046609"/>
            <a:ext cx="5996902" cy="292894"/>
            <a:chOff x="0" y="0"/>
            <a:chExt cx="7995869" cy="390525"/>
          </a:xfrm>
        </p:grpSpPr>
        <p:sp>
          <p:nvSpPr>
            <p:cNvPr id="327" name="Google Shape;327;p11"/>
            <p:cNvSpPr/>
            <p:nvPr/>
          </p:nvSpPr>
          <p:spPr>
            <a:xfrm>
              <a:off x="0" y="0"/>
              <a:ext cx="7995867" cy="390525"/>
            </a:xfrm>
            <a:custGeom>
              <a:rect b="b" l="l" r="r" t="t"/>
              <a:pathLst>
                <a:path extrusionOk="0" h="390525" w="7995867">
                  <a:moveTo>
                    <a:pt x="0" y="0"/>
                  </a:moveTo>
                  <a:lnTo>
                    <a:pt x="7995867" y="0"/>
                  </a:lnTo>
                  <a:lnTo>
                    <a:pt x="799586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48979" l="0" r="0" t="-348979"/>
              </a:stretch>
            </a:blipFill>
            <a:ln>
              <a:noFill/>
            </a:ln>
          </p:spPr>
        </p:sp>
        <p:sp>
          <p:nvSpPr>
            <p:cNvPr id="328" name="Google Shape;328;p11"/>
            <p:cNvSpPr txBox="1"/>
            <p:nvPr/>
          </p:nvSpPr>
          <p:spPr>
            <a:xfrm>
              <a:off x="0" y="0"/>
              <a:ext cx="7995869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Response includes status code, headers, and data payload </a:t>
              </a:r>
              <a:endParaRPr/>
            </a:p>
          </p:txBody>
        </p:sp>
      </p:grpSp>
      <p:sp>
        <p:nvSpPr>
          <p:cNvPr id="329" name="Google Shape;329;p11"/>
          <p:cNvSpPr/>
          <p:nvPr/>
        </p:nvSpPr>
        <p:spPr>
          <a:xfrm>
            <a:off x="417225" y="3886462"/>
            <a:ext cx="8393247" cy="2430458"/>
          </a:xfrm>
          <a:custGeom>
            <a:rect b="b" l="l" r="r" t="t"/>
            <a:pathLst>
              <a:path extrusionOk="0" h="3240611" w="11190997">
                <a:moveTo>
                  <a:pt x="0" y="0"/>
                </a:moveTo>
                <a:lnTo>
                  <a:pt x="11190997" y="0"/>
                </a:lnTo>
                <a:lnTo>
                  <a:pt x="11190997" y="3240611"/>
                </a:lnTo>
                <a:lnTo>
                  <a:pt x="0" y="3240611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0" name="Google Shape;330;p11"/>
          <p:cNvSpPr/>
          <p:nvPr/>
        </p:nvSpPr>
        <p:spPr>
          <a:xfrm>
            <a:off x="637842" y="4029337"/>
            <a:ext cx="3597498" cy="568872"/>
          </a:xfrm>
          <a:custGeom>
            <a:rect b="b" l="l" r="r" t="t"/>
            <a:pathLst>
              <a:path extrusionOk="0" h="758495" w="4796663">
                <a:moveTo>
                  <a:pt x="0" y="0"/>
                </a:moveTo>
                <a:lnTo>
                  <a:pt x="4796663" y="0"/>
                </a:lnTo>
                <a:lnTo>
                  <a:pt x="4796663" y="758495"/>
                </a:lnTo>
                <a:lnTo>
                  <a:pt x="0" y="758495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331" name="Google Shape;331;p11"/>
          <p:cNvGrpSpPr/>
          <p:nvPr/>
        </p:nvGrpSpPr>
        <p:grpSpPr>
          <a:xfrm>
            <a:off x="637842" y="4022193"/>
            <a:ext cx="3597493" cy="576016"/>
            <a:chOff x="0" y="-9525"/>
            <a:chExt cx="4796656" cy="768020"/>
          </a:xfrm>
        </p:grpSpPr>
        <p:sp>
          <p:nvSpPr>
            <p:cNvPr id="332" name="Google Shape;332;p11"/>
            <p:cNvSpPr/>
            <p:nvPr/>
          </p:nvSpPr>
          <p:spPr>
            <a:xfrm>
              <a:off x="0" y="0"/>
              <a:ext cx="4796656" cy="758495"/>
            </a:xfrm>
            <a:custGeom>
              <a:rect b="b" l="l" r="r" t="t"/>
              <a:pathLst>
                <a:path extrusionOk="0" h="758495" w="4796656">
                  <a:moveTo>
                    <a:pt x="0" y="0"/>
                  </a:moveTo>
                  <a:lnTo>
                    <a:pt x="4796656" y="0"/>
                  </a:lnTo>
                  <a:lnTo>
                    <a:pt x="4796656" y="758495"/>
                  </a:lnTo>
                  <a:lnTo>
                    <a:pt x="0" y="75849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73453" l="0" r="0" t="-72992"/>
              </a:stretch>
            </a:blipFill>
            <a:ln>
              <a:noFill/>
            </a:ln>
          </p:spPr>
        </p:sp>
        <p:sp>
          <p:nvSpPr>
            <p:cNvPr id="333" name="Google Shape;333;p11"/>
            <p:cNvSpPr txBox="1"/>
            <p:nvPr/>
          </p:nvSpPr>
          <p:spPr>
            <a:xfrm>
              <a:off x="0" y="-9525"/>
              <a:ext cx="4796650" cy="768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HTTP Methods &amp; Endpoints</a:t>
              </a:r>
              <a:endParaRPr/>
            </a:p>
          </p:txBody>
        </p:sp>
      </p:grpSp>
      <p:grpSp>
        <p:nvGrpSpPr>
          <p:cNvPr id="334" name="Google Shape;334;p11"/>
          <p:cNvGrpSpPr/>
          <p:nvPr/>
        </p:nvGrpSpPr>
        <p:grpSpPr>
          <a:xfrm>
            <a:off x="637842" y="4736871"/>
            <a:ext cx="3200571" cy="316734"/>
            <a:chOff x="0" y="0"/>
            <a:chExt cx="4267429" cy="422313"/>
          </a:xfrm>
        </p:grpSpPr>
        <p:sp>
          <p:nvSpPr>
            <p:cNvPr id="335" name="Google Shape;335;p11"/>
            <p:cNvSpPr/>
            <p:nvPr/>
          </p:nvSpPr>
          <p:spPr>
            <a:xfrm>
              <a:off x="0" y="0"/>
              <a:ext cx="4267424" cy="422313"/>
            </a:xfrm>
            <a:custGeom>
              <a:rect b="b" l="l" r="r" t="t"/>
              <a:pathLst>
                <a:path extrusionOk="0" h="422313" w="4267424">
                  <a:moveTo>
                    <a:pt x="0" y="0"/>
                  </a:moveTo>
                  <a:lnTo>
                    <a:pt x="4267424" y="0"/>
                  </a:lnTo>
                  <a:lnTo>
                    <a:pt x="4267424" y="422313"/>
                  </a:lnTo>
                  <a:lnTo>
                    <a:pt x="0" y="4223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43132" l="0" r="0" t="-150662"/>
              </a:stretch>
            </a:blipFill>
            <a:ln>
              <a:noFill/>
            </a:ln>
          </p:spPr>
        </p:sp>
        <p:sp>
          <p:nvSpPr>
            <p:cNvPr id="336" name="Google Shape;336;p11"/>
            <p:cNvSpPr txBox="1"/>
            <p:nvPr/>
          </p:nvSpPr>
          <p:spPr>
            <a:xfrm>
              <a:off x="0" y="0"/>
              <a:ext cx="4267429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GET: Retrieve data from server</a:t>
              </a:r>
              <a:endParaRPr/>
            </a:p>
          </p:txBody>
        </p:sp>
      </p:grpSp>
      <p:grpSp>
        <p:nvGrpSpPr>
          <p:cNvPr id="337" name="Google Shape;337;p11"/>
          <p:cNvGrpSpPr/>
          <p:nvPr/>
        </p:nvGrpSpPr>
        <p:grpSpPr>
          <a:xfrm>
            <a:off x="637842" y="5078194"/>
            <a:ext cx="2951763" cy="316734"/>
            <a:chOff x="0" y="0"/>
            <a:chExt cx="3935685" cy="422313"/>
          </a:xfrm>
        </p:grpSpPr>
        <p:sp>
          <p:nvSpPr>
            <p:cNvPr id="338" name="Google Shape;338;p11"/>
            <p:cNvSpPr/>
            <p:nvPr/>
          </p:nvSpPr>
          <p:spPr>
            <a:xfrm>
              <a:off x="0" y="0"/>
              <a:ext cx="3935685" cy="422313"/>
            </a:xfrm>
            <a:custGeom>
              <a:rect b="b" l="l" r="r" t="t"/>
              <a:pathLst>
                <a:path extrusionOk="0" h="422313" w="3935685">
                  <a:moveTo>
                    <a:pt x="0" y="0"/>
                  </a:moveTo>
                  <a:lnTo>
                    <a:pt x="3935685" y="0"/>
                  </a:lnTo>
                  <a:lnTo>
                    <a:pt x="3935685" y="422313"/>
                  </a:lnTo>
                  <a:lnTo>
                    <a:pt x="0" y="4223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27823" l="0" r="0" t="-135351"/>
              </a:stretch>
            </a:blipFill>
            <a:ln>
              <a:noFill/>
            </a:ln>
          </p:spPr>
        </p:sp>
        <p:sp>
          <p:nvSpPr>
            <p:cNvPr id="339" name="Google Shape;339;p11"/>
            <p:cNvSpPr txBox="1"/>
            <p:nvPr/>
          </p:nvSpPr>
          <p:spPr>
            <a:xfrm>
              <a:off x="0" y="0"/>
              <a:ext cx="3935679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POST: Create new resources</a:t>
              </a:r>
              <a:endParaRPr/>
            </a:p>
          </p:txBody>
        </p:sp>
      </p:grpSp>
      <p:grpSp>
        <p:nvGrpSpPr>
          <p:cNvPr id="340" name="Google Shape;340;p11"/>
          <p:cNvGrpSpPr/>
          <p:nvPr/>
        </p:nvGrpSpPr>
        <p:grpSpPr>
          <a:xfrm>
            <a:off x="637842" y="5419517"/>
            <a:ext cx="4000167" cy="316734"/>
            <a:chOff x="0" y="0"/>
            <a:chExt cx="5333556" cy="422313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5333555" cy="422313"/>
            </a:xfrm>
            <a:custGeom>
              <a:rect b="b" l="l" r="r" t="t"/>
              <a:pathLst>
                <a:path extrusionOk="0" h="422313" w="5333555">
                  <a:moveTo>
                    <a:pt x="0" y="0"/>
                  </a:moveTo>
                  <a:lnTo>
                    <a:pt x="5333555" y="0"/>
                  </a:lnTo>
                  <a:lnTo>
                    <a:pt x="5333555" y="422313"/>
                  </a:lnTo>
                  <a:lnTo>
                    <a:pt x="0" y="4223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92322" l="0" r="0" t="-199852"/>
              </a:stretch>
            </a:blipFill>
            <a:ln>
              <a:noFill/>
            </a:ln>
          </p:spPr>
        </p:sp>
        <p:sp>
          <p:nvSpPr>
            <p:cNvPr id="342" name="Google Shape;342;p11"/>
            <p:cNvSpPr txBox="1"/>
            <p:nvPr/>
          </p:nvSpPr>
          <p:spPr>
            <a:xfrm>
              <a:off x="0" y="0"/>
              <a:ext cx="5333556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PUT/PATCH: Update existing resources</a:t>
              </a:r>
              <a:endParaRPr/>
            </a:p>
          </p:txBody>
        </p:sp>
      </p:grpSp>
      <p:grpSp>
        <p:nvGrpSpPr>
          <p:cNvPr id="343" name="Google Shape;343;p11"/>
          <p:cNvGrpSpPr/>
          <p:nvPr/>
        </p:nvGrpSpPr>
        <p:grpSpPr>
          <a:xfrm>
            <a:off x="637842" y="5760840"/>
            <a:ext cx="2840757" cy="316734"/>
            <a:chOff x="0" y="0"/>
            <a:chExt cx="3787675" cy="422313"/>
          </a:xfrm>
        </p:grpSpPr>
        <p:sp>
          <p:nvSpPr>
            <p:cNvPr id="344" name="Google Shape;344;p11"/>
            <p:cNvSpPr/>
            <p:nvPr/>
          </p:nvSpPr>
          <p:spPr>
            <a:xfrm>
              <a:off x="0" y="0"/>
              <a:ext cx="3787675" cy="422313"/>
            </a:xfrm>
            <a:custGeom>
              <a:rect b="b" l="l" r="r" t="t"/>
              <a:pathLst>
                <a:path extrusionOk="0" h="422313" w="3787675">
                  <a:moveTo>
                    <a:pt x="0" y="0"/>
                  </a:moveTo>
                  <a:lnTo>
                    <a:pt x="3787675" y="0"/>
                  </a:lnTo>
                  <a:lnTo>
                    <a:pt x="3787675" y="422313"/>
                  </a:lnTo>
                  <a:lnTo>
                    <a:pt x="0" y="4223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20995" l="0" r="0" t="-128521"/>
              </a:stretch>
            </a:blipFill>
            <a:ln>
              <a:noFill/>
            </a:ln>
          </p:spPr>
        </p:sp>
        <p:sp>
          <p:nvSpPr>
            <p:cNvPr id="345" name="Google Shape;345;p11"/>
            <p:cNvSpPr txBox="1"/>
            <p:nvPr/>
          </p:nvSpPr>
          <p:spPr>
            <a:xfrm>
              <a:off x="0" y="0"/>
              <a:ext cx="3787673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DELETE: Remove resources </a:t>
              </a:r>
              <a:endParaRPr/>
            </a:p>
          </p:txBody>
        </p:sp>
      </p:grpSp>
      <p:sp>
        <p:nvSpPr>
          <p:cNvPr id="346" name="Google Shape;346;p11"/>
          <p:cNvSpPr/>
          <p:nvPr/>
        </p:nvSpPr>
        <p:spPr>
          <a:xfrm>
            <a:off x="417225" y="6678891"/>
            <a:ext cx="8417397" cy="2153605"/>
          </a:xfrm>
          <a:custGeom>
            <a:rect b="b" l="l" r="r" t="t"/>
            <a:pathLst>
              <a:path extrusionOk="0" h="2871474" w="11223196">
                <a:moveTo>
                  <a:pt x="0" y="0"/>
                </a:moveTo>
                <a:lnTo>
                  <a:pt x="11223196" y="0"/>
                </a:lnTo>
                <a:lnTo>
                  <a:pt x="11223196" y="2871474"/>
                </a:lnTo>
                <a:lnTo>
                  <a:pt x="0" y="2871474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7" name="Google Shape;347;p11"/>
          <p:cNvSpPr/>
          <p:nvPr/>
        </p:nvSpPr>
        <p:spPr>
          <a:xfrm>
            <a:off x="637842" y="6859866"/>
            <a:ext cx="2959512" cy="571500"/>
          </a:xfrm>
          <a:custGeom>
            <a:rect b="b" l="l" r="r" t="t"/>
            <a:pathLst>
              <a:path extrusionOk="0" h="762000" w="3946017">
                <a:moveTo>
                  <a:pt x="0" y="0"/>
                </a:moveTo>
                <a:lnTo>
                  <a:pt x="3946017" y="0"/>
                </a:lnTo>
                <a:lnTo>
                  <a:pt x="3946017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348" name="Google Shape;348;p11"/>
          <p:cNvGrpSpPr/>
          <p:nvPr/>
        </p:nvGrpSpPr>
        <p:grpSpPr>
          <a:xfrm>
            <a:off x="637842" y="6852722"/>
            <a:ext cx="2959465" cy="578644"/>
            <a:chOff x="0" y="-9525"/>
            <a:chExt cx="3945954" cy="771525"/>
          </a:xfrm>
        </p:grpSpPr>
        <p:sp>
          <p:nvSpPr>
            <p:cNvPr id="349" name="Google Shape;349;p11"/>
            <p:cNvSpPr/>
            <p:nvPr/>
          </p:nvSpPr>
          <p:spPr>
            <a:xfrm>
              <a:off x="0" y="0"/>
              <a:ext cx="3945954" cy="762000"/>
            </a:xfrm>
            <a:custGeom>
              <a:rect b="b" l="l" r="r" t="t"/>
              <a:pathLst>
                <a:path extrusionOk="0" h="762000" w="3945954">
                  <a:moveTo>
                    <a:pt x="0" y="0"/>
                  </a:moveTo>
                  <a:lnTo>
                    <a:pt x="3945954" y="0"/>
                  </a:lnTo>
                  <a:lnTo>
                    <a:pt x="3945954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50900" l="0" r="0" t="-50900"/>
              </a:stretch>
            </a:blipFill>
            <a:ln>
              <a:noFill/>
            </a:ln>
          </p:spPr>
        </p:sp>
        <p:sp>
          <p:nvSpPr>
            <p:cNvPr id="350" name="Google Shape;350;p11"/>
            <p:cNvSpPr txBox="1"/>
            <p:nvPr/>
          </p:nvSpPr>
          <p:spPr>
            <a:xfrm>
              <a:off x="0" y="-9525"/>
              <a:ext cx="3945954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Request Components</a:t>
              </a:r>
              <a:endParaRPr/>
            </a:p>
          </p:txBody>
        </p:sp>
      </p:grpSp>
      <p:grpSp>
        <p:nvGrpSpPr>
          <p:cNvPr id="351" name="Google Shape;351;p11"/>
          <p:cNvGrpSpPr/>
          <p:nvPr/>
        </p:nvGrpSpPr>
        <p:grpSpPr>
          <a:xfrm>
            <a:off x="760325" y="7524723"/>
            <a:ext cx="4816897" cy="292894"/>
            <a:chOff x="0" y="0"/>
            <a:chExt cx="6422530" cy="390525"/>
          </a:xfrm>
        </p:grpSpPr>
        <p:sp>
          <p:nvSpPr>
            <p:cNvPr id="352" name="Google Shape;352;p11"/>
            <p:cNvSpPr/>
            <p:nvPr/>
          </p:nvSpPr>
          <p:spPr>
            <a:xfrm>
              <a:off x="0" y="0"/>
              <a:ext cx="6422528" cy="390525"/>
            </a:xfrm>
            <a:custGeom>
              <a:rect b="b" l="l" r="r" t="t"/>
              <a:pathLst>
                <a:path extrusionOk="0" h="390525" w="6422528">
                  <a:moveTo>
                    <a:pt x="0" y="0"/>
                  </a:moveTo>
                  <a:lnTo>
                    <a:pt x="6422528" y="0"/>
                  </a:lnTo>
                  <a:lnTo>
                    <a:pt x="6422528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70431" l="0" r="0" t="-270431"/>
              </a:stretch>
            </a:blipFill>
            <a:ln>
              <a:noFill/>
            </a:ln>
          </p:spPr>
        </p:sp>
        <p:sp>
          <p:nvSpPr>
            <p:cNvPr id="353" name="Google Shape;353;p11"/>
            <p:cNvSpPr txBox="1"/>
            <p:nvPr/>
          </p:nvSpPr>
          <p:spPr>
            <a:xfrm>
              <a:off x="0" y="0"/>
              <a:ext cx="642253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Headers: Metadata (auth tokens, content type)</a:t>
              </a:r>
              <a:endParaRPr/>
            </a:p>
          </p:txBody>
        </p:sp>
      </p:grpSp>
      <p:grpSp>
        <p:nvGrpSpPr>
          <p:cNvPr id="354" name="Google Shape;354;p11"/>
          <p:cNvGrpSpPr/>
          <p:nvPr/>
        </p:nvGrpSpPr>
        <p:grpSpPr>
          <a:xfrm>
            <a:off x="760325" y="7846192"/>
            <a:ext cx="4530366" cy="292894"/>
            <a:chOff x="0" y="0"/>
            <a:chExt cx="6040488" cy="390525"/>
          </a:xfrm>
        </p:grpSpPr>
        <p:sp>
          <p:nvSpPr>
            <p:cNvPr id="355" name="Google Shape;355;p11"/>
            <p:cNvSpPr/>
            <p:nvPr/>
          </p:nvSpPr>
          <p:spPr>
            <a:xfrm>
              <a:off x="0" y="0"/>
              <a:ext cx="6040488" cy="390525"/>
            </a:xfrm>
            <a:custGeom>
              <a:rect b="b" l="l" r="r" t="t"/>
              <a:pathLst>
                <a:path extrusionOk="0" h="390525" w="6040488">
                  <a:moveTo>
                    <a:pt x="0" y="0"/>
                  </a:moveTo>
                  <a:lnTo>
                    <a:pt x="6040488" y="0"/>
                  </a:lnTo>
                  <a:lnTo>
                    <a:pt x="6040488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51386" l="0" r="0" t="-251386"/>
              </a:stretch>
            </a:blipFill>
            <a:ln>
              <a:noFill/>
            </a:ln>
          </p:spPr>
        </p:sp>
        <p:sp>
          <p:nvSpPr>
            <p:cNvPr id="356" name="Google Shape;356;p11"/>
            <p:cNvSpPr txBox="1"/>
            <p:nvPr/>
          </p:nvSpPr>
          <p:spPr>
            <a:xfrm>
              <a:off x="0" y="0"/>
              <a:ext cx="604048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Parameters: Query strings or path variables</a:t>
              </a:r>
              <a:endParaRPr/>
            </a:p>
          </p:txBody>
        </p:sp>
      </p:grpSp>
      <p:grpSp>
        <p:nvGrpSpPr>
          <p:cNvPr id="357" name="Google Shape;357;p11"/>
          <p:cNvGrpSpPr/>
          <p:nvPr/>
        </p:nvGrpSpPr>
        <p:grpSpPr>
          <a:xfrm>
            <a:off x="760325" y="8167661"/>
            <a:ext cx="4454073" cy="292894"/>
            <a:chOff x="0" y="0"/>
            <a:chExt cx="5938763" cy="390525"/>
          </a:xfrm>
        </p:grpSpPr>
        <p:sp>
          <p:nvSpPr>
            <p:cNvPr id="358" name="Google Shape;358;p11"/>
            <p:cNvSpPr/>
            <p:nvPr/>
          </p:nvSpPr>
          <p:spPr>
            <a:xfrm>
              <a:off x="0" y="0"/>
              <a:ext cx="5938763" cy="390525"/>
            </a:xfrm>
            <a:custGeom>
              <a:rect b="b" l="l" r="r" t="t"/>
              <a:pathLst>
                <a:path extrusionOk="0" h="390525" w="5938763">
                  <a:moveTo>
                    <a:pt x="0" y="0"/>
                  </a:moveTo>
                  <a:lnTo>
                    <a:pt x="5938763" y="0"/>
                  </a:lnTo>
                  <a:lnTo>
                    <a:pt x="593876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46314" l="0" r="0" t="-246314"/>
              </a:stretch>
            </a:blipFill>
            <a:ln>
              <a:noFill/>
            </a:ln>
          </p:spPr>
        </p:sp>
        <p:sp>
          <p:nvSpPr>
            <p:cNvPr id="359" name="Google Shape;359;p11"/>
            <p:cNvSpPr txBox="1"/>
            <p:nvPr/>
          </p:nvSpPr>
          <p:spPr>
            <a:xfrm>
              <a:off x="0" y="0"/>
              <a:ext cx="5938761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Body: Data payload (JSON, XML, form data) </a:t>
              </a:r>
              <a:endParaRPr/>
            </a:p>
          </p:txBody>
        </p:sp>
      </p:grpSp>
      <p:sp>
        <p:nvSpPr>
          <p:cNvPr id="360" name="Google Shape;360;p11"/>
          <p:cNvSpPr/>
          <p:nvPr/>
        </p:nvSpPr>
        <p:spPr>
          <a:xfrm>
            <a:off x="9398401" y="1503559"/>
            <a:ext cx="8058532" cy="2154081"/>
          </a:xfrm>
          <a:custGeom>
            <a:rect b="b" l="l" r="r" t="t"/>
            <a:pathLst>
              <a:path extrusionOk="0" h="2872108" w="10744709">
                <a:moveTo>
                  <a:pt x="0" y="0"/>
                </a:moveTo>
                <a:lnTo>
                  <a:pt x="10744709" y="0"/>
                </a:lnTo>
                <a:lnTo>
                  <a:pt x="10744709" y="2872108"/>
                </a:lnTo>
                <a:lnTo>
                  <a:pt x="0" y="28721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1" name="Google Shape;361;p11"/>
          <p:cNvSpPr/>
          <p:nvPr/>
        </p:nvSpPr>
        <p:spPr>
          <a:xfrm>
            <a:off x="9741501" y="1634790"/>
            <a:ext cx="3416236" cy="571500"/>
          </a:xfrm>
          <a:custGeom>
            <a:rect b="b" l="l" r="r" t="t"/>
            <a:pathLst>
              <a:path extrusionOk="0" h="762000" w="4554982">
                <a:moveTo>
                  <a:pt x="0" y="0"/>
                </a:moveTo>
                <a:lnTo>
                  <a:pt x="4554982" y="0"/>
                </a:lnTo>
                <a:lnTo>
                  <a:pt x="4554982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362" name="Google Shape;362;p11"/>
          <p:cNvGrpSpPr/>
          <p:nvPr/>
        </p:nvGrpSpPr>
        <p:grpSpPr>
          <a:xfrm>
            <a:off x="9741501" y="1627646"/>
            <a:ext cx="3416219" cy="578644"/>
            <a:chOff x="0" y="-9525"/>
            <a:chExt cx="4554960" cy="771525"/>
          </a:xfrm>
        </p:grpSpPr>
        <p:sp>
          <p:nvSpPr>
            <p:cNvPr id="363" name="Google Shape;363;p11"/>
            <p:cNvSpPr/>
            <p:nvPr/>
          </p:nvSpPr>
          <p:spPr>
            <a:xfrm>
              <a:off x="0" y="0"/>
              <a:ext cx="4554960" cy="762000"/>
            </a:xfrm>
            <a:custGeom>
              <a:rect b="b" l="l" r="r" t="t"/>
              <a:pathLst>
                <a:path extrusionOk="0" h="762000" w="4554960">
                  <a:moveTo>
                    <a:pt x="0" y="0"/>
                  </a:moveTo>
                  <a:lnTo>
                    <a:pt x="4554960" y="0"/>
                  </a:lnTo>
                  <a:lnTo>
                    <a:pt x="455496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6474" l="0" r="0" t="-66474"/>
              </a:stretch>
            </a:blipFill>
            <a:ln>
              <a:noFill/>
            </a:ln>
          </p:spPr>
        </p:sp>
        <p:sp>
          <p:nvSpPr>
            <p:cNvPr id="364" name="Google Shape;364;p11"/>
            <p:cNvSpPr txBox="1"/>
            <p:nvPr/>
          </p:nvSpPr>
          <p:spPr>
            <a:xfrm>
              <a:off x="0" y="-9525"/>
              <a:ext cx="4554957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Data Formats &amp; Protocols</a:t>
              </a:r>
              <a:endParaRPr/>
            </a:p>
          </p:txBody>
        </p:sp>
      </p:grpSp>
      <p:grpSp>
        <p:nvGrpSpPr>
          <p:cNvPr id="365" name="Google Shape;365;p11"/>
          <p:cNvGrpSpPr/>
          <p:nvPr/>
        </p:nvGrpSpPr>
        <p:grpSpPr>
          <a:xfrm>
            <a:off x="9741501" y="2413064"/>
            <a:ext cx="4482370" cy="292894"/>
            <a:chOff x="0" y="0"/>
            <a:chExt cx="5976493" cy="390525"/>
          </a:xfrm>
        </p:grpSpPr>
        <p:sp>
          <p:nvSpPr>
            <p:cNvPr id="366" name="Google Shape;366;p11"/>
            <p:cNvSpPr/>
            <p:nvPr/>
          </p:nvSpPr>
          <p:spPr>
            <a:xfrm>
              <a:off x="0" y="0"/>
              <a:ext cx="5976491" cy="390525"/>
            </a:xfrm>
            <a:custGeom>
              <a:rect b="b" l="l" r="r" t="t"/>
              <a:pathLst>
                <a:path extrusionOk="0" h="390525" w="5976491">
                  <a:moveTo>
                    <a:pt x="0" y="0"/>
                  </a:moveTo>
                  <a:lnTo>
                    <a:pt x="5976491" y="0"/>
                  </a:lnTo>
                  <a:lnTo>
                    <a:pt x="5976491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48187" l="0" r="0" t="-248187"/>
              </a:stretch>
            </a:blipFill>
            <a:ln>
              <a:noFill/>
            </a:ln>
          </p:spPr>
        </p:sp>
        <p:sp>
          <p:nvSpPr>
            <p:cNvPr id="367" name="Google Shape;367;p11"/>
            <p:cNvSpPr txBox="1"/>
            <p:nvPr/>
          </p:nvSpPr>
          <p:spPr>
            <a:xfrm>
              <a:off x="0" y="0"/>
              <a:ext cx="5976493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JSON: Lightweight, human-readable format</a:t>
              </a:r>
              <a:endParaRPr/>
            </a:p>
          </p:txBody>
        </p:sp>
      </p:grpSp>
      <p:grpSp>
        <p:nvGrpSpPr>
          <p:cNvPr id="368" name="Google Shape;368;p11"/>
          <p:cNvGrpSpPr/>
          <p:nvPr/>
        </p:nvGrpSpPr>
        <p:grpSpPr>
          <a:xfrm>
            <a:off x="9741501" y="2753716"/>
            <a:ext cx="4690485" cy="292894"/>
            <a:chOff x="0" y="0"/>
            <a:chExt cx="6253981" cy="390525"/>
          </a:xfrm>
        </p:grpSpPr>
        <p:sp>
          <p:nvSpPr>
            <p:cNvPr id="369" name="Google Shape;369;p11"/>
            <p:cNvSpPr/>
            <p:nvPr/>
          </p:nvSpPr>
          <p:spPr>
            <a:xfrm>
              <a:off x="0" y="0"/>
              <a:ext cx="6253981" cy="390525"/>
            </a:xfrm>
            <a:custGeom>
              <a:rect b="b" l="l" r="r" t="t"/>
              <a:pathLst>
                <a:path extrusionOk="0" h="390525" w="6253981">
                  <a:moveTo>
                    <a:pt x="0" y="0"/>
                  </a:moveTo>
                  <a:lnTo>
                    <a:pt x="6253981" y="0"/>
                  </a:lnTo>
                  <a:lnTo>
                    <a:pt x="6253981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62032" l="0" r="0" t="-262032"/>
              </a:stretch>
            </a:blipFill>
            <a:ln>
              <a:noFill/>
            </a:ln>
          </p:spPr>
        </p:sp>
        <p:sp>
          <p:nvSpPr>
            <p:cNvPr id="370" name="Google Shape;370;p11"/>
            <p:cNvSpPr txBox="1"/>
            <p:nvPr/>
          </p:nvSpPr>
          <p:spPr>
            <a:xfrm>
              <a:off x="0" y="0"/>
              <a:ext cx="6253975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REST: Architectural style using HTTP methods</a:t>
              </a:r>
              <a:endParaRPr/>
            </a:p>
          </p:txBody>
        </p:sp>
      </p:grpSp>
      <p:grpSp>
        <p:nvGrpSpPr>
          <p:cNvPr id="371" name="Google Shape;371;p11"/>
          <p:cNvGrpSpPr/>
          <p:nvPr/>
        </p:nvGrpSpPr>
        <p:grpSpPr>
          <a:xfrm>
            <a:off x="9741501" y="3046609"/>
            <a:ext cx="5287101" cy="292894"/>
            <a:chOff x="0" y="0"/>
            <a:chExt cx="7049467" cy="390525"/>
          </a:xfrm>
        </p:grpSpPr>
        <p:sp>
          <p:nvSpPr>
            <p:cNvPr id="372" name="Google Shape;372;p11"/>
            <p:cNvSpPr/>
            <p:nvPr/>
          </p:nvSpPr>
          <p:spPr>
            <a:xfrm>
              <a:off x="0" y="0"/>
              <a:ext cx="7049467" cy="390525"/>
            </a:xfrm>
            <a:custGeom>
              <a:rect b="b" l="l" r="r" t="t"/>
              <a:pathLst>
                <a:path extrusionOk="0" h="390525" w="7049467">
                  <a:moveTo>
                    <a:pt x="0" y="0"/>
                  </a:moveTo>
                  <a:lnTo>
                    <a:pt x="7049467" y="0"/>
                  </a:lnTo>
                  <a:lnTo>
                    <a:pt x="704946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01716" l="0" r="0" t="-301716"/>
              </a:stretch>
            </a:blipFill>
            <a:ln>
              <a:noFill/>
            </a:ln>
          </p:spPr>
        </p:sp>
        <p:sp>
          <p:nvSpPr>
            <p:cNvPr id="373" name="Google Shape;373;p11"/>
            <p:cNvSpPr txBox="1"/>
            <p:nvPr/>
          </p:nvSpPr>
          <p:spPr>
            <a:xfrm>
              <a:off x="0" y="0"/>
              <a:ext cx="7049465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GraphQL: Query language for flexible data retrieval </a:t>
              </a:r>
              <a:endParaRPr/>
            </a:p>
          </p:txBody>
        </p:sp>
      </p:grpSp>
      <p:grpSp>
        <p:nvGrpSpPr>
          <p:cNvPr id="374" name="Google Shape;374;p11"/>
          <p:cNvGrpSpPr/>
          <p:nvPr/>
        </p:nvGrpSpPr>
        <p:grpSpPr>
          <a:xfrm>
            <a:off x="9398401" y="4238887"/>
            <a:ext cx="8058531" cy="4593613"/>
            <a:chOff x="0" y="0"/>
            <a:chExt cx="10744708" cy="6124818"/>
          </a:xfrm>
        </p:grpSpPr>
        <p:sp>
          <p:nvSpPr>
            <p:cNvPr id="375" name="Google Shape;375;p11"/>
            <p:cNvSpPr/>
            <p:nvPr/>
          </p:nvSpPr>
          <p:spPr>
            <a:xfrm>
              <a:off x="0" y="0"/>
              <a:ext cx="10744708" cy="6124818"/>
            </a:xfrm>
            <a:custGeom>
              <a:rect b="b" l="l" r="r" t="t"/>
              <a:pathLst>
                <a:path extrusionOk="0" h="6124818" w="10744708">
                  <a:moveTo>
                    <a:pt x="0" y="0"/>
                  </a:moveTo>
                  <a:lnTo>
                    <a:pt x="10744708" y="0"/>
                  </a:lnTo>
                  <a:lnTo>
                    <a:pt x="10744708" y="6124818"/>
                  </a:lnTo>
                  <a:lnTo>
                    <a:pt x="0" y="6124818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4285F4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6" name="Google Shape;376;p11"/>
            <p:cNvSpPr/>
            <p:nvPr/>
          </p:nvSpPr>
          <p:spPr>
            <a:xfrm>
              <a:off x="396954" y="536575"/>
              <a:ext cx="4021836" cy="762000"/>
            </a:xfrm>
            <a:custGeom>
              <a:rect b="b" l="l" r="r" t="t"/>
              <a:pathLst>
                <a:path extrusionOk="0" h="762000" w="4021836">
                  <a:moveTo>
                    <a:pt x="0" y="0"/>
                  </a:moveTo>
                  <a:lnTo>
                    <a:pt x="4021836" y="0"/>
                  </a:lnTo>
                  <a:lnTo>
                    <a:pt x="4021836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</p:sp>
        <p:grpSp>
          <p:nvGrpSpPr>
            <p:cNvPr id="377" name="Google Shape;377;p11"/>
            <p:cNvGrpSpPr/>
            <p:nvPr/>
          </p:nvGrpSpPr>
          <p:grpSpPr>
            <a:xfrm>
              <a:off x="396954" y="527050"/>
              <a:ext cx="4021861" cy="771525"/>
              <a:chOff x="0" y="-9525"/>
              <a:chExt cx="4021861" cy="771525"/>
            </a:xfrm>
          </p:grpSpPr>
          <p:sp>
            <p:nvSpPr>
              <p:cNvPr id="378" name="Google Shape;378;p11"/>
              <p:cNvSpPr/>
              <p:nvPr/>
            </p:nvSpPr>
            <p:spPr>
              <a:xfrm>
                <a:off x="0" y="0"/>
                <a:ext cx="4021856" cy="762000"/>
              </a:xfrm>
              <a:custGeom>
                <a:rect b="b" l="l" r="r" t="t"/>
                <a:pathLst>
                  <a:path extrusionOk="0" h="762000" w="4021856">
                    <a:moveTo>
                      <a:pt x="0" y="0"/>
                    </a:moveTo>
                    <a:lnTo>
                      <a:pt x="4021856" y="0"/>
                    </a:lnTo>
                    <a:lnTo>
                      <a:pt x="4021856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52843" l="0" r="0" t="-52843"/>
                </a:stretch>
              </a:blipFill>
              <a:ln>
                <a:noFill/>
              </a:ln>
            </p:spPr>
          </p:sp>
          <p:sp>
            <p:nvSpPr>
              <p:cNvPr id="379" name="Google Shape;379;p11"/>
              <p:cNvSpPr txBox="1"/>
              <p:nvPr/>
            </p:nvSpPr>
            <p:spPr>
              <a:xfrm>
                <a:off x="0" y="-9525"/>
                <a:ext cx="4021861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674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Stateless Architecture</a:t>
                </a:r>
                <a:endParaRPr/>
              </a:p>
            </p:txBody>
          </p:sp>
        </p:grpSp>
        <p:grpSp>
          <p:nvGrpSpPr>
            <p:cNvPr id="380" name="Google Shape;380;p11"/>
            <p:cNvGrpSpPr/>
            <p:nvPr/>
          </p:nvGrpSpPr>
          <p:grpSpPr>
            <a:xfrm>
              <a:off x="457467" y="1438275"/>
              <a:ext cx="9829800" cy="1066800"/>
              <a:chOff x="0" y="0"/>
              <a:chExt cx="9829800" cy="1066800"/>
            </a:xfrm>
          </p:grpSpPr>
          <p:sp>
            <p:nvSpPr>
              <p:cNvPr id="381" name="Google Shape;381;p11"/>
              <p:cNvSpPr/>
              <p:nvPr/>
            </p:nvSpPr>
            <p:spPr>
              <a:xfrm>
                <a:off x="0" y="0"/>
                <a:ext cx="9829800" cy="1066800"/>
              </a:xfrm>
              <a:custGeom>
                <a:rect b="b" l="l" r="r" t="t"/>
                <a:pathLst>
                  <a:path extrusionOk="0" h="1066800" w="9829800">
                    <a:moveTo>
                      <a:pt x="0" y="0"/>
                    </a:moveTo>
                    <a:lnTo>
                      <a:pt x="9829800" y="0"/>
                    </a:lnTo>
                    <a:lnTo>
                      <a:pt x="9829800" y="1066800"/>
                    </a:lnTo>
                    <a:lnTo>
                      <a:pt x="0" y="10668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129546" l="0" r="0" t="-129546"/>
                </a:stretch>
              </a:blipFill>
              <a:ln>
                <a:noFill/>
              </a:ln>
            </p:spPr>
          </p:sp>
          <p:sp>
            <p:nvSpPr>
              <p:cNvPr id="382" name="Google Shape;382;p11"/>
              <p:cNvSpPr txBox="1"/>
              <p:nvPr/>
            </p:nvSpPr>
            <p:spPr>
              <a:xfrm>
                <a:off x="0" y="0"/>
                <a:ext cx="9829800" cy="10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Each API request is independent and contains all necessary information. The server doesn't maintain session state between requests.</a:t>
                </a:r>
                <a:endParaRPr/>
              </a:p>
            </p:txBody>
          </p:sp>
        </p:grpSp>
        <p:grpSp>
          <p:nvGrpSpPr>
            <p:cNvPr id="383" name="Google Shape;383;p11"/>
            <p:cNvGrpSpPr/>
            <p:nvPr/>
          </p:nvGrpSpPr>
          <p:grpSpPr>
            <a:xfrm>
              <a:off x="396954" y="2819400"/>
              <a:ext cx="9829800" cy="533400"/>
              <a:chOff x="0" y="0"/>
              <a:chExt cx="9829800" cy="533400"/>
            </a:xfrm>
          </p:grpSpPr>
          <p:sp>
            <p:nvSpPr>
              <p:cNvPr id="384" name="Google Shape;384;p11"/>
              <p:cNvSpPr/>
              <p:nvPr/>
            </p:nvSpPr>
            <p:spPr>
              <a:xfrm>
                <a:off x="0" y="0"/>
                <a:ext cx="9829800" cy="533400"/>
              </a:xfrm>
              <a:custGeom>
                <a:rect b="b" l="l" r="r" t="t"/>
                <a:pathLst>
                  <a:path extrusionOk="0" h="533400" w="9829800">
                    <a:moveTo>
                      <a:pt x="0" y="0"/>
                    </a:moveTo>
                    <a:lnTo>
                      <a:pt x="9829800" y="0"/>
                    </a:lnTo>
                    <a:lnTo>
                      <a:pt x="982980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09092" l="0" r="0" t="-309092"/>
                </a:stretch>
              </a:blipFill>
              <a:ln>
                <a:noFill/>
              </a:ln>
            </p:spPr>
          </p:sp>
          <p:sp>
            <p:nvSpPr>
              <p:cNvPr id="385" name="Google Shape;385;p11"/>
              <p:cNvSpPr txBox="1"/>
              <p:nvPr/>
            </p:nvSpPr>
            <p:spPr>
              <a:xfrm>
                <a:off x="0" y="0"/>
                <a:ext cx="9829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Scalability: Servers can handle requests without memory overhead</a:t>
                </a:r>
                <a:endParaRPr/>
              </a:p>
            </p:txBody>
          </p:sp>
        </p:grpSp>
        <p:grpSp>
          <p:nvGrpSpPr>
            <p:cNvPr id="386" name="Google Shape;386;p11"/>
            <p:cNvGrpSpPr/>
            <p:nvPr/>
          </p:nvGrpSpPr>
          <p:grpSpPr>
            <a:xfrm>
              <a:off x="396954" y="3394075"/>
              <a:ext cx="9829800" cy="533400"/>
              <a:chOff x="0" y="0"/>
              <a:chExt cx="9829800" cy="533400"/>
            </a:xfrm>
          </p:grpSpPr>
          <p:sp>
            <p:nvSpPr>
              <p:cNvPr id="387" name="Google Shape;387;p11"/>
              <p:cNvSpPr/>
              <p:nvPr/>
            </p:nvSpPr>
            <p:spPr>
              <a:xfrm>
                <a:off x="0" y="0"/>
                <a:ext cx="9829800" cy="533400"/>
              </a:xfrm>
              <a:custGeom>
                <a:rect b="b" l="l" r="r" t="t"/>
                <a:pathLst>
                  <a:path extrusionOk="0" h="533400" w="9829800">
                    <a:moveTo>
                      <a:pt x="0" y="0"/>
                    </a:moveTo>
                    <a:lnTo>
                      <a:pt x="9829800" y="0"/>
                    </a:lnTo>
                    <a:lnTo>
                      <a:pt x="982980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09092" l="0" r="0" t="-309092"/>
                </a:stretch>
              </a:blipFill>
              <a:ln>
                <a:noFill/>
              </a:ln>
            </p:spPr>
          </p:sp>
          <p:sp>
            <p:nvSpPr>
              <p:cNvPr id="388" name="Google Shape;388;p11"/>
              <p:cNvSpPr txBox="1"/>
              <p:nvPr/>
            </p:nvSpPr>
            <p:spPr>
              <a:xfrm>
                <a:off x="0" y="0"/>
                <a:ext cx="9829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Reliability: No session data loss if server fails</a:t>
                </a:r>
                <a:endParaRPr/>
              </a:p>
            </p:txBody>
          </p:sp>
        </p:grpSp>
        <p:grpSp>
          <p:nvGrpSpPr>
            <p:cNvPr id="389" name="Google Shape;389;p11"/>
            <p:cNvGrpSpPr/>
            <p:nvPr/>
          </p:nvGrpSpPr>
          <p:grpSpPr>
            <a:xfrm>
              <a:off x="396954" y="4067175"/>
              <a:ext cx="9829800" cy="533400"/>
              <a:chOff x="0" y="0"/>
              <a:chExt cx="9829800" cy="533400"/>
            </a:xfrm>
          </p:grpSpPr>
          <p:sp>
            <p:nvSpPr>
              <p:cNvPr id="390" name="Google Shape;390;p11"/>
              <p:cNvSpPr/>
              <p:nvPr/>
            </p:nvSpPr>
            <p:spPr>
              <a:xfrm>
                <a:off x="0" y="0"/>
                <a:ext cx="9829800" cy="533400"/>
              </a:xfrm>
              <a:custGeom>
                <a:rect b="b" l="l" r="r" t="t"/>
                <a:pathLst>
                  <a:path extrusionOk="0" h="533400" w="9829800">
                    <a:moveTo>
                      <a:pt x="0" y="0"/>
                    </a:moveTo>
                    <a:lnTo>
                      <a:pt x="9829800" y="0"/>
                    </a:lnTo>
                    <a:lnTo>
                      <a:pt x="982980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09092" l="0" r="0" t="-309092"/>
                </a:stretch>
              </a:blipFill>
              <a:ln>
                <a:noFill/>
              </a:ln>
            </p:spPr>
          </p:sp>
          <p:sp>
            <p:nvSpPr>
              <p:cNvPr id="391" name="Google Shape;391;p11"/>
              <p:cNvSpPr txBox="1"/>
              <p:nvPr/>
            </p:nvSpPr>
            <p:spPr>
              <a:xfrm>
                <a:off x="0" y="0"/>
                <a:ext cx="9829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Simplicity: Easier to cache and distribute requests</a:t>
                </a:r>
                <a:endParaRPr/>
              </a:p>
            </p:txBody>
          </p:sp>
        </p:grpSp>
        <p:grpSp>
          <p:nvGrpSpPr>
            <p:cNvPr id="392" name="Google Shape;392;p11"/>
            <p:cNvGrpSpPr/>
            <p:nvPr/>
          </p:nvGrpSpPr>
          <p:grpSpPr>
            <a:xfrm>
              <a:off x="457467" y="4710113"/>
              <a:ext cx="2241207" cy="390525"/>
              <a:chOff x="0" y="0"/>
              <a:chExt cx="2241207" cy="390525"/>
            </a:xfrm>
          </p:grpSpPr>
          <p:sp>
            <p:nvSpPr>
              <p:cNvPr id="393" name="Google Shape;393;p11"/>
              <p:cNvSpPr/>
              <p:nvPr/>
            </p:nvSpPr>
            <p:spPr>
              <a:xfrm>
                <a:off x="0" y="0"/>
                <a:ext cx="2241203" cy="390525"/>
              </a:xfrm>
              <a:custGeom>
                <a:rect b="b" l="l" r="r" t="t"/>
                <a:pathLst>
                  <a:path extrusionOk="0" h="390525" w="2241203">
                    <a:moveTo>
                      <a:pt x="0" y="0"/>
                    </a:moveTo>
                    <a:lnTo>
                      <a:pt x="2241203" y="0"/>
                    </a:lnTo>
                    <a:lnTo>
                      <a:pt x="2241203" y="390525"/>
                    </a:lnTo>
                    <a:lnTo>
                      <a:pt x="0" y="390525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61822" l="0" r="0" t="-61822"/>
                </a:stretch>
              </a:blipFill>
              <a:ln>
                <a:noFill/>
              </a:ln>
            </p:spPr>
          </p:sp>
          <p:sp>
            <p:nvSpPr>
              <p:cNvPr id="394" name="Google Shape;394;p11"/>
              <p:cNvSpPr txBox="1"/>
              <p:nvPr/>
            </p:nvSpPr>
            <p:spPr>
              <a:xfrm>
                <a:off x="0" y="0"/>
                <a:ext cx="2241207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569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Authentication:</a:t>
                </a:r>
                <a:endParaRPr/>
              </a:p>
            </p:txBody>
          </p:sp>
        </p:grpSp>
        <p:grpSp>
          <p:nvGrpSpPr>
            <p:cNvPr id="395" name="Google Shape;395;p11"/>
            <p:cNvGrpSpPr/>
            <p:nvPr/>
          </p:nvGrpSpPr>
          <p:grpSpPr>
            <a:xfrm>
              <a:off x="2698674" y="4710113"/>
              <a:ext cx="6928320" cy="390525"/>
              <a:chOff x="0" y="0"/>
              <a:chExt cx="6928320" cy="390525"/>
            </a:xfrm>
          </p:grpSpPr>
          <p:sp>
            <p:nvSpPr>
              <p:cNvPr id="396" name="Google Shape;396;p11"/>
              <p:cNvSpPr/>
              <p:nvPr/>
            </p:nvSpPr>
            <p:spPr>
              <a:xfrm>
                <a:off x="0" y="0"/>
                <a:ext cx="6928320" cy="390525"/>
              </a:xfrm>
              <a:custGeom>
                <a:rect b="b" l="l" r="r" t="t"/>
                <a:pathLst>
                  <a:path extrusionOk="0" h="390525" w="6928320">
                    <a:moveTo>
                      <a:pt x="0" y="0"/>
                    </a:moveTo>
                    <a:lnTo>
                      <a:pt x="6928320" y="0"/>
                    </a:lnTo>
                    <a:lnTo>
                      <a:pt x="6928320" y="390525"/>
                    </a:lnTo>
                    <a:lnTo>
                      <a:pt x="0" y="390525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95686" l="0" r="0" t="-295686"/>
                </a:stretch>
              </a:blipFill>
              <a:ln>
                <a:noFill/>
              </a:ln>
            </p:spPr>
          </p:sp>
          <p:sp>
            <p:nvSpPr>
              <p:cNvPr id="397" name="Google Shape;397;p11"/>
              <p:cNvSpPr txBox="1"/>
              <p:nvPr/>
            </p:nvSpPr>
            <p:spPr>
              <a:xfrm>
                <a:off x="0" y="0"/>
                <a:ext cx="6928320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Typically handled via tokens (JWT, OAuth) passed in </a:t>
                </a:r>
                <a:endParaRPr/>
              </a:p>
            </p:txBody>
          </p:sp>
        </p:grpSp>
        <p:grpSp>
          <p:nvGrpSpPr>
            <p:cNvPr id="398" name="Google Shape;398;p11"/>
            <p:cNvGrpSpPr/>
            <p:nvPr/>
          </p:nvGrpSpPr>
          <p:grpSpPr>
            <a:xfrm>
              <a:off x="457467" y="5243513"/>
              <a:ext cx="5523611" cy="390525"/>
              <a:chOff x="0" y="0"/>
              <a:chExt cx="5523611" cy="390525"/>
            </a:xfrm>
          </p:grpSpPr>
          <p:sp>
            <p:nvSpPr>
              <p:cNvPr id="399" name="Google Shape;399;p11"/>
              <p:cNvSpPr/>
              <p:nvPr/>
            </p:nvSpPr>
            <p:spPr>
              <a:xfrm>
                <a:off x="0" y="0"/>
                <a:ext cx="5523608" cy="390525"/>
              </a:xfrm>
              <a:custGeom>
                <a:rect b="b" l="l" r="r" t="t"/>
                <a:pathLst>
                  <a:path extrusionOk="0" h="390525" w="5523608">
                    <a:moveTo>
                      <a:pt x="0" y="0"/>
                    </a:moveTo>
                    <a:lnTo>
                      <a:pt x="5523608" y="0"/>
                    </a:lnTo>
                    <a:lnTo>
                      <a:pt x="5523608" y="390525"/>
                    </a:lnTo>
                    <a:lnTo>
                      <a:pt x="0" y="390525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25604" l="0" r="0" t="-225604"/>
                </a:stretch>
              </a:blipFill>
              <a:ln>
                <a:noFill/>
              </a:ln>
            </p:spPr>
          </p:sp>
          <p:sp>
            <p:nvSpPr>
              <p:cNvPr id="400" name="Google Shape;400;p11"/>
              <p:cNvSpPr txBox="1"/>
              <p:nvPr/>
            </p:nvSpPr>
            <p:spPr>
              <a:xfrm>
                <a:off x="0" y="0"/>
                <a:ext cx="5523611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headers rather than server-side sessions.</a:t>
                </a:r>
                <a:endParaRPr/>
              </a:p>
            </p:txBody>
          </p:sp>
        </p:grpSp>
        <p:grpSp>
          <p:nvGrpSpPr>
            <p:cNvPr id="401" name="Google Shape;401;p11"/>
            <p:cNvGrpSpPr/>
            <p:nvPr/>
          </p:nvGrpSpPr>
          <p:grpSpPr>
            <a:xfrm>
              <a:off x="457467" y="2314575"/>
              <a:ext cx="1262736" cy="390525"/>
              <a:chOff x="0" y="0"/>
              <a:chExt cx="1262736" cy="390525"/>
            </a:xfrm>
          </p:grpSpPr>
          <p:sp>
            <p:nvSpPr>
              <p:cNvPr id="402" name="Google Shape;402;p11"/>
              <p:cNvSpPr/>
              <p:nvPr/>
            </p:nvSpPr>
            <p:spPr>
              <a:xfrm>
                <a:off x="0" y="0"/>
                <a:ext cx="1262733" cy="390525"/>
              </a:xfrm>
              <a:custGeom>
                <a:rect b="b" l="l" r="r" t="t"/>
                <a:pathLst>
                  <a:path extrusionOk="0" h="390525" w="1262733">
                    <a:moveTo>
                      <a:pt x="0" y="0"/>
                    </a:moveTo>
                    <a:lnTo>
                      <a:pt x="1262733" y="0"/>
                    </a:lnTo>
                    <a:lnTo>
                      <a:pt x="1262733" y="390525"/>
                    </a:lnTo>
                    <a:lnTo>
                      <a:pt x="0" y="390525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13002" l="0" r="0" t="-13002"/>
                </a:stretch>
              </a:blipFill>
              <a:ln>
                <a:noFill/>
              </a:ln>
            </p:spPr>
          </p:sp>
          <p:sp>
            <p:nvSpPr>
              <p:cNvPr id="403" name="Google Shape;403;p11"/>
              <p:cNvSpPr txBox="1"/>
              <p:nvPr/>
            </p:nvSpPr>
            <p:spPr>
              <a:xfrm>
                <a:off x="0" y="0"/>
                <a:ext cx="1262736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569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Benefits:</a:t>
                </a:r>
                <a:endParaRPr/>
              </a:p>
            </p:txBody>
          </p:sp>
        </p:grpSp>
      </p:grpSp>
      <p:grpSp>
        <p:nvGrpSpPr>
          <p:cNvPr id="404" name="Google Shape;404;p11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405" name="Google Shape;405;p11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406" name="Google Shape;406;p11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g3fbf35cb889_9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g3fbf35cb889_9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53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21" name="Google Shape;421;p14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0" l="0" r="0" t="-380"/>
            </a:stretch>
          </a:blipFill>
          <a:ln>
            <a:noFill/>
          </a:ln>
        </p:spPr>
      </p:sp>
      <p:sp>
        <p:nvSpPr>
          <p:cNvPr descr="preencoded.png" id="422" name="Google Shape;422;p14"/>
          <p:cNvSpPr/>
          <p:nvPr/>
        </p:nvSpPr>
        <p:spPr>
          <a:xfrm>
            <a:off x="0" y="7400925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00" l="0" r="0" t="-300"/>
            </a:stretch>
          </a:blipFill>
          <a:ln>
            <a:noFill/>
          </a:ln>
        </p:spPr>
      </p:sp>
      <p:sp>
        <p:nvSpPr>
          <p:cNvPr descr="preencoded.png" id="423" name="Google Shape;423;p14"/>
          <p:cNvSpPr/>
          <p:nvPr/>
        </p:nvSpPr>
        <p:spPr>
          <a:xfrm>
            <a:off x="5143500" y="8986838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0000"/>
            </a:blip>
            <a:stretch>
              <a:fillRect b="-550" l="0" r="0" t="-550"/>
            </a:stretch>
          </a:blipFill>
          <a:ln>
            <a:noFill/>
          </a:ln>
        </p:spPr>
      </p:sp>
      <p:sp>
        <p:nvSpPr>
          <p:cNvPr id="424" name="Google Shape;424;p14"/>
          <p:cNvSpPr/>
          <p:nvPr/>
        </p:nvSpPr>
        <p:spPr>
          <a:xfrm>
            <a:off x="0" y="1"/>
            <a:ext cx="9144000" cy="9450838"/>
          </a:xfrm>
          <a:custGeom>
            <a:rect b="b" l="l" r="r" t="t"/>
            <a:pathLst>
              <a:path extrusionOk="0" h="13647420" w="12192000">
                <a:moveTo>
                  <a:pt x="0" y="0"/>
                </a:moveTo>
                <a:lnTo>
                  <a:pt x="12192000" y="0"/>
                </a:lnTo>
                <a:lnTo>
                  <a:pt x="12192000" y="13647420"/>
                </a:lnTo>
                <a:lnTo>
                  <a:pt x="0" y="1364742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425" name="Google Shape;425;p14"/>
          <p:cNvGrpSpPr/>
          <p:nvPr/>
        </p:nvGrpSpPr>
        <p:grpSpPr>
          <a:xfrm>
            <a:off x="1996473" y="3758150"/>
            <a:ext cx="3047406" cy="760813"/>
            <a:chOff x="0" y="-9529"/>
            <a:chExt cx="4063208" cy="1014417"/>
          </a:xfrm>
        </p:grpSpPr>
        <p:sp>
          <p:nvSpPr>
            <p:cNvPr id="426" name="Google Shape;426;p14"/>
            <p:cNvSpPr/>
            <p:nvPr/>
          </p:nvSpPr>
          <p:spPr>
            <a:xfrm>
              <a:off x="0" y="0"/>
              <a:ext cx="1423987" cy="1004888"/>
            </a:xfrm>
            <a:custGeom>
              <a:rect b="b" l="l" r="r" t="t"/>
              <a:pathLst>
                <a:path extrusionOk="0" h="1004888" w="1423987">
                  <a:moveTo>
                    <a:pt x="0" y="0"/>
                  </a:moveTo>
                  <a:lnTo>
                    <a:pt x="1423987" y="0"/>
                  </a:lnTo>
                  <a:lnTo>
                    <a:pt x="1423987" y="1004888"/>
                  </a:lnTo>
                  <a:lnTo>
                    <a:pt x="0" y="1004888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40541" r="-40550" t="0"/>
              </a:stretch>
            </a:blipFill>
            <a:ln>
              <a:noFill/>
            </a:ln>
          </p:spPr>
        </p:sp>
        <p:sp>
          <p:nvSpPr>
            <p:cNvPr id="427" name="Google Shape;427;p14"/>
            <p:cNvSpPr txBox="1"/>
            <p:nvPr/>
          </p:nvSpPr>
          <p:spPr>
            <a:xfrm>
              <a:off x="8" y="-9529"/>
              <a:ext cx="40632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</a:t>
              </a:r>
              <a:endParaRPr/>
            </a:p>
          </p:txBody>
        </p:sp>
      </p:grpSp>
      <p:grpSp>
        <p:nvGrpSpPr>
          <p:cNvPr id="428" name="Google Shape;428;p14"/>
          <p:cNvGrpSpPr/>
          <p:nvPr/>
        </p:nvGrpSpPr>
        <p:grpSpPr>
          <a:xfrm>
            <a:off x="3288448" y="3758150"/>
            <a:ext cx="4385925" cy="760813"/>
            <a:chOff x="-7" y="-9529"/>
            <a:chExt cx="5847900" cy="1014417"/>
          </a:xfrm>
        </p:grpSpPr>
        <p:sp>
          <p:nvSpPr>
            <p:cNvPr id="429" name="Google Shape;429;p14"/>
            <p:cNvSpPr/>
            <p:nvPr/>
          </p:nvSpPr>
          <p:spPr>
            <a:xfrm>
              <a:off x="0" y="0"/>
              <a:ext cx="4195762" cy="1004888"/>
            </a:xfrm>
            <a:custGeom>
              <a:rect b="b" l="l" r="r" t="t"/>
              <a:pathLst>
                <a:path extrusionOk="0" h="1004888" w="4195762">
                  <a:moveTo>
                    <a:pt x="0" y="0"/>
                  </a:moveTo>
                  <a:lnTo>
                    <a:pt x="4195762" y="0"/>
                  </a:lnTo>
                  <a:lnTo>
                    <a:pt x="4195762" y="1004888"/>
                  </a:lnTo>
                  <a:lnTo>
                    <a:pt x="0" y="1004888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1349" l="0" r="0" t="-31361"/>
              </a:stretch>
            </a:blipFill>
            <a:ln>
              <a:noFill/>
            </a:ln>
          </p:spPr>
        </p:sp>
        <p:sp>
          <p:nvSpPr>
            <p:cNvPr id="430" name="Google Shape;430;p14"/>
            <p:cNvSpPr txBox="1"/>
            <p:nvPr/>
          </p:nvSpPr>
          <p:spPr>
            <a:xfrm>
              <a:off x="-7" y="-9529"/>
              <a:ext cx="58479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Integration</a:t>
              </a:r>
              <a:endParaRPr/>
            </a:p>
          </p:txBody>
        </p:sp>
      </p:grpSp>
      <p:grpSp>
        <p:nvGrpSpPr>
          <p:cNvPr id="431" name="Google Shape;431;p14"/>
          <p:cNvGrpSpPr/>
          <p:nvPr/>
        </p:nvGrpSpPr>
        <p:grpSpPr>
          <a:xfrm>
            <a:off x="916169" y="4782200"/>
            <a:ext cx="4511025" cy="760819"/>
            <a:chOff x="-23" y="-9537"/>
            <a:chExt cx="6014700" cy="1014425"/>
          </a:xfrm>
        </p:grpSpPr>
        <p:sp>
          <p:nvSpPr>
            <p:cNvPr id="432" name="Google Shape;432;p14"/>
            <p:cNvSpPr/>
            <p:nvPr/>
          </p:nvSpPr>
          <p:spPr>
            <a:xfrm>
              <a:off x="0" y="0"/>
              <a:ext cx="3838576" cy="1004888"/>
            </a:xfrm>
            <a:custGeom>
              <a:rect b="b" l="l" r="r" t="t"/>
              <a:pathLst>
                <a:path extrusionOk="0" h="1004888" w="3838576">
                  <a:moveTo>
                    <a:pt x="0" y="0"/>
                  </a:moveTo>
                  <a:lnTo>
                    <a:pt x="3838576" y="0"/>
                  </a:lnTo>
                  <a:lnTo>
                    <a:pt x="3838576" y="1004888"/>
                  </a:lnTo>
                  <a:lnTo>
                    <a:pt x="0" y="1004888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4429" l="0" r="0" t="-24429"/>
              </a:stretch>
            </a:blipFill>
            <a:ln>
              <a:noFill/>
            </a:ln>
          </p:spPr>
        </p:sp>
        <p:sp>
          <p:nvSpPr>
            <p:cNvPr id="433" name="Google Shape;433;p14"/>
            <p:cNvSpPr txBox="1"/>
            <p:nvPr/>
          </p:nvSpPr>
          <p:spPr>
            <a:xfrm>
              <a:off x="-23" y="-9537"/>
              <a:ext cx="60147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Challenge</a:t>
              </a:r>
              <a:endParaRPr/>
            </a:p>
          </p:txBody>
        </p:sp>
      </p:grpSp>
      <p:grpSp>
        <p:nvGrpSpPr>
          <p:cNvPr id="434" name="Google Shape;434;p14"/>
          <p:cNvGrpSpPr/>
          <p:nvPr/>
        </p:nvGrpSpPr>
        <p:grpSpPr>
          <a:xfrm>
            <a:off x="4046758" y="4672885"/>
            <a:ext cx="3529013" cy="979460"/>
            <a:chOff x="0" y="-9525"/>
            <a:chExt cx="4705350" cy="1305946"/>
          </a:xfrm>
        </p:grpSpPr>
        <p:sp>
          <p:nvSpPr>
            <p:cNvPr id="435" name="Google Shape;435;p14"/>
            <p:cNvSpPr/>
            <p:nvPr/>
          </p:nvSpPr>
          <p:spPr>
            <a:xfrm>
              <a:off x="0" y="0"/>
              <a:ext cx="4705350" cy="1296421"/>
            </a:xfrm>
            <a:custGeom>
              <a:rect b="b" l="l" r="r" t="t"/>
              <a:pathLst>
                <a:path extrusionOk="0" h="1296421" w="4705350">
                  <a:moveTo>
                    <a:pt x="0" y="0"/>
                  </a:moveTo>
                  <a:lnTo>
                    <a:pt x="4705350" y="0"/>
                  </a:lnTo>
                  <a:lnTo>
                    <a:pt x="4705350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040" l="0" r="9110" t="-25521"/>
              </a:stretch>
            </a:blipFill>
            <a:ln>
              <a:noFill/>
            </a:ln>
          </p:spPr>
        </p:sp>
        <p:sp>
          <p:nvSpPr>
            <p:cNvPr id="436" name="Google Shape;436;p14"/>
            <p:cNvSpPr txBox="1"/>
            <p:nvPr/>
          </p:nvSpPr>
          <p:spPr>
            <a:xfrm>
              <a:off x="0" y="-9525"/>
              <a:ext cx="4705200" cy="13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AI Tools</a:t>
              </a:r>
              <a:endParaRPr/>
            </a:p>
          </p:txBody>
        </p:sp>
      </p:grpSp>
      <p:grpSp>
        <p:nvGrpSpPr>
          <p:cNvPr id="437" name="Google Shape;437;p14"/>
          <p:cNvGrpSpPr/>
          <p:nvPr/>
        </p:nvGrpSpPr>
        <p:grpSpPr>
          <a:xfrm>
            <a:off x="9715500" y="1040"/>
            <a:ext cx="3901976" cy="795701"/>
            <a:chOff x="0" y="0"/>
            <a:chExt cx="5202635" cy="1060934"/>
          </a:xfrm>
        </p:grpSpPr>
        <p:grpSp>
          <p:nvGrpSpPr>
            <p:cNvPr id="438" name="Google Shape;438;p14"/>
            <p:cNvGrpSpPr/>
            <p:nvPr/>
          </p:nvGrpSpPr>
          <p:grpSpPr>
            <a:xfrm>
              <a:off x="0" y="63742"/>
              <a:ext cx="1325700" cy="933600"/>
              <a:chOff x="0" y="0"/>
              <a:chExt cx="1325700" cy="933600"/>
            </a:xfrm>
          </p:grpSpPr>
          <p:sp>
            <p:nvSpPr>
              <p:cNvPr id="439" name="Google Shape;439;p14"/>
              <p:cNvSpPr/>
              <p:nvPr/>
            </p:nvSpPr>
            <p:spPr>
              <a:xfrm>
                <a:off x="0" y="0"/>
                <a:ext cx="1325685" cy="933451"/>
              </a:xfrm>
              <a:custGeom>
                <a:rect b="b" l="l" r="r" t="t"/>
                <a:pathLst>
                  <a:path extrusionOk="0" h="933451" w="1325685">
                    <a:moveTo>
                      <a:pt x="0" y="0"/>
                    </a:moveTo>
                    <a:lnTo>
                      <a:pt x="1325685" y="0"/>
                    </a:lnTo>
                    <a:lnTo>
                      <a:pt x="1325685" y="933451"/>
                    </a:lnTo>
                    <a:lnTo>
                      <a:pt x="0" y="93345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0" l="-40341" r="-40341" t="0"/>
                </a:stretch>
              </a:blipFill>
              <a:ln>
                <a:noFill/>
              </a:ln>
            </p:spPr>
          </p:sp>
          <p:sp>
            <p:nvSpPr>
              <p:cNvPr id="440" name="Google Shape;440;p14"/>
              <p:cNvSpPr txBox="1"/>
              <p:nvPr/>
            </p:nvSpPr>
            <p:spPr>
              <a:xfrm>
                <a:off x="0" y="0"/>
                <a:ext cx="13257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4050" u="none" cap="none" strike="noStrike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Key </a:t>
                </a:r>
                <a:endParaRPr/>
              </a:p>
            </p:txBody>
          </p:sp>
        </p:grpSp>
        <p:grpSp>
          <p:nvGrpSpPr>
            <p:cNvPr id="441" name="Google Shape;441;p14"/>
            <p:cNvGrpSpPr/>
            <p:nvPr/>
          </p:nvGrpSpPr>
          <p:grpSpPr>
            <a:xfrm>
              <a:off x="1325690" y="0"/>
              <a:ext cx="3876945" cy="1060934"/>
              <a:chOff x="0" y="0"/>
              <a:chExt cx="3876945" cy="1060934"/>
            </a:xfrm>
          </p:grpSpPr>
          <p:sp>
            <p:nvSpPr>
              <p:cNvPr id="442" name="Google Shape;442;p14"/>
              <p:cNvSpPr/>
              <p:nvPr/>
            </p:nvSpPr>
            <p:spPr>
              <a:xfrm>
                <a:off x="0" y="0"/>
                <a:ext cx="3876945" cy="1060934"/>
              </a:xfrm>
              <a:custGeom>
                <a:rect b="b" l="l" r="r" t="t"/>
                <a:pathLst>
                  <a:path extrusionOk="0" h="1060934" w="3876945">
                    <a:moveTo>
                      <a:pt x="0" y="0"/>
                    </a:moveTo>
                    <a:lnTo>
                      <a:pt x="3876945" y="0"/>
                    </a:lnTo>
                    <a:lnTo>
                      <a:pt x="3876945" y="1060934"/>
                    </a:lnTo>
                    <a:lnTo>
                      <a:pt x="0" y="1060934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11490" l="0" r="5200" t="-23510"/>
                </a:stretch>
              </a:blipFill>
              <a:ln>
                <a:noFill/>
              </a:ln>
            </p:spPr>
          </p:sp>
          <p:sp>
            <p:nvSpPr>
              <p:cNvPr id="443" name="Google Shape;443;p14"/>
              <p:cNvSpPr txBox="1"/>
              <p:nvPr/>
            </p:nvSpPr>
            <p:spPr>
              <a:xfrm>
                <a:off x="0" y="0"/>
                <a:ext cx="3876900" cy="106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4050" u="none" cap="none" strike="noStrike">
                    <a:solidFill>
                      <a:srgbClr val="E55A46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Challenges</a:t>
                </a:r>
                <a:endParaRPr/>
              </a:p>
            </p:txBody>
          </p:sp>
        </p:grpSp>
      </p:grpSp>
      <p:grpSp>
        <p:nvGrpSpPr>
          <p:cNvPr id="444" name="Google Shape;444;p14"/>
          <p:cNvGrpSpPr/>
          <p:nvPr/>
        </p:nvGrpSpPr>
        <p:grpSpPr>
          <a:xfrm>
            <a:off x="9715500" y="888335"/>
            <a:ext cx="8001000" cy="2328863"/>
            <a:chOff x="0" y="0"/>
            <a:chExt cx="10668000" cy="3105150"/>
          </a:xfrm>
        </p:grpSpPr>
        <p:sp>
          <p:nvSpPr>
            <p:cNvPr id="445" name="Google Shape;445;p14"/>
            <p:cNvSpPr/>
            <p:nvPr/>
          </p:nvSpPr>
          <p:spPr>
            <a:xfrm>
              <a:off x="0" y="0"/>
              <a:ext cx="10668000" cy="3105150"/>
            </a:xfrm>
            <a:custGeom>
              <a:rect b="b" l="l" r="r" t="t"/>
              <a:pathLst>
                <a:path extrusionOk="0" h="31051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3105150"/>
                  </a:lnTo>
                  <a:lnTo>
                    <a:pt x="0" y="3105150"/>
                  </a:ln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grpSp>
          <p:nvGrpSpPr>
            <p:cNvPr id="446" name="Google Shape;446;p14"/>
            <p:cNvGrpSpPr/>
            <p:nvPr/>
          </p:nvGrpSpPr>
          <p:grpSpPr>
            <a:xfrm>
              <a:off x="381000" y="381000"/>
              <a:ext cx="9906000" cy="628725"/>
              <a:chOff x="0" y="0"/>
              <a:chExt cx="9906000" cy="628725"/>
            </a:xfrm>
          </p:grpSpPr>
          <p:sp>
            <p:nvSpPr>
              <p:cNvPr id="447" name="Google Shape;447;p14"/>
              <p:cNvSpPr/>
              <p:nvPr/>
            </p:nvSpPr>
            <p:spPr>
              <a:xfrm>
                <a:off x="0" y="0"/>
                <a:ext cx="9906000" cy="628651"/>
              </a:xfrm>
              <a:custGeom>
                <a:rect b="b" l="l" r="r" t="t"/>
                <a:pathLst>
                  <a:path extrusionOk="0" h="62865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28651"/>
                    </a:lnTo>
                    <a:lnTo>
                      <a:pt x="0" y="62865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57050" l="0" r="0" t="-257050"/>
                </a:stretch>
              </a:blipFill>
              <a:ln>
                <a:noFill/>
              </a:ln>
            </p:spPr>
          </p:sp>
          <p:sp>
            <p:nvSpPr>
              <p:cNvPr id="448" name="Google Shape;448;p14"/>
              <p:cNvSpPr txBox="1"/>
              <p:nvPr/>
            </p:nvSpPr>
            <p:spPr>
              <a:xfrm>
                <a:off x="0" y="9525"/>
                <a:ext cx="990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75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The N×M Problem</a:t>
                </a:r>
                <a:endParaRPr/>
              </a:p>
            </p:txBody>
          </p:sp>
        </p:grpSp>
        <p:grpSp>
          <p:nvGrpSpPr>
            <p:cNvPr id="449" name="Google Shape;449;p14"/>
            <p:cNvGrpSpPr/>
            <p:nvPr/>
          </p:nvGrpSpPr>
          <p:grpSpPr>
            <a:xfrm>
              <a:off x="381000" y="1228725"/>
              <a:ext cx="9906000" cy="1495500"/>
              <a:chOff x="0" y="-9525"/>
              <a:chExt cx="9906000" cy="1495500"/>
            </a:xfrm>
          </p:grpSpPr>
          <p:sp>
            <p:nvSpPr>
              <p:cNvPr id="450" name="Google Shape;450;p14"/>
              <p:cNvSpPr/>
              <p:nvPr/>
            </p:nvSpPr>
            <p:spPr>
              <a:xfrm>
                <a:off x="0" y="0"/>
                <a:ext cx="9906000" cy="1485901"/>
              </a:xfrm>
              <a:custGeom>
                <a:rect b="b" l="l" r="r" t="t"/>
                <a:pathLst>
                  <a:path extrusionOk="0" h="14859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485901"/>
                    </a:lnTo>
                    <a:lnTo>
                      <a:pt x="0" y="14859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79892" l="0" r="0" t="-79902"/>
                </a:stretch>
              </a:blipFill>
              <a:ln>
                <a:noFill/>
              </a:ln>
            </p:spPr>
          </p:sp>
          <p:sp>
            <p:nvSpPr>
              <p:cNvPr id="451" name="Google Shape;451;p14"/>
              <p:cNvSpPr txBox="1"/>
              <p:nvPr/>
            </p:nvSpPr>
            <p:spPr>
              <a:xfrm>
                <a:off x="0" y="-9525"/>
                <a:ext cx="9906000" cy="14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Connecting N AI applications to M data sources requires building N×M custom integrations. This exponential complexity creates massive technical debt and slows innovation. </a:t>
                </a:r>
                <a:endParaRPr/>
              </a:p>
            </p:txBody>
          </p:sp>
        </p:grpSp>
      </p:grpSp>
      <p:grpSp>
        <p:nvGrpSpPr>
          <p:cNvPr id="452" name="Google Shape;452;p14"/>
          <p:cNvGrpSpPr/>
          <p:nvPr/>
        </p:nvGrpSpPr>
        <p:grpSpPr>
          <a:xfrm>
            <a:off x="9715500" y="3644567"/>
            <a:ext cx="8001000" cy="3043238"/>
            <a:chOff x="0" y="0"/>
            <a:chExt cx="10668000" cy="4057650"/>
          </a:xfrm>
        </p:grpSpPr>
        <p:sp>
          <p:nvSpPr>
            <p:cNvPr id="453" name="Google Shape;453;p14"/>
            <p:cNvSpPr/>
            <p:nvPr/>
          </p:nvSpPr>
          <p:spPr>
            <a:xfrm>
              <a:off x="0" y="0"/>
              <a:ext cx="10668000" cy="4057650"/>
            </a:xfrm>
            <a:custGeom>
              <a:rect b="b" l="l" r="r" t="t"/>
              <a:pathLst>
                <a:path extrusionOk="0" h="40576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4057650"/>
                  </a:lnTo>
                  <a:lnTo>
                    <a:pt x="0" y="4057650"/>
                  </a:ln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grpSp>
          <p:nvGrpSpPr>
            <p:cNvPr id="454" name="Google Shape;454;p14"/>
            <p:cNvGrpSpPr/>
            <p:nvPr/>
          </p:nvGrpSpPr>
          <p:grpSpPr>
            <a:xfrm>
              <a:off x="381000" y="381000"/>
              <a:ext cx="9906000" cy="628725"/>
              <a:chOff x="0" y="0"/>
              <a:chExt cx="9906000" cy="628725"/>
            </a:xfrm>
          </p:grpSpPr>
          <p:sp>
            <p:nvSpPr>
              <p:cNvPr id="455" name="Google Shape;455;p14"/>
              <p:cNvSpPr/>
              <p:nvPr/>
            </p:nvSpPr>
            <p:spPr>
              <a:xfrm>
                <a:off x="0" y="0"/>
                <a:ext cx="9906000" cy="628651"/>
              </a:xfrm>
              <a:custGeom>
                <a:rect b="b" l="l" r="r" t="t"/>
                <a:pathLst>
                  <a:path extrusionOk="0" h="62865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28651"/>
                    </a:lnTo>
                    <a:lnTo>
                      <a:pt x="0" y="62865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57050" l="0" r="0" t="-257050"/>
                </a:stretch>
              </a:blipFill>
              <a:ln>
                <a:noFill/>
              </a:ln>
            </p:spPr>
          </p:sp>
          <p:sp>
            <p:nvSpPr>
              <p:cNvPr id="456" name="Google Shape;456;p14"/>
              <p:cNvSpPr txBox="1"/>
              <p:nvPr/>
            </p:nvSpPr>
            <p:spPr>
              <a:xfrm>
                <a:off x="0" y="9525"/>
                <a:ext cx="990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75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Current Pain Points</a:t>
                </a:r>
                <a:endParaRPr/>
              </a:p>
            </p:txBody>
          </p:sp>
        </p:grpSp>
        <p:grpSp>
          <p:nvGrpSpPr>
            <p:cNvPr id="457" name="Google Shape;457;p14"/>
            <p:cNvGrpSpPr/>
            <p:nvPr/>
          </p:nvGrpSpPr>
          <p:grpSpPr>
            <a:xfrm>
              <a:off x="381000" y="1228725"/>
              <a:ext cx="9906000" cy="504900"/>
              <a:chOff x="0" y="-9525"/>
              <a:chExt cx="9906000" cy="504900"/>
            </a:xfrm>
          </p:grpSpPr>
          <p:sp>
            <p:nvSpPr>
              <p:cNvPr id="458" name="Google Shape;458;p14"/>
              <p:cNvSpPr/>
              <p:nvPr/>
            </p:nvSpPr>
            <p:spPr>
              <a:xfrm>
                <a:off x="0" y="0"/>
                <a:ext cx="9906000" cy="495301"/>
              </a:xfrm>
              <a:custGeom>
                <a:rect b="b" l="l" r="r" t="t"/>
                <a:pathLst>
                  <a:path extrusionOk="0" h="4953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495301"/>
                    </a:lnTo>
                    <a:lnTo>
                      <a:pt x="0" y="4953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39712" l="0" r="0" t="-339712"/>
                </a:stretch>
              </a:blipFill>
              <a:ln>
                <a:noFill/>
              </a:ln>
            </p:spPr>
          </p:sp>
          <p:sp>
            <p:nvSpPr>
              <p:cNvPr id="459" name="Google Shape;459;p14"/>
              <p:cNvSpPr txBox="1"/>
              <p:nvPr/>
            </p:nvSpPr>
            <p:spPr>
              <a:xfrm>
                <a:off x="0" y="-9525"/>
                <a:ext cx="99060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Custom code required for each integration (150+ lines per tool)</a:t>
                </a:r>
                <a:endParaRPr/>
              </a:p>
            </p:txBody>
          </p:sp>
        </p:grpSp>
        <p:grpSp>
          <p:nvGrpSpPr>
            <p:cNvPr id="460" name="Google Shape;460;p14"/>
            <p:cNvGrpSpPr/>
            <p:nvPr/>
          </p:nvGrpSpPr>
          <p:grpSpPr>
            <a:xfrm>
              <a:off x="381000" y="1876425"/>
              <a:ext cx="9906000" cy="504900"/>
              <a:chOff x="0" y="-9525"/>
              <a:chExt cx="9906000" cy="504900"/>
            </a:xfrm>
          </p:grpSpPr>
          <p:sp>
            <p:nvSpPr>
              <p:cNvPr id="461" name="Google Shape;461;p14"/>
              <p:cNvSpPr/>
              <p:nvPr/>
            </p:nvSpPr>
            <p:spPr>
              <a:xfrm>
                <a:off x="0" y="0"/>
                <a:ext cx="9906000" cy="495301"/>
              </a:xfrm>
              <a:custGeom>
                <a:rect b="b" l="l" r="r" t="t"/>
                <a:pathLst>
                  <a:path extrusionOk="0" h="4953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495301"/>
                    </a:lnTo>
                    <a:lnTo>
                      <a:pt x="0" y="4953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39712" l="0" r="0" t="-339712"/>
                </a:stretch>
              </a:blipFill>
              <a:ln>
                <a:noFill/>
              </a:ln>
            </p:spPr>
          </p:sp>
          <p:sp>
            <p:nvSpPr>
              <p:cNvPr id="462" name="Google Shape;462;p14"/>
              <p:cNvSpPr txBox="1"/>
              <p:nvPr/>
            </p:nvSpPr>
            <p:spPr>
              <a:xfrm>
                <a:off x="0" y="-9525"/>
                <a:ext cx="99060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Brittle integrations that break with API changes</a:t>
                </a:r>
                <a:endParaRPr/>
              </a:p>
            </p:txBody>
          </p:sp>
        </p:grpSp>
        <p:grpSp>
          <p:nvGrpSpPr>
            <p:cNvPr id="463" name="Google Shape;463;p14"/>
            <p:cNvGrpSpPr/>
            <p:nvPr/>
          </p:nvGrpSpPr>
          <p:grpSpPr>
            <a:xfrm>
              <a:off x="381000" y="2524125"/>
              <a:ext cx="9906000" cy="504900"/>
              <a:chOff x="0" y="-9525"/>
              <a:chExt cx="9906000" cy="504900"/>
            </a:xfrm>
          </p:grpSpPr>
          <p:sp>
            <p:nvSpPr>
              <p:cNvPr id="464" name="Google Shape;464;p14"/>
              <p:cNvSpPr/>
              <p:nvPr/>
            </p:nvSpPr>
            <p:spPr>
              <a:xfrm>
                <a:off x="0" y="0"/>
                <a:ext cx="9906000" cy="495301"/>
              </a:xfrm>
              <a:custGeom>
                <a:rect b="b" l="l" r="r" t="t"/>
                <a:pathLst>
                  <a:path extrusionOk="0" h="4953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495301"/>
                    </a:lnTo>
                    <a:lnTo>
                      <a:pt x="0" y="4953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39712" l="0" r="0" t="-339712"/>
                </a:stretch>
              </a:blipFill>
              <a:ln>
                <a:noFill/>
              </a:ln>
            </p:spPr>
          </p:sp>
          <p:sp>
            <p:nvSpPr>
              <p:cNvPr id="465" name="Google Shape;465;p14"/>
              <p:cNvSpPr txBox="1"/>
              <p:nvPr/>
            </p:nvSpPr>
            <p:spPr>
              <a:xfrm>
                <a:off x="0" y="-9525"/>
                <a:ext cx="99060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Constant maintenance overhead across all connections</a:t>
                </a:r>
                <a:endParaRPr/>
              </a:p>
            </p:txBody>
          </p:sp>
        </p:grpSp>
        <p:grpSp>
          <p:nvGrpSpPr>
            <p:cNvPr id="466" name="Google Shape;466;p14"/>
            <p:cNvGrpSpPr/>
            <p:nvPr/>
          </p:nvGrpSpPr>
          <p:grpSpPr>
            <a:xfrm>
              <a:off x="381000" y="3171825"/>
              <a:ext cx="9906000" cy="504900"/>
              <a:chOff x="0" y="-9525"/>
              <a:chExt cx="9906000" cy="504900"/>
            </a:xfrm>
          </p:grpSpPr>
          <p:sp>
            <p:nvSpPr>
              <p:cNvPr id="467" name="Google Shape;467;p14"/>
              <p:cNvSpPr/>
              <p:nvPr/>
            </p:nvSpPr>
            <p:spPr>
              <a:xfrm>
                <a:off x="0" y="0"/>
                <a:ext cx="9906000" cy="495301"/>
              </a:xfrm>
              <a:custGeom>
                <a:rect b="b" l="l" r="r" t="t"/>
                <a:pathLst>
                  <a:path extrusionOk="0" h="4953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495301"/>
                    </a:lnTo>
                    <a:lnTo>
                      <a:pt x="0" y="4953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39712" l="0" r="0" t="-339712"/>
                </a:stretch>
              </a:blipFill>
              <a:ln>
                <a:noFill/>
              </a:ln>
            </p:spPr>
          </p:sp>
          <p:sp>
            <p:nvSpPr>
              <p:cNvPr id="468" name="Google Shape;468;p14"/>
              <p:cNvSpPr txBox="1"/>
              <p:nvPr/>
            </p:nvSpPr>
            <p:spPr>
              <a:xfrm>
                <a:off x="0" y="-9525"/>
                <a:ext cx="99060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Limited tool discovery and dynamic capability detection</a:t>
                </a:r>
                <a:endParaRPr/>
              </a:p>
            </p:txBody>
          </p:sp>
        </p:grpSp>
      </p:grpSp>
      <p:grpSp>
        <p:nvGrpSpPr>
          <p:cNvPr id="469" name="Google Shape;469;p14"/>
          <p:cNvGrpSpPr/>
          <p:nvPr/>
        </p:nvGrpSpPr>
        <p:grpSpPr>
          <a:xfrm>
            <a:off x="9715500" y="7115175"/>
            <a:ext cx="8001000" cy="2328863"/>
            <a:chOff x="0" y="0"/>
            <a:chExt cx="10668000" cy="3105150"/>
          </a:xfrm>
        </p:grpSpPr>
        <p:sp>
          <p:nvSpPr>
            <p:cNvPr id="470" name="Google Shape;470;p14"/>
            <p:cNvSpPr/>
            <p:nvPr/>
          </p:nvSpPr>
          <p:spPr>
            <a:xfrm>
              <a:off x="0" y="0"/>
              <a:ext cx="10668000" cy="3105150"/>
            </a:xfrm>
            <a:custGeom>
              <a:rect b="b" l="l" r="r" t="t"/>
              <a:pathLst>
                <a:path extrusionOk="0" h="31051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3105150"/>
                  </a:lnTo>
                  <a:lnTo>
                    <a:pt x="0" y="3105150"/>
                  </a:ln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grpSp>
          <p:nvGrpSpPr>
            <p:cNvPr id="471" name="Google Shape;471;p14"/>
            <p:cNvGrpSpPr/>
            <p:nvPr/>
          </p:nvGrpSpPr>
          <p:grpSpPr>
            <a:xfrm>
              <a:off x="381000" y="381000"/>
              <a:ext cx="9906000" cy="628725"/>
              <a:chOff x="0" y="0"/>
              <a:chExt cx="9906000" cy="628725"/>
            </a:xfrm>
          </p:grpSpPr>
          <p:sp>
            <p:nvSpPr>
              <p:cNvPr id="472" name="Google Shape;472;p14"/>
              <p:cNvSpPr/>
              <p:nvPr/>
            </p:nvSpPr>
            <p:spPr>
              <a:xfrm>
                <a:off x="0" y="0"/>
                <a:ext cx="9906000" cy="628651"/>
              </a:xfrm>
              <a:custGeom>
                <a:rect b="b" l="l" r="r" t="t"/>
                <a:pathLst>
                  <a:path extrusionOk="0" h="62865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28651"/>
                    </a:lnTo>
                    <a:lnTo>
                      <a:pt x="0" y="62865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57050" l="0" r="0" t="-257050"/>
                </a:stretch>
              </a:blipFill>
              <a:ln>
                <a:noFill/>
              </a:ln>
            </p:spPr>
          </p:sp>
          <p:sp>
            <p:nvSpPr>
              <p:cNvPr id="473" name="Google Shape;473;p14"/>
              <p:cNvSpPr txBox="1"/>
              <p:nvPr/>
            </p:nvSpPr>
            <p:spPr>
              <a:xfrm>
                <a:off x="0" y="9525"/>
                <a:ext cx="990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75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Industry Impact</a:t>
                </a:r>
                <a:endParaRPr/>
              </a:p>
            </p:txBody>
          </p:sp>
        </p:grpSp>
        <p:grpSp>
          <p:nvGrpSpPr>
            <p:cNvPr id="474" name="Google Shape;474;p14"/>
            <p:cNvGrpSpPr/>
            <p:nvPr/>
          </p:nvGrpSpPr>
          <p:grpSpPr>
            <a:xfrm>
              <a:off x="381000" y="1228725"/>
              <a:ext cx="9906000" cy="1495500"/>
              <a:chOff x="0" y="-9525"/>
              <a:chExt cx="9906000" cy="1495500"/>
            </a:xfrm>
          </p:grpSpPr>
          <p:sp>
            <p:nvSpPr>
              <p:cNvPr id="475" name="Google Shape;475;p14"/>
              <p:cNvSpPr/>
              <p:nvPr/>
            </p:nvSpPr>
            <p:spPr>
              <a:xfrm>
                <a:off x="0" y="0"/>
                <a:ext cx="9906000" cy="1485901"/>
              </a:xfrm>
              <a:custGeom>
                <a:rect b="b" l="l" r="r" t="t"/>
                <a:pathLst>
                  <a:path extrusionOk="0" h="14859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485901"/>
                    </a:lnTo>
                    <a:lnTo>
                      <a:pt x="0" y="14859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79892" l="0" r="0" t="-79902"/>
                </a:stretch>
              </a:blipFill>
              <a:ln>
                <a:noFill/>
              </a:ln>
            </p:spPr>
          </p:sp>
          <p:sp>
            <p:nvSpPr>
              <p:cNvPr id="476" name="Google Shape;476;p14"/>
              <p:cNvSpPr txBox="1"/>
              <p:nvPr/>
            </p:nvSpPr>
            <p:spPr>
              <a:xfrm>
                <a:off x="0" y="-9525"/>
                <a:ext cx="9906000" cy="14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Organizations spend 60-70% of development time on integration work rather than core AI capabilities. This creates vendor lock-in, siloed solutions, and high barriers to entry for AI adoption. </a:t>
                </a:r>
                <a:endParaRPr/>
              </a:p>
            </p:txBody>
          </p:sp>
        </p:grpSp>
      </p:grpSp>
      <p:grpSp>
        <p:nvGrpSpPr>
          <p:cNvPr id="477" name="Google Shape;477;p14"/>
          <p:cNvGrpSpPr/>
          <p:nvPr/>
        </p:nvGrpSpPr>
        <p:grpSpPr>
          <a:xfrm>
            <a:off x="13902080" y="9444038"/>
            <a:ext cx="4389389" cy="843629"/>
            <a:chOff x="0" y="0"/>
            <a:chExt cx="5852519" cy="1124839"/>
          </a:xfrm>
        </p:grpSpPr>
        <p:sp>
          <p:nvSpPr>
            <p:cNvPr id="478" name="Google Shape;478;p14"/>
            <p:cNvSpPr/>
            <p:nvPr/>
          </p:nvSpPr>
          <p:spPr>
            <a:xfrm>
              <a:off x="0" y="0"/>
              <a:ext cx="5852519" cy="1124839"/>
            </a:xfrm>
            <a:custGeom>
              <a:rect b="b" l="l" r="r" t="t"/>
              <a:pathLst>
                <a:path extrusionOk="0" h="1127658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127658"/>
                  </a:lnTo>
                  <a:lnTo>
                    <a:pt x="0" y="11276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479" name="Google Shape;479;p14"/>
            <p:cNvSpPr/>
            <p:nvPr/>
          </p:nvSpPr>
          <p:spPr>
            <a:xfrm>
              <a:off x="304849" y="175479"/>
              <a:ext cx="5238169" cy="772992"/>
            </a:xfrm>
            <a:custGeom>
              <a:rect b="b" l="l" r="r" t="t"/>
              <a:pathLst>
                <a:path extrusionOk="0" h="772992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772992"/>
                  </a:lnTo>
                  <a:lnTo>
                    <a:pt x="0" y="7729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8601" l="0" r="0" t="-859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84" name="Google Shape;484;p15"/>
          <p:cNvSpPr/>
          <p:nvPr/>
        </p:nvSpPr>
        <p:spPr>
          <a:xfrm>
            <a:off x="7758112" y="-194310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485" name="Google Shape;485;p15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486" name="Google Shape;486;p15"/>
          <p:cNvSpPr/>
          <p:nvPr/>
        </p:nvSpPr>
        <p:spPr>
          <a:xfrm>
            <a:off x="0" y="7400925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487" name="Google Shape;487;p15"/>
          <p:cNvSpPr/>
          <p:nvPr/>
        </p:nvSpPr>
        <p:spPr>
          <a:xfrm>
            <a:off x="5143500" y="8986838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8" name="Google Shape;488;p15"/>
          <p:cNvSpPr/>
          <p:nvPr/>
        </p:nvSpPr>
        <p:spPr>
          <a:xfrm>
            <a:off x="0" y="0"/>
            <a:ext cx="9144000" cy="9486805"/>
          </a:xfrm>
          <a:custGeom>
            <a:rect b="b" l="l" r="r" t="t"/>
            <a:pathLst>
              <a:path extrusionOk="0" h="13849350" w="12192000">
                <a:moveTo>
                  <a:pt x="0" y="0"/>
                </a:moveTo>
                <a:lnTo>
                  <a:pt x="12192000" y="0"/>
                </a:lnTo>
                <a:lnTo>
                  <a:pt x="12192000" y="13849350"/>
                </a:lnTo>
                <a:lnTo>
                  <a:pt x="0" y="1384935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489" name="Google Shape;489;p15"/>
          <p:cNvGrpSpPr/>
          <p:nvPr/>
        </p:nvGrpSpPr>
        <p:grpSpPr>
          <a:xfrm>
            <a:off x="914400" y="1190837"/>
            <a:ext cx="3356390" cy="979460"/>
            <a:chOff x="0" y="-9525"/>
            <a:chExt cx="4475187" cy="1305946"/>
          </a:xfrm>
        </p:grpSpPr>
        <p:sp>
          <p:nvSpPr>
            <p:cNvPr id="490" name="Google Shape;490;p15"/>
            <p:cNvSpPr/>
            <p:nvPr/>
          </p:nvSpPr>
          <p:spPr>
            <a:xfrm>
              <a:off x="0" y="0"/>
              <a:ext cx="4475187" cy="1296421"/>
            </a:xfrm>
            <a:custGeom>
              <a:rect b="b" l="l" r="r" t="t"/>
              <a:pathLst>
                <a:path extrusionOk="0" h="1296421" w="4475187">
                  <a:moveTo>
                    <a:pt x="0" y="0"/>
                  </a:moveTo>
                  <a:lnTo>
                    <a:pt x="4475187" y="0"/>
                  </a:lnTo>
                  <a:lnTo>
                    <a:pt x="4475187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1" l="0" r="8800" t="-22590"/>
              </a:stretch>
            </a:blipFill>
            <a:ln>
              <a:noFill/>
            </a:ln>
          </p:spPr>
        </p:sp>
        <p:sp>
          <p:nvSpPr>
            <p:cNvPr id="491" name="Google Shape;491;p15"/>
            <p:cNvSpPr txBox="1"/>
            <p:nvPr/>
          </p:nvSpPr>
          <p:spPr>
            <a:xfrm>
              <a:off x="0" y="-9525"/>
              <a:ext cx="4475100" cy="13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APIs &amp; The</a:t>
              </a:r>
              <a:endParaRPr/>
            </a:p>
          </p:txBody>
        </p:sp>
      </p:grpSp>
      <p:grpSp>
        <p:nvGrpSpPr>
          <p:cNvPr id="492" name="Google Shape;492;p15"/>
          <p:cNvGrpSpPr/>
          <p:nvPr/>
        </p:nvGrpSpPr>
        <p:grpSpPr>
          <a:xfrm>
            <a:off x="4136688" y="1300150"/>
            <a:ext cx="4801290" cy="760822"/>
            <a:chOff x="0" y="-9541"/>
            <a:chExt cx="6401720" cy="1014429"/>
          </a:xfrm>
        </p:grpSpPr>
        <p:sp>
          <p:nvSpPr>
            <p:cNvPr id="493" name="Google Shape;493;p15"/>
            <p:cNvSpPr/>
            <p:nvPr/>
          </p:nvSpPr>
          <p:spPr>
            <a:xfrm>
              <a:off x="0" y="0"/>
              <a:ext cx="5248275" cy="1004888"/>
            </a:xfrm>
            <a:custGeom>
              <a:rect b="b" l="l" r="r" t="t"/>
              <a:pathLst>
                <a:path extrusionOk="0" h="1004888" w="5248275">
                  <a:moveTo>
                    <a:pt x="0" y="0"/>
                  </a:moveTo>
                  <a:lnTo>
                    <a:pt x="5248275" y="0"/>
                  </a:lnTo>
                  <a:lnTo>
                    <a:pt x="5248275" y="1004888"/>
                  </a:lnTo>
                  <a:lnTo>
                    <a:pt x="0" y="1004888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1760" l="0" r="0" t="-51770"/>
              </a:stretch>
            </a:blipFill>
            <a:ln>
              <a:noFill/>
            </a:ln>
          </p:spPr>
        </p:sp>
        <p:sp>
          <p:nvSpPr>
            <p:cNvPr id="494" name="Google Shape;494;p15"/>
            <p:cNvSpPr txBox="1"/>
            <p:nvPr/>
          </p:nvSpPr>
          <p:spPr>
            <a:xfrm>
              <a:off x="20" y="-9541"/>
              <a:ext cx="64017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MxN Problem</a:t>
              </a:r>
              <a:endParaRPr/>
            </a:p>
          </p:txBody>
        </p:sp>
      </p:grpSp>
      <p:grpSp>
        <p:nvGrpSpPr>
          <p:cNvPr id="495" name="Google Shape;495;p15"/>
          <p:cNvGrpSpPr/>
          <p:nvPr/>
        </p:nvGrpSpPr>
        <p:grpSpPr>
          <a:xfrm>
            <a:off x="914400" y="3514725"/>
            <a:ext cx="1608525" cy="389334"/>
            <a:chOff x="0" y="0"/>
            <a:chExt cx="2144700" cy="519112"/>
          </a:xfrm>
        </p:grpSpPr>
        <p:sp>
          <p:nvSpPr>
            <p:cNvPr id="496" name="Google Shape;496;p15"/>
            <p:cNvSpPr/>
            <p:nvPr/>
          </p:nvSpPr>
          <p:spPr>
            <a:xfrm>
              <a:off x="0" y="0"/>
              <a:ext cx="2144688" cy="519112"/>
            </a:xfrm>
            <a:custGeom>
              <a:rect b="b" l="l" r="r" t="t"/>
              <a:pathLst>
                <a:path extrusionOk="0" h="519112" w="2144688">
                  <a:moveTo>
                    <a:pt x="0" y="0"/>
                  </a:moveTo>
                  <a:lnTo>
                    <a:pt x="2144688" y="0"/>
                  </a:lnTo>
                  <a:lnTo>
                    <a:pt x="2144688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30500" l="0" r="0" t="-30500"/>
              </a:stretch>
            </a:blipFill>
            <a:ln>
              <a:noFill/>
            </a:ln>
          </p:spPr>
        </p:sp>
        <p:sp>
          <p:nvSpPr>
            <p:cNvPr id="497" name="Google Shape;497;p15"/>
            <p:cNvSpPr txBox="1"/>
            <p:nvPr/>
          </p:nvSpPr>
          <p:spPr>
            <a:xfrm>
              <a:off x="0" y="0"/>
              <a:ext cx="21447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Connecting </a:t>
              </a:r>
              <a:endParaRPr/>
            </a:p>
          </p:txBody>
        </p:sp>
      </p:grpSp>
      <p:grpSp>
        <p:nvGrpSpPr>
          <p:cNvPr id="498" name="Google Shape;498;p15"/>
          <p:cNvGrpSpPr/>
          <p:nvPr/>
        </p:nvGrpSpPr>
        <p:grpSpPr>
          <a:xfrm>
            <a:off x="2522915" y="3514725"/>
            <a:ext cx="269550" cy="389334"/>
            <a:chOff x="0" y="0"/>
            <a:chExt cx="359400" cy="519112"/>
          </a:xfrm>
        </p:grpSpPr>
        <p:sp>
          <p:nvSpPr>
            <p:cNvPr id="499" name="Google Shape;499;p15"/>
            <p:cNvSpPr/>
            <p:nvPr/>
          </p:nvSpPr>
          <p:spPr>
            <a:xfrm>
              <a:off x="0" y="0"/>
              <a:ext cx="359347" cy="519112"/>
            </a:xfrm>
            <a:custGeom>
              <a:rect b="b" l="l" r="r" t="t"/>
              <a:pathLst>
                <a:path extrusionOk="0" h="519112" w="359347">
                  <a:moveTo>
                    <a:pt x="0" y="0"/>
                  </a:moveTo>
                  <a:lnTo>
                    <a:pt x="359347" y="0"/>
                  </a:lnTo>
                  <a:lnTo>
                    <a:pt x="359347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135350" r="-135350" t="0"/>
              </a:stretch>
            </a:blipFill>
            <a:ln>
              <a:noFill/>
            </a:ln>
          </p:spPr>
        </p:sp>
        <p:sp>
          <p:nvSpPr>
            <p:cNvPr id="500" name="Google Shape;500;p15"/>
            <p:cNvSpPr txBox="1"/>
            <p:nvPr/>
          </p:nvSpPr>
          <p:spPr>
            <a:xfrm>
              <a:off x="0" y="0"/>
              <a:ext cx="3594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</a:t>
              </a:r>
              <a:endParaRPr/>
            </a:p>
          </p:txBody>
        </p:sp>
      </p:grpSp>
      <p:grpSp>
        <p:nvGrpSpPr>
          <p:cNvPr id="501" name="Google Shape;501;p15"/>
          <p:cNvGrpSpPr/>
          <p:nvPr/>
        </p:nvGrpSpPr>
        <p:grpSpPr>
          <a:xfrm>
            <a:off x="2792425" y="3514725"/>
            <a:ext cx="2472630" cy="389334"/>
            <a:chOff x="0" y="0"/>
            <a:chExt cx="3296840" cy="519112"/>
          </a:xfrm>
        </p:grpSpPr>
        <p:sp>
          <p:nvSpPr>
            <p:cNvPr id="502" name="Google Shape;502;p15"/>
            <p:cNvSpPr/>
            <p:nvPr/>
          </p:nvSpPr>
          <p:spPr>
            <a:xfrm>
              <a:off x="0" y="0"/>
              <a:ext cx="3296840" cy="519112"/>
            </a:xfrm>
            <a:custGeom>
              <a:rect b="b" l="l" r="r" t="t"/>
              <a:pathLst>
                <a:path extrusionOk="0" h="519112" w="3296840">
                  <a:moveTo>
                    <a:pt x="0" y="0"/>
                  </a:moveTo>
                  <a:lnTo>
                    <a:pt x="3296840" y="0"/>
                  </a:lnTo>
                  <a:lnTo>
                    <a:pt x="3296840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73750" l="0" r="0" t="-73750"/>
              </a:stretch>
            </a:blipFill>
            <a:ln>
              <a:noFill/>
            </a:ln>
          </p:spPr>
        </p:sp>
        <p:sp>
          <p:nvSpPr>
            <p:cNvPr id="503" name="Google Shape;503;p15"/>
            <p:cNvSpPr txBox="1"/>
            <p:nvPr/>
          </p:nvSpPr>
          <p:spPr>
            <a:xfrm>
              <a:off x="0" y="0"/>
              <a:ext cx="32967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AI applications to </a:t>
              </a:r>
              <a:endParaRPr/>
            </a:p>
          </p:txBody>
        </p:sp>
      </p:grpSp>
      <p:grpSp>
        <p:nvGrpSpPr>
          <p:cNvPr id="504" name="Google Shape;504;p15"/>
          <p:cNvGrpSpPr/>
          <p:nvPr/>
        </p:nvGrpSpPr>
        <p:grpSpPr>
          <a:xfrm>
            <a:off x="5265058" y="3514725"/>
            <a:ext cx="232425" cy="389334"/>
            <a:chOff x="0" y="0"/>
            <a:chExt cx="309900" cy="519112"/>
          </a:xfrm>
        </p:grpSpPr>
        <p:sp>
          <p:nvSpPr>
            <p:cNvPr id="505" name="Google Shape;505;p15"/>
            <p:cNvSpPr/>
            <p:nvPr/>
          </p:nvSpPr>
          <p:spPr>
            <a:xfrm>
              <a:off x="0" y="0"/>
              <a:ext cx="309787" cy="519112"/>
            </a:xfrm>
            <a:custGeom>
              <a:rect b="b" l="l" r="r" t="t"/>
              <a:pathLst>
                <a:path extrusionOk="0" h="519112" w="309787">
                  <a:moveTo>
                    <a:pt x="0" y="0"/>
                  </a:moveTo>
                  <a:lnTo>
                    <a:pt x="309787" y="0"/>
                  </a:lnTo>
                  <a:lnTo>
                    <a:pt x="309787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164998" r="-164998" t="0"/>
              </a:stretch>
            </a:blipFill>
            <a:ln>
              <a:noFill/>
            </a:ln>
          </p:spPr>
        </p:sp>
        <p:sp>
          <p:nvSpPr>
            <p:cNvPr id="506" name="Google Shape;506;p15"/>
            <p:cNvSpPr txBox="1"/>
            <p:nvPr/>
          </p:nvSpPr>
          <p:spPr>
            <a:xfrm>
              <a:off x="0" y="0"/>
              <a:ext cx="3099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N</a:t>
              </a:r>
              <a:endParaRPr/>
            </a:p>
          </p:txBody>
        </p:sp>
      </p:grpSp>
      <p:grpSp>
        <p:nvGrpSpPr>
          <p:cNvPr id="507" name="Google Shape;507;p15"/>
          <p:cNvGrpSpPr/>
          <p:nvPr/>
        </p:nvGrpSpPr>
        <p:grpSpPr>
          <a:xfrm>
            <a:off x="5497392" y="3514725"/>
            <a:ext cx="1782000" cy="389334"/>
            <a:chOff x="0" y="0"/>
            <a:chExt cx="2376000" cy="519112"/>
          </a:xfrm>
        </p:grpSpPr>
        <p:sp>
          <p:nvSpPr>
            <p:cNvPr id="508" name="Google Shape;508;p15"/>
            <p:cNvSpPr/>
            <p:nvPr/>
          </p:nvSpPr>
          <p:spPr>
            <a:xfrm>
              <a:off x="0" y="0"/>
              <a:ext cx="2375965" cy="519112"/>
            </a:xfrm>
            <a:custGeom>
              <a:rect b="b" l="l" r="r" t="t"/>
              <a:pathLst>
                <a:path extrusionOk="0" h="519112" w="2375965">
                  <a:moveTo>
                    <a:pt x="0" y="0"/>
                  </a:moveTo>
                  <a:lnTo>
                    <a:pt x="2375965" y="0"/>
                  </a:lnTo>
                  <a:lnTo>
                    <a:pt x="2375965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39181" l="0" r="0" t="-39181"/>
              </a:stretch>
            </a:blipFill>
            <a:ln>
              <a:noFill/>
            </a:ln>
          </p:spPr>
        </p:sp>
        <p:sp>
          <p:nvSpPr>
            <p:cNvPr id="509" name="Google Shape;509;p15"/>
            <p:cNvSpPr txBox="1"/>
            <p:nvPr/>
          </p:nvSpPr>
          <p:spPr>
            <a:xfrm>
              <a:off x="0" y="0"/>
              <a:ext cx="23760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data sources </a:t>
              </a:r>
              <a:endParaRPr/>
            </a:p>
          </p:txBody>
        </p:sp>
      </p:grpSp>
      <p:grpSp>
        <p:nvGrpSpPr>
          <p:cNvPr id="510" name="Google Shape;510;p15"/>
          <p:cNvGrpSpPr/>
          <p:nvPr/>
        </p:nvGrpSpPr>
        <p:grpSpPr>
          <a:xfrm>
            <a:off x="914400" y="3979069"/>
            <a:ext cx="2360060" cy="389334"/>
            <a:chOff x="0" y="0"/>
            <a:chExt cx="3146747" cy="519112"/>
          </a:xfrm>
        </p:grpSpPr>
        <p:sp>
          <p:nvSpPr>
            <p:cNvPr id="511" name="Google Shape;511;p15"/>
            <p:cNvSpPr/>
            <p:nvPr/>
          </p:nvSpPr>
          <p:spPr>
            <a:xfrm>
              <a:off x="0" y="0"/>
              <a:ext cx="3146747" cy="519112"/>
            </a:xfrm>
            <a:custGeom>
              <a:rect b="b" l="l" r="r" t="t"/>
              <a:pathLst>
                <a:path extrusionOk="0" h="519112" w="3146747">
                  <a:moveTo>
                    <a:pt x="0" y="0"/>
                  </a:moveTo>
                  <a:lnTo>
                    <a:pt x="3146747" y="0"/>
                  </a:lnTo>
                  <a:lnTo>
                    <a:pt x="3146747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68119" l="0" r="0" t="-68109"/>
              </a:stretch>
            </a:blipFill>
            <a:ln>
              <a:noFill/>
            </a:ln>
          </p:spPr>
        </p:sp>
        <p:sp>
          <p:nvSpPr>
            <p:cNvPr id="512" name="Google Shape;512;p15"/>
            <p:cNvSpPr txBox="1"/>
            <p:nvPr/>
          </p:nvSpPr>
          <p:spPr>
            <a:xfrm>
              <a:off x="0" y="0"/>
              <a:ext cx="31467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requires building </a:t>
              </a:r>
              <a:endParaRPr/>
            </a:p>
          </p:txBody>
        </p:sp>
      </p:grpSp>
      <p:grpSp>
        <p:nvGrpSpPr>
          <p:cNvPr id="513" name="Google Shape;513;p15"/>
          <p:cNvGrpSpPr/>
          <p:nvPr/>
        </p:nvGrpSpPr>
        <p:grpSpPr>
          <a:xfrm>
            <a:off x="3274457" y="3979069"/>
            <a:ext cx="665325" cy="389334"/>
            <a:chOff x="0" y="0"/>
            <a:chExt cx="887100" cy="519112"/>
          </a:xfrm>
        </p:grpSpPr>
        <p:sp>
          <p:nvSpPr>
            <p:cNvPr id="514" name="Google Shape;514;p15"/>
            <p:cNvSpPr/>
            <p:nvPr/>
          </p:nvSpPr>
          <p:spPr>
            <a:xfrm>
              <a:off x="0" y="0"/>
              <a:ext cx="887016" cy="519112"/>
            </a:xfrm>
            <a:custGeom>
              <a:rect b="b" l="l" r="r" t="t"/>
              <a:pathLst>
                <a:path extrusionOk="0" h="519112" w="887016">
                  <a:moveTo>
                    <a:pt x="0" y="0"/>
                  </a:moveTo>
                  <a:lnTo>
                    <a:pt x="887016" y="0"/>
                  </a:lnTo>
                  <a:lnTo>
                    <a:pt x="887016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5090" r="-25080" t="0"/>
              </a:stretch>
            </a:blipFill>
            <a:ln>
              <a:noFill/>
            </a:ln>
          </p:spPr>
        </p:sp>
        <p:sp>
          <p:nvSpPr>
            <p:cNvPr id="515" name="Google Shape;515;p15"/>
            <p:cNvSpPr txBox="1"/>
            <p:nvPr/>
          </p:nvSpPr>
          <p:spPr>
            <a:xfrm>
              <a:off x="0" y="0"/>
              <a:ext cx="8871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M×N</a:t>
              </a:r>
              <a:endParaRPr/>
            </a:p>
          </p:txBody>
        </p:sp>
      </p:grpSp>
      <p:grpSp>
        <p:nvGrpSpPr>
          <p:cNvPr id="516" name="Google Shape;516;p15"/>
          <p:cNvGrpSpPr/>
          <p:nvPr/>
        </p:nvGrpSpPr>
        <p:grpSpPr>
          <a:xfrm>
            <a:off x="3939721" y="3979069"/>
            <a:ext cx="2845222" cy="389334"/>
            <a:chOff x="0" y="0"/>
            <a:chExt cx="3793629" cy="519112"/>
          </a:xfrm>
        </p:grpSpPr>
        <p:sp>
          <p:nvSpPr>
            <p:cNvPr id="517" name="Google Shape;517;p15"/>
            <p:cNvSpPr/>
            <p:nvPr/>
          </p:nvSpPr>
          <p:spPr>
            <a:xfrm>
              <a:off x="0" y="0"/>
              <a:ext cx="3793629" cy="519112"/>
            </a:xfrm>
            <a:custGeom>
              <a:rect b="b" l="l" r="r" t="t"/>
              <a:pathLst>
                <a:path extrusionOk="0" h="519112" w="3793629">
                  <a:moveTo>
                    <a:pt x="0" y="0"/>
                  </a:moveTo>
                  <a:lnTo>
                    <a:pt x="3793629" y="0"/>
                  </a:lnTo>
                  <a:lnTo>
                    <a:pt x="3793629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92399" l="0" r="0" t="-92388"/>
              </a:stretch>
            </a:blipFill>
            <a:ln>
              <a:noFill/>
            </a:ln>
          </p:spPr>
        </p:sp>
        <p:sp>
          <p:nvSpPr>
            <p:cNvPr id="518" name="Google Shape;518;p15"/>
            <p:cNvSpPr txBox="1"/>
            <p:nvPr/>
          </p:nvSpPr>
          <p:spPr>
            <a:xfrm>
              <a:off x="0" y="0"/>
              <a:ext cx="37935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custom integrations.</a:t>
              </a:r>
              <a:endParaRPr/>
            </a:p>
          </p:txBody>
        </p:sp>
      </p:grpSp>
      <p:grpSp>
        <p:nvGrpSpPr>
          <p:cNvPr id="519" name="Google Shape;519;p15"/>
          <p:cNvGrpSpPr/>
          <p:nvPr/>
        </p:nvGrpSpPr>
        <p:grpSpPr>
          <a:xfrm>
            <a:off x="914400" y="4672012"/>
            <a:ext cx="1269675" cy="389334"/>
            <a:chOff x="0" y="0"/>
            <a:chExt cx="1692900" cy="519112"/>
          </a:xfrm>
        </p:grpSpPr>
        <p:sp>
          <p:nvSpPr>
            <p:cNvPr id="520" name="Google Shape;520;p15"/>
            <p:cNvSpPr/>
            <p:nvPr/>
          </p:nvSpPr>
          <p:spPr>
            <a:xfrm>
              <a:off x="0" y="0"/>
              <a:ext cx="1692845" cy="519112"/>
            </a:xfrm>
            <a:custGeom>
              <a:rect b="b" l="l" r="r" t="t"/>
              <a:pathLst>
                <a:path extrusionOk="0" h="519112" w="1692845">
                  <a:moveTo>
                    <a:pt x="0" y="0"/>
                  </a:moveTo>
                  <a:lnTo>
                    <a:pt x="1692845" y="0"/>
                  </a:lnTo>
                  <a:lnTo>
                    <a:pt x="1692845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540" l="0" r="0" t="-13540"/>
              </a:stretch>
            </a:blipFill>
            <a:ln>
              <a:noFill/>
            </a:ln>
          </p:spPr>
        </p:sp>
        <p:sp>
          <p:nvSpPr>
            <p:cNvPr id="521" name="Google Shape;521;p15"/>
            <p:cNvSpPr txBox="1"/>
            <p:nvPr/>
          </p:nvSpPr>
          <p:spPr>
            <a:xfrm>
              <a:off x="0" y="0"/>
              <a:ext cx="16929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Example:</a:t>
              </a:r>
              <a:endParaRPr/>
            </a:p>
          </p:txBody>
        </p:sp>
      </p:grpSp>
      <p:grpSp>
        <p:nvGrpSpPr>
          <p:cNvPr id="522" name="Google Shape;522;p15"/>
          <p:cNvGrpSpPr/>
          <p:nvPr/>
        </p:nvGrpSpPr>
        <p:grpSpPr>
          <a:xfrm>
            <a:off x="914400" y="5136356"/>
            <a:ext cx="3973098" cy="389334"/>
            <a:chOff x="0" y="0"/>
            <a:chExt cx="5297464" cy="519112"/>
          </a:xfrm>
        </p:grpSpPr>
        <p:sp>
          <p:nvSpPr>
            <p:cNvPr id="523" name="Google Shape;523;p15"/>
            <p:cNvSpPr/>
            <p:nvPr/>
          </p:nvSpPr>
          <p:spPr>
            <a:xfrm>
              <a:off x="0" y="0"/>
              <a:ext cx="5297464" cy="519112"/>
            </a:xfrm>
            <a:custGeom>
              <a:rect b="b" l="l" r="r" t="t"/>
              <a:pathLst>
                <a:path extrusionOk="0" h="519112" w="5297464">
                  <a:moveTo>
                    <a:pt x="0" y="0"/>
                  </a:moveTo>
                  <a:lnTo>
                    <a:pt x="5297464" y="0"/>
                  </a:lnTo>
                  <a:lnTo>
                    <a:pt x="5297464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48839" l="0" r="0" t="-148839"/>
              </a:stretch>
            </a:blipFill>
            <a:ln>
              <a:noFill/>
            </a:ln>
          </p:spPr>
        </p:sp>
        <p:sp>
          <p:nvSpPr>
            <p:cNvPr id="524" name="Google Shape;524;p15"/>
            <p:cNvSpPr txBox="1"/>
            <p:nvPr/>
          </p:nvSpPr>
          <p:spPr>
            <a:xfrm>
              <a:off x="0" y="0"/>
              <a:ext cx="52974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5 AI apps × 10 data sources = </a:t>
              </a:r>
              <a:endParaRPr/>
            </a:p>
          </p:txBody>
        </p:sp>
      </p:grpSp>
      <p:grpSp>
        <p:nvGrpSpPr>
          <p:cNvPr id="525" name="Google Shape;525;p15"/>
          <p:cNvGrpSpPr/>
          <p:nvPr/>
        </p:nvGrpSpPr>
        <p:grpSpPr>
          <a:xfrm>
            <a:off x="4887497" y="5136356"/>
            <a:ext cx="2164278" cy="389334"/>
            <a:chOff x="0" y="0"/>
            <a:chExt cx="2885704" cy="519112"/>
          </a:xfrm>
        </p:grpSpPr>
        <p:sp>
          <p:nvSpPr>
            <p:cNvPr id="526" name="Google Shape;526;p15"/>
            <p:cNvSpPr/>
            <p:nvPr/>
          </p:nvSpPr>
          <p:spPr>
            <a:xfrm>
              <a:off x="0" y="0"/>
              <a:ext cx="2885704" cy="519112"/>
            </a:xfrm>
            <a:custGeom>
              <a:rect b="b" l="l" r="r" t="t"/>
              <a:pathLst>
                <a:path extrusionOk="0" h="519112" w="2885704">
                  <a:moveTo>
                    <a:pt x="0" y="0"/>
                  </a:moveTo>
                  <a:lnTo>
                    <a:pt x="2885704" y="0"/>
                  </a:lnTo>
                  <a:lnTo>
                    <a:pt x="2885704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8319" l="0" r="0" t="-58310"/>
              </a:stretch>
            </a:blipFill>
            <a:ln>
              <a:noFill/>
            </a:ln>
          </p:spPr>
        </p:sp>
        <p:sp>
          <p:nvSpPr>
            <p:cNvPr id="527" name="Google Shape;527;p15"/>
            <p:cNvSpPr txBox="1"/>
            <p:nvPr/>
          </p:nvSpPr>
          <p:spPr>
            <a:xfrm>
              <a:off x="0" y="0"/>
              <a:ext cx="28857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50 integrations</a:t>
              </a:r>
              <a:endParaRPr/>
            </a:p>
          </p:txBody>
        </p:sp>
      </p:grpSp>
      <p:grpSp>
        <p:nvGrpSpPr>
          <p:cNvPr id="528" name="Google Shape;528;p15"/>
          <p:cNvGrpSpPr/>
          <p:nvPr/>
        </p:nvGrpSpPr>
        <p:grpSpPr>
          <a:xfrm>
            <a:off x="914400" y="5793581"/>
            <a:ext cx="7315200" cy="1393032"/>
            <a:chOff x="0" y="0"/>
            <a:chExt cx="9753600" cy="1857376"/>
          </a:xfrm>
        </p:grpSpPr>
        <p:sp>
          <p:nvSpPr>
            <p:cNvPr id="529" name="Google Shape;529;p15"/>
            <p:cNvSpPr/>
            <p:nvPr/>
          </p:nvSpPr>
          <p:spPr>
            <a:xfrm>
              <a:off x="0" y="0"/>
              <a:ext cx="9753600" cy="1857376"/>
            </a:xfrm>
            <a:custGeom>
              <a:rect b="b" l="l" r="r" t="t"/>
              <a:pathLst>
                <a:path extrusionOk="0" h="18573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57376"/>
                  </a:lnTo>
                  <a:lnTo>
                    <a:pt x="0" y="1857376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2321" l="0" r="0" t="-52321"/>
              </a:stretch>
            </a:blipFill>
            <a:ln>
              <a:noFill/>
            </a:ln>
          </p:spPr>
        </p:sp>
        <p:sp>
          <p:nvSpPr>
            <p:cNvPr id="530" name="Google Shape;530;p15"/>
            <p:cNvSpPr txBox="1"/>
            <p:nvPr/>
          </p:nvSpPr>
          <p:spPr>
            <a:xfrm>
              <a:off x="0" y="0"/>
              <a:ext cx="97536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This exponential complexity creates massive development overhead, maintenance burden, and integration fragility.</a:t>
              </a:r>
              <a:endParaRPr/>
            </a:p>
          </p:txBody>
        </p:sp>
      </p:grpSp>
      <p:sp>
        <p:nvSpPr>
          <p:cNvPr id="531" name="Google Shape;531;p15"/>
          <p:cNvSpPr/>
          <p:nvPr/>
        </p:nvSpPr>
        <p:spPr>
          <a:xfrm>
            <a:off x="9144000" y="0"/>
            <a:ext cx="9144000" cy="9417558"/>
          </a:xfrm>
          <a:custGeom>
            <a:rect b="b" l="l" r="r" t="t"/>
            <a:pathLst>
              <a:path extrusionOk="0" h="13849350" w="12192000">
                <a:moveTo>
                  <a:pt x="0" y="0"/>
                </a:moveTo>
                <a:lnTo>
                  <a:pt x="12192000" y="0"/>
                </a:lnTo>
                <a:lnTo>
                  <a:pt x="12192000" y="13849350"/>
                </a:lnTo>
                <a:lnTo>
                  <a:pt x="0" y="13849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532" name="Google Shape;532;p15"/>
          <p:cNvGrpSpPr/>
          <p:nvPr/>
        </p:nvGrpSpPr>
        <p:grpSpPr>
          <a:xfrm>
            <a:off x="9410562" y="531399"/>
            <a:ext cx="5773725" cy="994603"/>
            <a:chOff x="0" y="0"/>
            <a:chExt cx="7698300" cy="1326137"/>
          </a:xfrm>
        </p:grpSpPr>
        <p:sp>
          <p:nvSpPr>
            <p:cNvPr id="533" name="Google Shape;533;p15"/>
            <p:cNvSpPr/>
            <p:nvPr/>
          </p:nvSpPr>
          <p:spPr>
            <a:xfrm>
              <a:off x="0" y="0"/>
              <a:ext cx="7698156" cy="1326137"/>
            </a:xfrm>
            <a:custGeom>
              <a:rect b="b" l="l" r="r" t="t"/>
              <a:pathLst>
                <a:path extrusionOk="0" h="1326137" w="7698156">
                  <a:moveTo>
                    <a:pt x="0" y="0"/>
                  </a:moveTo>
                  <a:lnTo>
                    <a:pt x="7698156" y="0"/>
                  </a:lnTo>
                  <a:lnTo>
                    <a:pt x="7698156" y="1326137"/>
                  </a:lnTo>
                  <a:lnTo>
                    <a:pt x="0" y="1326137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1589" l="0" r="4880" t="-63599"/>
              </a:stretch>
            </a:blipFill>
            <a:ln>
              <a:noFill/>
            </a:ln>
          </p:spPr>
        </p:sp>
        <p:sp>
          <p:nvSpPr>
            <p:cNvPr id="534" name="Google Shape;534;p15"/>
            <p:cNvSpPr txBox="1"/>
            <p:nvPr/>
          </p:nvSpPr>
          <p:spPr>
            <a:xfrm>
              <a:off x="0" y="0"/>
              <a:ext cx="7698300" cy="13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The MCP Solution:</a:t>
              </a:r>
              <a:endParaRPr/>
            </a:p>
          </p:txBody>
        </p:sp>
      </p:grpSp>
      <p:grpSp>
        <p:nvGrpSpPr>
          <p:cNvPr id="535" name="Google Shape;535;p15"/>
          <p:cNvGrpSpPr/>
          <p:nvPr/>
        </p:nvGrpSpPr>
        <p:grpSpPr>
          <a:xfrm>
            <a:off x="15176344" y="531399"/>
            <a:ext cx="1977300" cy="994603"/>
            <a:chOff x="0" y="0"/>
            <a:chExt cx="2636400" cy="1326137"/>
          </a:xfrm>
        </p:grpSpPr>
        <p:sp>
          <p:nvSpPr>
            <p:cNvPr id="536" name="Google Shape;536;p15"/>
            <p:cNvSpPr/>
            <p:nvPr/>
          </p:nvSpPr>
          <p:spPr>
            <a:xfrm>
              <a:off x="0" y="0"/>
              <a:ext cx="2636338" cy="1326137"/>
            </a:xfrm>
            <a:custGeom>
              <a:rect b="b" l="l" r="r" t="t"/>
              <a:pathLst>
                <a:path extrusionOk="0" h="1326137" w="2636338">
                  <a:moveTo>
                    <a:pt x="0" y="0"/>
                  </a:moveTo>
                  <a:lnTo>
                    <a:pt x="2636338" y="0"/>
                  </a:lnTo>
                  <a:lnTo>
                    <a:pt x="2636338" y="1326137"/>
                  </a:lnTo>
                  <a:lnTo>
                    <a:pt x="0" y="1326137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12010" l="-19490" r="5920" t="0"/>
              </a:stretch>
            </a:blipFill>
            <a:ln>
              <a:noFill/>
            </a:ln>
          </p:spPr>
        </p:sp>
        <p:sp>
          <p:nvSpPr>
            <p:cNvPr id="537" name="Google Shape;537;p15"/>
            <p:cNvSpPr txBox="1"/>
            <p:nvPr/>
          </p:nvSpPr>
          <p:spPr>
            <a:xfrm>
              <a:off x="0" y="0"/>
              <a:ext cx="2636400" cy="13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E55A46"/>
                  </a:solidFill>
                  <a:latin typeface="Noto Sans"/>
                  <a:ea typeface="Noto Sans"/>
                  <a:cs typeface="Noto Sans"/>
                  <a:sym typeface="Noto Sans"/>
                </a:rPr>
                <a:t>M+N</a:t>
              </a:r>
              <a:endParaRPr/>
            </a:p>
          </p:txBody>
        </p:sp>
      </p:grpSp>
      <p:sp>
        <p:nvSpPr>
          <p:cNvPr id="538" name="Google Shape;538;p15"/>
          <p:cNvSpPr/>
          <p:nvPr/>
        </p:nvSpPr>
        <p:spPr>
          <a:xfrm>
            <a:off x="9944100" y="2041550"/>
            <a:ext cx="7543800" cy="3500438"/>
          </a:xfrm>
          <a:custGeom>
            <a:rect b="b" l="l" r="r" t="t"/>
            <a:pathLst>
              <a:path extrusionOk="0" h="4667250" w="10058400">
                <a:moveTo>
                  <a:pt x="0" y="0"/>
                </a:moveTo>
                <a:lnTo>
                  <a:pt x="10058400" y="0"/>
                </a:lnTo>
                <a:lnTo>
                  <a:pt x="10058400" y="4667250"/>
                </a:lnTo>
                <a:lnTo>
                  <a:pt x="0" y="4667250"/>
                </a:lnTo>
                <a:close/>
              </a:path>
            </a:pathLst>
          </a:custGeom>
          <a:solidFill>
            <a:srgbClr val="F0F4F8"/>
          </a:solidFill>
          <a:ln>
            <a:noFill/>
          </a:ln>
        </p:spPr>
      </p:sp>
      <p:grpSp>
        <p:nvGrpSpPr>
          <p:cNvPr id="539" name="Google Shape;539;p15"/>
          <p:cNvGrpSpPr/>
          <p:nvPr/>
        </p:nvGrpSpPr>
        <p:grpSpPr>
          <a:xfrm>
            <a:off x="10401300" y="2491606"/>
            <a:ext cx="6629400" cy="521550"/>
            <a:chOff x="0" y="-9525"/>
            <a:chExt cx="8839200" cy="695400"/>
          </a:xfrm>
        </p:grpSpPr>
        <p:sp>
          <p:nvSpPr>
            <p:cNvPr id="540" name="Google Shape;540;p15"/>
            <p:cNvSpPr/>
            <p:nvPr/>
          </p:nvSpPr>
          <p:spPr>
            <a:xfrm>
              <a:off x="0" y="0"/>
              <a:ext cx="8839200" cy="685800"/>
            </a:xfrm>
            <a:custGeom>
              <a:rect b="b" l="l" r="r" t="t"/>
              <a:pathLst>
                <a:path extrusionOk="0" h="6858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685800"/>
                  </a:lnTo>
                  <a:lnTo>
                    <a:pt x="0" y="6858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01130" l="0" r="0" t="-201130"/>
              </a:stretch>
            </a:blipFill>
            <a:ln>
              <a:noFill/>
            </a:ln>
          </p:spPr>
        </p:sp>
        <p:sp>
          <p:nvSpPr>
            <p:cNvPr id="541" name="Google Shape;541;p15"/>
            <p:cNvSpPr txBox="1"/>
            <p:nvPr/>
          </p:nvSpPr>
          <p:spPr>
            <a:xfrm>
              <a:off x="0" y="-9525"/>
              <a:ext cx="8839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Linear Scaling</a:t>
              </a:r>
              <a:endParaRPr/>
            </a:p>
          </p:txBody>
        </p:sp>
      </p:grpSp>
      <p:grpSp>
        <p:nvGrpSpPr>
          <p:cNvPr id="542" name="Google Shape;542;p15"/>
          <p:cNvGrpSpPr/>
          <p:nvPr/>
        </p:nvGrpSpPr>
        <p:grpSpPr>
          <a:xfrm>
            <a:off x="10401300" y="3273847"/>
            <a:ext cx="3669750" cy="350100"/>
            <a:chOff x="0" y="0"/>
            <a:chExt cx="4893000" cy="466800"/>
          </a:xfrm>
        </p:grpSpPr>
        <p:sp>
          <p:nvSpPr>
            <p:cNvPr id="543" name="Google Shape;543;p15"/>
            <p:cNvSpPr/>
            <p:nvPr/>
          </p:nvSpPr>
          <p:spPr>
            <a:xfrm>
              <a:off x="0" y="0"/>
              <a:ext cx="4892875" cy="466725"/>
            </a:xfrm>
            <a:custGeom>
              <a:rect b="b" l="l" r="r" t="t"/>
              <a:pathLst>
                <a:path extrusionOk="0" h="466725" w="4892875">
                  <a:moveTo>
                    <a:pt x="0" y="0"/>
                  </a:moveTo>
                  <a:lnTo>
                    <a:pt x="4892875" y="0"/>
                  </a:lnTo>
                  <a:lnTo>
                    <a:pt x="4892875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54261" l="0" r="0" t="-154269"/>
              </a:stretch>
            </a:blipFill>
            <a:ln>
              <a:noFill/>
            </a:ln>
          </p:spPr>
        </p:sp>
        <p:sp>
          <p:nvSpPr>
            <p:cNvPr id="544" name="Google Shape;544;p15"/>
            <p:cNvSpPr txBox="1"/>
            <p:nvPr/>
          </p:nvSpPr>
          <p:spPr>
            <a:xfrm>
              <a:off x="0" y="0"/>
              <a:ext cx="48930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 MCP reduces complexity from </a:t>
              </a:r>
              <a:endParaRPr/>
            </a:p>
          </p:txBody>
        </p:sp>
      </p:grpSp>
      <p:grpSp>
        <p:nvGrpSpPr>
          <p:cNvPr id="545" name="Google Shape;545;p15"/>
          <p:cNvGrpSpPr/>
          <p:nvPr/>
        </p:nvGrpSpPr>
        <p:grpSpPr>
          <a:xfrm>
            <a:off x="14070959" y="3273847"/>
            <a:ext cx="598736" cy="350100"/>
            <a:chOff x="0" y="0"/>
            <a:chExt cx="798315" cy="466800"/>
          </a:xfrm>
        </p:grpSpPr>
        <p:sp>
          <p:nvSpPr>
            <p:cNvPr id="546" name="Google Shape;546;p15"/>
            <p:cNvSpPr/>
            <p:nvPr/>
          </p:nvSpPr>
          <p:spPr>
            <a:xfrm>
              <a:off x="0" y="0"/>
              <a:ext cx="798315" cy="466725"/>
            </a:xfrm>
            <a:custGeom>
              <a:rect b="b" l="l" r="r" t="t"/>
              <a:pathLst>
                <a:path extrusionOk="0" h="466725" w="798315">
                  <a:moveTo>
                    <a:pt x="0" y="0"/>
                  </a:moveTo>
                  <a:lnTo>
                    <a:pt x="798315" y="0"/>
                  </a:lnTo>
                  <a:lnTo>
                    <a:pt x="798315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5010" r="-25010" t="0"/>
              </a:stretch>
            </a:blipFill>
            <a:ln>
              <a:noFill/>
            </a:ln>
          </p:spPr>
        </p:sp>
        <p:sp>
          <p:nvSpPr>
            <p:cNvPr id="547" name="Google Shape;547;p15"/>
            <p:cNvSpPr txBox="1"/>
            <p:nvPr/>
          </p:nvSpPr>
          <p:spPr>
            <a:xfrm>
              <a:off x="0" y="0"/>
              <a:ext cx="7983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M×N</a:t>
              </a:r>
              <a:endParaRPr/>
            </a:p>
          </p:txBody>
        </p:sp>
      </p:grpSp>
      <p:grpSp>
        <p:nvGrpSpPr>
          <p:cNvPr id="548" name="Google Shape;548;p15"/>
          <p:cNvGrpSpPr/>
          <p:nvPr/>
        </p:nvGrpSpPr>
        <p:grpSpPr>
          <a:xfrm>
            <a:off x="14669691" y="3273847"/>
            <a:ext cx="382275" cy="350100"/>
            <a:chOff x="0" y="0"/>
            <a:chExt cx="509700" cy="466800"/>
          </a:xfrm>
        </p:grpSpPr>
        <p:sp>
          <p:nvSpPr>
            <p:cNvPr id="549" name="Google Shape;549;p15"/>
            <p:cNvSpPr/>
            <p:nvPr/>
          </p:nvSpPr>
          <p:spPr>
            <a:xfrm>
              <a:off x="0" y="0"/>
              <a:ext cx="509587" cy="466725"/>
            </a:xfrm>
            <a:custGeom>
              <a:rect b="b" l="l" r="r" t="t"/>
              <a:pathLst>
                <a:path extrusionOk="0" h="466725" w="509587">
                  <a:moveTo>
                    <a:pt x="0" y="0"/>
                  </a:moveTo>
                  <a:lnTo>
                    <a:pt x="509587" y="0"/>
                  </a:lnTo>
                  <a:lnTo>
                    <a:pt x="509587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67509" r="-67509" t="0"/>
              </a:stretch>
            </a:blipFill>
            <a:ln>
              <a:noFill/>
            </a:ln>
          </p:spPr>
        </p:sp>
        <p:sp>
          <p:nvSpPr>
            <p:cNvPr id="550" name="Google Shape;550;p15"/>
            <p:cNvSpPr txBox="1"/>
            <p:nvPr/>
          </p:nvSpPr>
          <p:spPr>
            <a:xfrm>
              <a:off x="0" y="0"/>
              <a:ext cx="509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 to </a:t>
              </a:r>
              <a:endParaRPr/>
            </a:p>
          </p:txBody>
        </p:sp>
      </p:grpSp>
      <p:grpSp>
        <p:nvGrpSpPr>
          <p:cNvPr id="551" name="Google Shape;551;p15"/>
          <p:cNvGrpSpPr/>
          <p:nvPr/>
        </p:nvGrpSpPr>
        <p:grpSpPr>
          <a:xfrm>
            <a:off x="15051881" y="3273847"/>
            <a:ext cx="598736" cy="350100"/>
            <a:chOff x="0" y="0"/>
            <a:chExt cx="798315" cy="466800"/>
          </a:xfrm>
        </p:grpSpPr>
        <p:sp>
          <p:nvSpPr>
            <p:cNvPr id="552" name="Google Shape;552;p15"/>
            <p:cNvSpPr/>
            <p:nvPr/>
          </p:nvSpPr>
          <p:spPr>
            <a:xfrm>
              <a:off x="0" y="0"/>
              <a:ext cx="798315" cy="466725"/>
            </a:xfrm>
            <a:custGeom>
              <a:rect b="b" l="l" r="r" t="t"/>
              <a:pathLst>
                <a:path extrusionOk="0" h="466725" w="798315">
                  <a:moveTo>
                    <a:pt x="0" y="0"/>
                  </a:moveTo>
                  <a:lnTo>
                    <a:pt x="798315" y="0"/>
                  </a:lnTo>
                  <a:lnTo>
                    <a:pt x="798315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5010" r="-25010" t="0"/>
              </a:stretch>
            </a:blipFill>
            <a:ln>
              <a:noFill/>
            </a:ln>
          </p:spPr>
        </p:sp>
        <p:sp>
          <p:nvSpPr>
            <p:cNvPr id="553" name="Google Shape;553;p15"/>
            <p:cNvSpPr txBox="1"/>
            <p:nvPr/>
          </p:nvSpPr>
          <p:spPr>
            <a:xfrm>
              <a:off x="0" y="0"/>
              <a:ext cx="7983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M+N</a:t>
              </a:r>
              <a:endParaRPr/>
            </a:p>
          </p:txBody>
        </p:sp>
      </p:grpSp>
      <p:grpSp>
        <p:nvGrpSpPr>
          <p:cNvPr id="554" name="Google Shape;554;p15"/>
          <p:cNvGrpSpPr/>
          <p:nvPr/>
        </p:nvGrpSpPr>
        <p:grpSpPr>
          <a:xfrm>
            <a:off x="15650613" y="3273847"/>
            <a:ext cx="351048" cy="350100"/>
            <a:chOff x="0" y="0"/>
            <a:chExt cx="468064" cy="466800"/>
          </a:xfrm>
        </p:grpSpPr>
        <p:sp>
          <p:nvSpPr>
            <p:cNvPr id="555" name="Google Shape;555;p15"/>
            <p:cNvSpPr/>
            <p:nvPr/>
          </p:nvSpPr>
          <p:spPr>
            <a:xfrm>
              <a:off x="0" y="0"/>
              <a:ext cx="468064" cy="466725"/>
            </a:xfrm>
            <a:custGeom>
              <a:rect b="b" l="l" r="r" t="t"/>
              <a:pathLst>
                <a:path extrusionOk="0" h="466725" w="468064">
                  <a:moveTo>
                    <a:pt x="0" y="0"/>
                  </a:moveTo>
                  <a:lnTo>
                    <a:pt x="468064" y="0"/>
                  </a:lnTo>
                  <a:lnTo>
                    <a:pt x="468064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77941" r="-77931" t="0"/>
              </a:stretch>
            </a:blipFill>
            <a:ln>
              <a:noFill/>
            </a:ln>
          </p:spPr>
        </p:sp>
        <p:sp>
          <p:nvSpPr>
            <p:cNvPr id="556" name="Google Shape;556;p15"/>
            <p:cNvSpPr txBox="1"/>
            <p:nvPr/>
          </p:nvSpPr>
          <p:spPr>
            <a:xfrm>
              <a:off x="0" y="0"/>
              <a:ext cx="4680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 by </a:t>
              </a:r>
              <a:endParaRPr/>
            </a:p>
          </p:txBody>
        </p:sp>
      </p:grpSp>
      <p:grpSp>
        <p:nvGrpSpPr>
          <p:cNvPr id="557" name="Google Shape;557;p15"/>
          <p:cNvGrpSpPr/>
          <p:nvPr/>
        </p:nvGrpSpPr>
        <p:grpSpPr>
          <a:xfrm>
            <a:off x="10401300" y="3691757"/>
            <a:ext cx="5011425" cy="350100"/>
            <a:chOff x="0" y="0"/>
            <a:chExt cx="6681900" cy="466800"/>
          </a:xfrm>
        </p:grpSpPr>
        <p:sp>
          <p:nvSpPr>
            <p:cNvPr id="558" name="Google Shape;558;p15"/>
            <p:cNvSpPr/>
            <p:nvPr/>
          </p:nvSpPr>
          <p:spPr>
            <a:xfrm>
              <a:off x="0" y="0"/>
              <a:ext cx="6681787" cy="466725"/>
            </a:xfrm>
            <a:custGeom>
              <a:rect b="b" l="l" r="r" t="t"/>
              <a:pathLst>
                <a:path extrusionOk="0" h="466725" w="6681787">
                  <a:moveTo>
                    <a:pt x="0" y="0"/>
                  </a:moveTo>
                  <a:lnTo>
                    <a:pt x="6681787" y="0"/>
                  </a:lnTo>
                  <a:lnTo>
                    <a:pt x="6681787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28950" l="0" r="0" t="-228961"/>
              </a:stretch>
            </a:blipFill>
            <a:ln>
              <a:noFill/>
            </a:ln>
          </p:spPr>
        </p:sp>
        <p:sp>
          <p:nvSpPr>
            <p:cNvPr id="559" name="Google Shape;559;p15"/>
            <p:cNvSpPr txBox="1"/>
            <p:nvPr/>
          </p:nvSpPr>
          <p:spPr>
            <a:xfrm>
              <a:off x="0" y="0"/>
              <a:ext cx="66819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introducing a standardized protocol layer. </a:t>
              </a:r>
              <a:endParaRPr/>
            </a:p>
          </p:txBody>
        </p:sp>
      </p:grpSp>
      <p:grpSp>
        <p:nvGrpSpPr>
          <p:cNvPr id="560" name="Google Shape;560;p15"/>
          <p:cNvGrpSpPr/>
          <p:nvPr/>
        </p:nvGrpSpPr>
        <p:grpSpPr>
          <a:xfrm>
            <a:off x="10401300" y="4281116"/>
            <a:ext cx="1142775" cy="350100"/>
            <a:chOff x="0" y="0"/>
            <a:chExt cx="1523700" cy="466800"/>
          </a:xfrm>
        </p:grpSpPr>
        <p:sp>
          <p:nvSpPr>
            <p:cNvPr id="561" name="Google Shape;561;p15"/>
            <p:cNvSpPr/>
            <p:nvPr/>
          </p:nvSpPr>
          <p:spPr>
            <a:xfrm>
              <a:off x="0" y="0"/>
              <a:ext cx="1523555" cy="466725"/>
            </a:xfrm>
            <a:custGeom>
              <a:rect b="b" l="l" r="r" t="t"/>
              <a:pathLst>
                <a:path extrusionOk="0" h="466725" w="1523555">
                  <a:moveTo>
                    <a:pt x="0" y="0"/>
                  </a:moveTo>
                  <a:lnTo>
                    <a:pt x="1523555" y="0"/>
                  </a:lnTo>
                  <a:lnTo>
                    <a:pt x="1523555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600" l="0" r="0" t="-13610"/>
              </a:stretch>
            </a:blipFill>
            <a:ln>
              <a:noFill/>
            </a:ln>
          </p:spPr>
        </p:sp>
        <p:sp>
          <p:nvSpPr>
            <p:cNvPr id="562" name="Google Shape;562;p15"/>
            <p:cNvSpPr txBox="1"/>
            <p:nvPr/>
          </p:nvSpPr>
          <p:spPr>
            <a:xfrm>
              <a:off x="0" y="0"/>
              <a:ext cx="1523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E55A46"/>
                  </a:solidFill>
                  <a:latin typeface="Noto Sans"/>
                  <a:ea typeface="Noto Sans"/>
                  <a:cs typeface="Noto Sans"/>
                  <a:sym typeface="Noto Sans"/>
                </a:rPr>
                <a:t>Example:</a:t>
              </a:r>
              <a:endParaRPr/>
            </a:p>
          </p:txBody>
        </p:sp>
      </p:grpSp>
      <p:grpSp>
        <p:nvGrpSpPr>
          <p:cNvPr id="563" name="Google Shape;563;p15"/>
          <p:cNvGrpSpPr/>
          <p:nvPr/>
        </p:nvGrpSpPr>
        <p:grpSpPr>
          <a:xfrm>
            <a:off x="10401300" y="4699025"/>
            <a:ext cx="3536775" cy="350100"/>
            <a:chOff x="0" y="0"/>
            <a:chExt cx="4715700" cy="466800"/>
          </a:xfrm>
        </p:grpSpPr>
        <p:sp>
          <p:nvSpPr>
            <p:cNvPr id="564" name="Google Shape;564;p15"/>
            <p:cNvSpPr/>
            <p:nvPr/>
          </p:nvSpPr>
          <p:spPr>
            <a:xfrm>
              <a:off x="0" y="0"/>
              <a:ext cx="4715619" cy="466725"/>
            </a:xfrm>
            <a:custGeom>
              <a:rect b="b" l="l" r="r" t="t"/>
              <a:pathLst>
                <a:path extrusionOk="0" h="466725" w="4715619">
                  <a:moveTo>
                    <a:pt x="0" y="0"/>
                  </a:moveTo>
                  <a:lnTo>
                    <a:pt x="4715619" y="0"/>
                  </a:lnTo>
                  <a:lnTo>
                    <a:pt x="4715619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46862" l="0" r="0" t="-146870"/>
              </a:stretch>
            </a:blipFill>
            <a:ln>
              <a:noFill/>
            </a:ln>
          </p:spPr>
        </p:sp>
        <p:sp>
          <p:nvSpPr>
            <p:cNvPr id="565" name="Google Shape;565;p15"/>
            <p:cNvSpPr txBox="1"/>
            <p:nvPr/>
          </p:nvSpPr>
          <p:spPr>
            <a:xfrm>
              <a:off x="0" y="0"/>
              <a:ext cx="4715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 5 AI apps + 10 MCP servers = </a:t>
              </a:r>
              <a:endParaRPr/>
            </a:p>
          </p:txBody>
        </p:sp>
      </p:grpSp>
      <p:grpSp>
        <p:nvGrpSpPr>
          <p:cNvPr id="566" name="Google Shape;566;p15"/>
          <p:cNvGrpSpPr/>
          <p:nvPr/>
        </p:nvGrpSpPr>
        <p:grpSpPr>
          <a:xfrm>
            <a:off x="13938018" y="4699025"/>
            <a:ext cx="1947900" cy="350100"/>
            <a:chOff x="0" y="0"/>
            <a:chExt cx="2597200" cy="466800"/>
          </a:xfrm>
        </p:grpSpPr>
        <p:sp>
          <p:nvSpPr>
            <p:cNvPr id="567" name="Google Shape;567;p15"/>
            <p:cNvSpPr/>
            <p:nvPr/>
          </p:nvSpPr>
          <p:spPr>
            <a:xfrm>
              <a:off x="0" y="0"/>
              <a:ext cx="2597200" cy="466725"/>
            </a:xfrm>
            <a:custGeom>
              <a:rect b="b" l="l" r="r" t="t"/>
              <a:pathLst>
                <a:path extrusionOk="0" h="466725" w="2597200">
                  <a:moveTo>
                    <a:pt x="0" y="0"/>
                  </a:moveTo>
                  <a:lnTo>
                    <a:pt x="2597200" y="0"/>
                  </a:lnTo>
                  <a:lnTo>
                    <a:pt x="2597200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8432" l="0" r="0" t="-58432"/>
              </a:stretch>
            </a:blipFill>
            <a:ln>
              <a:noFill/>
            </a:ln>
          </p:spPr>
        </p:sp>
        <p:sp>
          <p:nvSpPr>
            <p:cNvPr id="568" name="Google Shape;568;p15"/>
            <p:cNvSpPr txBox="1"/>
            <p:nvPr/>
          </p:nvSpPr>
          <p:spPr>
            <a:xfrm>
              <a:off x="0" y="0"/>
              <a:ext cx="25971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15 integrations</a:t>
              </a:r>
              <a:endParaRPr/>
            </a:p>
          </p:txBody>
        </p:sp>
      </p:grpSp>
      <p:sp>
        <p:nvSpPr>
          <p:cNvPr id="569" name="Google Shape;569;p15"/>
          <p:cNvSpPr/>
          <p:nvPr/>
        </p:nvSpPr>
        <p:spPr>
          <a:xfrm>
            <a:off x="9944100" y="5884888"/>
            <a:ext cx="7543800" cy="3579019"/>
          </a:xfrm>
          <a:custGeom>
            <a:rect b="b" l="l" r="r" t="t"/>
            <a:pathLst>
              <a:path extrusionOk="0" h="4772025" w="10058400">
                <a:moveTo>
                  <a:pt x="0" y="0"/>
                </a:moveTo>
                <a:lnTo>
                  <a:pt x="10058400" y="0"/>
                </a:lnTo>
                <a:lnTo>
                  <a:pt x="10058400" y="4772025"/>
                </a:lnTo>
                <a:lnTo>
                  <a:pt x="0" y="4772025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570" name="Google Shape;570;p15"/>
          <p:cNvGrpSpPr/>
          <p:nvPr/>
        </p:nvGrpSpPr>
        <p:grpSpPr>
          <a:xfrm>
            <a:off x="10401300" y="6334944"/>
            <a:ext cx="6629400" cy="521550"/>
            <a:chOff x="0" y="-9525"/>
            <a:chExt cx="8839200" cy="695400"/>
          </a:xfrm>
        </p:grpSpPr>
        <p:sp>
          <p:nvSpPr>
            <p:cNvPr id="571" name="Google Shape;571;p15"/>
            <p:cNvSpPr/>
            <p:nvPr/>
          </p:nvSpPr>
          <p:spPr>
            <a:xfrm>
              <a:off x="0" y="0"/>
              <a:ext cx="8839200" cy="685800"/>
            </a:xfrm>
            <a:custGeom>
              <a:rect b="b" l="l" r="r" t="t"/>
              <a:pathLst>
                <a:path extrusionOk="0" h="6858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685800"/>
                  </a:lnTo>
                  <a:lnTo>
                    <a:pt x="0" y="6858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01130" l="0" r="0" t="-201130"/>
              </a:stretch>
            </a:blipFill>
            <a:ln>
              <a:noFill/>
            </a:ln>
          </p:spPr>
        </p:sp>
        <p:sp>
          <p:nvSpPr>
            <p:cNvPr id="572" name="Google Shape;572;p15"/>
            <p:cNvSpPr txBox="1"/>
            <p:nvPr/>
          </p:nvSpPr>
          <p:spPr>
            <a:xfrm>
              <a:off x="0" y="-9525"/>
              <a:ext cx="8839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Key Benefits</a:t>
              </a:r>
              <a:endParaRPr/>
            </a:p>
          </p:txBody>
        </p:sp>
      </p:grpSp>
      <p:grpSp>
        <p:nvGrpSpPr>
          <p:cNvPr id="573" name="Google Shape;573;p15"/>
          <p:cNvGrpSpPr/>
          <p:nvPr/>
        </p:nvGrpSpPr>
        <p:grpSpPr>
          <a:xfrm>
            <a:off x="10401300" y="7113613"/>
            <a:ext cx="154575" cy="332184"/>
            <a:chOff x="0" y="0"/>
            <a:chExt cx="206100" cy="442912"/>
          </a:xfrm>
        </p:grpSpPr>
        <p:sp>
          <p:nvSpPr>
            <p:cNvPr id="574" name="Google Shape;574;p15"/>
            <p:cNvSpPr/>
            <p:nvPr/>
          </p:nvSpPr>
          <p:spPr>
            <a:xfrm>
              <a:off x="0" y="0"/>
              <a:ext cx="205979" cy="442912"/>
            </a:xfrm>
            <a:custGeom>
              <a:rect b="b" l="l" r="r" t="t"/>
              <a:pathLst>
                <a:path extrusionOk="0" h="442912" w="205979">
                  <a:moveTo>
                    <a:pt x="0" y="0"/>
                  </a:moveTo>
                  <a:lnTo>
                    <a:pt x="205979" y="0"/>
                  </a:lnTo>
                  <a:lnTo>
                    <a:pt x="205979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25883" r="-225872" t="0"/>
              </a:stretch>
            </a:blipFill>
            <a:ln>
              <a:noFill/>
            </a:ln>
          </p:spPr>
        </p:sp>
        <p:sp>
          <p:nvSpPr>
            <p:cNvPr id="575" name="Google Shape;575;p15"/>
            <p:cNvSpPr txBox="1"/>
            <p:nvPr/>
          </p:nvSpPr>
          <p:spPr>
            <a:xfrm>
              <a:off x="0" y="0"/>
              <a:ext cx="206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• </a:t>
              </a:r>
              <a:endParaRPr/>
            </a:p>
          </p:txBody>
        </p:sp>
      </p:grpSp>
      <p:grpSp>
        <p:nvGrpSpPr>
          <p:cNvPr id="576" name="Google Shape;576;p15"/>
          <p:cNvGrpSpPr/>
          <p:nvPr/>
        </p:nvGrpSpPr>
        <p:grpSpPr>
          <a:xfrm>
            <a:off x="10555786" y="7113613"/>
            <a:ext cx="1736434" cy="332184"/>
            <a:chOff x="0" y="0"/>
            <a:chExt cx="2315245" cy="442912"/>
          </a:xfrm>
        </p:grpSpPr>
        <p:sp>
          <p:nvSpPr>
            <p:cNvPr id="577" name="Google Shape;577;p15"/>
            <p:cNvSpPr/>
            <p:nvPr/>
          </p:nvSpPr>
          <p:spPr>
            <a:xfrm>
              <a:off x="0" y="0"/>
              <a:ext cx="2315245" cy="442912"/>
            </a:xfrm>
            <a:custGeom>
              <a:rect b="b" l="l" r="r" t="t"/>
              <a:pathLst>
                <a:path extrusionOk="0" h="442912" w="2315245">
                  <a:moveTo>
                    <a:pt x="0" y="0"/>
                  </a:moveTo>
                  <a:lnTo>
                    <a:pt x="2315245" y="0"/>
                  </a:lnTo>
                  <a:lnTo>
                    <a:pt x="2315245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1861" l="0" r="0" t="-51851"/>
              </a:stretch>
            </a:blipFill>
            <a:ln>
              <a:noFill/>
            </a:ln>
          </p:spPr>
        </p:sp>
        <p:sp>
          <p:nvSpPr>
            <p:cNvPr id="578" name="Google Shape;578;p15"/>
            <p:cNvSpPr txBox="1"/>
            <p:nvPr/>
          </p:nvSpPr>
          <p:spPr>
            <a:xfrm>
              <a:off x="0" y="0"/>
              <a:ext cx="2315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67% reduction</a:t>
              </a:r>
              <a:endParaRPr/>
            </a:p>
          </p:txBody>
        </p:sp>
      </p:grpSp>
      <p:grpSp>
        <p:nvGrpSpPr>
          <p:cNvPr id="579" name="Google Shape;579;p15"/>
          <p:cNvGrpSpPr/>
          <p:nvPr/>
        </p:nvGrpSpPr>
        <p:grpSpPr>
          <a:xfrm>
            <a:off x="12292222" y="7113613"/>
            <a:ext cx="3441000" cy="332184"/>
            <a:chOff x="0" y="0"/>
            <a:chExt cx="4588000" cy="442912"/>
          </a:xfrm>
        </p:grpSpPr>
        <p:sp>
          <p:nvSpPr>
            <p:cNvPr id="580" name="Google Shape;580;p15"/>
            <p:cNvSpPr/>
            <p:nvPr/>
          </p:nvSpPr>
          <p:spPr>
            <a:xfrm>
              <a:off x="0" y="0"/>
              <a:ext cx="4588000" cy="442912"/>
            </a:xfrm>
            <a:custGeom>
              <a:rect b="b" l="l" r="r" t="t"/>
              <a:pathLst>
                <a:path extrusionOk="0" h="442912" w="4588000">
                  <a:moveTo>
                    <a:pt x="0" y="0"/>
                  </a:moveTo>
                  <a:lnTo>
                    <a:pt x="4588000" y="0"/>
                  </a:lnTo>
                  <a:lnTo>
                    <a:pt x="4588000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51841" l="0" r="0" t="-151841"/>
              </a:stretch>
            </a:blipFill>
            <a:ln>
              <a:noFill/>
            </a:ln>
          </p:spPr>
        </p:sp>
        <p:sp>
          <p:nvSpPr>
            <p:cNvPr id="581" name="Google Shape;581;p15"/>
            <p:cNvSpPr txBox="1"/>
            <p:nvPr/>
          </p:nvSpPr>
          <p:spPr>
            <a:xfrm>
              <a:off x="0" y="0"/>
              <a:ext cx="45879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in integration effort (50 → 15)</a:t>
              </a:r>
              <a:endParaRPr/>
            </a:p>
          </p:txBody>
        </p:sp>
      </p:grpSp>
      <p:grpSp>
        <p:nvGrpSpPr>
          <p:cNvPr id="582" name="Google Shape;582;p15"/>
          <p:cNvGrpSpPr/>
          <p:nvPr/>
        </p:nvGrpSpPr>
        <p:grpSpPr>
          <a:xfrm>
            <a:off x="10401300" y="7622600"/>
            <a:ext cx="154575" cy="332184"/>
            <a:chOff x="0" y="0"/>
            <a:chExt cx="206100" cy="442912"/>
          </a:xfrm>
        </p:grpSpPr>
        <p:sp>
          <p:nvSpPr>
            <p:cNvPr id="583" name="Google Shape;583;p15"/>
            <p:cNvSpPr/>
            <p:nvPr/>
          </p:nvSpPr>
          <p:spPr>
            <a:xfrm>
              <a:off x="0" y="0"/>
              <a:ext cx="205979" cy="442912"/>
            </a:xfrm>
            <a:custGeom>
              <a:rect b="b" l="l" r="r" t="t"/>
              <a:pathLst>
                <a:path extrusionOk="0" h="442912" w="205979">
                  <a:moveTo>
                    <a:pt x="0" y="0"/>
                  </a:moveTo>
                  <a:lnTo>
                    <a:pt x="205979" y="0"/>
                  </a:lnTo>
                  <a:lnTo>
                    <a:pt x="205979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25883" r="-225872" t="0"/>
              </a:stretch>
            </a:blipFill>
            <a:ln>
              <a:noFill/>
            </a:ln>
          </p:spPr>
        </p:sp>
        <p:sp>
          <p:nvSpPr>
            <p:cNvPr id="584" name="Google Shape;584;p15"/>
            <p:cNvSpPr txBox="1"/>
            <p:nvPr/>
          </p:nvSpPr>
          <p:spPr>
            <a:xfrm>
              <a:off x="0" y="0"/>
              <a:ext cx="206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• </a:t>
              </a:r>
              <a:endParaRPr/>
            </a:p>
          </p:txBody>
        </p:sp>
      </p:grpSp>
      <p:grpSp>
        <p:nvGrpSpPr>
          <p:cNvPr id="585" name="Google Shape;585;p15"/>
          <p:cNvGrpSpPr/>
          <p:nvPr/>
        </p:nvGrpSpPr>
        <p:grpSpPr>
          <a:xfrm>
            <a:off x="10555786" y="7622600"/>
            <a:ext cx="2760750" cy="332184"/>
            <a:chOff x="0" y="0"/>
            <a:chExt cx="3681000" cy="442912"/>
          </a:xfrm>
        </p:grpSpPr>
        <p:sp>
          <p:nvSpPr>
            <p:cNvPr id="586" name="Google Shape;586;p15"/>
            <p:cNvSpPr/>
            <p:nvPr/>
          </p:nvSpPr>
          <p:spPr>
            <a:xfrm>
              <a:off x="0" y="0"/>
              <a:ext cx="3680891" cy="442912"/>
            </a:xfrm>
            <a:custGeom>
              <a:rect b="b" l="l" r="r" t="t"/>
              <a:pathLst>
                <a:path extrusionOk="0" h="442912" w="3680891">
                  <a:moveTo>
                    <a:pt x="0" y="0"/>
                  </a:moveTo>
                  <a:lnTo>
                    <a:pt x="3680891" y="0"/>
                  </a:lnTo>
                  <a:lnTo>
                    <a:pt x="3680891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1938" l="0" r="0" t="-111938"/>
              </a:stretch>
            </a:blipFill>
            <a:ln>
              <a:noFill/>
            </a:ln>
          </p:spPr>
        </p:sp>
        <p:sp>
          <p:nvSpPr>
            <p:cNvPr id="587" name="Google Shape;587;p15"/>
            <p:cNvSpPr txBox="1"/>
            <p:nvPr/>
          </p:nvSpPr>
          <p:spPr>
            <a:xfrm>
              <a:off x="0" y="0"/>
              <a:ext cx="36810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Unified authentication</a:t>
              </a:r>
              <a:endParaRPr/>
            </a:p>
          </p:txBody>
        </p:sp>
      </p:grpSp>
      <p:grpSp>
        <p:nvGrpSpPr>
          <p:cNvPr id="588" name="Google Shape;588;p15"/>
          <p:cNvGrpSpPr/>
          <p:nvPr/>
        </p:nvGrpSpPr>
        <p:grpSpPr>
          <a:xfrm>
            <a:off x="13316455" y="7622600"/>
            <a:ext cx="2215902" cy="332184"/>
            <a:chOff x="0" y="0"/>
            <a:chExt cx="2954536" cy="442912"/>
          </a:xfrm>
        </p:grpSpPr>
        <p:sp>
          <p:nvSpPr>
            <p:cNvPr id="589" name="Google Shape;589;p15"/>
            <p:cNvSpPr/>
            <p:nvPr/>
          </p:nvSpPr>
          <p:spPr>
            <a:xfrm>
              <a:off x="0" y="0"/>
              <a:ext cx="2954536" cy="442912"/>
            </a:xfrm>
            <a:custGeom>
              <a:rect b="b" l="l" r="r" t="t"/>
              <a:pathLst>
                <a:path extrusionOk="0" h="442912" w="2954536">
                  <a:moveTo>
                    <a:pt x="0" y="0"/>
                  </a:moveTo>
                  <a:lnTo>
                    <a:pt x="2954536" y="0"/>
                  </a:lnTo>
                  <a:lnTo>
                    <a:pt x="2954536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79978" l="0" r="0" t="-79978"/>
              </a:stretch>
            </a:blipFill>
            <a:ln>
              <a:noFill/>
            </a:ln>
          </p:spPr>
        </p:sp>
        <p:sp>
          <p:nvSpPr>
            <p:cNvPr id="590" name="Google Shape;590;p15"/>
            <p:cNvSpPr txBox="1"/>
            <p:nvPr/>
          </p:nvSpPr>
          <p:spPr>
            <a:xfrm>
              <a:off x="0" y="0"/>
              <a:ext cx="29544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and error handling</a:t>
              </a:r>
              <a:endParaRPr/>
            </a:p>
          </p:txBody>
        </p:sp>
      </p:grpSp>
      <p:grpSp>
        <p:nvGrpSpPr>
          <p:cNvPr id="591" name="Google Shape;591;p15"/>
          <p:cNvGrpSpPr/>
          <p:nvPr/>
        </p:nvGrpSpPr>
        <p:grpSpPr>
          <a:xfrm>
            <a:off x="10401300" y="8131597"/>
            <a:ext cx="154575" cy="332184"/>
            <a:chOff x="0" y="0"/>
            <a:chExt cx="206100" cy="442912"/>
          </a:xfrm>
        </p:grpSpPr>
        <p:sp>
          <p:nvSpPr>
            <p:cNvPr id="592" name="Google Shape;592;p15"/>
            <p:cNvSpPr/>
            <p:nvPr/>
          </p:nvSpPr>
          <p:spPr>
            <a:xfrm>
              <a:off x="0" y="0"/>
              <a:ext cx="205979" cy="442912"/>
            </a:xfrm>
            <a:custGeom>
              <a:rect b="b" l="l" r="r" t="t"/>
              <a:pathLst>
                <a:path extrusionOk="0" h="442912" w="205979">
                  <a:moveTo>
                    <a:pt x="0" y="0"/>
                  </a:moveTo>
                  <a:lnTo>
                    <a:pt x="205979" y="0"/>
                  </a:lnTo>
                  <a:lnTo>
                    <a:pt x="205979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25883" r="-225872" t="0"/>
              </a:stretch>
            </a:blipFill>
            <a:ln>
              <a:noFill/>
            </a:ln>
          </p:spPr>
        </p:sp>
        <p:sp>
          <p:nvSpPr>
            <p:cNvPr id="593" name="Google Shape;593;p15"/>
            <p:cNvSpPr txBox="1"/>
            <p:nvPr/>
          </p:nvSpPr>
          <p:spPr>
            <a:xfrm>
              <a:off x="0" y="0"/>
              <a:ext cx="206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• </a:t>
              </a:r>
              <a:endParaRPr/>
            </a:p>
          </p:txBody>
        </p:sp>
      </p:grpSp>
      <p:grpSp>
        <p:nvGrpSpPr>
          <p:cNvPr id="594" name="Google Shape;594;p15"/>
          <p:cNvGrpSpPr/>
          <p:nvPr/>
        </p:nvGrpSpPr>
        <p:grpSpPr>
          <a:xfrm>
            <a:off x="10555786" y="8131597"/>
            <a:ext cx="2880941" cy="332184"/>
            <a:chOff x="0" y="0"/>
            <a:chExt cx="3841254" cy="442912"/>
          </a:xfrm>
        </p:grpSpPr>
        <p:sp>
          <p:nvSpPr>
            <p:cNvPr id="595" name="Google Shape;595;p15"/>
            <p:cNvSpPr/>
            <p:nvPr/>
          </p:nvSpPr>
          <p:spPr>
            <a:xfrm>
              <a:off x="0" y="0"/>
              <a:ext cx="3841254" cy="442912"/>
            </a:xfrm>
            <a:custGeom>
              <a:rect b="b" l="l" r="r" t="t"/>
              <a:pathLst>
                <a:path extrusionOk="0" h="442912" w="3841254">
                  <a:moveTo>
                    <a:pt x="0" y="0"/>
                  </a:moveTo>
                  <a:lnTo>
                    <a:pt x="3841254" y="0"/>
                  </a:lnTo>
                  <a:lnTo>
                    <a:pt x="3841254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8977" l="0" r="0" t="-118987"/>
              </a:stretch>
            </a:blipFill>
            <a:ln>
              <a:noFill/>
            </a:ln>
          </p:spPr>
        </p:sp>
        <p:sp>
          <p:nvSpPr>
            <p:cNvPr id="596" name="Google Shape;596;p15"/>
            <p:cNvSpPr txBox="1"/>
            <p:nvPr/>
          </p:nvSpPr>
          <p:spPr>
            <a:xfrm>
              <a:off x="0" y="0"/>
              <a:ext cx="38412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Standardized interfaces</a:t>
              </a:r>
              <a:endParaRPr/>
            </a:p>
          </p:txBody>
        </p:sp>
      </p:grpSp>
      <p:grpSp>
        <p:nvGrpSpPr>
          <p:cNvPr id="597" name="Google Shape;597;p15"/>
          <p:cNvGrpSpPr/>
          <p:nvPr/>
        </p:nvGrpSpPr>
        <p:grpSpPr>
          <a:xfrm>
            <a:off x="13436727" y="8131597"/>
            <a:ext cx="1739700" cy="332184"/>
            <a:chOff x="0" y="0"/>
            <a:chExt cx="2319600" cy="442912"/>
          </a:xfrm>
        </p:grpSpPr>
        <p:sp>
          <p:nvSpPr>
            <p:cNvPr id="598" name="Google Shape;598;p15"/>
            <p:cNvSpPr/>
            <p:nvPr/>
          </p:nvSpPr>
          <p:spPr>
            <a:xfrm>
              <a:off x="0" y="0"/>
              <a:ext cx="2319485" cy="442912"/>
            </a:xfrm>
            <a:custGeom>
              <a:rect b="b" l="l" r="r" t="t"/>
              <a:pathLst>
                <a:path extrusionOk="0" h="442912" w="2319485">
                  <a:moveTo>
                    <a:pt x="0" y="0"/>
                  </a:moveTo>
                  <a:lnTo>
                    <a:pt x="2319485" y="0"/>
                  </a:lnTo>
                  <a:lnTo>
                    <a:pt x="2319485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2041" l="0" r="0" t="-52041"/>
              </a:stretch>
            </a:blipFill>
            <a:ln>
              <a:noFill/>
            </a:ln>
          </p:spPr>
        </p:sp>
        <p:sp>
          <p:nvSpPr>
            <p:cNvPr id="599" name="Google Shape;599;p15"/>
            <p:cNvSpPr txBox="1"/>
            <p:nvPr/>
          </p:nvSpPr>
          <p:spPr>
            <a:xfrm>
              <a:off x="0" y="0"/>
              <a:ext cx="23196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across all tools</a:t>
              </a:r>
              <a:endParaRPr/>
            </a:p>
          </p:txBody>
        </p:sp>
      </p:grpSp>
      <p:grpSp>
        <p:nvGrpSpPr>
          <p:cNvPr id="600" name="Google Shape;600;p15"/>
          <p:cNvGrpSpPr/>
          <p:nvPr/>
        </p:nvGrpSpPr>
        <p:grpSpPr>
          <a:xfrm>
            <a:off x="10401300" y="8640585"/>
            <a:ext cx="154575" cy="332184"/>
            <a:chOff x="0" y="0"/>
            <a:chExt cx="206100" cy="442912"/>
          </a:xfrm>
        </p:grpSpPr>
        <p:sp>
          <p:nvSpPr>
            <p:cNvPr id="601" name="Google Shape;601;p15"/>
            <p:cNvSpPr/>
            <p:nvPr/>
          </p:nvSpPr>
          <p:spPr>
            <a:xfrm>
              <a:off x="0" y="0"/>
              <a:ext cx="205979" cy="442912"/>
            </a:xfrm>
            <a:custGeom>
              <a:rect b="b" l="l" r="r" t="t"/>
              <a:pathLst>
                <a:path extrusionOk="0" h="442912" w="205979">
                  <a:moveTo>
                    <a:pt x="0" y="0"/>
                  </a:moveTo>
                  <a:lnTo>
                    <a:pt x="205979" y="0"/>
                  </a:lnTo>
                  <a:lnTo>
                    <a:pt x="205979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25883" r="-225872" t="0"/>
              </a:stretch>
            </a:blipFill>
            <a:ln>
              <a:noFill/>
            </a:ln>
          </p:spPr>
        </p:sp>
        <p:sp>
          <p:nvSpPr>
            <p:cNvPr id="602" name="Google Shape;602;p15"/>
            <p:cNvSpPr txBox="1"/>
            <p:nvPr/>
          </p:nvSpPr>
          <p:spPr>
            <a:xfrm>
              <a:off x="0" y="0"/>
              <a:ext cx="206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• </a:t>
              </a:r>
              <a:endParaRPr/>
            </a:p>
          </p:txBody>
        </p:sp>
      </p:grpSp>
      <p:grpSp>
        <p:nvGrpSpPr>
          <p:cNvPr id="603" name="Google Shape;603;p15"/>
          <p:cNvGrpSpPr/>
          <p:nvPr/>
        </p:nvGrpSpPr>
        <p:grpSpPr>
          <a:xfrm>
            <a:off x="10555786" y="8640585"/>
            <a:ext cx="2273944" cy="332184"/>
            <a:chOff x="0" y="0"/>
            <a:chExt cx="3031925" cy="442912"/>
          </a:xfrm>
        </p:grpSpPr>
        <p:sp>
          <p:nvSpPr>
            <p:cNvPr id="604" name="Google Shape;604;p15"/>
            <p:cNvSpPr/>
            <p:nvPr/>
          </p:nvSpPr>
          <p:spPr>
            <a:xfrm>
              <a:off x="0" y="0"/>
              <a:ext cx="3031925" cy="442912"/>
            </a:xfrm>
            <a:custGeom>
              <a:rect b="b" l="l" r="r" t="t"/>
              <a:pathLst>
                <a:path extrusionOk="0" h="442912" w="3031925">
                  <a:moveTo>
                    <a:pt x="0" y="0"/>
                  </a:moveTo>
                  <a:lnTo>
                    <a:pt x="3031925" y="0"/>
                  </a:lnTo>
                  <a:lnTo>
                    <a:pt x="3031925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83388" l="0" r="0" t="-83378"/>
              </a:stretch>
            </a:blipFill>
            <a:ln>
              <a:noFill/>
            </a:ln>
          </p:spPr>
        </p:sp>
        <p:sp>
          <p:nvSpPr>
            <p:cNvPr id="605" name="Google Shape;605;p15"/>
            <p:cNvSpPr txBox="1"/>
            <p:nvPr/>
          </p:nvSpPr>
          <p:spPr>
            <a:xfrm>
              <a:off x="0" y="0"/>
              <a:ext cx="30318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Dynamic discovery</a:t>
              </a:r>
              <a:endParaRPr/>
            </a:p>
          </p:txBody>
        </p:sp>
      </p:grpSp>
      <p:grpSp>
        <p:nvGrpSpPr>
          <p:cNvPr id="606" name="Google Shape;606;p15"/>
          <p:cNvGrpSpPr/>
          <p:nvPr/>
        </p:nvGrpSpPr>
        <p:grpSpPr>
          <a:xfrm>
            <a:off x="12829727" y="8640585"/>
            <a:ext cx="2172648" cy="332184"/>
            <a:chOff x="0" y="0"/>
            <a:chExt cx="2896864" cy="442912"/>
          </a:xfrm>
        </p:grpSpPr>
        <p:sp>
          <p:nvSpPr>
            <p:cNvPr id="607" name="Google Shape;607;p15"/>
            <p:cNvSpPr/>
            <p:nvPr/>
          </p:nvSpPr>
          <p:spPr>
            <a:xfrm>
              <a:off x="0" y="0"/>
              <a:ext cx="2896864" cy="442912"/>
            </a:xfrm>
            <a:custGeom>
              <a:rect b="b" l="l" r="r" t="t"/>
              <a:pathLst>
                <a:path extrusionOk="0" h="442912" w="2896864">
                  <a:moveTo>
                    <a:pt x="0" y="0"/>
                  </a:moveTo>
                  <a:lnTo>
                    <a:pt x="2896864" y="0"/>
                  </a:lnTo>
                  <a:lnTo>
                    <a:pt x="2896864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77440" l="0" r="0" t="-77440"/>
              </a:stretch>
            </a:blipFill>
            <a:ln>
              <a:noFill/>
            </a:ln>
          </p:spPr>
        </p:sp>
        <p:sp>
          <p:nvSpPr>
            <p:cNvPr id="608" name="Google Shape;608;p15"/>
            <p:cNvSpPr txBox="1"/>
            <p:nvPr/>
          </p:nvSpPr>
          <p:spPr>
            <a:xfrm>
              <a:off x="0" y="0"/>
              <a:ext cx="28968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of new capabilities</a:t>
              </a:r>
              <a:endParaRPr/>
            </a:p>
          </p:txBody>
        </p:sp>
      </p:grpSp>
      <p:grpSp>
        <p:nvGrpSpPr>
          <p:cNvPr id="609" name="Google Shape;609;p15"/>
          <p:cNvGrpSpPr/>
          <p:nvPr/>
        </p:nvGrpSpPr>
        <p:grpSpPr>
          <a:xfrm>
            <a:off x="13902080" y="9458325"/>
            <a:ext cx="4389389" cy="829330"/>
            <a:chOff x="0" y="0"/>
            <a:chExt cx="5852519" cy="1105774"/>
          </a:xfrm>
        </p:grpSpPr>
        <p:sp>
          <p:nvSpPr>
            <p:cNvPr id="610" name="Google Shape;610;p15"/>
            <p:cNvSpPr/>
            <p:nvPr/>
          </p:nvSpPr>
          <p:spPr>
            <a:xfrm>
              <a:off x="0" y="0"/>
              <a:ext cx="5852519" cy="1105774"/>
            </a:xfrm>
            <a:custGeom>
              <a:rect b="b" l="l" r="r" t="t"/>
              <a:pathLst>
                <a:path extrusionOk="0" h="110854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108545"/>
                  </a:lnTo>
                  <a:lnTo>
                    <a:pt x="0" y="11085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611" name="Google Shape;611;p15"/>
            <p:cNvSpPr/>
            <p:nvPr/>
          </p:nvSpPr>
          <p:spPr>
            <a:xfrm>
              <a:off x="304849" y="172505"/>
              <a:ext cx="5238169" cy="759891"/>
            </a:xfrm>
            <a:custGeom>
              <a:rect b="b" l="l" r="r" t="t"/>
              <a:pathLst>
                <a:path extrusionOk="0" h="759891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759891"/>
                  </a:lnTo>
                  <a:lnTo>
                    <a:pt x="0" y="7598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9609" l="0" r="0" t="-960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g3fbf35cb889_9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"/>
          <p:cNvSpPr/>
          <p:nvPr/>
        </p:nvSpPr>
        <p:spPr>
          <a:xfrm>
            <a:off x="0" y="1323365"/>
            <a:ext cx="7684865" cy="7905369"/>
          </a:xfrm>
          <a:custGeom>
            <a:rect b="b" l="l" r="r" t="t"/>
            <a:pathLst>
              <a:path extrusionOk="0" h="10540492" w="10246487">
                <a:moveTo>
                  <a:pt x="0" y="0"/>
                </a:moveTo>
                <a:lnTo>
                  <a:pt x="10246487" y="0"/>
                </a:lnTo>
                <a:lnTo>
                  <a:pt x="10246487" y="10540492"/>
                </a:lnTo>
                <a:lnTo>
                  <a:pt x="0" y="10540492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622" name="Google Shape;622;p17"/>
          <p:cNvGrpSpPr/>
          <p:nvPr/>
        </p:nvGrpSpPr>
        <p:grpSpPr>
          <a:xfrm>
            <a:off x="571500" y="4156243"/>
            <a:ext cx="2590453" cy="778935"/>
            <a:chOff x="0" y="0"/>
            <a:chExt cx="3453936" cy="1038581"/>
          </a:xfrm>
        </p:grpSpPr>
        <p:sp>
          <p:nvSpPr>
            <p:cNvPr id="623" name="Google Shape;623;p17"/>
            <p:cNvSpPr/>
            <p:nvPr/>
          </p:nvSpPr>
          <p:spPr>
            <a:xfrm>
              <a:off x="0" y="0"/>
              <a:ext cx="3453936" cy="1038576"/>
            </a:xfrm>
            <a:custGeom>
              <a:rect b="b" l="l" r="r" t="t"/>
              <a:pathLst>
                <a:path extrusionOk="0" h="1038576" w="3453936">
                  <a:moveTo>
                    <a:pt x="0" y="0"/>
                  </a:moveTo>
                  <a:lnTo>
                    <a:pt x="3453936" y="0"/>
                  </a:lnTo>
                  <a:lnTo>
                    <a:pt x="3453936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00" l="0" r="0" t="-14800"/>
              </a:stretch>
            </a:blipFill>
            <a:ln>
              <a:noFill/>
            </a:ln>
          </p:spPr>
        </p:sp>
        <p:sp>
          <p:nvSpPr>
            <p:cNvPr id="624" name="Google Shape;624;p17"/>
            <p:cNvSpPr txBox="1"/>
            <p:nvPr/>
          </p:nvSpPr>
          <p:spPr>
            <a:xfrm>
              <a:off x="0" y="0"/>
              <a:ext cx="3453930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What is </a:t>
              </a:r>
              <a:endParaRPr/>
            </a:p>
          </p:txBody>
        </p:sp>
      </p:grpSp>
      <p:grpSp>
        <p:nvGrpSpPr>
          <p:cNvPr id="625" name="Google Shape;625;p17"/>
          <p:cNvGrpSpPr/>
          <p:nvPr/>
        </p:nvGrpSpPr>
        <p:grpSpPr>
          <a:xfrm>
            <a:off x="2967780" y="4048410"/>
            <a:ext cx="2176882" cy="994602"/>
            <a:chOff x="0" y="0"/>
            <a:chExt cx="2902509" cy="1326136"/>
          </a:xfrm>
        </p:grpSpPr>
        <p:sp>
          <p:nvSpPr>
            <p:cNvPr id="626" name="Google Shape;626;p17"/>
            <p:cNvSpPr/>
            <p:nvPr/>
          </p:nvSpPr>
          <p:spPr>
            <a:xfrm>
              <a:off x="0" y="0"/>
              <a:ext cx="2902504" cy="1326131"/>
            </a:xfrm>
            <a:custGeom>
              <a:rect b="b" l="l" r="r" t="t"/>
              <a:pathLst>
                <a:path extrusionOk="0" h="1326131" w="2902504">
                  <a:moveTo>
                    <a:pt x="0" y="0"/>
                  </a:moveTo>
                  <a:lnTo>
                    <a:pt x="2902504" y="0"/>
                  </a:lnTo>
                  <a:lnTo>
                    <a:pt x="2902504" y="1326131"/>
                  </a:lnTo>
                  <a:lnTo>
                    <a:pt x="0" y="1326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18194" l="0" r="0" t="-3488"/>
              </a:stretch>
            </a:blipFill>
            <a:ln>
              <a:noFill/>
            </a:ln>
          </p:spPr>
        </p:sp>
        <p:sp>
          <p:nvSpPr>
            <p:cNvPr id="627" name="Google Shape;627;p17"/>
            <p:cNvSpPr txBox="1"/>
            <p:nvPr/>
          </p:nvSpPr>
          <p:spPr>
            <a:xfrm>
              <a:off x="0" y="0"/>
              <a:ext cx="2902509" cy="1326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 Model </a:t>
              </a:r>
              <a:endParaRPr/>
            </a:p>
          </p:txBody>
        </p:sp>
      </p:grpSp>
      <p:grpSp>
        <p:nvGrpSpPr>
          <p:cNvPr id="628" name="Google Shape;628;p17"/>
          <p:cNvGrpSpPr/>
          <p:nvPr/>
        </p:nvGrpSpPr>
        <p:grpSpPr>
          <a:xfrm>
            <a:off x="571500" y="4959915"/>
            <a:ext cx="5453416" cy="778935"/>
            <a:chOff x="0" y="0"/>
            <a:chExt cx="7271221" cy="1038581"/>
          </a:xfrm>
        </p:grpSpPr>
        <p:sp>
          <p:nvSpPr>
            <p:cNvPr id="629" name="Google Shape;629;p17"/>
            <p:cNvSpPr/>
            <p:nvPr/>
          </p:nvSpPr>
          <p:spPr>
            <a:xfrm>
              <a:off x="0" y="0"/>
              <a:ext cx="7271221" cy="1038576"/>
            </a:xfrm>
            <a:custGeom>
              <a:rect b="b" l="l" r="r" t="t"/>
              <a:pathLst>
                <a:path extrusionOk="0" h="1038576" w="7271221">
                  <a:moveTo>
                    <a:pt x="0" y="0"/>
                  </a:moveTo>
                  <a:lnTo>
                    <a:pt x="7271221" y="0"/>
                  </a:lnTo>
                  <a:lnTo>
                    <a:pt x="7271221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418" l="0" r="0" t="-86418"/>
              </a:stretch>
            </a:blipFill>
            <a:ln>
              <a:noFill/>
            </a:ln>
          </p:spPr>
        </p:sp>
        <p:sp>
          <p:nvSpPr>
            <p:cNvPr id="630" name="Google Shape;630;p17"/>
            <p:cNvSpPr txBox="1"/>
            <p:nvPr/>
          </p:nvSpPr>
          <p:spPr>
            <a:xfrm>
              <a:off x="0" y="0"/>
              <a:ext cx="7271220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Context Protocol</a:t>
              </a:r>
              <a:endParaRPr/>
            </a:p>
          </p:txBody>
        </p:sp>
      </p:grpSp>
      <p:grpSp>
        <p:nvGrpSpPr>
          <p:cNvPr id="631" name="Google Shape;631;p17"/>
          <p:cNvGrpSpPr/>
          <p:nvPr/>
        </p:nvGrpSpPr>
        <p:grpSpPr>
          <a:xfrm>
            <a:off x="571500" y="5763587"/>
            <a:ext cx="5126404" cy="778935"/>
            <a:chOff x="0" y="0"/>
            <a:chExt cx="6835205" cy="1038581"/>
          </a:xfrm>
        </p:grpSpPr>
        <p:sp>
          <p:nvSpPr>
            <p:cNvPr id="632" name="Google Shape;632;p17"/>
            <p:cNvSpPr/>
            <p:nvPr/>
          </p:nvSpPr>
          <p:spPr>
            <a:xfrm>
              <a:off x="0" y="0"/>
              <a:ext cx="6835205" cy="1038576"/>
            </a:xfrm>
            <a:custGeom>
              <a:rect b="b" l="l" r="r" t="t"/>
              <a:pathLst>
                <a:path extrusionOk="0" h="1038576" w="6835205">
                  <a:moveTo>
                    <a:pt x="0" y="0"/>
                  </a:moveTo>
                  <a:lnTo>
                    <a:pt x="6835205" y="0"/>
                  </a:lnTo>
                  <a:lnTo>
                    <a:pt x="6835205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8238" l="0" r="0" t="-78238"/>
              </a:stretch>
            </a:blipFill>
            <a:ln>
              <a:noFill/>
            </a:ln>
          </p:spPr>
        </p:sp>
        <p:sp>
          <p:nvSpPr>
            <p:cNvPr id="633" name="Google Shape;633;p17"/>
            <p:cNvSpPr txBox="1"/>
            <p:nvPr/>
          </p:nvSpPr>
          <p:spPr>
            <a:xfrm>
              <a:off x="0" y="0"/>
              <a:ext cx="6835204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and why does it </a:t>
              </a:r>
              <a:endParaRPr/>
            </a:p>
          </p:txBody>
        </p:sp>
      </p:grpSp>
      <p:grpSp>
        <p:nvGrpSpPr>
          <p:cNvPr id="634" name="Google Shape;634;p17"/>
          <p:cNvGrpSpPr/>
          <p:nvPr/>
        </p:nvGrpSpPr>
        <p:grpSpPr>
          <a:xfrm>
            <a:off x="571500" y="6567259"/>
            <a:ext cx="2273061" cy="778935"/>
            <a:chOff x="0" y="0"/>
            <a:chExt cx="3030747" cy="1038581"/>
          </a:xfrm>
        </p:grpSpPr>
        <p:sp>
          <p:nvSpPr>
            <p:cNvPr id="635" name="Google Shape;635;p17"/>
            <p:cNvSpPr/>
            <p:nvPr/>
          </p:nvSpPr>
          <p:spPr>
            <a:xfrm>
              <a:off x="0" y="0"/>
              <a:ext cx="3030747" cy="1038576"/>
            </a:xfrm>
            <a:custGeom>
              <a:rect b="b" l="l" r="r" t="t"/>
              <a:pathLst>
                <a:path extrusionOk="0" h="1038576" w="3030747">
                  <a:moveTo>
                    <a:pt x="0" y="0"/>
                  </a:moveTo>
                  <a:lnTo>
                    <a:pt x="3030747" y="0"/>
                  </a:lnTo>
                  <a:lnTo>
                    <a:pt x="3030747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860" l="0" r="0" t="-6860"/>
              </a:stretch>
            </a:blipFill>
            <a:ln>
              <a:noFill/>
            </a:ln>
          </p:spPr>
        </p:sp>
        <p:sp>
          <p:nvSpPr>
            <p:cNvPr id="636" name="Google Shape;636;p17"/>
            <p:cNvSpPr txBox="1"/>
            <p:nvPr/>
          </p:nvSpPr>
          <p:spPr>
            <a:xfrm>
              <a:off x="0" y="0"/>
              <a:ext cx="3030741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matter</a:t>
              </a:r>
              <a:endParaRPr/>
            </a:p>
          </p:txBody>
        </p:sp>
      </p:grpSp>
      <p:grpSp>
        <p:nvGrpSpPr>
          <p:cNvPr id="637" name="Google Shape;637;p17"/>
          <p:cNvGrpSpPr/>
          <p:nvPr/>
        </p:nvGrpSpPr>
        <p:grpSpPr>
          <a:xfrm>
            <a:off x="2821172" y="6567259"/>
            <a:ext cx="506549" cy="778935"/>
            <a:chOff x="0" y="0"/>
            <a:chExt cx="675399" cy="1038581"/>
          </a:xfrm>
        </p:grpSpPr>
        <p:sp>
          <p:nvSpPr>
            <p:cNvPr id="638" name="Google Shape;638;p17"/>
            <p:cNvSpPr/>
            <p:nvPr/>
          </p:nvSpPr>
          <p:spPr>
            <a:xfrm>
              <a:off x="0" y="0"/>
              <a:ext cx="675397" cy="1038576"/>
            </a:xfrm>
            <a:custGeom>
              <a:rect b="b" l="l" r="r" t="t"/>
              <a:pathLst>
                <a:path extrusionOk="0" h="1038576" w="675397">
                  <a:moveTo>
                    <a:pt x="0" y="0"/>
                  </a:moveTo>
                  <a:lnTo>
                    <a:pt x="675397" y="0"/>
                  </a:lnTo>
                  <a:lnTo>
                    <a:pt x="675397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7301" r="-147301" t="0"/>
              </a:stretch>
            </a:blipFill>
            <a:ln>
              <a:noFill/>
            </a:ln>
          </p:spPr>
        </p:sp>
        <p:sp>
          <p:nvSpPr>
            <p:cNvPr id="639" name="Google Shape;639;p17"/>
            <p:cNvSpPr txBox="1"/>
            <p:nvPr/>
          </p:nvSpPr>
          <p:spPr>
            <a:xfrm>
              <a:off x="0" y="0"/>
              <a:ext cx="675399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? </a:t>
              </a:r>
              <a:endParaRPr/>
            </a:p>
          </p:txBody>
        </p:sp>
      </p:grpSp>
      <p:sp>
        <p:nvSpPr>
          <p:cNvPr id="640" name="Google Shape;640;p17"/>
          <p:cNvSpPr/>
          <p:nvPr/>
        </p:nvSpPr>
        <p:spPr>
          <a:xfrm>
            <a:off x="8439112" y="1343025"/>
            <a:ext cx="2286000" cy="2286000"/>
          </a:xfrm>
          <a:custGeom>
            <a:rect b="b" l="l" r="r" t="t"/>
            <a:pathLst>
              <a:path extrusionOk="0" h="3048000" w="3048000">
                <a:moveTo>
                  <a:pt x="0" y="0"/>
                </a:moveTo>
                <a:lnTo>
                  <a:pt x="3048000" y="0"/>
                </a:lnTo>
                <a:lnTo>
                  <a:pt x="3048000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641" name="Google Shape;641;p17"/>
          <p:cNvGrpSpPr/>
          <p:nvPr/>
        </p:nvGrpSpPr>
        <p:grpSpPr>
          <a:xfrm>
            <a:off x="9024271" y="2341054"/>
            <a:ext cx="1115692" cy="289953"/>
            <a:chOff x="0" y="0"/>
            <a:chExt cx="1487589" cy="386603"/>
          </a:xfrm>
        </p:grpSpPr>
        <p:sp>
          <p:nvSpPr>
            <p:cNvPr id="642" name="Google Shape;642;p17"/>
            <p:cNvSpPr/>
            <p:nvPr/>
          </p:nvSpPr>
          <p:spPr>
            <a:xfrm>
              <a:off x="0" y="0"/>
              <a:ext cx="1487587" cy="386603"/>
            </a:xfrm>
            <a:custGeom>
              <a:rect b="b" l="l" r="r" t="t"/>
              <a:pathLst>
                <a:path extrusionOk="0" h="386603" w="1487587">
                  <a:moveTo>
                    <a:pt x="0" y="0"/>
                  </a:moveTo>
                  <a:lnTo>
                    <a:pt x="1487587" y="0"/>
                  </a:lnTo>
                  <a:lnTo>
                    <a:pt x="1487587" y="386603"/>
                  </a:lnTo>
                  <a:lnTo>
                    <a:pt x="0" y="38660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976" l="0" r="0" t="-24976"/>
              </a:stretch>
            </a:blipFill>
            <a:ln>
              <a:noFill/>
            </a:ln>
          </p:spPr>
        </p:sp>
        <p:sp>
          <p:nvSpPr>
            <p:cNvPr id="643" name="Google Shape;643;p17"/>
            <p:cNvSpPr txBox="1"/>
            <p:nvPr/>
          </p:nvSpPr>
          <p:spPr>
            <a:xfrm>
              <a:off x="0" y="0"/>
              <a:ext cx="1487589" cy="386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Definition</a:t>
              </a:r>
              <a:endParaRPr/>
            </a:p>
          </p:txBody>
        </p:sp>
      </p:grpSp>
      <p:sp>
        <p:nvSpPr>
          <p:cNvPr id="644" name="Google Shape;644;p17"/>
          <p:cNvSpPr/>
          <p:nvPr/>
        </p:nvSpPr>
        <p:spPr>
          <a:xfrm>
            <a:off x="11368802" y="1328547"/>
            <a:ext cx="6462236" cy="2300669"/>
          </a:xfrm>
          <a:custGeom>
            <a:rect b="b" l="l" r="r" t="t"/>
            <a:pathLst>
              <a:path extrusionOk="0" h="3067558" w="8616315">
                <a:moveTo>
                  <a:pt x="0" y="0"/>
                </a:moveTo>
                <a:lnTo>
                  <a:pt x="8616315" y="0"/>
                </a:lnTo>
                <a:lnTo>
                  <a:pt x="8616315" y="3067558"/>
                </a:lnTo>
                <a:lnTo>
                  <a:pt x="0" y="306755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645" name="Google Shape;645;p17"/>
          <p:cNvGrpSpPr/>
          <p:nvPr/>
        </p:nvGrpSpPr>
        <p:grpSpPr>
          <a:xfrm>
            <a:off x="11910003" y="1535640"/>
            <a:ext cx="5433099" cy="677109"/>
            <a:chOff x="0" y="0"/>
            <a:chExt cx="7244133" cy="902811"/>
          </a:xfrm>
        </p:grpSpPr>
        <p:sp>
          <p:nvSpPr>
            <p:cNvPr id="646" name="Google Shape;646;p17"/>
            <p:cNvSpPr/>
            <p:nvPr/>
          </p:nvSpPr>
          <p:spPr>
            <a:xfrm>
              <a:off x="0" y="0"/>
              <a:ext cx="7244133" cy="902811"/>
            </a:xfrm>
            <a:custGeom>
              <a:rect b="b" l="l" r="r" t="t"/>
              <a:pathLst>
                <a:path extrusionOk="0" h="902811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902811"/>
                  </a:lnTo>
                  <a:lnTo>
                    <a:pt x="0" y="90281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6348" l="0" r="0" t="-106348"/>
              </a:stretch>
            </a:blipFill>
            <a:ln>
              <a:noFill/>
            </a:ln>
          </p:spPr>
        </p:sp>
        <p:sp>
          <p:nvSpPr>
            <p:cNvPr id="647" name="Google Shape;647;p17"/>
            <p:cNvSpPr txBox="1"/>
            <p:nvPr/>
          </p:nvSpPr>
          <p:spPr>
            <a:xfrm>
              <a:off x="0" y="0"/>
              <a:ext cx="7244131" cy="90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Standardization protocol for AI tool integration</a:t>
              </a:r>
              <a:endParaRPr/>
            </a:p>
          </p:txBody>
        </p:sp>
      </p:grpSp>
      <p:grpSp>
        <p:nvGrpSpPr>
          <p:cNvPr id="648" name="Google Shape;648;p17"/>
          <p:cNvGrpSpPr/>
          <p:nvPr/>
        </p:nvGrpSpPr>
        <p:grpSpPr>
          <a:xfrm>
            <a:off x="11856701" y="2458583"/>
            <a:ext cx="5433099" cy="338557"/>
            <a:chOff x="0" y="0"/>
            <a:chExt cx="7244133" cy="451409"/>
          </a:xfrm>
        </p:grpSpPr>
        <p:sp>
          <p:nvSpPr>
            <p:cNvPr id="649" name="Google Shape;649;p17"/>
            <p:cNvSpPr/>
            <p:nvPr/>
          </p:nvSpPr>
          <p:spPr>
            <a:xfrm>
              <a:off x="0" y="0"/>
              <a:ext cx="7244133" cy="451405"/>
            </a:xfrm>
            <a:custGeom>
              <a:rect b="b" l="l" r="r" t="t"/>
              <a:pathLst>
                <a:path extrusionOk="0" h="451405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2696" l="0" r="0" t="-262696"/>
              </a:stretch>
            </a:blipFill>
            <a:ln>
              <a:noFill/>
            </a:ln>
          </p:spPr>
        </p:sp>
        <p:sp>
          <p:nvSpPr>
            <p:cNvPr id="650" name="Google Shape;650;p17"/>
            <p:cNvSpPr txBox="1"/>
            <p:nvPr/>
          </p:nvSpPr>
          <p:spPr>
            <a:xfrm>
              <a:off x="0" y="0"/>
              <a:ext cx="7244131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"USB-C for AI" - universal connector</a:t>
              </a:r>
              <a:endParaRPr/>
            </a:p>
          </p:txBody>
        </p:sp>
      </p:grpSp>
      <p:grpSp>
        <p:nvGrpSpPr>
          <p:cNvPr id="651" name="Google Shape;651;p17"/>
          <p:cNvGrpSpPr/>
          <p:nvPr/>
        </p:nvGrpSpPr>
        <p:grpSpPr>
          <a:xfrm>
            <a:off x="11992318" y="3077556"/>
            <a:ext cx="3789502" cy="338557"/>
            <a:chOff x="0" y="0"/>
            <a:chExt cx="5052670" cy="451409"/>
          </a:xfrm>
        </p:grpSpPr>
        <p:sp>
          <p:nvSpPr>
            <p:cNvPr id="652" name="Google Shape;652;p17"/>
            <p:cNvSpPr/>
            <p:nvPr/>
          </p:nvSpPr>
          <p:spPr>
            <a:xfrm>
              <a:off x="0" y="0"/>
              <a:ext cx="5052664" cy="451405"/>
            </a:xfrm>
            <a:custGeom>
              <a:rect b="b" l="l" r="r" t="t"/>
              <a:pathLst>
                <a:path extrusionOk="0" h="451405" w="5052664">
                  <a:moveTo>
                    <a:pt x="0" y="0"/>
                  </a:moveTo>
                  <a:lnTo>
                    <a:pt x="5052664" y="0"/>
                  </a:lnTo>
                  <a:lnTo>
                    <a:pt x="5052664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093" l="0" r="0" t="-168093"/>
              </a:stretch>
            </a:blipFill>
            <a:ln>
              <a:noFill/>
            </a:ln>
          </p:spPr>
        </p:sp>
        <p:sp>
          <p:nvSpPr>
            <p:cNvPr id="653" name="Google Shape;653;p17"/>
            <p:cNvSpPr txBox="1"/>
            <p:nvPr/>
          </p:nvSpPr>
          <p:spPr>
            <a:xfrm>
              <a:off x="0" y="0"/>
              <a:ext cx="5052670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NOT an AI assistant or agent</a:t>
              </a:r>
              <a:endParaRPr/>
            </a:p>
          </p:txBody>
        </p:sp>
      </p:grpSp>
      <p:sp>
        <p:nvSpPr>
          <p:cNvPr id="654" name="Google Shape;654;p17"/>
          <p:cNvSpPr/>
          <p:nvPr/>
        </p:nvSpPr>
        <p:spPr>
          <a:xfrm>
            <a:off x="8383943" y="4121944"/>
            <a:ext cx="2286000" cy="2286000"/>
          </a:xfrm>
          <a:custGeom>
            <a:rect b="b" l="l" r="r" t="t"/>
            <a:pathLst>
              <a:path extrusionOk="0" h="3048000" w="3048000">
                <a:moveTo>
                  <a:pt x="0" y="0"/>
                </a:moveTo>
                <a:lnTo>
                  <a:pt x="3048000" y="0"/>
                </a:lnTo>
                <a:lnTo>
                  <a:pt x="3048000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655" name="Google Shape;655;p17"/>
          <p:cNvGrpSpPr/>
          <p:nvPr/>
        </p:nvGrpSpPr>
        <p:grpSpPr>
          <a:xfrm>
            <a:off x="8752665" y="5119973"/>
            <a:ext cx="1548502" cy="289953"/>
            <a:chOff x="0" y="0"/>
            <a:chExt cx="2064669" cy="386603"/>
          </a:xfrm>
        </p:grpSpPr>
        <p:sp>
          <p:nvSpPr>
            <p:cNvPr id="656" name="Google Shape;656;p17"/>
            <p:cNvSpPr/>
            <p:nvPr/>
          </p:nvSpPr>
          <p:spPr>
            <a:xfrm>
              <a:off x="0" y="0"/>
              <a:ext cx="2064669" cy="386603"/>
            </a:xfrm>
            <a:custGeom>
              <a:rect b="b" l="l" r="r" t="t"/>
              <a:pathLst>
                <a:path extrusionOk="0" h="386603" w="2064669">
                  <a:moveTo>
                    <a:pt x="0" y="0"/>
                  </a:moveTo>
                  <a:lnTo>
                    <a:pt x="2064669" y="0"/>
                  </a:lnTo>
                  <a:lnTo>
                    <a:pt x="2064669" y="386603"/>
                  </a:lnTo>
                  <a:lnTo>
                    <a:pt x="0" y="38660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058" l="0" r="0" t="-54058"/>
              </a:stretch>
            </a:blipFill>
            <a:ln>
              <a:noFill/>
            </a:ln>
          </p:spPr>
        </p:sp>
        <p:sp>
          <p:nvSpPr>
            <p:cNvPr id="657" name="Google Shape;657;p17"/>
            <p:cNvSpPr txBox="1"/>
            <p:nvPr/>
          </p:nvSpPr>
          <p:spPr>
            <a:xfrm>
              <a:off x="0" y="0"/>
              <a:ext cx="2064664" cy="386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Core Purpose</a:t>
              </a:r>
              <a:endParaRPr/>
            </a:p>
          </p:txBody>
        </p:sp>
      </p:grpSp>
      <p:sp>
        <p:nvSpPr>
          <p:cNvPr id="658" name="Google Shape;658;p17"/>
          <p:cNvSpPr/>
          <p:nvPr/>
        </p:nvSpPr>
        <p:spPr>
          <a:xfrm>
            <a:off x="11368802" y="4020312"/>
            <a:ext cx="6462236" cy="2387822"/>
          </a:xfrm>
          <a:custGeom>
            <a:rect b="b" l="l" r="r" t="t"/>
            <a:pathLst>
              <a:path extrusionOk="0" h="3183763" w="8616315">
                <a:moveTo>
                  <a:pt x="0" y="0"/>
                </a:moveTo>
                <a:lnTo>
                  <a:pt x="8616315" y="0"/>
                </a:lnTo>
                <a:lnTo>
                  <a:pt x="8616315" y="3183763"/>
                </a:lnTo>
                <a:lnTo>
                  <a:pt x="0" y="3183763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659" name="Google Shape;659;p17"/>
          <p:cNvGrpSpPr/>
          <p:nvPr/>
        </p:nvGrpSpPr>
        <p:grpSpPr>
          <a:xfrm>
            <a:off x="12054802" y="4687052"/>
            <a:ext cx="5433099" cy="338557"/>
            <a:chOff x="0" y="0"/>
            <a:chExt cx="7244133" cy="451409"/>
          </a:xfrm>
        </p:grpSpPr>
        <p:sp>
          <p:nvSpPr>
            <p:cNvPr id="660" name="Google Shape;660;p17"/>
            <p:cNvSpPr/>
            <p:nvPr/>
          </p:nvSpPr>
          <p:spPr>
            <a:xfrm>
              <a:off x="0" y="0"/>
              <a:ext cx="7244133" cy="451405"/>
            </a:xfrm>
            <a:custGeom>
              <a:rect b="b" l="l" r="r" t="t"/>
              <a:pathLst>
                <a:path extrusionOk="0" h="451405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2696" l="0" r="0" t="-262696"/>
              </a:stretch>
            </a:blipFill>
            <a:ln>
              <a:noFill/>
            </a:ln>
          </p:spPr>
        </p:sp>
        <p:sp>
          <p:nvSpPr>
            <p:cNvPr id="661" name="Google Shape;661;p17"/>
            <p:cNvSpPr txBox="1"/>
            <p:nvPr/>
          </p:nvSpPr>
          <p:spPr>
            <a:xfrm>
              <a:off x="0" y="0"/>
              <a:ext cx="7244131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Establish client-server architecture</a:t>
              </a:r>
              <a:endParaRPr/>
            </a:p>
          </p:txBody>
        </p:sp>
      </p:grpSp>
      <p:grpSp>
        <p:nvGrpSpPr>
          <p:cNvPr id="662" name="Google Shape;662;p17"/>
          <p:cNvGrpSpPr/>
          <p:nvPr/>
        </p:nvGrpSpPr>
        <p:grpSpPr>
          <a:xfrm>
            <a:off x="12054802" y="5269716"/>
            <a:ext cx="5433099" cy="338557"/>
            <a:chOff x="0" y="0"/>
            <a:chExt cx="7244133" cy="451409"/>
          </a:xfrm>
        </p:grpSpPr>
        <p:sp>
          <p:nvSpPr>
            <p:cNvPr id="663" name="Google Shape;663;p17"/>
            <p:cNvSpPr/>
            <p:nvPr/>
          </p:nvSpPr>
          <p:spPr>
            <a:xfrm>
              <a:off x="0" y="0"/>
              <a:ext cx="7244133" cy="451405"/>
            </a:xfrm>
            <a:custGeom>
              <a:rect b="b" l="l" r="r" t="t"/>
              <a:pathLst>
                <a:path extrusionOk="0" h="451405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2696" l="0" r="0" t="-262696"/>
              </a:stretch>
            </a:blipFill>
            <a:ln>
              <a:noFill/>
            </a:ln>
          </p:spPr>
        </p:sp>
        <p:sp>
          <p:nvSpPr>
            <p:cNvPr id="664" name="Google Shape;664;p17"/>
            <p:cNvSpPr txBox="1"/>
            <p:nvPr/>
          </p:nvSpPr>
          <p:spPr>
            <a:xfrm>
              <a:off x="0" y="0"/>
              <a:ext cx="7244131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Connect AI applications to external tools</a:t>
              </a:r>
              <a:endParaRPr/>
            </a:p>
          </p:txBody>
        </p:sp>
      </p:grpSp>
      <p:grpSp>
        <p:nvGrpSpPr>
          <p:cNvPr id="665" name="Google Shape;665;p17"/>
          <p:cNvGrpSpPr/>
          <p:nvPr/>
        </p:nvGrpSpPr>
        <p:grpSpPr>
          <a:xfrm>
            <a:off x="12057755" y="5817946"/>
            <a:ext cx="4001100" cy="338557"/>
            <a:chOff x="0" y="0"/>
            <a:chExt cx="5334800" cy="451409"/>
          </a:xfrm>
        </p:grpSpPr>
        <p:sp>
          <p:nvSpPr>
            <p:cNvPr id="666" name="Google Shape;666;p17"/>
            <p:cNvSpPr/>
            <p:nvPr/>
          </p:nvSpPr>
          <p:spPr>
            <a:xfrm>
              <a:off x="0" y="0"/>
              <a:ext cx="5334795" cy="451405"/>
            </a:xfrm>
            <a:custGeom>
              <a:rect b="b" l="l" r="r" t="t"/>
              <a:pathLst>
                <a:path extrusionOk="0" h="451405" w="5334795">
                  <a:moveTo>
                    <a:pt x="0" y="0"/>
                  </a:moveTo>
                  <a:lnTo>
                    <a:pt x="5334795" y="0"/>
                  </a:lnTo>
                  <a:lnTo>
                    <a:pt x="5334795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0279" l="0" r="0" t="-180275"/>
              </a:stretch>
            </a:blipFill>
            <a:ln>
              <a:noFill/>
            </a:ln>
          </p:spPr>
        </p:sp>
        <p:sp>
          <p:nvSpPr>
            <p:cNvPr id="667" name="Google Shape;667;p17"/>
            <p:cNvSpPr txBox="1"/>
            <p:nvPr/>
          </p:nvSpPr>
          <p:spPr>
            <a:xfrm>
              <a:off x="0" y="0"/>
              <a:ext cx="5334800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Enable dynamic tool discovery</a:t>
              </a:r>
              <a:endParaRPr/>
            </a:p>
          </p:txBody>
        </p:sp>
      </p:grpSp>
      <p:sp>
        <p:nvSpPr>
          <p:cNvPr id="668" name="Google Shape;668;p17"/>
          <p:cNvSpPr/>
          <p:nvPr/>
        </p:nvSpPr>
        <p:spPr>
          <a:xfrm>
            <a:off x="8439112" y="6809318"/>
            <a:ext cx="2286000" cy="2286000"/>
          </a:xfrm>
          <a:custGeom>
            <a:rect b="b" l="l" r="r" t="t"/>
            <a:pathLst>
              <a:path extrusionOk="0" h="3048000" w="3048000">
                <a:moveTo>
                  <a:pt x="0" y="0"/>
                </a:moveTo>
                <a:lnTo>
                  <a:pt x="3048000" y="0"/>
                </a:lnTo>
                <a:lnTo>
                  <a:pt x="3048000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669" name="Google Shape;669;p17"/>
          <p:cNvGrpSpPr/>
          <p:nvPr/>
        </p:nvGrpSpPr>
        <p:grpSpPr>
          <a:xfrm>
            <a:off x="8879967" y="7807338"/>
            <a:ext cx="1404233" cy="289953"/>
            <a:chOff x="0" y="0"/>
            <a:chExt cx="1872310" cy="386603"/>
          </a:xfrm>
        </p:grpSpPr>
        <p:sp>
          <p:nvSpPr>
            <p:cNvPr id="670" name="Google Shape;670;p17"/>
            <p:cNvSpPr/>
            <p:nvPr/>
          </p:nvSpPr>
          <p:spPr>
            <a:xfrm>
              <a:off x="0" y="0"/>
              <a:ext cx="1872309" cy="386603"/>
            </a:xfrm>
            <a:custGeom>
              <a:rect b="b" l="l" r="r" t="t"/>
              <a:pathLst>
                <a:path extrusionOk="0" h="386603" w="1872309">
                  <a:moveTo>
                    <a:pt x="0" y="0"/>
                  </a:moveTo>
                  <a:lnTo>
                    <a:pt x="1872309" y="0"/>
                  </a:lnTo>
                  <a:lnTo>
                    <a:pt x="1872309" y="386603"/>
                  </a:lnTo>
                  <a:lnTo>
                    <a:pt x="0" y="38660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365" l="0" r="0" t="-44365"/>
              </a:stretch>
            </a:blipFill>
            <a:ln>
              <a:noFill/>
            </a:ln>
          </p:spPr>
        </p:sp>
        <p:sp>
          <p:nvSpPr>
            <p:cNvPr id="671" name="Google Shape;671;p17"/>
            <p:cNvSpPr txBox="1"/>
            <p:nvPr/>
          </p:nvSpPr>
          <p:spPr>
            <a:xfrm>
              <a:off x="0" y="0"/>
              <a:ext cx="1872310" cy="386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Key Benefits</a:t>
              </a:r>
              <a:endParaRPr/>
            </a:p>
          </p:txBody>
        </p:sp>
      </p:grpSp>
      <p:sp>
        <p:nvSpPr>
          <p:cNvPr id="672" name="Google Shape;672;p17"/>
          <p:cNvSpPr/>
          <p:nvPr/>
        </p:nvSpPr>
        <p:spPr>
          <a:xfrm>
            <a:off x="11368802" y="6809118"/>
            <a:ext cx="6462236" cy="2286381"/>
          </a:xfrm>
          <a:custGeom>
            <a:rect b="b" l="l" r="r" t="t"/>
            <a:pathLst>
              <a:path extrusionOk="0" h="3048508" w="8616315">
                <a:moveTo>
                  <a:pt x="0" y="0"/>
                </a:moveTo>
                <a:lnTo>
                  <a:pt x="8616315" y="0"/>
                </a:lnTo>
                <a:lnTo>
                  <a:pt x="8616315" y="3048508"/>
                </a:lnTo>
                <a:lnTo>
                  <a:pt x="0" y="30485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673" name="Google Shape;673;p17"/>
          <p:cNvGrpSpPr/>
          <p:nvPr/>
        </p:nvGrpSpPr>
        <p:grpSpPr>
          <a:xfrm>
            <a:off x="11910003" y="7048995"/>
            <a:ext cx="5433099" cy="677109"/>
            <a:chOff x="0" y="0"/>
            <a:chExt cx="7244133" cy="902811"/>
          </a:xfrm>
        </p:grpSpPr>
        <p:sp>
          <p:nvSpPr>
            <p:cNvPr id="674" name="Google Shape;674;p17"/>
            <p:cNvSpPr/>
            <p:nvPr/>
          </p:nvSpPr>
          <p:spPr>
            <a:xfrm>
              <a:off x="0" y="0"/>
              <a:ext cx="7244133" cy="902811"/>
            </a:xfrm>
            <a:custGeom>
              <a:rect b="b" l="l" r="r" t="t"/>
              <a:pathLst>
                <a:path extrusionOk="0" h="902811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902811"/>
                  </a:lnTo>
                  <a:lnTo>
                    <a:pt x="0" y="90281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6348" l="0" r="0" t="-106348"/>
              </a:stretch>
            </a:blipFill>
            <a:ln>
              <a:noFill/>
            </a:ln>
          </p:spPr>
        </p:sp>
        <p:sp>
          <p:nvSpPr>
            <p:cNvPr id="675" name="Google Shape;675;p17"/>
            <p:cNvSpPr txBox="1"/>
            <p:nvPr/>
          </p:nvSpPr>
          <p:spPr>
            <a:xfrm>
              <a:off x="0" y="0"/>
              <a:ext cx="7244131" cy="90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Linear scaling (M+N) vs exponential (M×N)</a:t>
              </a:r>
              <a:endParaRPr/>
            </a:p>
          </p:txBody>
        </p:sp>
      </p:grpSp>
      <p:grpSp>
        <p:nvGrpSpPr>
          <p:cNvPr id="676" name="Google Shape;676;p17"/>
          <p:cNvGrpSpPr/>
          <p:nvPr/>
        </p:nvGrpSpPr>
        <p:grpSpPr>
          <a:xfrm>
            <a:off x="11910003" y="7876670"/>
            <a:ext cx="5433099" cy="677109"/>
            <a:chOff x="0" y="0"/>
            <a:chExt cx="7244133" cy="902811"/>
          </a:xfrm>
        </p:grpSpPr>
        <p:sp>
          <p:nvSpPr>
            <p:cNvPr id="677" name="Google Shape;677;p17"/>
            <p:cNvSpPr/>
            <p:nvPr/>
          </p:nvSpPr>
          <p:spPr>
            <a:xfrm>
              <a:off x="0" y="0"/>
              <a:ext cx="7244133" cy="902811"/>
            </a:xfrm>
            <a:custGeom>
              <a:rect b="b" l="l" r="r" t="t"/>
              <a:pathLst>
                <a:path extrusionOk="0" h="902811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902811"/>
                  </a:lnTo>
                  <a:lnTo>
                    <a:pt x="0" y="90281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6348" l="0" r="0" t="-106348"/>
              </a:stretch>
            </a:blipFill>
            <a:ln>
              <a:noFill/>
            </a:ln>
          </p:spPr>
        </p:sp>
        <p:sp>
          <p:nvSpPr>
            <p:cNvPr id="678" name="Google Shape;678;p17"/>
            <p:cNvSpPr txBox="1"/>
            <p:nvPr/>
          </p:nvSpPr>
          <p:spPr>
            <a:xfrm>
              <a:off x="0" y="0"/>
              <a:ext cx="7244131" cy="90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Unified authentication and error handling</a:t>
              </a:r>
              <a:endParaRPr/>
            </a:p>
          </p:txBody>
        </p:sp>
      </p:grpSp>
      <p:grpSp>
        <p:nvGrpSpPr>
          <p:cNvPr id="679" name="Google Shape;679;p17"/>
          <p:cNvGrpSpPr/>
          <p:nvPr/>
        </p:nvGrpSpPr>
        <p:grpSpPr>
          <a:xfrm>
            <a:off x="11883352" y="8704345"/>
            <a:ext cx="5433099" cy="338557"/>
            <a:chOff x="0" y="0"/>
            <a:chExt cx="7244133" cy="451409"/>
          </a:xfrm>
        </p:grpSpPr>
        <p:sp>
          <p:nvSpPr>
            <p:cNvPr id="680" name="Google Shape;680;p17"/>
            <p:cNvSpPr/>
            <p:nvPr/>
          </p:nvSpPr>
          <p:spPr>
            <a:xfrm>
              <a:off x="0" y="0"/>
              <a:ext cx="7244133" cy="451405"/>
            </a:xfrm>
            <a:custGeom>
              <a:rect b="b" l="l" r="r" t="t"/>
              <a:pathLst>
                <a:path extrusionOk="0" h="451405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2696" l="0" r="0" t="-262696"/>
              </a:stretch>
            </a:blipFill>
            <a:ln>
              <a:noFill/>
            </a:ln>
          </p:spPr>
        </p:sp>
        <p:sp>
          <p:nvSpPr>
            <p:cNvPr id="681" name="Google Shape;681;p17"/>
            <p:cNvSpPr txBox="1"/>
            <p:nvPr/>
          </p:nvSpPr>
          <p:spPr>
            <a:xfrm>
              <a:off x="0" y="0"/>
              <a:ext cx="7244131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Standardized interfaces across tools</a:t>
              </a:r>
              <a:endParaRPr/>
            </a:p>
          </p:txBody>
        </p:sp>
      </p:grpSp>
      <p:sp>
        <p:nvSpPr>
          <p:cNvPr id="682" name="Google Shape;682;p17"/>
          <p:cNvSpPr/>
          <p:nvPr/>
        </p:nvSpPr>
        <p:spPr>
          <a:xfrm>
            <a:off x="0" y="14351794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683" name="Google Shape;683;p17"/>
          <p:cNvSpPr/>
          <p:nvPr/>
        </p:nvSpPr>
        <p:spPr>
          <a:xfrm>
            <a:off x="5374129" y="1539088"/>
            <a:ext cx="2031968" cy="1879568"/>
          </a:xfrm>
          <a:custGeom>
            <a:rect b="b" l="l" r="r" t="t"/>
            <a:pathLst>
              <a:path extrusionOk="0" h="2506091" w="2709291">
                <a:moveTo>
                  <a:pt x="0" y="0"/>
                </a:moveTo>
                <a:lnTo>
                  <a:pt x="2709291" y="0"/>
                </a:lnTo>
                <a:lnTo>
                  <a:pt x="2709291" y="2506091"/>
                </a:lnTo>
                <a:lnTo>
                  <a:pt x="0" y="250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6" l="0" r="-1" t="-25"/>
            </a:stretch>
          </a:blipFill>
          <a:ln>
            <a:noFill/>
          </a:ln>
        </p:spPr>
      </p:sp>
      <p:grpSp>
        <p:nvGrpSpPr>
          <p:cNvPr id="684" name="Google Shape;684;p17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685" name="Google Shape;685;p17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686" name="Google Shape;686;p17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691" name="Google Shape;691;p19"/>
          <p:cNvSpPr/>
          <p:nvPr/>
        </p:nvSpPr>
        <p:spPr>
          <a:xfrm>
            <a:off x="8582" y="-552002"/>
            <a:ext cx="18288000" cy="11677172"/>
          </a:xfrm>
          <a:custGeom>
            <a:rect b="b" l="l" r="r" t="t"/>
            <a:pathLst>
              <a:path extrusionOk="0" h="15569564" w="24384000">
                <a:moveTo>
                  <a:pt x="0" y="0"/>
                </a:moveTo>
                <a:lnTo>
                  <a:pt x="24384000" y="0"/>
                </a:lnTo>
                <a:lnTo>
                  <a:pt x="24384000" y="15569564"/>
                </a:lnTo>
                <a:lnTo>
                  <a:pt x="0" y="15569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53" r="-953" t="0"/>
            </a:stretch>
          </a:blipFill>
          <a:ln>
            <a:noFill/>
          </a:ln>
        </p:spPr>
      </p:sp>
      <p:sp>
        <p:nvSpPr>
          <p:cNvPr descr="preencoded.png" id="692" name="Google Shape;692;p19"/>
          <p:cNvSpPr/>
          <p:nvPr/>
        </p:nvSpPr>
        <p:spPr>
          <a:xfrm>
            <a:off x="10872788" y="-652005"/>
            <a:ext cx="3700462" cy="2528888"/>
          </a:xfrm>
          <a:custGeom>
            <a:rect b="b" l="l" r="r" t="t"/>
            <a:pathLst>
              <a:path extrusionOk="0" h="3371850" w="4933950">
                <a:moveTo>
                  <a:pt x="0" y="0"/>
                </a:moveTo>
                <a:lnTo>
                  <a:pt x="4933950" y="0"/>
                </a:lnTo>
                <a:lnTo>
                  <a:pt x="493395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693" name="Google Shape;693;p19"/>
          <p:cNvSpPr/>
          <p:nvPr/>
        </p:nvSpPr>
        <p:spPr>
          <a:xfrm>
            <a:off x="0" y="8210483"/>
            <a:ext cx="4743450" cy="2814638"/>
          </a:xfrm>
          <a:custGeom>
            <a:rect b="b" l="l" r="r" t="t"/>
            <a:pathLst>
              <a:path extrusionOk="0" h="3752850" w="6324600">
                <a:moveTo>
                  <a:pt x="0" y="0"/>
                </a:moveTo>
                <a:lnTo>
                  <a:pt x="6324600" y="0"/>
                </a:lnTo>
                <a:lnTo>
                  <a:pt x="63246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53" l="0" r="0" t="-253"/>
            </a:stretch>
          </a:blipFill>
          <a:ln>
            <a:noFill/>
          </a:ln>
        </p:spPr>
      </p:sp>
      <p:sp>
        <p:nvSpPr>
          <p:cNvPr descr="preencoded.png" id="694" name="Google Shape;694;p19"/>
          <p:cNvSpPr/>
          <p:nvPr/>
        </p:nvSpPr>
        <p:spPr>
          <a:xfrm>
            <a:off x="0" y="7167496"/>
            <a:ext cx="2443162" cy="3357562"/>
          </a:xfrm>
          <a:custGeom>
            <a:rect b="b" l="l" r="r" t="t"/>
            <a:pathLst>
              <a:path extrusionOk="0" h="4476750" w="3257550">
                <a:moveTo>
                  <a:pt x="0" y="0"/>
                </a:moveTo>
                <a:lnTo>
                  <a:pt x="3257550" y="0"/>
                </a:lnTo>
                <a:lnTo>
                  <a:pt x="3257550" y="4476750"/>
                </a:lnTo>
                <a:lnTo>
                  <a:pt x="0" y="4476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12" l="0" r="0" t="-212"/>
            </a:stretch>
          </a:blipFill>
          <a:ln>
            <a:noFill/>
          </a:ln>
        </p:spPr>
      </p:sp>
      <p:grpSp>
        <p:nvGrpSpPr>
          <p:cNvPr id="695" name="Google Shape;695;p19"/>
          <p:cNvGrpSpPr/>
          <p:nvPr/>
        </p:nvGrpSpPr>
        <p:grpSpPr>
          <a:xfrm>
            <a:off x="571500" y="633869"/>
            <a:ext cx="3268266" cy="946547"/>
            <a:chOff x="0" y="-9525"/>
            <a:chExt cx="4357688" cy="1262064"/>
          </a:xfrm>
        </p:grpSpPr>
        <p:sp>
          <p:nvSpPr>
            <p:cNvPr id="696" name="Google Shape;696;p19"/>
            <p:cNvSpPr/>
            <p:nvPr/>
          </p:nvSpPr>
          <p:spPr>
            <a:xfrm>
              <a:off x="0" y="0"/>
              <a:ext cx="4357688" cy="1252539"/>
            </a:xfrm>
            <a:custGeom>
              <a:rect b="b" l="l" r="r" t="t"/>
              <a:pathLst>
                <a:path extrusionOk="0" h="1252539" w="4357688">
                  <a:moveTo>
                    <a:pt x="0" y="0"/>
                  </a:moveTo>
                  <a:lnTo>
                    <a:pt x="4357688" y="0"/>
                  </a:lnTo>
                  <a:lnTo>
                    <a:pt x="4357688" y="1252539"/>
                  </a:lnTo>
                  <a:lnTo>
                    <a:pt x="0" y="1252539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7789" l="0" r="0" t="-17789"/>
              </a:stretch>
            </a:blipFill>
            <a:ln>
              <a:noFill/>
            </a:ln>
          </p:spPr>
        </p:sp>
        <p:sp>
          <p:nvSpPr>
            <p:cNvPr id="697" name="Google Shape;697;p19"/>
            <p:cNvSpPr txBox="1"/>
            <p:nvPr/>
          </p:nvSpPr>
          <p:spPr>
            <a:xfrm>
              <a:off x="0" y="-9525"/>
              <a:ext cx="4357688" cy="126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The MCP</a:t>
              </a:r>
              <a:endParaRPr/>
            </a:p>
          </p:txBody>
        </p:sp>
      </p:grpSp>
      <p:grpSp>
        <p:nvGrpSpPr>
          <p:cNvPr id="698" name="Google Shape;698;p19"/>
          <p:cNvGrpSpPr/>
          <p:nvPr/>
        </p:nvGrpSpPr>
        <p:grpSpPr>
          <a:xfrm>
            <a:off x="4036219" y="496445"/>
            <a:ext cx="6209882" cy="1221395"/>
            <a:chOff x="0" y="-9525"/>
            <a:chExt cx="8279842" cy="1628528"/>
          </a:xfrm>
        </p:grpSpPr>
        <p:sp>
          <p:nvSpPr>
            <p:cNvPr id="699" name="Google Shape;699;p19"/>
            <p:cNvSpPr/>
            <p:nvPr/>
          </p:nvSpPr>
          <p:spPr>
            <a:xfrm>
              <a:off x="0" y="0"/>
              <a:ext cx="8279842" cy="1619003"/>
            </a:xfrm>
            <a:custGeom>
              <a:rect b="b" l="l" r="r" t="t"/>
              <a:pathLst>
                <a:path extrusionOk="0" h="1619003" w="8279842">
                  <a:moveTo>
                    <a:pt x="0" y="0"/>
                  </a:moveTo>
                  <a:lnTo>
                    <a:pt x="8279842" y="0"/>
                  </a:lnTo>
                  <a:lnTo>
                    <a:pt x="8279842" y="1619003"/>
                  </a:lnTo>
                  <a:lnTo>
                    <a:pt x="0" y="1619003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4487" l="0" r="13893" t="-47122"/>
              </a:stretch>
            </a:blipFill>
            <a:ln>
              <a:noFill/>
            </a:ln>
          </p:spPr>
        </p:sp>
        <p:sp>
          <p:nvSpPr>
            <p:cNvPr id="700" name="Google Shape;700;p19"/>
            <p:cNvSpPr txBox="1"/>
            <p:nvPr/>
          </p:nvSpPr>
          <p:spPr>
            <a:xfrm>
              <a:off x="0" y="-9525"/>
              <a:ext cx="8279842" cy="162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00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 Paradigm Shift</a:t>
              </a:r>
              <a:endParaRPr/>
            </a:p>
          </p:txBody>
        </p:sp>
      </p:grpSp>
      <p:grpSp>
        <p:nvGrpSpPr>
          <p:cNvPr id="701" name="Google Shape;701;p19"/>
          <p:cNvGrpSpPr/>
          <p:nvPr/>
        </p:nvGrpSpPr>
        <p:grpSpPr>
          <a:xfrm>
            <a:off x="571500" y="1645377"/>
            <a:ext cx="17145000" cy="432197"/>
            <a:chOff x="0" y="0"/>
            <a:chExt cx="22860000" cy="576262"/>
          </a:xfrm>
        </p:grpSpPr>
        <p:sp>
          <p:nvSpPr>
            <p:cNvPr id="702" name="Google Shape;702;p19"/>
            <p:cNvSpPr/>
            <p:nvPr/>
          </p:nvSpPr>
          <p:spPr>
            <a:xfrm>
              <a:off x="0" y="0"/>
              <a:ext cx="22860000" cy="576261"/>
            </a:xfrm>
            <a:custGeom>
              <a:rect b="b" l="l" r="r" t="t"/>
              <a:pathLst>
                <a:path extrusionOk="0" h="576261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576261"/>
                  </a:lnTo>
                  <a:lnTo>
                    <a:pt x="0" y="57626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723036" l="0" r="0" t="-723036"/>
              </a:stretch>
            </a:blipFill>
            <a:ln>
              <a:noFill/>
            </a:ln>
          </p:spPr>
        </p:sp>
        <p:sp>
          <p:nvSpPr>
            <p:cNvPr id="703" name="Google Shape;703;p19"/>
            <p:cNvSpPr txBox="1"/>
            <p:nvPr/>
          </p:nvSpPr>
          <p:spPr>
            <a:xfrm>
              <a:off x="0" y="9525"/>
              <a:ext cx="22860000" cy="566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75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A fundamental transformation in AI tool integration</a:t>
              </a:r>
              <a:endParaRPr/>
            </a:p>
          </p:txBody>
        </p:sp>
      </p:grpSp>
      <p:sp>
        <p:nvSpPr>
          <p:cNvPr id="704" name="Google Shape;704;p19"/>
          <p:cNvSpPr/>
          <p:nvPr/>
        </p:nvSpPr>
        <p:spPr>
          <a:xfrm>
            <a:off x="457200" y="2806236"/>
            <a:ext cx="2705100" cy="771525"/>
          </a:xfrm>
          <a:custGeom>
            <a:rect b="b" l="l" r="r" t="t"/>
            <a:pathLst>
              <a:path extrusionOk="0" h="1028700" w="3606800">
                <a:moveTo>
                  <a:pt x="0" y="0"/>
                </a:moveTo>
                <a:lnTo>
                  <a:pt x="3606800" y="0"/>
                </a:lnTo>
                <a:lnTo>
                  <a:pt x="3606800" y="1028700"/>
                </a:lnTo>
                <a:lnTo>
                  <a:pt x="0" y="10287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705" name="Google Shape;705;p19"/>
          <p:cNvGrpSpPr/>
          <p:nvPr/>
        </p:nvGrpSpPr>
        <p:grpSpPr>
          <a:xfrm>
            <a:off x="457200" y="2806236"/>
            <a:ext cx="2705082" cy="771526"/>
            <a:chOff x="0" y="0"/>
            <a:chExt cx="3606776" cy="1028701"/>
          </a:xfrm>
        </p:grpSpPr>
        <p:sp>
          <p:nvSpPr>
            <p:cNvPr id="706" name="Google Shape;706;p19"/>
            <p:cNvSpPr/>
            <p:nvPr/>
          </p:nvSpPr>
          <p:spPr>
            <a:xfrm>
              <a:off x="0" y="0"/>
              <a:ext cx="3606776" cy="1028701"/>
            </a:xfrm>
            <a:custGeom>
              <a:rect b="b" l="l" r="r" t="t"/>
              <a:pathLst>
                <a:path extrusionOk="0" h="1028701" w="3606776">
                  <a:moveTo>
                    <a:pt x="0" y="0"/>
                  </a:moveTo>
                  <a:lnTo>
                    <a:pt x="3606776" y="0"/>
                  </a:lnTo>
                  <a:lnTo>
                    <a:pt x="3606776" y="1028701"/>
                  </a:lnTo>
                  <a:lnTo>
                    <a:pt x="0" y="102870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317" l="0" r="0" t="-18317"/>
              </a:stretch>
            </a:blipFill>
            <a:ln>
              <a:noFill/>
            </a:ln>
          </p:spPr>
        </p:sp>
        <p:sp>
          <p:nvSpPr>
            <p:cNvPr id="707" name="Google Shape;707;p19"/>
            <p:cNvSpPr txBox="1"/>
            <p:nvPr/>
          </p:nvSpPr>
          <p:spPr>
            <a:xfrm>
              <a:off x="0" y="0"/>
              <a:ext cx="3606775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Development</a:t>
              </a:r>
              <a:endParaRPr/>
            </a:p>
          </p:txBody>
        </p:sp>
      </p:grpSp>
      <p:sp>
        <p:nvSpPr>
          <p:cNvPr id="708" name="Google Shape;708;p19"/>
          <p:cNvSpPr/>
          <p:nvPr/>
        </p:nvSpPr>
        <p:spPr>
          <a:xfrm>
            <a:off x="3390681" y="242027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09" name="Google Shape;709;p19"/>
          <p:cNvGrpSpPr/>
          <p:nvPr/>
        </p:nvGrpSpPr>
        <p:grpSpPr>
          <a:xfrm>
            <a:off x="3676631" y="2702652"/>
            <a:ext cx="3706322" cy="292894"/>
            <a:chOff x="0" y="0"/>
            <a:chExt cx="4941763" cy="390525"/>
          </a:xfrm>
        </p:grpSpPr>
        <p:sp>
          <p:nvSpPr>
            <p:cNvPr id="710" name="Google Shape;710;p19"/>
            <p:cNvSpPr/>
            <p:nvPr/>
          </p:nvSpPr>
          <p:spPr>
            <a:xfrm>
              <a:off x="0" y="0"/>
              <a:ext cx="4941763" cy="390525"/>
            </a:xfrm>
            <a:custGeom>
              <a:rect b="b" l="l" r="r" t="t"/>
              <a:pathLst>
                <a:path extrusionOk="0" h="390525" w="4941763">
                  <a:moveTo>
                    <a:pt x="0" y="0"/>
                  </a:moveTo>
                  <a:lnTo>
                    <a:pt x="4941763" y="0"/>
                  </a:lnTo>
                  <a:lnTo>
                    <a:pt x="494176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96573" l="0" r="0" t="-196573"/>
              </a:stretch>
            </a:blipFill>
            <a:ln>
              <a:noFill/>
            </a:ln>
          </p:spPr>
        </p:sp>
        <p:sp>
          <p:nvSpPr>
            <p:cNvPr id="711" name="Google Shape;711;p19"/>
            <p:cNvSpPr txBox="1"/>
            <p:nvPr/>
          </p:nvSpPr>
          <p:spPr>
            <a:xfrm>
              <a:off x="0" y="0"/>
              <a:ext cx="494176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Custom coding for each integration</a:t>
              </a:r>
              <a:endParaRPr/>
            </a:p>
          </p:txBody>
        </p:sp>
      </p:grpSp>
      <p:grpSp>
        <p:nvGrpSpPr>
          <p:cNvPr id="712" name="Google Shape;712;p19"/>
          <p:cNvGrpSpPr/>
          <p:nvPr/>
        </p:nvGrpSpPr>
        <p:grpSpPr>
          <a:xfrm>
            <a:off x="3676631" y="3045552"/>
            <a:ext cx="2793597" cy="292894"/>
            <a:chOff x="0" y="0"/>
            <a:chExt cx="3724796" cy="390525"/>
          </a:xfrm>
        </p:grpSpPr>
        <p:sp>
          <p:nvSpPr>
            <p:cNvPr id="713" name="Google Shape;713;p19"/>
            <p:cNvSpPr/>
            <p:nvPr/>
          </p:nvSpPr>
          <p:spPr>
            <a:xfrm>
              <a:off x="0" y="0"/>
              <a:ext cx="3724795" cy="390525"/>
            </a:xfrm>
            <a:custGeom>
              <a:rect b="b" l="l" r="r" t="t"/>
              <a:pathLst>
                <a:path extrusionOk="0" h="390525" w="3724795">
                  <a:moveTo>
                    <a:pt x="0" y="0"/>
                  </a:moveTo>
                  <a:lnTo>
                    <a:pt x="3724795" y="0"/>
                  </a:lnTo>
                  <a:lnTo>
                    <a:pt x="372479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5846" l="0" r="0" t="-135846"/>
              </a:stretch>
            </a:blipFill>
            <a:ln>
              <a:noFill/>
            </a:ln>
          </p:spPr>
        </p:sp>
        <p:sp>
          <p:nvSpPr>
            <p:cNvPr id="714" name="Google Shape;714;p19"/>
            <p:cNvSpPr txBox="1"/>
            <p:nvPr/>
          </p:nvSpPr>
          <p:spPr>
            <a:xfrm>
              <a:off x="0" y="0"/>
              <a:ext cx="3724796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150+ lines of code per tool</a:t>
              </a:r>
              <a:endParaRPr/>
            </a:p>
          </p:txBody>
        </p:sp>
      </p:grpSp>
      <p:grpSp>
        <p:nvGrpSpPr>
          <p:cNvPr id="715" name="Google Shape;715;p19"/>
          <p:cNvGrpSpPr/>
          <p:nvPr/>
        </p:nvGrpSpPr>
        <p:grpSpPr>
          <a:xfrm>
            <a:off x="3676631" y="3388452"/>
            <a:ext cx="3352707" cy="292894"/>
            <a:chOff x="0" y="0"/>
            <a:chExt cx="4470275" cy="390525"/>
          </a:xfrm>
        </p:grpSpPr>
        <p:sp>
          <p:nvSpPr>
            <p:cNvPr id="716" name="Google Shape;716;p19"/>
            <p:cNvSpPr/>
            <p:nvPr/>
          </p:nvSpPr>
          <p:spPr>
            <a:xfrm>
              <a:off x="0" y="0"/>
              <a:ext cx="4470275" cy="390525"/>
            </a:xfrm>
            <a:custGeom>
              <a:rect b="b" l="l" r="r" t="t"/>
              <a:pathLst>
                <a:path extrusionOk="0" h="390525" w="4470275">
                  <a:moveTo>
                    <a:pt x="0" y="0"/>
                  </a:moveTo>
                  <a:lnTo>
                    <a:pt x="4470275" y="0"/>
                  </a:lnTo>
                  <a:lnTo>
                    <a:pt x="447027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73035" l="0" r="0" t="-173035"/>
              </a:stretch>
            </a:blipFill>
            <a:ln>
              <a:noFill/>
            </a:ln>
          </p:spPr>
        </p:sp>
        <p:sp>
          <p:nvSpPr>
            <p:cNvPr id="717" name="Google Shape;717;p19"/>
            <p:cNvSpPr txBox="1"/>
            <p:nvPr/>
          </p:nvSpPr>
          <p:spPr>
            <a:xfrm>
              <a:off x="0" y="0"/>
              <a:ext cx="4470273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Multiple authentication systems </a:t>
              </a:r>
              <a:endParaRPr/>
            </a:p>
          </p:txBody>
        </p:sp>
      </p:grpSp>
      <p:sp>
        <p:nvSpPr>
          <p:cNvPr id="718" name="Google Shape;718;p19"/>
          <p:cNvSpPr/>
          <p:nvPr/>
        </p:nvSpPr>
        <p:spPr>
          <a:xfrm>
            <a:off x="10724912" y="242027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19" name="Google Shape;719;p19"/>
          <p:cNvGrpSpPr/>
          <p:nvPr/>
        </p:nvGrpSpPr>
        <p:grpSpPr>
          <a:xfrm>
            <a:off x="11010862" y="2674077"/>
            <a:ext cx="4022436" cy="292894"/>
            <a:chOff x="0" y="0"/>
            <a:chExt cx="5363248" cy="390525"/>
          </a:xfrm>
        </p:grpSpPr>
        <p:sp>
          <p:nvSpPr>
            <p:cNvPr id="720" name="Google Shape;720;p19"/>
            <p:cNvSpPr/>
            <p:nvPr/>
          </p:nvSpPr>
          <p:spPr>
            <a:xfrm>
              <a:off x="0" y="0"/>
              <a:ext cx="5363246" cy="390525"/>
            </a:xfrm>
            <a:custGeom>
              <a:rect b="b" l="l" r="r" t="t"/>
              <a:pathLst>
                <a:path extrusionOk="0" h="390525" w="5363246">
                  <a:moveTo>
                    <a:pt x="0" y="0"/>
                  </a:moveTo>
                  <a:lnTo>
                    <a:pt x="5363246" y="0"/>
                  </a:lnTo>
                  <a:lnTo>
                    <a:pt x="5363246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17609" l="0" r="0" t="-217609"/>
              </a:stretch>
            </a:blipFill>
            <a:ln>
              <a:noFill/>
            </a:ln>
          </p:spPr>
        </p:sp>
        <p:sp>
          <p:nvSpPr>
            <p:cNvPr id="721" name="Google Shape;721;p19"/>
            <p:cNvSpPr txBox="1"/>
            <p:nvPr/>
          </p:nvSpPr>
          <p:spPr>
            <a:xfrm>
              <a:off x="0" y="0"/>
              <a:ext cx="536324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Standardized protocol implementation</a:t>
              </a:r>
              <a:endParaRPr/>
            </a:p>
          </p:txBody>
        </p:sp>
      </p:grpSp>
      <p:grpSp>
        <p:nvGrpSpPr>
          <p:cNvPr id="722" name="Google Shape;722;p19"/>
          <p:cNvGrpSpPr/>
          <p:nvPr/>
        </p:nvGrpSpPr>
        <p:grpSpPr>
          <a:xfrm>
            <a:off x="11010862" y="3016977"/>
            <a:ext cx="3100502" cy="292894"/>
            <a:chOff x="0" y="0"/>
            <a:chExt cx="4134002" cy="390525"/>
          </a:xfrm>
        </p:grpSpPr>
        <p:sp>
          <p:nvSpPr>
            <p:cNvPr id="723" name="Google Shape;723;p19"/>
            <p:cNvSpPr/>
            <p:nvPr/>
          </p:nvSpPr>
          <p:spPr>
            <a:xfrm>
              <a:off x="0" y="0"/>
              <a:ext cx="4134000" cy="390525"/>
            </a:xfrm>
            <a:custGeom>
              <a:rect b="b" l="l" r="r" t="t"/>
              <a:pathLst>
                <a:path extrusionOk="0" h="390525" w="4134000">
                  <a:moveTo>
                    <a:pt x="0" y="0"/>
                  </a:moveTo>
                  <a:lnTo>
                    <a:pt x="4134000" y="0"/>
                  </a:lnTo>
                  <a:lnTo>
                    <a:pt x="4134000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56271" l="0" r="0" t="-156271"/>
              </a:stretch>
            </a:blipFill>
            <a:ln>
              <a:noFill/>
            </a:ln>
          </p:spPr>
        </p:sp>
        <p:sp>
          <p:nvSpPr>
            <p:cNvPr id="724" name="Google Shape;724;p19"/>
            <p:cNvSpPr txBox="1"/>
            <p:nvPr/>
          </p:nvSpPr>
          <p:spPr>
            <a:xfrm>
              <a:off x="0" y="0"/>
              <a:ext cx="413400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5 lines of code for connection</a:t>
              </a:r>
              <a:endParaRPr/>
            </a:p>
          </p:txBody>
        </p:sp>
      </p:grpSp>
      <p:grpSp>
        <p:nvGrpSpPr>
          <p:cNvPr id="725" name="Google Shape;725;p19"/>
          <p:cNvGrpSpPr/>
          <p:nvPr/>
        </p:nvGrpSpPr>
        <p:grpSpPr>
          <a:xfrm>
            <a:off x="11010862" y="3359877"/>
            <a:ext cx="2384450" cy="292894"/>
            <a:chOff x="0" y="0"/>
            <a:chExt cx="3179267" cy="390525"/>
          </a:xfrm>
        </p:grpSpPr>
        <p:sp>
          <p:nvSpPr>
            <p:cNvPr id="726" name="Google Shape;726;p19"/>
            <p:cNvSpPr/>
            <p:nvPr/>
          </p:nvSpPr>
          <p:spPr>
            <a:xfrm>
              <a:off x="0" y="0"/>
              <a:ext cx="3179267" cy="390525"/>
            </a:xfrm>
            <a:custGeom>
              <a:rect b="b" l="l" r="r" t="t"/>
              <a:pathLst>
                <a:path extrusionOk="0" h="390525" w="3179267">
                  <a:moveTo>
                    <a:pt x="0" y="0"/>
                  </a:moveTo>
                  <a:lnTo>
                    <a:pt x="3179267" y="0"/>
                  </a:lnTo>
                  <a:lnTo>
                    <a:pt x="317926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8629" l="0" r="0" t="-108629"/>
              </a:stretch>
            </a:blipFill>
            <a:ln>
              <a:noFill/>
            </a:ln>
          </p:spPr>
        </p:sp>
        <p:sp>
          <p:nvSpPr>
            <p:cNvPr id="727" name="Google Shape;727;p19"/>
            <p:cNvSpPr txBox="1"/>
            <p:nvPr/>
          </p:nvSpPr>
          <p:spPr>
            <a:xfrm>
              <a:off x="0" y="0"/>
              <a:ext cx="3179267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Unified authentication </a:t>
              </a:r>
              <a:endParaRPr/>
            </a:p>
          </p:txBody>
        </p:sp>
      </p:grpSp>
      <p:sp>
        <p:nvSpPr>
          <p:cNvPr id="728" name="Google Shape;728;p19"/>
          <p:cNvSpPr/>
          <p:nvPr/>
        </p:nvSpPr>
        <p:spPr>
          <a:xfrm>
            <a:off x="457200" y="4577886"/>
            <a:ext cx="2705100" cy="771525"/>
          </a:xfrm>
          <a:custGeom>
            <a:rect b="b" l="l" r="r" t="t"/>
            <a:pathLst>
              <a:path extrusionOk="0" h="1028700" w="3606800">
                <a:moveTo>
                  <a:pt x="0" y="0"/>
                </a:moveTo>
                <a:lnTo>
                  <a:pt x="3606800" y="0"/>
                </a:lnTo>
                <a:lnTo>
                  <a:pt x="3606800" y="1028700"/>
                </a:lnTo>
                <a:lnTo>
                  <a:pt x="0" y="10287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729" name="Google Shape;729;p19"/>
          <p:cNvGrpSpPr/>
          <p:nvPr/>
        </p:nvGrpSpPr>
        <p:grpSpPr>
          <a:xfrm>
            <a:off x="457200" y="4577886"/>
            <a:ext cx="2705082" cy="771526"/>
            <a:chOff x="0" y="0"/>
            <a:chExt cx="3606776" cy="1028701"/>
          </a:xfrm>
        </p:grpSpPr>
        <p:sp>
          <p:nvSpPr>
            <p:cNvPr id="730" name="Google Shape;730;p19"/>
            <p:cNvSpPr/>
            <p:nvPr/>
          </p:nvSpPr>
          <p:spPr>
            <a:xfrm>
              <a:off x="0" y="0"/>
              <a:ext cx="3606776" cy="1028701"/>
            </a:xfrm>
            <a:custGeom>
              <a:rect b="b" l="l" r="r" t="t"/>
              <a:pathLst>
                <a:path extrusionOk="0" h="1028701" w="3606776">
                  <a:moveTo>
                    <a:pt x="0" y="0"/>
                  </a:moveTo>
                  <a:lnTo>
                    <a:pt x="3606776" y="0"/>
                  </a:lnTo>
                  <a:lnTo>
                    <a:pt x="3606776" y="1028701"/>
                  </a:lnTo>
                  <a:lnTo>
                    <a:pt x="0" y="102870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317" l="0" r="0" t="-18317"/>
              </a:stretch>
            </a:blipFill>
            <a:ln>
              <a:noFill/>
            </a:ln>
          </p:spPr>
        </p:sp>
        <p:sp>
          <p:nvSpPr>
            <p:cNvPr id="731" name="Google Shape;731;p19"/>
            <p:cNvSpPr txBox="1"/>
            <p:nvPr/>
          </p:nvSpPr>
          <p:spPr>
            <a:xfrm>
              <a:off x="0" y="0"/>
              <a:ext cx="3606775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Maintenance</a:t>
              </a:r>
              <a:endParaRPr/>
            </a:p>
          </p:txBody>
        </p:sp>
      </p:grpSp>
      <p:sp>
        <p:nvSpPr>
          <p:cNvPr id="732" name="Google Shape;732;p19"/>
          <p:cNvSpPr/>
          <p:nvPr/>
        </p:nvSpPr>
        <p:spPr>
          <a:xfrm>
            <a:off x="3390681" y="419192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33" name="Google Shape;733;p19"/>
          <p:cNvGrpSpPr/>
          <p:nvPr/>
        </p:nvGrpSpPr>
        <p:grpSpPr>
          <a:xfrm>
            <a:off x="3676631" y="4474302"/>
            <a:ext cx="3136050" cy="292894"/>
            <a:chOff x="0" y="0"/>
            <a:chExt cx="4181400" cy="390525"/>
          </a:xfrm>
        </p:grpSpPr>
        <p:sp>
          <p:nvSpPr>
            <p:cNvPr id="734" name="Google Shape;734;p19"/>
            <p:cNvSpPr/>
            <p:nvPr/>
          </p:nvSpPr>
          <p:spPr>
            <a:xfrm>
              <a:off x="0" y="0"/>
              <a:ext cx="4181400" cy="390525"/>
            </a:xfrm>
            <a:custGeom>
              <a:rect b="b" l="l" r="r" t="t"/>
              <a:pathLst>
                <a:path extrusionOk="0" h="390525" w="4181400">
                  <a:moveTo>
                    <a:pt x="0" y="0"/>
                  </a:moveTo>
                  <a:lnTo>
                    <a:pt x="4181400" y="0"/>
                  </a:lnTo>
                  <a:lnTo>
                    <a:pt x="4181400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58629" l="0" r="0" t="-158629"/>
              </a:stretch>
            </a:blipFill>
            <a:ln>
              <a:noFill/>
            </a:ln>
          </p:spPr>
        </p:sp>
        <p:sp>
          <p:nvSpPr>
            <p:cNvPr id="735" name="Google Shape;735;p19"/>
            <p:cNvSpPr txBox="1"/>
            <p:nvPr/>
          </p:nvSpPr>
          <p:spPr>
            <a:xfrm>
              <a:off x="0" y="0"/>
              <a:ext cx="4181399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Exponential complexity (N×M)</a:t>
              </a:r>
              <a:endParaRPr/>
            </a:p>
          </p:txBody>
        </p:sp>
      </p:grpSp>
      <p:grpSp>
        <p:nvGrpSpPr>
          <p:cNvPr id="736" name="Google Shape;736;p19"/>
          <p:cNvGrpSpPr/>
          <p:nvPr/>
        </p:nvGrpSpPr>
        <p:grpSpPr>
          <a:xfrm>
            <a:off x="3676631" y="4817202"/>
            <a:ext cx="2025701" cy="292894"/>
            <a:chOff x="0" y="0"/>
            <a:chExt cx="2700934" cy="390525"/>
          </a:xfrm>
        </p:grpSpPr>
        <p:sp>
          <p:nvSpPr>
            <p:cNvPr id="737" name="Google Shape;737;p19"/>
            <p:cNvSpPr/>
            <p:nvPr/>
          </p:nvSpPr>
          <p:spPr>
            <a:xfrm>
              <a:off x="0" y="0"/>
              <a:ext cx="2700933" cy="390525"/>
            </a:xfrm>
            <a:custGeom>
              <a:rect b="b" l="l" r="r" t="t"/>
              <a:pathLst>
                <a:path extrusionOk="0" h="390525" w="2700933">
                  <a:moveTo>
                    <a:pt x="0" y="0"/>
                  </a:moveTo>
                  <a:lnTo>
                    <a:pt x="2700933" y="0"/>
                  </a:lnTo>
                  <a:lnTo>
                    <a:pt x="270093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84764" l="0" r="0" t="-84764"/>
              </a:stretch>
            </a:blipFill>
            <a:ln>
              <a:noFill/>
            </a:ln>
          </p:spPr>
        </p:sp>
        <p:sp>
          <p:nvSpPr>
            <p:cNvPr id="738" name="Google Shape;738;p19"/>
            <p:cNvSpPr txBox="1"/>
            <p:nvPr/>
          </p:nvSpPr>
          <p:spPr>
            <a:xfrm>
              <a:off x="0" y="0"/>
              <a:ext cx="2700934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Brittle integrations</a:t>
              </a:r>
              <a:endParaRPr/>
            </a:p>
          </p:txBody>
        </p:sp>
      </p:grpSp>
      <p:grpSp>
        <p:nvGrpSpPr>
          <p:cNvPr id="739" name="Google Shape;739;p19"/>
          <p:cNvGrpSpPr/>
          <p:nvPr/>
        </p:nvGrpSpPr>
        <p:grpSpPr>
          <a:xfrm>
            <a:off x="3676631" y="5160102"/>
            <a:ext cx="2834116" cy="292894"/>
            <a:chOff x="0" y="0"/>
            <a:chExt cx="3778822" cy="390525"/>
          </a:xfrm>
        </p:grpSpPr>
        <p:sp>
          <p:nvSpPr>
            <p:cNvPr id="740" name="Google Shape;740;p19"/>
            <p:cNvSpPr/>
            <p:nvPr/>
          </p:nvSpPr>
          <p:spPr>
            <a:xfrm>
              <a:off x="0" y="0"/>
              <a:ext cx="3778821" cy="390525"/>
            </a:xfrm>
            <a:custGeom>
              <a:rect b="b" l="l" r="r" t="t"/>
              <a:pathLst>
                <a:path extrusionOk="0" h="390525" w="3778821">
                  <a:moveTo>
                    <a:pt x="0" y="0"/>
                  </a:moveTo>
                  <a:lnTo>
                    <a:pt x="3778821" y="0"/>
                  </a:lnTo>
                  <a:lnTo>
                    <a:pt x="3778821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8537" l="0" r="0" t="-138537"/>
              </a:stretch>
            </a:blipFill>
            <a:ln>
              <a:noFill/>
            </a:ln>
          </p:spPr>
        </p:sp>
        <p:sp>
          <p:nvSpPr>
            <p:cNvPr id="741" name="Google Shape;741;p19"/>
            <p:cNvSpPr txBox="1"/>
            <p:nvPr/>
          </p:nvSpPr>
          <p:spPr>
            <a:xfrm>
              <a:off x="0" y="0"/>
              <a:ext cx="377882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Constant updates required </a:t>
              </a:r>
              <a:endParaRPr/>
            </a:p>
          </p:txBody>
        </p:sp>
      </p:grpSp>
      <p:sp>
        <p:nvSpPr>
          <p:cNvPr id="742" name="Google Shape;742;p19"/>
          <p:cNvSpPr/>
          <p:nvPr/>
        </p:nvSpPr>
        <p:spPr>
          <a:xfrm>
            <a:off x="10724912" y="419192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43" name="Google Shape;743;p19"/>
          <p:cNvGrpSpPr/>
          <p:nvPr/>
        </p:nvGrpSpPr>
        <p:grpSpPr>
          <a:xfrm>
            <a:off x="11010862" y="4445727"/>
            <a:ext cx="2471461" cy="292894"/>
            <a:chOff x="0" y="0"/>
            <a:chExt cx="3295282" cy="390525"/>
          </a:xfrm>
        </p:grpSpPr>
        <p:sp>
          <p:nvSpPr>
            <p:cNvPr id="744" name="Google Shape;744;p19"/>
            <p:cNvSpPr/>
            <p:nvPr/>
          </p:nvSpPr>
          <p:spPr>
            <a:xfrm>
              <a:off x="0" y="0"/>
              <a:ext cx="3295277" cy="390525"/>
            </a:xfrm>
            <a:custGeom>
              <a:rect b="b" l="l" r="r" t="t"/>
              <a:pathLst>
                <a:path extrusionOk="0" h="390525" w="3295277">
                  <a:moveTo>
                    <a:pt x="0" y="0"/>
                  </a:moveTo>
                  <a:lnTo>
                    <a:pt x="3295277" y="0"/>
                  </a:lnTo>
                  <a:lnTo>
                    <a:pt x="329527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4420" l="0" r="0" t="-114420"/>
              </a:stretch>
            </a:blipFill>
            <a:ln>
              <a:noFill/>
            </a:ln>
          </p:spPr>
        </p:sp>
        <p:sp>
          <p:nvSpPr>
            <p:cNvPr id="745" name="Google Shape;745;p19"/>
            <p:cNvSpPr txBox="1"/>
            <p:nvPr/>
          </p:nvSpPr>
          <p:spPr>
            <a:xfrm>
              <a:off x="0" y="0"/>
              <a:ext cx="329528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Linear scalability (M+N)</a:t>
              </a:r>
              <a:endParaRPr/>
            </a:p>
          </p:txBody>
        </p:sp>
      </p:grpSp>
      <p:grpSp>
        <p:nvGrpSpPr>
          <p:cNvPr id="746" name="Google Shape;746;p19"/>
          <p:cNvGrpSpPr/>
          <p:nvPr/>
        </p:nvGrpSpPr>
        <p:grpSpPr>
          <a:xfrm>
            <a:off x="11010862" y="4788627"/>
            <a:ext cx="2264010" cy="292894"/>
            <a:chOff x="0" y="0"/>
            <a:chExt cx="3018680" cy="390525"/>
          </a:xfrm>
        </p:grpSpPr>
        <p:sp>
          <p:nvSpPr>
            <p:cNvPr id="747" name="Google Shape;747;p19"/>
            <p:cNvSpPr/>
            <p:nvPr/>
          </p:nvSpPr>
          <p:spPr>
            <a:xfrm>
              <a:off x="0" y="0"/>
              <a:ext cx="3018680" cy="390525"/>
            </a:xfrm>
            <a:custGeom>
              <a:rect b="b" l="l" r="r" t="t"/>
              <a:pathLst>
                <a:path extrusionOk="0" h="390525" w="3018680">
                  <a:moveTo>
                    <a:pt x="0" y="0"/>
                  </a:moveTo>
                  <a:lnTo>
                    <a:pt x="3018680" y="0"/>
                  </a:lnTo>
                  <a:lnTo>
                    <a:pt x="3018680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0611" l="0" r="0" t="-100611"/>
              </a:stretch>
            </a:blipFill>
            <a:ln>
              <a:noFill/>
            </a:ln>
          </p:spPr>
        </p:sp>
        <p:sp>
          <p:nvSpPr>
            <p:cNvPr id="748" name="Google Shape;748;p19"/>
            <p:cNvSpPr txBox="1"/>
            <p:nvPr/>
          </p:nvSpPr>
          <p:spPr>
            <a:xfrm>
              <a:off x="0" y="0"/>
              <a:ext cx="3018676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Resilient connections</a:t>
              </a:r>
              <a:endParaRPr/>
            </a:p>
          </p:txBody>
        </p:sp>
      </p:grpSp>
      <p:grpSp>
        <p:nvGrpSpPr>
          <p:cNvPr id="749" name="Google Shape;749;p19"/>
          <p:cNvGrpSpPr/>
          <p:nvPr/>
        </p:nvGrpSpPr>
        <p:grpSpPr>
          <a:xfrm>
            <a:off x="11010862" y="5157168"/>
            <a:ext cx="2872582" cy="241604"/>
            <a:chOff x="0" y="0"/>
            <a:chExt cx="3830109" cy="322139"/>
          </a:xfrm>
        </p:grpSpPr>
        <p:sp>
          <p:nvSpPr>
            <p:cNvPr id="750" name="Google Shape;750;p19"/>
            <p:cNvSpPr/>
            <p:nvPr/>
          </p:nvSpPr>
          <p:spPr>
            <a:xfrm>
              <a:off x="0" y="0"/>
              <a:ext cx="3830109" cy="322139"/>
            </a:xfrm>
            <a:custGeom>
              <a:rect b="b" l="l" r="r" t="t"/>
              <a:pathLst>
                <a:path extrusionOk="0" h="322139" w="3830109">
                  <a:moveTo>
                    <a:pt x="0" y="0"/>
                  </a:moveTo>
                  <a:lnTo>
                    <a:pt x="3830109" y="0"/>
                  </a:lnTo>
                  <a:lnTo>
                    <a:pt x="3830109" y="322139"/>
                  </a:lnTo>
                  <a:lnTo>
                    <a:pt x="0" y="322139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1674" l="0" r="0" t="-181674"/>
              </a:stretch>
            </a:blipFill>
            <a:ln>
              <a:noFill/>
            </a:ln>
          </p:spPr>
        </p:sp>
        <p:sp>
          <p:nvSpPr>
            <p:cNvPr id="751" name="Google Shape;751;p19"/>
            <p:cNvSpPr txBox="1"/>
            <p:nvPr/>
          </p:nvSpPr>
          <p:spPr>
            <a:xfrm>
              <a:off x="0" y="0"/>
              <a:ext cx="3830104" cy="322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Less maintenance overhead </a:t>
              </a:r>
              <a:endParaRPr/>
            </a:p>
          </p:txBody>
        </p:sp>
      </p:grpSp>
      <p:sp>
        <p:nvSpPr>
          <p:cNvPr id="752" name="Google Shape;752;p19"/>
          <p:cNvSpPr/>
          <p:nvPr/>
        </p:nvSpPr>
        <p:spPr>
          <a:xfrm>
            <a:off x="457200" y="6349536"/>
            <a:ext cx="2705100" cy="771525"/>
          </a:xfrm>
          <a:custGeom>
            <a:rect b="b" l="l" r="r" t="t"/>
            <a:pathLst>
              <a:path extrusionOk="0" h="1028700" w="3606800">
                <a:moveTo>
                  <a:pt x="0" y="0"/>
                </a:moveTo>
                <a:lnTo>
                  <a:pt x="3606800" y="0"/>
                </a:lnTo>
                <a:lnTo>
                  <a:pt x="3606800" y="1028700"/>
                </a:lnTo>
                <a:lnTo>
                  <a:pt x="0" y="10287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753" name="Google Shape;753;p19"/>
          <p:cNvGrpSpPr/>
          <p:nvPr/>
        </p:nvGrpSpPr>
        <p:grpSpPr>
          <a:xfrm>
            <a:off x="457200" y="6349536"/>
            <a:ext cx="2705082" cy="771526"/>
            <a:chOff x="0" y="0"/>
            <a:chExt cx="3606776" cy="1028701"/>
          </a:xfrm>
        </p:grpSpPr>
        <p:sp>
          <p:nvSpPr>
            <p:cNvPr id="754" name="Google Shape;754;p19"/>
            <p:cNvSpPr/>
            <p:nvPr/>
          </p:nvSpPr>
          <p:spPr>
            <a:xfrm>
              <a:off x="0" y="0"/>
              <a:ext cx="3606776" cy="1028701"/>
            </a:xfrm>
            <a:custGeom>
              <a:rect b="b" l="l" r="r" t="t"/>
              <a:pathLst>
                <a:path extrusionOk="0" h="1028701" w="3606776">
                  <a:moveTo>
                    <a:pt x="0" y="0"/>
                  </a:moveTo>
                  <a:lnTo>
                    <a:pt x="3606776" y="0"/>
                  </a:lnTo>
                  <a:lnTo>
                    <a:pt x="3606776" y="1028701"/>
                  </a:lnTo>
                  <a:lnTo>
                    <a:pt x="0" y="102870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317" l="0" r="0" t="-18317"/>
              </a:stretch>
            </a:blipFill>
            <a:ln>
              <a:noFill/>
            </a:ln>
          </p:spPr>
        </p:sp>
        <p:sp>
          <p:nvSpPr>
            <p:cNvPr id="755" name="Google Shape;755;p19"/>
            <p:cNvSpPr txBox="1"/>
            <p:nvPr/>
          </p:nvSpPr>
          <p:spPr>
            <a:xfrm>
              <a:off x="0" y="0"/>
              <a:ext cx="3606775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Innovation</a:t>
              </a:r>
              <a:endParaRPr/>
            </a:p>
          </p:txBody>
        </p:sp>
      </p:grpSp>
      <p:sp>
        <p:nvSpPr>
          <p:cNvPr id="756" name="Google Shape;756;p19"/>
          <p:cNvSpPr/>
          <p:nvPr/>
        </p:nvSpPr>
        <p:spPr>
          <a:xfrm>
            <a:off x="3390681" y="596357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57" name="Google Shape;757;p19"/>
          <p:cNvGrpSpPr/>
          <p:nvPr/>
        </p:nvGrpSpPr>
        <p:grpSpPr>
          <a:xfrm>
            <a:off x="3676631" y="6245952"/>
            <a:ext cx="1720083" cy="292894"/>
            <a:chOff x="0" y="0"/>
            <a:chExt cx="2293443" cy="390525"/>
          </a:xfrm>
        </p:grpSpPr>
        <p:sp>
          <p:nvSpPr>
            <p:cNvPr id="758" name="Google Shape;758;p19"/>
            <p:cNvSpPr/>
            <p:nvPr/>
          </p:nvSpPr>
          <p:spPr>
            <a:xfrm>
              <a:off x="0" y="0"/>
              <a:ext cx="2293443" cy="390525"/>
            </a:xfrm>
            <a:custGeom>
              <a:rect b="b" l="l" r="r" t="t"/>
              <a:pathLst>
                <a:path extrusionOk="0" h="390525" w="2293443">
                  <a:moveTo>
                    <a:pt x="0" y="0"/>
                  </a:moveTo>
                  <a:lnTo>
                    <a:pt x="2293443" y="0"/>
                  </a:lnTo>
                  <a:lnTo>
                    <a:pt x="229344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64428" l="0" r="0" t="-64431"/>
              </a:stretch>
            </a:blipFill>
            <a:ln>
              <a:noFill/>
            </a:ln>
          </p:spPr>
        </p:sp>
        <p:sp>
          <p:nvSpPr>
            <p:cNvPr id="759" name="Google Shape;759;p19"/>
            <p:cNvSpPr txBox="1"/>
            <p:nvPr/>
          </p:nvSpPr>
          <p:spPr>
            <a:xfrm>
              <a:off x="0" y="0"/>
              <a:ext cx="229344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Siloed solutions</a:t>
              </a:r>
              <a:endParaRPr/>
            </a:p>
          </p:txBody>
        </p:sp>
      </p:grpSp>
      <p:grpSp>
        <p:nvGrpSpPr>
          <p:cNvPr id="760" name="Google Shape;760;p19"/>
          <p:cNvGrpSpPr/>
          <p:nvPr/>
        </p:nvGrpSpPr>
        <p:grpSpPr>
          <a:xfrm>
            <a:off x="3676631" y="6588852"/>
            <a:ext cx="1578657" cy="292894"/>
            <a:chOff x="0" y="0"/>
            <a:chExt cx="2104877" cy="390525"/>
          </a:xfrm>
        </p:grpSpPr>
        <p:sp>
          <p:nvSpPr>
            <p:cNvPr id="761" name="Google Shape;761;p19"/>
            <p:cNvSpPr/>
            <p:nvPr/>
          </p:nvSpPr>
          <p:spPr>
            <a:xfrm>
              <a:off x="0" y="0"/>
              <a:ext cx="2104877" cy="390525"/>
            </a:xfrm>
            <a:custGeom>
              <a:rect b="b" l="l" r="r" t="t"/>
              <a:pathLst>
                <a:path extrusionOk="0" h="390525" w="2104877">
                  <a:moveTo>
                    <a:pt x="0" y="0"/>
                  </a:moveTo>
                  <a:lnTo>
                    <a:pt x="2104877" y="0"/>
                  </a:lnTo>
                  <a:lnTo>
                    <a:pt x="210487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5020" l="0" r="0" t="-55020"/>
              </a:stretch>
            </a:blipFill>
            <a:ln>
              <a:noFill/>
            </a:ln>
          </p:spPr>
        </p:sp>
        <p:sp>
          <p:nvSpPr>
            <p:cNvPr id="762" name="Google Shape;762;p19"/>
            <p:cNvSpPr txBox="1"/>
            <p:nvPr/>
          </p:nvSpPr>
          <p:spPr>
            <a:xfrm>
              <a:off x="0" y="0"/>
              <a:ext cx="2104873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Vendor lock-in</a:t>
              </a:r>
              <a:endParaRPr/>
            </a:p>
          </p:txBody>
        </p:sp>
      </p:grpSp>
      <p:grpSp>
        <p:nvGrpSpPr>
          <p:cNvPr id="763" name="Google Shape;763;p19"/>
          <p:cNvGrpSpPr/>
          <p:nvPr/>
        </p:nvGrpSpPr>
        <p:grpSpPr>
          <a:xfrm>
            <a:off x="3676631" y="6931752"/>
            <a:ext cx="2338630" cy="292894"/>
            <a:chOff x="0" y="0"/>
            <a:chExt cx="3118173" cy="390525"/>
          </a:xfrm>
        </p:grpSpPr>
        <p:sp>
          <p:nvSpPr>
            <p:cNvPr id="764" name="Google Shape;764;p19"/>
            <p:cNvSpPr/>
            <p:nvPr/>
          </p:nvSpPr>
          <p:spPr>
            <a:xfrm>
              <a:off x="0" y="0"/>
              <a:ext cx="3118173" cy="390525"/>
            </a:xfrm>
            <a:custGeom>
              <a:rect b="b" l="l" r="r" t="t"/>
              <a:pathLst>
                <a:path extrusionOk="0" h="390525" w="3118173">
                  <a:moveTo>
                    <a:pt x="0" y="0"/>
                  </a:moveTo>
                  <a:lnTo>
                    <a:pt x="3118173" y="0"/>
                  </a:lnTo>
                  <a:lnTo>
                    <a:pt x="311817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5579" l="0" r="0" t="-105579"/>
              </a:stretch>
            </a:blipFill>
            <a:ln>
              <a:noFill/>
            </a:ln>
          </p:spPr>
        </p:sp>
        <p:sp>
          <p:nvSpPr>
            <p:cNvPr id="765" name="Google Shape;765;p19"/>
            <p:cNvSpPr txBox="1"/>
            <p:nvPr/>
          </p:nvSpPr>
          <p:spPr>
            <a:xfrm>
              <a:off x="0" y="0"/>
              <a:ext cx="311816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Limited tool discovery </a:t>
              </a:r>
              <a:endParaRPr/>
            </a:p>
          </p:txBody>
        </p:sp>
      </p:grpSp>
      <p:sp>
        <p:nvSpPr>
          <p:cNvPr id="766" name="Google Shape;766;p19"/>
          <p:cNvSpPr/>
          <p:nvPr/>
        </p:nvSpPr>
        <p:spPr>
          <a:xfrm>
            <a:off x="10724912" y="596357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67" name="Google Shape;767;p19"/>
          <p:cNvGrpSpPr/>
          <p:nvPr/>
        </p:nvGrpSpPr>
        <p:grpSpPr>
          <a:xfrm>
            <a:off x="11010862" y="6217377"/>
            <a:ext cx="2743648" cy="292894"/>
            <a:chOff x="0" y="0"/>
            <a:chExt cx="3658197" cy="390525"/>
          </a:xfrm>
        </p:grpSpPr>
        <p:sp>
          <p:nvSpPr>
            <p:cNvPr id="768" name="Google Shape;768;p19"/>
            <p:cNvSpPr/>
            <p:nvPr/>
          </p:nvSpPr>
          <p:spPr>
            <a:xfrm>
              <a:off x="0" y="0"/>
              <a:ext cx="3658195" cy="390525"/>
            </a:xfrm>
            <a:custGeom>
              <a:rect b="b" l="l" r="r" t="t"/>
              <a:pathLst>
                <a:path extrusionOk="0" h="390525" w="3658195">
                  <a:moveTo>
                    <a:pt x="0" y="0"/>
                  </a:moveTo>
                  <a:lnTo>
                    <a:pt x="3658195" y="0"/>
                  </a:lnTo>
                  <a:lnTo>
                    <a:pt x="365819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2522" l="0" r="0" t="-132522"/>
              </a:stretch>
            </a:blipFill>
            <a:ln>
              <a:noFill/>
            </a:ln>
          </p:spPr>
        </p:sp>
        <p:sp>
          <p:nvSpPr>
            <p:cNvPr id="769" name="Google Shape;769;p19"/>
            <p:cNvSpPr txBox="1"/>
            <p:nvPr/>
          </p:nvSpPr>
          <p:spPr>
            <a:xfrm>
              <a:off x="0" y="0"/>
              <a:ext cx="3658197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Interoperable ecosystems</a:t>
              </a:r>
              <a:endParaRPr/>
            </a:p>
          </p:txBody>
        </p:sp>
      </p:grpSp>
      <p:grpSp>
        <p:nvGrpSpPr>
          <p:cNvPr id="770" name="Google Shape;770;p19"/>
          <p:cNvGrpSpPr/>
          <p:nvPr/>
        </p:nvGrpSpPr>
        <p:grpSpPr>
          <a:xfrm>
            <a:off x="11010862" y="6560277"/>
            <a:ext cx="2354037" cy="292894"/>
            <a:chOff x="0" y="0"/>
            <a:chExt cx="3138716" cy="390525"/>
          </a:xfrm>
        </p:grpSpPr>
        <p:sp>
          <p:nvSpPr>
            <p:cNvPr id="771" name="Google Shape;771;p19"/>
            <p:cNvSpPr/>
            <p:nvPr/>
          </p:nvSpPr>
          <p:spPr>
            <a:xfrm>
              <a:off x="0" y="0"/>
              <a:ext cx="3138712" cy="390525"/>
            </a:xfrm>
            <a:custGeom>
              <a:rect b="b" l="l" r="r" t="t"/>
              <a:pathLst>
                <a:path extrusionOk="0" h="390525" w="3138712">
                  <a:moveTo>
                    <a:pt x="0" y="0"/>
                  </a:moveTo>
                  <a:lnTo>
                    <a:pt x="3138712" y="0"/>
                  </a:lnTo>
                  <a:lnTo>
                    <a:pt x="3138712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6602" l="0" r="0" t="-106602"/>
              </a:stretch>
            </a:blipFill>
            <a:ln>
              <a:noFill/>
            </a:ln>
          </p:spPr>
        </p:sp>
        <p:sp>
          <p:nvSpPr>
            <p:cNvPr id="772" name="Google Shape;772;p19"/>
            <p:cNvSpPr txBox="1"/>
            <p:nvPr/>
          </p:nvSpPr>
          <p:spPr>
            <a:xfrm>
              <a:off x="0" y="0"/>
              <a:ext cx="3138716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Vendor independence</a:t>
              </a:r>
              <a:endParaRPr/>
            </a:p>
          </p:txBody>
        </p:sp>
      </p:grpSp>
      <p:grpSp>
        <p:nvGrpSpPr>
          <p:cNvPr id="773" name="Google Shape;773;p19"/>
          <p:cNvGrpSpPr/>
          <p:nvPr/>
        </p:nvGrpSpPr>
        <p:grpSpPr>
          <a:xfrm>
            <a:off x="11010862" y="6903177"/>
            <a:ext cx="2462251" cy="292894"/>
            <a:chOff x="0" y="0"/>
            <a:chExt cx="3283001" cy="390525"/>
          </a:xfrm>
        </p:grpSpPr>
        <p:sp>
          <p:nvSpPr>
            <p:cNvPr id="774" name="Google Shape;774;p19"/>
            <p:cNvSpPr/>
            <p:nvPr/>
          </p:nvSpPr>
          <p:spPr>
            <a:xfrm>
              <a:off x="0" y="0"/>
              <a:ext cx="3283000" cy="390525"/>
            </a:xfrm>
            <a:custGeom>
              <a:rect b="b" l="l" r="r" t="t"/>
              <a:pathLst>
                <a:path extrusionOk="0" h="390525" w="3283000">
                  <a:moveTo>
                    <a:pt x="0" y="0"/>
                  </a:moveTo>
                  <a:lnTo>
                    <a:pt x="3283000" y="0"/>
                  </a:lnTo>
                  <a:lnTo>
                    <a:pt x="3283000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3806" l="0" r="0" t="-113806"/>
              </a:stretch>
            </a:blipFill>
            <a:ln>
              <a:noFill/>
            </a:ln>
          </p:spPr>
        </p:sp>
        <p:sp>
          <p:nvSpPr>
            <p:cNvPr id="775" name="Google Shape;775;p19"/>
            <p:cNvSpPr txBox="1"/>
            <p:nvPr/>
          </p:nvSpPr>
          <p:spPr>
            <a:xfrm>
              <a:off x="0" y="0"/>
              <a:ext cx="3283001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Dynamic tool discovery </a:t>
              </a:r>
              <a:endParaRPr/>
            </a:p>
          </p:txBody>
        </p:sp>
      </p:grpSp>
      <p:sp>
        <p:nvSpPr>
          <p:cNvPr id="776" name="Google Shape;776;p19"/>
          <p:cNvSpPr/>
          <p:nvPr/>
        </p:nvSpPr>
        <p:spPr>
          <a:xfrm>
            <a:off x="457200" y="8121186"/>
            <a:ext cx="2705100" cy="771525"/>
          </a:xfrm>
          <a:custGeom>
            <a:rect b="b" l="l" r="r" t="t"/>
            <a:pathLst>
              <a:path extrusionOk="0" h="1028700" w="3606800">
                <a:moveTo>
                  <a:pt x="0" y="0"/>
                </a:moveTo>
                <a:lnTo>
                  <a:pt x="3606800" y="0"/>
                </a:lnTo>
                <a:lnTo>
                  <a:pt x="3606800" y="1028700"/>
                </a:lnTo>
                <a:lnTo>
                  <a:pt x="0" y="10287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777" name="Google Shape;777;p19"/>
          <p:cNvGrpSpPr/>
          <p:nvPr/>
        </p:nvGrpSpPr>
        <p:grpSpPr>
          <a:xfrm>
            <a:off x="457200" y="8121186"/>
            <a:ext cx="2705082" cy="771526"/>
            <a:chOff x="0" y="0"/>
            <a:chExt cx="3606776" cy="1028701"/>
          </a:xfrm>
        </p:grpSpPr>
        <p:sp>
          <p:nvSpPr>
            <p:cNvPr id="778" name="Google Shape;778;p19"/>
            <p:cNvSpPr/>
            <p:nvPr/>
          </p:nvSpPr>
          <p:spPr>
            <a:xfrm>
              <a:off x="0" y="0"/>
              <a:ext cx="3606776" cy="1028701"/>
            </a:xfrm>
            <a:custGeom>
              <a:rect b="b" l="l" r="r" t="t"/>
              <a:pathLst>
                <a:path extrusionOk="0" h="1028701" w="3606776">
                  <a:moveTo>
                    <a:pt x="0" y="0"/>
                  </a:moveTo>
                  <a:lnTo>
                    <a:pt x="3606776" y="0"/>
                  </a:lnTo>
                  <a:lnTo>
                    <a:pt x="3606776" y="1028701"/>
                  </a:lnTo>
                  <a:lnTo>
                    <a:pt x="0" y="102870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317" l="0" r="0" t="-18317"/>
              </a:stretch>
            </a:blipFill>
            <a:ln>
              <a:noFill/>
            </a:ln>
          </p:spPr>
        </p:sp>
        <p:sp>
          <p:nvSpPr>
            <p:cNvPr id="779" name="Google Shape;779;p19"/>
            <p:cNvSpPr txBox="1"/>
            <p:nvPr/>
          </p:nvSpPr>
          <p:spPr>
            <a:xfrm>
              <a:off x="0" y="0"/>
              <a:ext cx="3606775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Adoption</a:t>
              </a:r>
              <a:endParaRPr/>
            </a:p>
          </p:txBody>
        </p:sp>
      </p:grpSp>
      <p:sp>
        <p:nvSpPr>
          <p:cNvPr id="780" name="Google Shape;780;p19"/>
          <p:cNvSpPr/>
          <p:nvPr/>
        </p:nvSpPr>
        <p:spPr>
          <a:xfrm>
            <a:off x="3390681" y="773522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81" name="Google Shape;781;p19"/>
          <p:cNvGrpSpPr/>
          <p:nvPr/>
        </p:nvGrpSpPr>
        <p:grpSpPr>
          <a:xfrm>
            <a:off x="3676631" y="8017602"/>
            <a:ext cx="2963094" cy="292894"/>
            <a:chOff x="0" y="0"/>
            <a:chExt cx="3950792" cy="390525"/>
          </a:xfrm>
        </p:grpSpPr>
        <p:sp>
          <p:nvSpPr>
            <p:cNvPr id="782" name="Google Shape;782;p19"/>
            <p:cNvSpPr/>
            <p:nvPr/>
          </p:nvSpPr>
          <p:spPr>
            <a:xfrm>
              <a:off x="0" y="0"/>
              <a:ext cx="3950792" cy="390525"/>
            </a:xfrm>
            <a:custGeom>
              <a:rect b="b" l="l" r="r" t="t"/>
              <a:pathLst>
                <a:path extrusionOk="0" h="390525" w="3950792">
                  <a:moveTo>
                    <a:pt x="0" y="0"/>
                  </a:moveTo>
                  <a:lnTo>
                    <a:pt x="3950792" y="0"/>
                  </a:lnTo>
                  <a:lnTo>
                    <a:pt x="3950792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47114" l="0" r="0" t="-147114"/>
              </a:stretch>
            </a:blipFill>
            <a:ln>
              <a:noFill/>
            </a:ln>
          </p:spPr>
        </p:sp>
        <p:sp>
          <p:nvSpPr>
            <p:cNvPr id="783" name="Google Shape;783;p19"/>
            <p:cNvSpPr txBox="1"/>
            <p:nvPr/>
          </p:nvSpPr>
          <p:spPr>
            <a:xfrm>
              <a:off x="0" y="0"/>
              <a:ext cx="395079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Technical expertise required</a:t>
              </a:r>
              <a:endParaRPr/>
            </a:p>
          </p:txBody>
        </p:sp>
      </p:grpSp>
      <p:grpSp>
        <p:nvGrpSpPr>
          <p:cNvPr id="784" name="Google Shape;784;p19"/>
          <p:cNvGrpSpPr/>
          <p:nvPr/>
        </p:nvGrpSpPr>
        <p:grpSpPr>
          <a:xfrm>
            <a:off x="3676631" y="8360502"/>
            <a:ext cx="2211105" cy="292894"/>
            <a:chOff x="0" y="0"/>
            <a:chExt cx="2948140" cy="390525"/>
          </a:xfrm>
        </p:grpSpPr>
        <p:sp>
          <p:nvSpPr>
            <p:cNvPr id="785" name="Google Shape;785;p19"/>
            <p:cNvSpPr/>
            <p:nvPr/>
          </p:nvSpPr>
          <p:spPr>
            <a:xfrm>
              <a:off x="0" y="0"/>
              <a:ext cx="2948136" cy="390525"/>
            </a:xfrm>
            <a:custGeom>
              <a:rect b="b" l="l" r="r" t="t"/>
              <a:pathLst>
                <a:path extrusionOk="0" h="390525" w="2948136">
                  <a:moveTo>
                    <a:pt x="0" y="0"/>
                  </a:moveTo>
                  <a:lnTo>
                    <a:pt x="2948136" y="0"/>
                  </a:lnTo>
                  <a:lnTo>
                    <a:pt x="2948136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97093" l="0" r="0" t="-97093"/>
              </a:stretch>
            </a:blipFill>
            <a:ln>
              <a:noFill/>
            </a:ln>
          </p:spPr>
        </p:sp>
        <p:sp>
          <p:nvSpPr>
            <p:cNvPr id="786" name="Google Shape;786;p19"/>
            <p:cNvSpPr txBox="1"/>
            <p:nvPr/>
          </p:nvSpPr>
          <p:spPr>
            <a:xfrm>
              <a:off x="0" y="0"/>
              <a:ext cx="294814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High barrier to entry</a:t>
              </a:r>
              <a:endParaRPr/>
            </a:p>
          </p:txBody>
        </p:sp>
      </p:grpSp>
      <p:grpSp>
        <p:nvGrpSpPr>
          <p:cNvPr id="787" name="Google Shape;787;p19"/>
          <p:cNvGrpSpPr/>
          <p:nvPr/>
        </p:nvGrpSpPr>
        <p:grpSpPr>
          <a:xfrm>
            <a:off x="3676631" y="8703402"/>
            <a:ext cx="2137155" cy="292894"/>
            <a:chOff x="0" y="0"/>
            <a:chExt cx="2849539" cy="390525"/>
          </a:xfrm>
        </p:grpSpPr>
        <p:sp>
          <p:nvSpPr>
            <p:cNvPr id="788" name="Google Shape;788;p19"/>
            <p:cNvSpPr/>
            <p:nvPr/>
          </p:nvSpPr>
          <p:spPr>
            <a:xfrm>
              <a:off x="0" y="0"/>
              <a:ext cx="2849539" cy="390525"/>
            </a:xfrm>
            <a:custGeom>
              <a:rect b="b" l="l" r="r" t="t"/>
              <a:pathLst>
                <a:path extrusionOk="0" h="390525" w="2849539">
                  <a:moveTo>
                    <a:pt x="0" y="0"/>
                  </a:moveTo>
                  <a:lnTo>
                    <a:pt x="2849539" y="0"/>
                  </a:lnTo>
                  <a:lnTo>
                    <a:pt x="2849539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92175" l="0" r="0" t="-92175"/>
              </a:stretch>
            </a:blipFill>
            <a:ln>
              <a:noFill/>
            </a:ln>
          </p:spPr>
        </p:sp>
        <p:sp>
          <p:nvSpPr>
            <p:cNvPr id="789" name="Google Shape;789;p19"/>
            <p:cNvSpPr txBox="1"/>
            <p:nvPr/>
          </p:nvSpPr>
          <p:spPr>
            <a:xfrm>
              <a:off x="0" y="0"/>
              <a:ext cx="2849537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Limited accessibility </a:t>
              </a:r>
              <a:endParaRPr/>
            </a:p>
          </p:txBody>
        </p:sp>
      </p:grpSp>
      <p:sp>
        <p:nvSpPr>
          <p:cNvPr id="790" name="Google Shape;790;p19"/>
          <p:cNvSpPr/>
          <p:nvPr/>
        </p:nvSpPr>
        <p:spPr>
          <a:xfrm>
            <a:off x="10724912" y="773522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91" name="Google Shape;791;p19"/>
          <p:cNvGrpSpPr/>
          <p:nvPr/>
        </p:nvGrpSpPr>
        <p:grpSpPr>
          <a:xfrm>
            <a:off x="11010862" y="7989027"/>
            <a:ext cx="2815476" cy="292894"/>
            <a:chOff x="0" y="0"/>
            <a:chExt cx="3753968" cy="390525"/>
          </a:xfrm>
        </p:grpSpPr>
        <p:sp>
          <p:nvSpPr>
            <p:cNvPr id="792" name="Google Shape;792;p19"/>
            <p:cNvSpPr/>
            <p:nvPr/>
          </p:nvSpPr>
          <p:spPr>
            <a:xfrm>
              <a:off x="0" y="0"/>
              <a:ext cx="3753965" cy="390525"/>
            </a:xfrm>
            <a:custGeom>
              <a:rect b="b" l="l" r="r" t="t"/>
              <a:pathLst>
                <a:path extrusionOk="0" h="390525" w="3753965">
                  <a:moveTo>
                    <a:pt x="0" y="0"/>
                  </a:moveTo>
                  <a:lnTo>
                    <a:pt x="3753965" y="0"/>
                  </a:lnTo>
                  <a:lnTo>
                    <a:pt x="375396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7308" l="0" r="0" t="-137308"/>
              </a:stretch>
            </a:blipFill>
            <a:ln>
              <a:noFill/>
            </a:ln>
          </p:spPr>
        </p:sp>
        <p:sp>
          <p:nvSpPr>
            <p:cNvPr id="793" name="Google Shape;793;p19"/>
            <p:cNvSpPr txBox="1"/>
            <p:nvPr/>
          </p:nvSpPr>
          <p:spPr>
            <a:xfrm>
              <a:off x="0" y="0"/>
              <a:ext cx="375396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Accessible AI development</a:t>
              </a:r>
              <a:endParaRPr/>
            </a:p>
          </p:txBody>
        </p:sp>
      </p:grpSp>
      <p:grpSp>
        <p:nvGrpSpPr>
          <p:cNvPr id="794" name="Google Shape;794;p19"/>
          <p:cNvGrpSpPr/>
          <p:nvPr/>
        </p:nvGrpSpPr>
        <p:grpSpPr>
          <a:xfrm>
            <a:off x="11010862" y="8331927"/>
            <a:ext cx="2709770" cy="292894"/>
            <a:chOff x="0" y="0"/>
            <a:chExt cx="3613027" cy="390525"/>
          </a:xfrm>
        </p:grpSpPr>
        <p:sp>
          <p:nvSpPr>
            <p:cNvPr id="795" name="Google Shape;795;p19"/>
            <p:cNvSpPr/>
            <p:nvPr/>
          </p:nvSpPr>
          <p:spPr>
            <a:xfrm>
              <a:off x="0" y="0"/>
              <a:ext cx="3613027" cy="390525"/>
            </a:xfrm>
            <a:custGeom>
              <a:rect b="b" l="l" r="r" t="t"/>
              <a:pathLst>
                <a:path extrusionOk="0" h="390525" w="3613027">
                  <a:moveTo>
                    <a:pt x="0" y="0"/>
                  </a:moveTo>
                  <a:lnTo>
                    <a:pt x="3613027" y="0"/>
                  </a:lnTo>
                  <a:lnTo>
                    <a:pt x="361302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0271" l="0" r="0" t="-130271"/>
              </a:stretch>
            </a:blipFill>
            <a:ln>
              <a:noFill/>
            </a:ln>
          </p:spPr>
        </p:sp>
        <p:sp>
          <p:nvSpPr>
            <p:cNvPr id="796" name="Google Shape;796;p19"/>
            <p:cNvSpPr txBox="1"/>
            <p:nvPr/>
          </p:nvSpPr>
          <p:spPr>
            <a:xfrm>
              <a:off x="0" y="0"/>
              <a:ext cx="3613023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Democratized integration</a:t>
              </a:r>
              <a:endParaRPr/>
            </a:p>
          </p:txBody>
        </p:sp>
      </p:grpSp>
      <p:grpSp>
        <p:nvGrpSpPr>
          <p:cNvPr id="797" name="Google Shape;797;p19"/>
          <p:cNvGrpSpPr/>
          <p:nvPr/>
        </p:nvGrpSpPr>
        <p:grpSpPr>
          <a:xfrm>
            <a:off x="11010862" y="8674827"/>
            <a:ext cx="2284828" cy="292894"/>
            <a:chOff x="0" y="0"/>
            <a:chExt cx="3046438" cy="390525"/>
          </a:xfrm>
        </p:grpSpPr>
        <p:sp>
          <p:nvSpPr>
            <p:cNvPr id="798" name="Google Shape;798;p19"/>
            <p:cNvSpPr/>
            <p:nvPr/>
          </p:nvSpPr>
          <p:spPr>
            <a:xfrm>
              <a:off x="0" y="0"/>
              <a:ext cx="3046437" cy="390525"/>
            </a:xfrm>
            <a:custGeom>
              <a:rect b="b" l="l" r="r" t="t"/>
              <a:pathLst>
                <a:path extrusionOk="0" h="390525" w="3046437">
                  <a:moveTo>
                    <a:pt x="0" y="0"/>
                  </a:moveTo>
                  <a:lnTo>
                    <a:pt x="3046437" y="0"/>
                  </a:lnTo>
                  <a:lnTo>
                    <a:pt x="304643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2003" l="0" r="0" t="-102003"/>
              </a:stretch>
            </a:blipFill>
            <a:ln>
              <a:noFill/>
            </a:ln>
          </p:spPr>
        </p:sp>
        <p:sp>
          <p:nvSpPr>
            <p:cNvPr id="799" name="Google Shape;799;p19"/>
            <p:cNvSpPr txBox="1"/>
            <p:nvPr/>
          </p:nvSpPr>
          <p:spPr>
            <a:xfrm>
              <a:off x="0" y="0"/>
              <a:ext cx="304643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Broader participation </a:t>
              </a:r>
              <a:endParaRPr/>
            </a:p>
          </p:txBody>
        </p:sp>
      </p:grpSp>
      <p:grpSp>
        <p:nvGrpSpPr>
          <p:cNvPr id="800" name="Google Shape;800;p19"/>
          <p:cNvGrpSpPr/>
          <p:nvPr/>
        </p:nvGrpSpPr>
        <p:grpSpPr>
          <a:xfrm>
            <a:off x="6258544" y="2046875"/>
            <a:ext cx="1459001" cy="385762"/>
            <a:chOff x="0" y="0"/>
            <a:chExt cx="1945335" cy="514350"/>
          </a:xfrm>
        </p:grpSpPr>
        <p:sp>
          <p:nvSpPr>
            <p:cNvPr id="801" name="Google Shape;801;p19"/>
            <p:cNvSpPr/>
            <p:nvPr/>
          </p:nvSpPr>
          <p:spPr>
            <a:xfrm>
              <a:off x="0" y="0"/>
              <a:ext cx="1945333" cy="514349"/>
            </a:xfrm>
            <a:custGeom>
              <a:rect b="b" l="l" r="r" t="t"/>
              <a:pathLst>
                <a:path extrusionOk="0" h="514349" w="1945333">
                  <a:moveTo>
                    <a:pt x="0" y="0"/>
                  </a:moveTo>
                  <a:lnTo>
                    <a:pt x="1945333" y="0"/>
                  </a:lnTo>
                  <a:lnTo>
                    <a:pt x="1945333" y="514349"/>
                  </a:lnTo>
                  <a:lnTo>
                    <a:pt x="0" y="514349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3694" l="0" r="0" t="-23694"/>
              </a:stretch>
            </a:blipFill>
            <a:ln>
              <a:noFill/>
            </a:ln>
          </p:spPr>
        </p:sp>
        <p:sp>
          <p:nvSpPr>
            <p:cNvPr id="802" name="Google Shape;802;p19"/>
            <p:cNvSpPr txBox="1"/>
            <p:nvPr/>
          </p:nvSpPr>
          <p:spPr>
            <a:xfrm>
              <a:off x="0" y="0"/>
              <a:ext cx="1945335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E55A46"/>
                  </a:solidFill>
                  <a:latin typeface="Noto Sans"/>
                  <a:ea typeface="Noto Sans"/>
                  <a:cs typeface="Noto Sans"/>
                  <a:sym typeface="Noto Sans"/>
                </a:rPr>
                <a:t>Before MCP</a:t>
              </a:r>
              <a:endParaRPr/>
            </a:p>
          </p:txBody>
        </p:sp>
      </p:grpSp>
      <p:grpSp>
        <p:nvGrpSpPr>
          <p:cNvPr id="803" name="Google Shape;803;p19"/>
          <p:cNvGrpSpPr/>
          <p:nvPr/>
        </p:nvGrpSpPr>
        <p:grpSpPr>
          <a:xfrm>
            <a:off x="13606443" y="2057610"/>
            <a:ext cx="1216726" cy="385762"/>
            <a:chOff x="0" y="0"/>
            <a:chExt cx="1622301" cy="514350"/>
          </a:xfrm>
        </p:grpSpPr>
        <p:sp>
          <p:nvSpPr>
            <p:cNvPr id="804" name="Google Shape;804;p19"/>
            <p:cNvSpPr/>
            <p:nvPr/>
          </p:nvSpPr>
          <p:spPr>
            <a:xfrm>
              <a:off x="0" y="0"/>
              <a:ext cx="1622301" cy="514349"/>
            </a:xfrm>
            <a:custGeom>
              <a:rect b="b" l="l" r="r" t="t"/>
              <a:pathLst>
                <a:path extrusionOk="0" h="514349" w="1622301">
                  <a:moveTo>
                    <a:pt x="0" y="0"/>
                  </a:moveTo>
                  <a:lnTo>
                    <a:pt x="1622301" y="0"/>
                  </a:lnTo>
                  <a:lnTo>
                    <a:pt x="1622301" y="514349"/>
                  </a:lnTo>
                  <a:lnTo>
                    <a:pt x="0" y="514349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457" l="0" r="0" t="-11457"/>
              </a:stretch>
            </a:blipFill>
            <a:ln>
              <a:noFill/>
            </a:ln>
          </p:spPr>
        </p:sp>
        <p:sp>
          <p:nvSpPr>
            <p:cNvPr id="805" name="Google Shape;805;p19"/>
            <p:cNvSpPr txBox="1"/>
            <p:nvPr/>
          </p:nvSpPr>
          <p:spPr>
            <a:xfrm>
              <a:off x="0" y="0"/>
              <a:ext cx="1622298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With MCP</a:t>
              </a:r>
              <a:endParaRPr/>
            </a:p>
          </p:txBody>
        </p:sp>
      </p:grpSp>
      <p:grpSp>
        <p:nvGrpSpPr>
          <p:cNvPr id="806" name="Google Shape;806;p19"/>
          <p:cNvGrpSpPr/>
          <p:nvPr/>
        </p:nvGrpSpPr>
        <p:grpSpPr>
          <a:xfrm>
            <a:off x="342900" y="10235736"/>
            <a:ext cx="212527" cy="285750"/>
            <a:chOff x="0" y="-9525"/>
            <a:chExt cx="283368" cy="381000"/>
          </a:xfrm>
        </p:grpSpPr>
        <p:sp>
          <p:nvSpPr>
            <p:cNvPr id="807" name="Google Shape;807;p19"/>
            <p:cNvSpPr/>
            <p:nvPr/>
          </p:nvSpPr>
          <p:spPr>
            <a:xfrm>
              <a:off x="0" y="0"/>
              <a:ext cx="283368" cy="371475"/>
            </a:xfrm>
            <a:custGeom>
              <a:rect b="b" l="l" r="r" t="t"/>
              <a:pathLst>
                <a:path extrusionOk="0" h="371475" w="283368">
                  <a:moveTo>
                    <a:pt x="0" y="0"/>
                  </a:moveTo>
                  <a:lnTo>
                    <a:pt x="283368" y="0"/>
                  </a:lnTo>
                  <a:lnTo>
                    <a:pt x="283368" y="371475"/>
                  </a:lnTo>
                  <a:lnTo>
                    <a:pt x="0" y="37147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118199" r="-118196" t="0"/>
              </a:stretch>
            </a:blipFill>
            <a:ln>
              <a:noFill/>
            </a:ln>
          </p:spPr>
        </p:sp>
        <p:sp>
          <p:nvSpPr>
            <p:cNvPr id="808" name="Google Shape;808;p19"/>
            <p:cNvSpPr txBox="1"/>
            <p:nvPr/>
          </p:nvSpPr>
          <p:spPr>
            <a:xfrm>
              <a:off x="0" y="-9525"/>
              <a:ext cx="2833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9" u="none" cap="none" strike="noStrike">
                  <a:solidFill>
                    <a:srgbClr val="4B5563"/>
                  </a:solidFill>
                  <a:latin typeface="Noto Sans"/>
                  <a:ea typeface="Noto Sans"/>
                  <a:cs typeface="Noto Sans"/>
                  <a:sym typeface="Noto Sans"/>
                </a:rPr>
                <a:t>19</a:t>
              </a:r>
              <a:endParaRPr/>
            </a:p>
          </p:txBody>
        </p:sp>
      </p:grpSp>
      <p:grpSp>
        <p:nvGrpSpPr>
          <p:cNvPr id="809" name="Google Shape;809;p19"/>
          <p:cNvGrpSpPr/>
          <p:nvPr/>
        </p:nvGrpSpPr>
        <p:grpSpPr>
          <a:xfrm>
            <a:off x="4127354" y="10235736"/>
            <a:ext cx="3087719" cy="285750"/>
            <a:chOff x="0" y="-9525"/>
            <a:chExt cx="4116959" cy="381000"/>
          </a:xfrm>
        </p:grpSpPr>
        <p:sp>
          <p:nvSpPr>
            <p:cNvPr id="810" name="Google Shape;810;p19"/>
            <p:cNvSpPr/>
            <p:nvPr/>
          </p:nvSpPr>
          <p:spPr>
            <a:xfrm>
              <a:off x="0" y="0"/>
              <a:ext cx="4116957" cy="371475"/>
            </a:xfrm>
            <a:custGeom>
              <a:rect b="b" l="l" r="r" t="t"/>
              <a:pathLst>
                <a:path extrusionOk="0" h="371475" w="4116957">
                  <a:moveTo>
                    <a:pt x="0" y="0"/>
                  </a:moveTo>
                  <a:lnTo>
                    <a:pt x="4116957" y="0"/>
                  </a:lnTo>
                  <a:lnTo>
                    <a:pt x="4116957" y="371475"/>
                  </a:lnTo>
                  <a:lnTo>
                    <a:pt x="0" y="37147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65945" l="0" r="0" t="-165945"/>
              </a:stretch>
            </a:blipFill>
            <a:ln>
              <a:noFill/>
            </a:ln>
          </p:spPr>
        </p:sp>
        <p:sp>
          <p:nvSpPr>
            <p:cNvPr id="811" name="Google Shape;811;p19"/>
            <p:cNvSpPr txBox="1"/>
            <p:nvPr/>
          </p:nvSpPr>
          <p:spPr>
            <a:xfrm>
              <a:off x="0" y="-9525"/>
              <a:ext cx="4116959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9" u="none" cap="none" strike="noStrike">
                  <a:solidFill>
                    <a:srgbClr val="4B5563"/>
                  </a:solidFill>
                  <a:latin typeface="Noto Sans"/>
                  <a:ea typeface="Noto Sans"/>
                  <a:cs typeface="Noto Sans"/>
                  <a:sym typeface="Noto Sans"/>
                </a:rPr>
                <a:t>Criterion Proprietary &amp; Confidential</a:t>
              </a:r>
              <a:endParaRPr/>
            </a:p>
          </p:txBody>
        </p:sp>
      </p:grpSp>
      <p:grpSp>
        <p:nvGrpSpPr>
          <p:cNvPr id="812" name="Google Shape;812;p19"/>
          <p:cNvGrpSpPr/>
          <p:nvPr/>
        </p:nvGrpSpPr>
        <p:grpSpPr>
          <a:xfrm>
            <a:off x="13910662" y="9326299"/>
            <a:ext cx="4385920" cy="934847"/>
            <a:chOff x="0" y="0"/>
            <a:chExt cx="5847893" cy="1246463"/>
          </a:xfrm>
        </p:grpSpPr>
        <p:sp>
          <p:nvSpPr>
            <p:cNvPr id="813" name="Google Shape;813;p19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814" name="Google Shape;814;p19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819" name="Google Shape;819;p20"/>
          <p:cNvSpPr/>
          <p:nvPr/>
        </p:nvSpPr>
        <p:spPr>
          <a:xfrm>
            <a:off x="9525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820" name="Google Shape;820;p20"/>
          <p:cNvSpPr/>
          <p:nvPr/>
        </p:nvSpPr>
        <p:spPr>
          <a:xfrm>
            <a:off x="4643438" y="0"/>
            <a:ext cx="13644562" cy="7615238"/>
          </a:xfrm>
          <a:custGeom>
            <a:rect b="b" l="l" r="r" t="t"/>
            <a:pathLst>
              <a:path extrusionOk="0" h="10153650" w="18192750">
                <a:moveTo>
                  <a:pt x="0" y="0"/>
                </a:moveTo>
                <a:lnTo>
                  <a:pt x="18192750" y="0"/>
                </a:lnTo>
                <a:lnTo>
                  <a:pt x="18192750" y="10153650"/>
                </a:lnTo>
                <a:lnTo>
                  <a:pt x="0" y="1015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21" name="Google Shape;821;p20"/>
          <p:cNvGrpSpPr/>
          <p:nvPr/>
        </p:nvGrpSpPr>
        <p:grpSpPr>
          <a:xfrm>
            <a:off x="1571625" y="1707356"/>
            <a:ext cx="16373477" cy="350044"/>
            <a:chOff x="0" y="-9525"/>
            <a:chExt cx="21831302" cy="466725"/>
          </a:xfrm>
        </p:grpSpPr>
        <p:sp>
          <p:nvSpPr>
            <p:cNvPr id="822" name="Google Shape;822;p20"/>
            <p:cNvSpPr/>
            <p:nvPr/>
          </p:nvSpPr>
          <p:spPr>
            <a:xfrm>
              <a:off x="0" y="0"/>
              <a:ext cx="21831302" cy="457200"/>
            </a:xfrm>
            <a:custGeom>
              <a:rect b="b" l="l" r="r" t="t"/>
              <a:pathLst>
                <a:path extrusionOk="0" h="457200" w="21831302">
                  <a:moveTo>
                    <a:pt x="0" y="0"/>
                  </a:moveTo>
                  <a:lnTo>
                    <a:pt x="21831302" y="0"/>
                  </a:lnTo>
                  <a:lnTo>
                    <a:pt x="21831302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880405" l="0" r="0" t="-880405"/>
              </a:stretch>
            </a:blipFill>
            <a:ln>
              <a:noFill/>
            </a:ln>
          </p:spPr>
        </p:sp>
        <p:sp>
          <p:nvSpPr>
            <p:cNvPr id="823" name="Google Shape;823;p20"/>
            <p:cNvSpPr txBox="1"/>
            <p:nvPr/>
          </p:nvSpPr>
          <p:spPr>
            <a:xfrm>
              <a:off x="0" y="-9525"/>
              <a:ext cx="218313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B9C2CF"/>
                  </a:solidFill>
                  <a:latin typeface="Noto Sans"/>
                  <a:ea typeface="Noto Sans"/>
                  <a:cs typeface="Noto Sans"/>
                  <a:sym typeface="Noto Sans"/>
                </a:rPr>
                <a:t>Technical Deep Dive</a:t>
              </a:r>
              <a:endParaRPr/>
            </a:p>
          </p:txBody>
        </p:sp>
      </p:grpSp>
      <p:grpSp>
        <p:nvGrpSpPr>
          <p:cNvPr id="824" name="Google Shape;824;p20"/>
          <p:cNvGrpSpPr/>
          <p:nvPr/>
        </p:nvGrpSpPr>
        <p:grpSpPr>
          <a:xfrm>
            <a:off x="1571625" y="2628900"/>
            <a:ext cx="16373477" cy="960110"/>
            <a:chOff x="0" y="0"/>
            <a:chExt cx="21831302" cy="1280147"/>
          </a:xfrm>
        </p:grpSpPr>
        <p:sp>
          <p:nvSpPr>
            <p:cNvPr id="825" name="Google Shape;825;p20"/>
            <p:cNvSpPr/>
            <p:nvPr/>
          </p:nvSpPr>
          <p:spPr>
            <a:xfrm>
              <a:off x="0" y="0"/>
              <a:ext cx="21831302" cy="1280144"/>
            </a:xfrm>
            <a:custGeom>
              <a:rect b="b" l="l" r="r" t="t"/>
              <a:pathLst>
                <a:path extrusionOk="0" h="1280144" w="21831302">
                  <a:moveTo>
                    <a:pt x="0" y="0"/>
                  </a:moveTo>
                  <a:lnTo>
                    <a:pt x="21831302" y="0"/>
                  </a:lnTo>
                  <a:lnTo>
                    <a:pt x="21831302" y="1280144"/>
                  </a:lnTo>
                  <a:lnTo>
                    <a:pt x="0" y="1280144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282314" l="0" r="0" t="-282314"/>
              </a:stretch>
            </a:blipFill>
            <a:ln>
              <a:noFill/>
            </a:ln>
          </p:spPr>
        </p:sp>
        <p:sp>
          <p:nvSpPr>
            <p:cNvPr id="826" name="Google Shape;826;p20"/>
            <p:cNvSpPr txBox="1"/>
            <p:nvPr/>
          </p:nvSpPr>
          <p:spPr>
            <a:xfrm>
              <a:off x="0" y="0"/>
              <a:ext cx="21831300" cy="1280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Model Context</a:t>
              </a:r>
              <a:endParaRPr/>
            </a:p>
          </p:txBody>
        </p:sp>
      </p:grpSp>
      <p:grpSp>
        <p:nvGrpSpPr>
          <p:cNvPr id="827" name="Google Shape;827;p20"/>
          <p:cNvGrpSpPr/>
          <p:nvPr/>
        </p:nvGrpSpPr>
        <p:grpSpPr>
          <a:xfrm>
            <a:off x="1571625" y="3703310"/>
            <a:ext cx="16373477" cy="960110"/>
            <a:chOff x="0" y="0"/>
            <a:chExt cx="21831302" cy="1280147"/>
          </a:xfrm>
        </p:grpSpPr>
        <p:sp>
          <p:nvSpPr>
            <p:cNvPr id="828" name="Google Shape;828;p20"/>
            <p:cNvSpPr/>
            <p:nvPr/>
          </p:nvSpPr>
          <p:spPr>
            <a:xfrm>
              <a:off x="0" y="0"/>
              <a:ext cx="21831302" cy="1280144"/>
            </a:xfrm>
            <a:custGeom>
              <a:rect b="b" l="l" r="r" t="t"/>
              <a:pathLst>
                <a:path extrusionOk="0" h="1280144" w="21831302">
                  <a:moveTo>
                    <a:pt x="0" y="0"/>
                  </a:moveTo>
                  <a:lnTo>
                    <a:pt x="21831302" y="0"/>
                  </a:lnTo>
                  <a:lnTo>
                    <a:pt x="21831302" y="1280144"/>
                  </a:lnTo>
                  <a:lnTo>
                    <a:pt x="0" y="1280144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282314" l="0" r="0" t="-282314"/>
              </a:stretch>
            </a:blipFill>
            <a:ln>
              <a:noFill/>
            </a:ln>
          </p:spPr>
        </p:sp>
        <p:sp>
          <p:nvSpPr>
            <p:cNvPr id="829" name="Google Shape;829;p20"/>
            <p:cNvSpPr txBox="1"/>
            <p:nvPr/>
          </p:nvSpPr>
          <p:spPr>
            <a:xfrm>
              <a:off x="0" y="0"/>
              <a:ext cx="21831300" cy="1280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Protocol</a:t>
              </a:r>
              <a:endParaRPr/>
            </a:p>
          </p:txBody>
        </p:sp>
      </p:grpSp>
      <p:grpSp>
        <p:nvGrpSpPr>
          <p:cNvPr id="830" name="Google Shape;830;p20"/>
          <p:cNvGrpSpPr/>
          <p:nvPr/>
        </p:nvGrpSpPr>
        <p:grpSpPr>
          <a:xfrm>
            <a:off x="1571625" y="5799277"/>
            <a:ext cx="12858750" cy="750094"/>
            <a:chOff x="0" y="-9525"/>
            <a:chExt cx="17145000" cy="1000125"/>
          </a:xfrm>
        </p:grpSpPr>
        <p:sp>
          <p:nvSpPr>
            <p:cNvPr id="831" name="Google Shape;831;p20"/>
            <p:cNvSpPr/>
            <p:nvPr/>
          </p:nvSpPr>
          <p:spPr>
            <a:xfrm>
              <a:off x="0" y="0"/>
              <a:ext cx="17145000" cy="990600"/>
            </a:xfrm>
            <a:custGeom>
              <a:rect b="b" l="l" r="r" t="t"/>
              <a:pathLst>
                <a:path extrusionOk="0" h="99060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990600"/>
                  </a:lnTo>
                  <a:lnTo>
                    <a:pt x="0" y="990600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287246" l="0" r="0" t="-287246"/>
              </a:stretch>
            </a:blipFill>
            <a:ln>
              <a:noFill/>
            </a:ln>
          </p:spPr>
        </p:sp>
        <p:sp>
          <p:nvSpPr>
            <p:cNvPr id="832" name="Google Shape;832;p20"/>
            <p:cNvSpPr txBox="1"/>
            <p:nvPr/>
          </p:nvSpPr>
          <p:spPr>
            <a:xfrm>
              <a:off x="0" y="-9525"/>
              <a:ext cx="17145000" cy="100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B9C2CF"/>
                  </a:solidFill>
                  <a:latin typeface="Noto Sans"/>
                  <a:ea typeface="Noto Sans"/>
                  <a:cs typeface="Noto Sans"/>
                  <a:sym typeface="Noto Sans"/>
                </a:rPr>
                <a:t> A standardized protocol for connecting AI applications to external systems, built on JSON-RPC for seamless integration of tools, resources, and prompts. </a:t>
              </a:r>
              <a:endParaRPr/>
            </a:p>
          </p:txBody>
        </p:sp>
      </p:grpSp>
      <p:grpSp>
        <p:nvGrpSpPr>
          <p:cNvPr id="833" name="Google Shape;833;p20"/>
          <p:cNvGrpSpPr/>
          <p:nvPr/>
        </p:nvGrpSpPr>
        <p:grpSpPr>
          <a:xfrm>
            <a:off x="1571625" y="6885127"/>
            <a:ext cx="16373477" cy="579365"/>
            <a:chOff x="0" y="-9525"/>
            <a:chExt cx="21831302" cy="772487"/>
          </a:xfrm>
        </p:grpSpPr>
        <p:sp>
          <p:nvSpPr>
            <p:cNvPr id="834" name="Google Shape;834;p20"/>
            <p:cNvSpPr/>
            <p:nvPr/>
          </p:nvSpPr>
          <p:spPr>
            <a:xfrm>
              <a:off x="0" y="0"/>
              <a:ext cx="21831302" cy="762962"/>
            </a:xfrm>
            <a:custGeom>
              <a:rect b="b" l="l" r="r" t="t"/>
              <a:pathLst>
                <a:path extrusionOk="0" h="762962" w="21831302">
                  <a:moveTo>
                    <a:pt x="0" y="0"/>
                  </a:moveTo>
                  <a:lnTo>
                    <a:pt x="21831302" y="0"/>
                  </a:lnTo>
                  <a:lnTo>
                    <a:pt x="21831302" y="762962"/>
                  </a:lnTo>
                  <a:lnTo>
                    <a:pt x="0" y="762962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487500" l="0" r="0" t="-527576"/>
              </a:stretch>
            </a:blipFill>
            <a:ln>
              <a:noFill/>
            </a:ln>
          </p:spPr>
        </p:sp>
        <p:sp>
          <p:nvSpPr>
            <p:cNvPr id="835" name="Google Shape;835;p20"/>
            <p:cNvSpPr txBox="1"/>
            <p:nvPr/>
          </p:nvSpPr>
          <p:spPr>
            <a:xfrm>
              <a:off x="0" y="-9525"/>
              <a:ext cx="21831300" cy="772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 Protocol Version: 2026-07-28</a:t>
              </a:r>
              <a:endParaRPr/>
            </a:p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674" u="none" cap="none" strike="noStrike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descr="preencoded.png" id="836" name="Google Shape;836;p20"/>
          <p:cNvSpPr/>
          <p:nvPr/>
        </p:nvSpPr>
        <p:spPr>
          <a:xfrm>
            <a:off x="8972550" y="7472362"/>
            <a:ext cx="3257550" cy="2100262"/>
          </a:xfrm>
          <a:custGeom>
            <a:rect b="b" l="l" r="r" t="t"/>
            <a:pathLst>
              <a:path extrusionOk="0" h="2800350" w="4343400">
                <a:moveTo>
                  <a:pt x="0" y="0"/>
                </a:moveTo>
                <a:lnTo>
                  <a:pt x="4343400" y="0"/>
                </a:lnTo>
                <a:lnTo>
                  <a:pt x="434340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7" name="Google Shape;837;p20"/>
          <p:cNvSpPr/>
          <p:nvPr/>
        </p:nvSpPr>
        <p:spPr>
          <a:xfrm>
            <a:off x="0" y="8972550"/>
            <a:ext cx="18288000" cy="1314450"/>
          </a:xfrm>
          <a:custGeom>
            <a:rect b="b" l="l" r="r" t="t"/>
            <a:pathLst>
              <a:path extrusionOk="0" h="1752600" w="24384000">
                <a:moveTo>
                  <a:pt x="0" y="0"/>
                </a:moveTo>
                <a:lnTo>
                  <a:pt x="24384000" y="0"/>
                </a:lnTo>
                <a:lnTo>
                  <a:pt x="24384000" y="1752600"/>
                </a:lnTo>
                <a:lnTo>
                  <a:pt x="0" y="1752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preencoded.png" id="838" name="Google Shape;838;p20"/>
          <p:cNvSpPr/>
          <p:nvPr/>
        </p:nvSpPr>
        <p:spPr>
          <a:xfrm>
            <a:off x="13924007" y="9308306"/>
            <a:ext cx="3792474" cy="642938"/>
          </a:xfrm>
          <a:custGeom>
            <a:rect b="b" l="l" r="r" t="t"/>
            <a:pathLst>
              <a:path extrusionOk="0" h="857250" w="5056632">
                <a:moveTo>
                  <a:pt x="0" y="0"/>
                </a:moveTo>
                <a:lnTo>
                  <a:pt x="5056632" y="0"/>
                </a:lnTo>
                <a:lnTo>
                  <a:pt x="505663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02" l="0" r="0" t="-1004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843" name="Google Shape;843;p21"/>
          <p:cNvSpPr/>
          <p:nvPr/>
        </p:nvSpPr>
        <p:spPr>
          <a:xfrm>
            <a:off x="0" y="0"/>
            <a:ext cx="18288000" cy="10327004"/>
          </a:xfrm>
          <a:custGeom>
            <a:rect b="b" l="l" r="r" t="t"/>
            <a:pathLst>
              <a:path extrusionOk="0" h="13769339" w="24384000">
                <a:moveTo>
                  <a:pt x="0" y="0"/>
                </a:moveTo>
                <a:lnTo>
                  <a:pt x="24384000" y="0"/>
                </a:lnTo>
                <a:lnTo>
                  <a:pt x="24384000" y="13769339"/>
                </a:lnTo>
                <a:lnTo>
                  <a:pt x="0" y="13769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94" r="-194" t="0"/>
            </a:stretch>
          </a:blipFill>
          <a:ln>
            <a:noFill/>
          </a:ln>
        </p:spPr>
      </p:sp>
      <p:sp>
        <p:nvSpPr>
          <p:cNvPr id="844" name="Google Shape;844;p21"/>
          <p:cNvSpPr txBox="1"/>
          <p:nvPr/>
        </p:nvSpPr>
        <p:spPr>
          <a:xfrm>
            <a:off x="762000" y="571500"/>
            <a:ext cx="1143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rPr>
              <a:t>MCP</a:t>
            </a:r>
            <a:endParaRPr b="1" sz="1600">
              <a:solidFill>
                <a:srgbClr val="00AEE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0F1B2C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Protocol Architecture</a:t>
            </a:r>
            <a:endParaRPr b="0" sz="4200">
              <a:solidFill>
                <a:srgbClr val="0F1B2C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Technical components and protocol layers</a:t>
            </a:r>
            <a:endParaRPr b="0" i="1" sz="180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845" name="Google Shape;845;p21"/>
          <p:cNvGrpSpPr/>
          <p:nvPr/>
        </p:nvGrpSpPr>
        <p:grpSpPr>
          <a:xfrm>
            <a:off x="762000" y="2286000"/>
            <a:ext cx="7810500" cy="5905500"/>
            <a:chOff x="0" y="0"/>
            <a:chExt cx="7810500" cy="5905500"/>
          </a:xfrm>
        </p:grpSpPr>
        <p:sp>
          <p:nvSpPr>
            <p:cNvPr id="846" name="Google Shape;846;p21"/>
            <p:cNvSpPr txBox="1"/>
            <p:nvPr/>
          </p:nvSpPr>
          <p:spPr>
            <a:xfrm>
              <a:off x="0" y="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Core Components</a:t>
              </a:r>
              <a:endParaRPr b="1" sz="22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847" name="Google Shape;847;p21"/>
            <p:cNvGrpSpPr/>
            <p:nvPr/>
          </p:nvGrpSpPr>
          <p:grpSpPr>
            <a:xfrm>
              <a:off x="0" y="476250"/>
              <a:ext cx="7810500" cy="1809600"/>
              <a:chOff x="0" y="0"/>
              <a:chExt cx="7810500" cy="1809600"/>
            </a:xfrm>
          </p:grpSpPr>
          <p:sp>
            <p:nvSpPr>
              <p:cNvPr id="848" name="Google Shape;848;p21"/>
              <p:cNvSpPr/>
              <p:nvPr/>
            </p:nvSpPr>
            <p:spPr>
              <a:xfrm>
                <a:off x="0" y="0"/>
                <a:ext cx="7810500" cy="1809600"/>
              </a:xfrm>
              <a:prstGeom prst="roundRect">
                <a:avLst>
                  <a:gd fmla="val 631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21"/>
              <p:cNvSpPr/>
              <p:nvPr/>
            </p:nvSpPr>
            <p:spPr>
              <a:xfrm>
                <a:off x="0" y="0"/>
                <a:ext cx="76200" cy="1809600"/>
              </a:xfrm>
              <a:prstGeom prst="roundRect">
                <a:avLst>
                  <a:gd fmla="val 50000" name="adj"/>
                </a:avLst>
              </a:pr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21"/>
              <p:cNvSpPr txBox="1"/>
              <p:nvPr/>
            </p:nvSpPr>
            <p:spPr>
              <a:xfrm>
                <a:off x="285750" y="190500"/>
                <a:ext cx="7239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Host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i="1" lang="en-US" sz="1100">
                    <a:solidFill>
                      <a:srgbClr val="64748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User-facing AI Application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1E293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The user-facing AI application that orchestrates interactions between users, LLMs, and external tools.</a:t>
                </a:r>
                <a:endParaRPr b="0" sz="14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0AEEF"/>
                    </a:solidFill>
                    <a:latin typeface="Noto Sans SemiBold"/>
                    <a:ea typeface="Noto Sans SemiBold"/>
                    <a:cs typeface="Noto Sans SemiBold"/>
                    <a:sym typeface="Noto Sans SemiBold"/>
                  </a:rPr>
                  <a:t>Examples: Claude Desktop, Cursor IDE</a:t>
                </a:r>
                <a:endParaRPr b="0" sz="1200">
                  <a:solidFill>
                    <a:srgbClr val="00AEEF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endParaRPr>
              </a:p>
            </p:txBody>
          </p:sp>
        </p:grpSp>
        <p:grpSp>
          <p:nvGrpSpPr>
            <p:cNvPr id="851" name="Google Shape;851;p21"/>
            <p:cNvGrpSpPr/>
            <p:nvPr/>
          </p:nvGrpSpPr>
          <p:grpSpPr>
            <a:xfrm>
              <a:off x="0" y="2476500"/>
              <a:ext cx="7810500" cy="1524000"/>
              <a:chOff x="0" y="0"/>
              <a:chExt cx="7810500" cy="1524000"/>
            </a:xfrm>
          </p:grpSpPr>
          <p:sp>
            <p:nvSpPr>
              <p:cNvPr id="852" name="Google Shape;852;p21"/>
              <p:cNvSpPr/>
              <p:nvPr/>
            </p:nvSpPr>
            <p:spPr>
              <a:xfrm>
                <a:off x="0" y="0"/>
                <a:ext cx="7810500" cy="1524000"/>
              </a:xfrm>
              <a:prstGeom prst="roundRect">
                <a:avLst>
                  <a:gd fmla="val 75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1"/>
              <p:cNvSpPr/>
              <p:nvPr/>
            </p:nvSpPr>
            <p:spPr>
              <a:xfrm>
                <a:off x="0" y="0"/>
                <a:ext cx="76200" cy="1524000"/>
              </a:xfrm>
              <a:prstGeom prst="roundRect">
                <a:avLst>
                  <a:gd fmla="val 50000" name="adj"/>
                </a:avLst>
              </a:pr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 txBox="1"/>
              <p:nvPr/>
            </p:nvSpPr>
            <p:spPr>
              <a:xfrm>
                <a:off x="285750" y="190500"/>
                <a:ext cx="7239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Client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i="1" lang="en-US" sz="1100">
                    <a:solidFill>
                      <a:srgbClr val="64748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Internal Connector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1E293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 component within the Host that maintains a 1:1 connection with a Server, handling MCP communication details.</a:t>
                </a:r>
                <a:endParaRPr b="0" sz="14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0" y="4191000"/>
              <a:ext cx="7810500" cy="1714500"/>
              <a:chOff x="0" y="0"/>
              <a:chExt cx="7810500" cy="17145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0" y="0"/>
                <a:ext cx="7810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0" y="0"/>
                <a:ext cx="76200" cy="1714500"/>
              </a:xfrm>
              <a:prstGeom prst="roundRect">
                <a:avLst>
                  <a:gd fmla="val 50000" name="adj"/>
                </a:avLst>
              </a:pr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1"/>
              <p:cNvSpPr txBox="1"/>
              <p:nvPr/>
            </p:nvSpPr>
            <p:spPr>
              <a:xfrm>
                <a:off x="285750" y="190500"/>
                <a:ext cx="7239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Server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i="1" lang="en-US" sz="1100">
                    <a:solidFill>
                      <a:srgbClr val="64748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Capability Provider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1E293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An external program that exposes capabilities (Tools, Resources, Prompts) via the MCP protocol.</a:t>
                </a:r>
                <a:endParaRPr b="0" sz="14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64748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Deployment: Can run locally or remotely.</a:t>
                </a:r>
                <a:endParaRPr b="0" sz="1200">
                  <a:solidFill>
                    <a:srgbClr val="64748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</p:grpSp>
      </p:grpSp>
      <p:grpSp>
        <p:nvGrpSpPr>
          <p:cNvPr id="859" name="Google Shape;859;p21"/>
          <p:cNvGrpSpPr/>
          <p:nvPr/>
        </p:nvGrpSpPr>
        <p:grpSpPr>
          <a:xfrm>
            <a:off x="8953500" y="2286000"/>
            <a:ext cx="8572500" cy="5905650"/>
            <a:chOff x="0" y="0"/>
            <a:chExt cx="8572500" cy="5905650"/>
          </a:xfrm>
        </p:grpSpPr>
        <p:sp>
          <p:nvSpPr>
            <p:cNvPr id="860" name="Google Shape;860;p21"/>
            <p:cNvSpPr txBox="1"/>
            <p:nvPr/>
          </p:nvSpPr>
          <p:spPr>
            <a:xfrm>
              <a:off x="0" y="0"/>
              <a:ext cx="857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Protocol Layers</a:t>
              </a:r>
              <a:endParaRPr b="1" sz="22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861" name="Google Shape;861;p21"/>
            <p:cNvGrpSpPr/>
            <p:nvPr/>
          </p:nvGrpSpPr>
          <p:grpSpPr>
            <a:xfrm>
              <a:off x="0" y="476250"/>
              <a:ext cx="8572500" cy="2667000"/>
              <a:chOff x="0" y="0"/>
              <a:chExt cx="8572500" cy="2667000"/>
            </a:xfrm>
          </p:grpSpPr>
          <p:sp>
            <p:nvSpPr>
              <p:cNvPr id="862" name="Google Shape;862;p21"/>
              <p:cNvSpPr/>
              <p:nvPr/>
            </p:nvSpPr>
            <p:spPr>
              <a:xfrm>
                <a:off x="0" y="0"/>
                <a:ext cx="8572500" cy="2667000"/>
              </a:xfrm>
              <a:prstGeom prst="roundRect">
                <a:avLst>
                  <a:gd fmla="val 428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>
                <a:off x="0" y="0"/>
                <a:ext cx="8572500" cy="476400"/>
              </a:xfrm>
              <a:custGeom>
                <a:rect b="b" l="l" r="r" t="t"/>
                <a:pathLst>
                  <a:path extrusionOk="0" h="120000" w="120000">
                    <a:moveTo>
                      <a:pt x="0" y="28800"/>
                    </a:moveTo>
                    <a:cubicBezTo>
                      <a:pt x="0" y="12893"/>
                      <a:pt x="716" y="0"/>
                      <a:pt x="1600" y="0"/>
                    </a:cubicBezTo>
                    <a:lnTo>
                      <a:pt x="118400" y="0"/>
                    </a:lnTo>
                    <a:cubicBezTo>
                      <a:pt x="119284" y="0"/>
                      <a:pt x="120000" y="12893"/>
                      <a:pt x="120000" y="288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1"/>
              <p:cNvSpPr txBox="1"/>
              <p:nvPr/>
            </p:nvSpPr>
            <p:spPr>
              <a:xfrm>
                <a:off x="228600" y="95250"/>
                <a:ext cx="809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Data Layer </a:t>
                </a:r>
                <a:r>
                  <a:rPr b="0" lang="en-US" sz="1200">
                    <a:solidFill>
                      <a:srgbClr val="94A3B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— Client-Server Communication (JSON-RPC)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865" name="Google Shape;865;p21"/>
              <p:cNvSpPr txBox="1"/>
              <p:nvPr/>
            </p:nvSpPr>
            <p:spPr>
              <a:xfrm>
                <a:off x="228600" y="619125"/>
                <a:ext cx="80964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Defines the JSON-RPC based protocol for client-server communication:</a:t>
                </a:r>
                <a:endParaRPr b="0"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Lifecycle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Connection initialization and termination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Primitives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Core data structures and messages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Notifications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Asynchronous event updates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866" name="Google Shape;866;p21"/>
            <p:cNvGrpSpPr/>
            <p:nvPr/>
          </p:nvGrpSpPr>
          <p:grpSpPr>
            <a:xfrm>
              <a:off x="0" y="3333750"/>
              <a:ext cx="8572500" cy="2571900"/>
              <a:chOff x="0" y="0"/>
              <a:chExt cx="8572500" cy="2571900"/>
            </a:xfrm>
          </p:grpSpPr>
          <p:sp>
            <p:nvSpPr>
              <p:cNvPr id="867" name="Google Shape;867;p21"/>
              <p:cNvSpPr/>
              <p:nvPr/>
            </p:nvSpPr>
            <p:spPr>
              <a:xfrm>
                <a:off x="0" y="0"/>
                <a:ext cx="8572500" cy="25719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1"/>
              <p:cNvSpPr/>
              <p:nvPr/>
            </p:nvSpPr>
            <p:spPr>
              <a:xfrm>
                <a:off x="0" y="0"/>
                <a:ext cx="8572500" cy="476400"/>
              </a:xfrm>
              <a:custGeom>
                <a:rect b="b" l="l" r="r" t="t"/>
                <a:pathLst>
                  <a:path extrusionOk="0" h="120000" w="120000">
                    <a:moveTo>
                      <a:pt x="0" y="28800"/>
                    </a:moveTo>
                    <a:cubicBezTo>
                      <a:pt x="0" y="12893"/>
                      <a:pt x="716" y="0"/>
                      <a:pt x="1600" y="0"/>
                    </a:cubicBezTo>
                    <a:lnTo>
                      <a:pt x="118400" y="0"/>
                    </a:lnTo>
                    <a:cubicBezTo>
                      <a:pt x="119284" y="0"/>
                      <a:pt x="120000" y="12893"/>
                      <a:pt x="120000" y="288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1"/>
              <p:cNvSpPr txBox="1"/>
              <p:nvPr/>
            </p:nvSpPr>
            <p:spPr>
              <a:xfrm>
                <a:off x="228600" y="95250"/>
                <a:ext cx="809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Transport Layer </a:t>
                </a:r>
                <a:r>
                  <a:rPr b="0" lang="en-US" sz="1200">
                    <a:solidFill>
                      <a:srgbClr val="94A3B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— Communication Mechanisms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870" name="Google Shape;870;p21"/>
              <p:cNvSpPr txBox="1"/>
              <p:nvPr/>
            </p:nvSpPr>
            <p:spPr>
              <a:xfrm>
                <a:off x="228600" y="619125"/>
                <a:ext cx="80964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Defines the communication mechanisms between clients and servers:</a:t>
                </a:r>
                <a:endParaRPr b="0"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Stdio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Local process communication via standard I/O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Streamable HTTP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Remote communication with Streamable HTTP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grpSp>
        <p:nvGrpSpPr>
          <p:cNvPr id="871" name="Google Shape;871;p21"/>
          <p:cNvGrpSpPr/>
          <p:nvPr/>
        </p:nvGrpSpPr>
        <p:grpSpPr>
          <a:xfrm>
            <a:off x="14287500" y="9334500"/>
            <a:ext cx="3238500" cy="400200"/>
            <a:chOff x="0" y="0"/>
            <a:chExt cx="3238500" cy="400200"/>
          </a:xfrm>
        </p:grpSpPr>
        <p:sp>
          <p:nvSpPr>
            <p:cNvPr id="872" name="Google Shape;872;p21"/>
            <p:cNvSpPr/>
            <p:nvPr/>
          </p:nvSpPr>
          <p:spPr>
            <a:xfrm>
              <a:off x="0" y="0"/>
              <a:ext cx="3238500" cy="400200"/>
            </a:xfrm>
            <a:prstGeom prst="roundRect">
              <a:avLst>
                <a:gd fmla="val 19047" name="adj"/>
              </a:avLst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1"/>
            <p:cNvSpPr txBox="1"/>
            <p:nvPr/>
          </p:nvSpPr>
          <p:spPr>
            <a:xfrm>
              <a:off x="0" y="0"/>
              <a:ext cx="323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Protocol Version: 2026-07-28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8"/>
          <p:cNvSpPr txBox="1"/>
          <p:nvPr/>
        </p:nvSpPr>
        <p:spPr>
          <a:xfrm>
            <a:off x="762000" y="666750"/>
            <a:ext cx="1143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rPr>
              <a:t>MCP</a:t>
            </a:r>
            <a:endParaRPr b="1" sz="1600">
              <a:solidFill>
                <a:srgbClr val="00AEE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rPr>
              <a:t>Core Capabilities</a:t>
            </a:r>
            <a:endParaRPr b="1" sz="4200">
              <a:solidFill>
                <a:srgbClr val="0F1B2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Standardized protocol primitives for AI-tool integration</a:t>
            </a:r>
            <a:endParaRPr b="0" i="1" sz="180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879" name="Google Shape;879;p18"/>
          <p:cNvGrpSpPr/>
          <p:nvPr/>
        </p:nvGrpSpPr>
        <p:grpSpPr>
          <a:xfrm>
            <a:off x="762000" y="2476500"/>
            <a:ext cx="5143500" cy="6286500"/>
            <a:chOff x="0" y="0"/>
            <a:chExt cx="5143500" cy="6286500"/>
          </a:xfrm>
        </p:grpSpPr>
        <p:sp>
          <p:nvSpPr>
            <p:cNvPr id="880" name="Google Shape;880;p18"/>
            <p:cNvSpPr/>
            <p:nvPr/>
          </p:nvSpPr>
          <p:spPr>
            <a:xfrm>
              <a:off x="0" y="0"/>
              <a:ext cx="5143500" cy="6286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8"/>
            <p:cNvSpPr/>
            <p:nvPr/>
          </p:nvSpPr>
          <p:spPr>
            <a:xfrm>
              <a:off x="0" y="0"/>
              <a:ext cx="5143500" cy="1047900"/>
            </a:xfrm>
            <a:custGeom>
              <a:rect b="b" l="l" r="r" t="t"/>
              <a:pathLst>
                <a:path extrusionOk="0" h="120000" w="120000">
                  <a:moveTo>
                    <a:pt x="0" y="17455"/>
                  </a:moveTo>
                  <a:cubicBezTo>
                    <a:pt x="0" y="7811"/>
                    <a:pt x="1591" y="0"/>
                    <a:pt x="3556" y="0"/>
                  </a:cubicBezTo>
                  <a:lnTo>
                    <a:pt x="116444" y="0"/>
                  </a:lnTo>
                  <a:cubicBezTo>
                    <a:pt x="118409" y="0"/>
                    <a:pt x="120000" y="7811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8"/>
            <p:cNvSpPr txBox="1"/>
            <p:nvPr/>
          </p:nvSpPr>
          <p:spPr>
            <a:xfrm>
              <a:off x="285750" y="228600"/>
              <a:ext cx="4572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build </a:t>
              </a:r>
              <a:r>
                <a:rPr b="1" lang="en-US" sz="2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Tools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883" name="Google Shape;883;p18"/>
            <p:cNvSpPr txBox="1"/>
            <p:nvPr/>
          </p:nvSpPr>
          <p:spPr>
            <a:xfrm>
              <a:off x="304800" y="1333500"/>
              <a:ext cx="4533900" cy="457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Function calling and execution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Execute client-side logic and deterministic operations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Dynamic tool discovery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Runtime capability inspection and real-time listing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Structured input/output schemas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JSON Schema validation for robust type safety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Multi-modal result types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 for text, image, and embedded content responses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884" name="Google Shape;884;p18"/>
          <p:cNvGrpSpPr/>
          <p:nvPr/>
        </p:nvGrpSpPr>
        <p:grpSpPr>
          <a:xfrm>
            <a:off x="6572250" y="2476500"/>
            <a:ext cx="5143500" cy="6286500"/>
            <a:chOff x="0" y="0"/>
            <a:chExt cx="5143500" cy="6286500"/>
          </a:xfrm>
        </p:grpSpPr>
        <p:sp>
          <p:nvSpPr>
            <p:cNvPr id="885" name="Google Shape;885;p18"/>
            <p:cNvSpPr/>
            <p:nvPr/>
          </p:nvSpPr>
          <p:spPr>
            <a:xfrm>
              <a:off x="0" y="0"/>
              <a:ext cx="5143500" cy="6286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0" y="0"/>
              <a:ext cx="5143500" cy="1047900"/>
            </a:xfrm>
            <a:custGeom>
              <a:rect b="b" l="l" r="r" t="t"/>
              <a:pathLst>
                <a:path extrusionOk="0" h="120000" w="120000">
                  <a:moveTo>
                    <a:pt x="0" y="17455"/>
                  </a:moveTo>
                  <a:cubicBezTo>
                    <a:pt x="0" y="7811"/>
                    <a:pt x="1591" y="0"/>
                    <a:pt x="3556" y="0"/>
                  </a:cubicBezTo>
                  <a:lnTo>
                    <a:pt x="116444" y="0"/>
                  </a:lnTo>
                  <a:cubicBezTo>
                    <a:pt x="118409" y="0"/>
                    <a:pt x="120000" y="7811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 txBox="1"/>
            <p:nvPr/>
          </p:nvSpPr>
          <p:spPr>
            <a:xfrm>
              <a:off x="285750" y="228600"/>
              <a:ext cx="4572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folder_open </a:t>
              </a:r>
              <a:r>
                <a:rPr b="1" lang="en-US" sz="2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Resources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888" name="Google Shape;888;p18"/>
            <p:cNvSpPr txBox="1"/>
            <p:nvPr/>
          </p:nvSpPr>
          <p:spPr>
            <a:xfrm>
              <a:off x="304800" y="1333500"/>
              <a:ext cx="4533900" cy="457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Contextual data access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Expose files, logs, and live application data to models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File and database integration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Standardized URI patterns for heterogeneous sources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Real-time resource updates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Dynamic content updates during active session streams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Subscription-based notifications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Client event listeners for underlying data changes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889" name="Google Shape;889;p18"/>
          <p:cNvGrpSpPr/>
          <p:nvPr/>
        </p:nvGrpSpPr>
        <p:grpSpPr>
          <a:xfrm>
            <a:off x="12382500" y="2476500"/>
            <a:ext cx="5143500" cy="6286500"/>
            <a:chOff x="0" y="0"/>
            <a:chExt cx="5143500" cy="6286500"/>
          </a:xfrm>
        </p:grpSpPr>
        <p:sp>
          <p:nvSpPr>
            <p:cNvPr id="890" name="Google Shape;890;p18"/>
            <p:cNvSpPr/>
            <p:nvPr/>
          </p:nvSpPr>
          <p:spPr>
            <a:xfrm>
              <a:off x="0" y="0"/>
              <a:ext cx="5143500" cy="6286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0" y="0"/>
              <a:ext cx="5143500" cy="1047900"/>
            </a:xfrm>
            <a:custGeom>
              <a:rect b="b" l="l" r="r" t="t"/>
              <a:pathLst>
                <a:path extrusionOk="0" h="120000" w="120000">
                  <a:moveTo>
                    <a:pt x="0" y="17455"/>
                  </a:moveTo>
                  <a:cubicBezTo>
                    <a:pt x="0" y="7811"/>
                    <a:pt x="1591" y="0"/>
                    <a:pt x="3556" y="0"/>
                  </a:cubicBezTo>
                  <a:lnTo>
                    <a:pt x="116444" y="0"/>
                  </a:lnTo>
                  <a:cubicBezTo>
                    <a:pt x="118409" y="0"/>
                    <a:pt x="120000" y="7811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 txBox="1"/>
            <p:nvPr/>
          </p:nvSpPr>
          <p:spPr>
            <a:xfrm>
              <a:off x="285750" y="228600"/>
              <a:ext cx="4572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 </a:t>
              </a:r>
              <a:r>
                <a:rPr b="1" lang="en-US" sz="2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Prompts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893" name="Google Shape;893;p18"/>
            <p:cNvSpPr txBox="1"/>
            <p:nvPr/>
          </p:nvSpPr>
          <p:spPr>
            <a:xfrm>
              <a:off x="304800" y="1333500"/>
              <a:ext cx="4533900" cy="457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Template management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Pre-designed prompt templates with standardized formats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Reusable prompt libraries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Centralized workflows shared across tools and applications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Parameterized interactions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Dynamic argument injection for context customization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LLM-agnostic design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Universal prompt compatibility across model providers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894" name="Google Shape;894;p18"/>
          <p:cNvSpPr txBox="1"/>
          <p:nvPr/>
        </p:nvSpPr>
        <p:spPr>
          <a:xfrm>
            <a:off x="14839950" y="9391650"/>
            <a:ext cx="2667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>
              <a:solidFill>
                <a:srgbClr val="0F1B2C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descr="preencoded.png" id="895" name="Google Shape;895;p18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00" r="-21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900" name="Google Shape;900;p22"/>
          <p:cNvSpPr/>
          <p:nvPr/>
        </p:nvSpPr>
        <p:spPr>
          <a:xfrm>
            <a:off x="0" y="-1844688"/>
            <a:ext cx="18288000" cy="12259818"/>
          </a:xfrm>
          <a:custGeom>
            <a:rect b="b" l="l" r="r" t="t"/>
            <a:pathLst>
              <a:path extrusionOk="0" h="16346424" w="24384000">
                <a:moveTo>
                  <a:pt x="0" y="0"/>
                </a:moveTo>
                <a:lnTo>
                  <a:pt x="24384000" y="0"/>
                </a:lnTo>
                <a:lnTo>
                  <a:pt x="24384000" y="16346424"/>
                </a:lnTo>
                <a:lnTo>
                  <a:pt x="0" y="16346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3" l="0" r="0" t="-53"/>
            </a:stretch>
          </a:blipFill>
          <a:ln>
            <a:noFill/>
          </a:ln>
        </p:spPr>
      </p:sp>
      <p:sp>
        <p:nvSpPr>
          <p:cNvPr descr="preencoded.png" id="901" name="Google Shape;901;p22"/>
          <p:cNvSpPr/>
          <p:nvPr/>
        </p:nvSpPr>
        <p:spPr>
          <a:xfrm>
            <a:off x="7758112" y="-1844688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02" name="Google Shape;902;p22"/>
          <p:cNvSpPr/>
          <p:nvPr/>
        </p:nvSpPr>
        <p:spPr>
          <a:xfrm>
            <a:off x="0" y="8529209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78" l="0" r="0" t="-378"/>
            </a:stretch>
          </a:blipFill>
          <a:ln>
            <a:noFill/>
          </a:ln>
        </p:spPr>
      </p:sp>
      <p:sp>
        <p:nvSpPr>
          <p:cNvPr descr="preencoded.png" id="903" name="Google Shape;903;p22"/>
          <p:cNvSpPr/>
          <p:nvPr/>
        </p:nvSpPr>
        <p:spPr>
          <a:xfrm>
            <a:off x="0" y="7529084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9" l="0" r="0" t="-299"/>
            </a:stretch>
          </a:blipFill>
          <a:ln>
            <a:noFill/>
          </a:ln>
        </p:spPr>
      </p:sp>
      <p:sp>
        <p:nvSpPr>
          <p:cNvPr descr="preencoded.png" id="904" name="Google Shape;904;p22"/>
          <p:cNvSpPr/>
          <p:nvPr/>
        </p:nvSpPr>
        <p:spPr>
          <a:xfrm>
            <a:off x="5143500" y="9114996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-549" l="0" r="0" t="-549"/>
            </a:stretch>
          </a:blipFill>
          <a:ln>
            <a:noFill/>
          </a:ln>
        </p:spPr>
      </p:sp>
      <p:sp>
        <p:nvSpPr>
          <p:cNvPr id="905" name="Google Shape;905;p22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0F1B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6" name="Google Shape;906;p22"/>
          <p:cNvGrpSpPr/>
          <p:nvPr/>
        </p:nvGrpSpPr>
        <p:grpSpPr>
          <a:xfrm>
            <a:off x="762000" y="2095500"/>
            <a:ext cx="4953000" cy="5715000"/>
            <a:chOff x="0" y="0"/>
            <a:chExt cx="4953000" cy="5715000"/>
          </a:xfrm>
        </p:grpSpPr>
        <p:sp>
          <p:nvSpPr>
            <p:cNvPr id="907" name="Google Shape;907;p22"/>
            <p:cNvSpPr/>
            <p:nvPr/>
          </p:nvSpPr>
          <p:spPr>
            <a:xfrm>
              <a:off x="0" y="0"/>
              <a:ext cx="4953000" cy="571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2"/>
            <p:cNvSpPr txBox="1"/>
            <p:nvPr/>
          </p:nvSpPr>
          <p:spPr>
            <a:xfrm>
              <a:off x="0" y="0"/>
              <a:ext cx="4953000" cy="57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JSON-RPC 2.0 </a:t>
              </a:r>
              <a:r>
                <a:rPr b="0" lang="en-US" sz="12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(Part 1 &amp; 2)</a:t>
              </a:r>
              <a:endParaRPr b="1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Technical Foundation</a:t>
              </a:r>
              <a:endParaRPr b="1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MCP's communication protocol implementation</a:t>
              </a:r>
              <a:endParaRPr b="0" sz="16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SPECIFICATION</a:t>
              </a:r>
              <a:endParaRPr b="1" sz="11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Protocol Version: 2026-07-28</a:t>
              </a:r>
              <a:endParaRPr b="0" sz="13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09" name="Google Shape;909;p22"/>
          <p:cNvGrpSpPr/>
          <p:nvPr/>
        </p:nvGrpSpPr>
        <p:grpSpPr>
          <a:xfrm>
            <a:off x="6953250" y="857250"/>
            <a:ext cx="5143500" cy="7810500"/>
            <a:chOff x="0" y="0"/>
            <a:chExt cx="5143500" cy="7810500"/>
          </a:xfrm>
        </p:grpSpPr>
        <p:sp>
          <p:nvSpPr>
            <p:cNvPr id="910" name="Google Shape;910;p22"/>
            <p:cNvSpPr/>
            <p:nvPr/>
          </p:nvSpPr>
          <p:spPr>
            <a:xfrm>
              <a:off x="0" y="0"/>
              <a:ext cx="5143500" cy="7810500"/>
            </a:xfrm>
            <a:prstGeom prst="roundRect">
              <a:avLst>
                <a:gd fmla="val 222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2"/>
            <p:cNvSpPr txBox="1"/>
            <p:nvPr/>
          </p:nvSpPr>
          <p:spPr>
            <a:xfrm>
              <a:off x="285750" y="228600"/>
              <a:ext cx="457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1. Requests</a:t>
              </a:r>
              <a:endParaRPr b="1" sz="22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Sent from Client to Server to initiate an operation. Includes an ID, method name, and parameters.</a:t>
              </a:r>
              <a:endParaRPr b="0" sz="13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912" name="Google Shape;912;p22"/>
            <p:cNvGrpSpPr/>
            <p:nvPr/>
          </p:nvGrpSpPr>
          <p:grpSpPr>
            <a:xfrm>
              <a:off x="190500" y="1428750"/>
              <a:ext cx="4762500" cy="6096000"/>
              <a:chOff x="0" y="0"/>
              <a:chExt cx="4762500" cy="6096000"/>
            </a:xfrm>
          </p:grpSpPr>
          <p:sp>
            <p:nvSpPr>
              <p:cNvPr id="913" name="Google Shape;913;p22"/>
              <p:cNvSpPr/>
              <p:nvPr/>
            </p:nvSpPr>
            <p:spPr>
              <a:xfrm>
                <a:off x="0" y="0"/>
                <a:ext cx="4762500" cy="6096000"/>
              </a:xfrm>
              <a:prstGeom prst="roundRect">
                <a:avLst>
                  <a:gd fmla="val 2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2"/>
              <p:cNvSpPr/>
              <p:nvPr/>
            </p:nvSpPr>
            <p:spPr>
              <a:xfrm>
                <a:off x="0" y="0"/>
                <a:ext cx="4762500" cy="362100"/>
              </a:xfrm>
              <a:custGeom>
                <a:rect b="b" l="l" r="r" t="t"/>
                <a:pathLst>
                  <a:path extrusionOk="0" h="120000" w="120000">
                    <a:moveTo>
                      <a:pt x="0" y="31579"/>
                    </a:moveTo>
                    <a:cubicBezTo>
                      <a:pt x="0" y="14138"/>
                      <a:pt x="1074" y="0"/>
                      <a:pt x="2400" y="0"/>
                    </a:cubicBezTo>
                    <a:lnTo>
                      <a:pt x="117600" y="0"/>
                    </a:lnTo>
                    <a:cubicBezTo>
                      <a:pt x="118926" y="0"/>
                      <a:pt x="120000" y="14138"/>
                      <a:pt x="120000" y="31579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22"/>
              <p:cNvSpPr/>
              <p:nvPr/>
            </p:nvSpPr>
            <p:spPr>
              <a:xfrm>
                <a:off x="138113" y="128588"/>
                <a:ext cx="104700" cy="1047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22"/>
              <p:cNvSpPr/>
              <p:nvPr/>
            </p:nvSpPr>
            <p:spPr>
              <a:xfrm>
                <a:off x="309563" y="128588"/>
                <a:ext cx="104700" cy="1047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2"/>
              <p:cNvSpPr/>
              <p:nvPr/>
            </p:nvSpPr>
            <p:spPr>
              <a:xfrm>
                <a:off x="481013" y="128588"/>
                <a:ext cx="104700" cy="1047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2"/>
              <p:cNvSpPr txBox="1"/>
              <p:nvPr/>
            </p:nvSpPr>
            <p:spPr>
              <a:xfrm>
                <a:off x="762000" y="76200"/>
                <a:ext cx="3238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request_payload.json</a:t>
                </a:r>
                <a:endParaRPr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919" name="Google Shape;919;p22"/>
              <p:cNvSpPr txBox="1"/>
              <p:nvPr/>
            </p:nvSpPr>
            <p:spPr>
              <a:xfrm>
                <a:off x="228600" y="495300"/>
                <a:ext cx="4305300" cy="54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"tools/call"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"params"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"name"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"weather"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"arguments"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"location"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"San Francisco"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920" name="Google Shape;920;p22"/>
          <p:cNvGrpSpPr/>
          <p:nvPr/>
        </p:nvGrpSpPr>
        <p:grpSpPr>
          <a:xfrm>
            <a:off x="12477750" y="857250"/>
            <a:ext cx="5143500" cy="7810500"/>
            <a:chOff x="0" y="0"/>
            <a:chExt cx="5143500" cy="7810500"/>
          </a:xfrm>
        </p:grpSpPr>
        <p:sp>
          <p:nvSpPr>
            <p:cNvPr id="921" name="Google Shape;921;p22"/>
            <p:cNvSpPr/>
            <p:nvPr/>
          </p:nvSpPr>
          <p:spPr>
            <a:xfrm>
              <a:off x="0" y="0"/>
              <a:ext cx="5143500" cy="7810500"/>
            </a:xfrm>
            <a:prstGeom prst="roundRect">
              <a:avLst>
                <a:gd fmla="val 222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2"/>
            <p:cNvSpPr txBox="1"/>
            <p:nvPr/>
          </p:nvSpPr>
          <p:spPr>
            <a:xfrm>
              <a:off x="285750" y="228600"/>
              <a:ext cx="457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2. Responses</a:t>
              </a:r>
              <a:endParaRPr b="1" sz="22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Sent from Server to Client in reply to a Request. Includes the same ID and either a result or an error.</a:t>
              </a:r>
              <a:endParaRPr b="0" sz="13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923" name="Google Shape;923;p22"/>
            <p:cNvGrpSpPr/>
            <p:nvPr/>
          </p:nvGrpSpPr>
          <p:grpSpPr>
            <a:xfrm>
              <a:off x="190500" y="1428750"/>
              <a:ext cx="4762500" cy="6096000"/>
              <a:chOff x="0" y="0"/>
              <a:chExt cx="4762500" cy="6096000"/>
            </a:xfrm>
          </p:grpSpPr>
          <p:sp>
            <p:nvSpPr>
              <p:cNvPr id="924" name="Google Shape;924;p22"/>
              <p:cNvSpPr/>
              <p:nvPr/>
            </p:nvSpPr>
            <p:spPr>
              <a:xfrm>
                <a:off x="0" y="0"/>
                <a:ext cx="4762500" cy="6096000"/>
              </a:xfrm>
              <a:prstGeom prst="roundRect">
                <a:avLst>
                  <a:gd fmla="val 2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0" y="0"/>
                <a:ext cx="4762500" cy="362100"/>
              </a:xfrm>
              <a:custGeom>
                <a:rect b="b" l="l" r="r" t="t"/>
                <a:pathLst>
                  <a:path extrusionOk="0" h="120000" w="120000">
                    <a:moveTo>
                      <a:pt x="0" y="31579"/>
                    </a:moveTo>
                    <a:cubicBezTo>
                      <a:pt x="0" y="14138"/>
                      <a:pt x="1074" y="0"/>
                      <a:pt x="2400" y="0"/>
                    </a:cubicBezTo>
                    <a:lnTo>
                      <a:pt x="117600" y="0"/>
                    </a:lnTo>
                    <a:cubicBezTo>
                      <a:pt x="118926" y="0"/>
                      <a:pt x="120000" y="14138"/>
                      <a:pt x="120000" y="31579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138113" y="128588"/>
                <a:ext cx="104700" cy="1047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2"/>
              <p:cNvSpPr/>
              <p:nvPr/>
            </p:nvSpPr>
            <p:spPr>
              <a:xfrm>
                <a:off x="309563" y="128588"/>
                <a:ext cx="104700" cy="1047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22"/>
              <p:cNvSpPr/>
              <p:nvPr/>
            </p:nvSpPr>
            <p:spPr>
              <a:xfrm>
                <a:off x="481013" y="128588"/>
                <a:ext cx="104700" cy="1047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 txBox="1"/>
              <p:nvPr/>
            </p:nvSpPr>
            <p:spPr>
              <a:xfrm>
                <a:off x="762000" y="76200"/>
                <a:ext cx="3238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response_payload.json</a:t>
                </a:r>
                <a:endParaRPr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930" name="Google Shape;930;p22"/>
              <p:cNvSpPr txBox="1"/>
              <p:nvPr/>
            </p:nvSpPr>
            <p:spPr>
              <a:xfrm>
                <a:off x="228600" y="495300"/>
                <a:ext cx="4305300" cy="54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"result"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"temperature"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62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"conditions"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"Partly cloudy"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931" name="Google Shape;931;p22"/>
          <p:cNvSpPr/>
          <p:nvPr/>
        </p:nvSpPr>
        <p:spPr>
          <a:xfrm>
            <a:off x="0" y="9572196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932" name="Google Shape;932;p22"/>
          <p:cNvSpPr/>
          <p:nvPr/>
        </p:nvSpPr>
        <p:spPr>
          <a:xfrm>
            <a:off x="14444605" y="9700784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82" l="0" r="0" t="-982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937" name="Google Shape;937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38" name="Google Shape;938;p23"/>
          <p:cNvSpPr/>
          <p:nvPr/>
        </p:nvSpPr>
        <p:spPr>
          <a:xfrm>
            <a:off x="7758112" y="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39" name="Google Shape;939;p23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40" name="Google Shape;940;p23"/>
          <p:cNvSpPr/>
          <p:nvPr/>
        </p:nvSpPr>
        <p:spPr>
          <a:xfrm>
            <a:off x="0" y="7400925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41" name="Google Shape;941;p23"/>
          <p:cNvSpPr/>
          <p:nvPr/>
        </p:nvSpPr>
        <p:spPr>
          <a:xfrm>
            <a:off x="5143500" y="8986838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2" name="Google Shape;942;p23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0F1B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3"/>
          <p:cNvSpPr txBox="1"/>
          <p:nvPr/>
        </p:nvSpPr>
        <p:spPr>
          <a:xfrm>
            <a:off x="762000" y="2095500"/>
            <a:ext cx="4953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JSON-RPC 2.0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12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(Part 3 of 3)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Technical Foundation</a:t>
            </a:r>
            <a:endParaRPr b="1"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MCP's communication protocol implementation</a:t>
            </a:r>
            <a:endParaRPr b="0" sz="16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SPECIFICATION</a:t>
            </a:r>
            <a:endParaRPr b="1" sz="11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Protocol Version: 2026-07-28</a:t>
            </a:r>
            <a:endParaRPr sz="130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23"/>
          <p:cNvSpPr txBox="1"/>
          <p:nvPr/>
        </p:nvSpPr>
        <p:spPr>
          <a:xfrm>
            <a:off x="7239000" y="952500"/>
            <a:ext cx="10096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rPr>
              <a:t>3. Notifications</a:t>
            </a:r>
            <a:endParaRPr b="1" sz="3200">
              <a:solidFill>
                <a:srgbClr val="0F1B2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One-way messages that don't require a response. Used primarily for real-time updates or asynchronous events.</a:t>
            </a:r>
            <a:endParaRPr b="0" sz="160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945" name="Google Shape;945;p23"/>
          <p:cNvGrpSpPr/>
          <p:nvPr/>
        </p:nvGrpSpPr>
        <p:grpSpPr>
          <a:xfrm>
            <a:off x="7239000" y="2381250"/>
            <a:ext cx="10096500" cy="3429000"/>
            <a:chOff x="0" y="0"/>
            <a:chExt cx="10096500" cy="3429000"/>
          </a:xfrm>
        </p:grpSpPr>
        <p:sp>
          <p:nvSpPr>
            <p:cNvPr id="946" name="Google Shape;946;p23"/>
            <p:cNvSpPr/>
            <p:nvPr/>
          </p:nvSpPr>
          <p:spPr>
            <a:xfrm>
              <a:off x="0" y="0"/>
              <a:ext cx="10096500" cy="3429000"/>
            </a:xfrm>
            <a:prstGeom prst="roundRect">
              <a:avLst>
                <a:gd fmla="val 3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3"/>
            <p:cNvSpPr/>
            <p:nvPr/>
          </p:nvSpPr>
          <p:spPr>
            <a:xfrm>
              <a:off x="0" y="0"/>
              <a:ext cx="10096500" cy="419100"/>
            </a:xfrm>
            <a:custGeom>
              <a:rect b="b" l="l" r="r" t="t"/>
              <a:pathLst>
                <a:path extrusionOk="0" h="120000" w="120000">
                  <a:moveTo>
                    <a:pt x="0" y="32727"/>
                  </a:moveTo>
                  <a:cubicBezTo>
                    <a:pt x="0" y="14645"/>
                    <a:pt x="608" y="0"/>
                    <a:pt x="1358" y="0"/>
                  </a:cubicBezTo>
                  <a:lnTo>
                    <a:pt x="118642" y="0"/>
                  </a:lnTo>
                  <a:cubicBezTo>
                    <a:pt x="119392" y="0"/>
                    <a:pt x="120000" y="14645"/>
                    <a:pt x="120000" y="3272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3"/>
            <p:cNvSpPr/>
            <p:nvPr/>
          </p:nvSpPr>
          <p:spPr>
            <a:xfrm>
              <a:off x="171450" y="1524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3"/>
            <p:cNvSpPr/>
            <p:nvPr/>
          </p:nvSpPr>
          <p:spPr>
            <a:xfrm>
              <a:off x="361950" y="1524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3"/>
            <p:cNvSpPr/>
            <p:nvPr/>
          </p:nvSpPr>
          <p:spPr>
            <a:xfrm>
              <a:off x="552450" y="1524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3"/>
            <p:cNvSpPr txBox="1"/>
            <p:nvPr/>
          </p:nvSpPr>
          <p:spPr>
            <a:xfrm>
              <a:off x="857250" y="9525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notification_payload.json</a:t>
              </a:r>
              <a:endParaRPr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952" name="Google Shape;952;p23"/>
            <p:cNvSpPr txBox="1"/>
            <p:nvPr/>
          </p:nvSpPr>
          <p:spPr>
            <a:xfrm>
              <a:off x="304800" y="609600"/>
              <a:ext cx="9486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"method"</a:t>
              </a: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"notifications/tools/list_changed"</a:t>
              </a:r>
              <a:endParaRPr sz="15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5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953" name="Google Shape;953;p23"/>
          <p:cNvGrpSpPr/>
          <p:nvPr/>
        </p:nvGrpSpPr>
        <p:grpSpPr>
          <a:xfrm>
            <a:off x="7239000" y="6096000"/>
            <a:ext cx="10096650" cy="2095500"/>
            <a:chOff x="0" y="0"/>
            <a:chExt cx="10096650" cy="2095500"/>
          </a:xfrm>
        </p:grpSpPr>
        <p:grpSp>
          <p:nvGrpSpPr>
            <p:cNvPr id="954" name="Google Shape;954;p23"/>
            <p:cNvGrpSpPr/>
            <p:nvPr/>
          </p:nvGrpSpPr>
          <p:grpSpPr>
            <a:xfrm>
              <a:off x="0" y="0"/>
              <a:ext cx="4857900" cy="2095500"/>
              <a:chOff x="0" y="0"/>
              <a:chExt cx="4857900" cy="2095500"/>
            </a:xfrm>
          </p:grpSpPr>
          <p:sp>
            <p:nvSpPr>
              <p:cNvPr id="955" name="Google Shape;955;p23"/>
              <p:cNvSpPr/>
              <p:nvPr/>
            </p:nvSpPr>
            <p:spPr>
              <a:xfrm>
                <a:off x="0" y="0"/>
                <a:ext cx="48579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3"/>
              <p:cNvSpPr txBox="1"/>
              <p:nvPr/>
            </p:nvSpPr>
            <p:spPr>
              <a:xfrm>
                <a:off x="285750" y="228600"/>
                <a:ext cx="4286400" cy="16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do_not_disturb_on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b="1" lang="en-US" sz="16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No Request ID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Notifications omit the </a:t>
                </a:r>
                <a:r>
                  <a:rPr b="1" lang="en-US" sz="130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field entirely. This explicitly signals that no response or acknowledgment is expected from the receiver.</a:t>
                </a:r>
                <a:endParaRPr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957" name="Google Shape;957;p23"/>
            <p:cNvGrpSpPr/>
            <p:nvPr/>
          </p:nvGrpSpPr>
          <p:grpSpPr>
            <a:xfrm>
              <a:off x="5238750" y="0"/>
              <a:ext cx="4857900" cy="2095500"/>
              <a:chOff x="0" y="0"/>
              <a:chExt cx="4857900" cy="2095500"/>
            </a:xfrm>
          </p:grpSpPr>
          <p:sp>
            <p:nvSpPr>
              <p:cNvPr id="958" name="Google Shape;958;p23"/>
              <p:cNvSpPr/>
              <p:nvPr/>
            </p:nvSpPr>
            <p:spPr>
              <a:xfrm>
                <a:off x="0" y="0"/>
                <a:ext cx="48579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3"/>
              <p:cNvSpPr txBox="1"/>
              <p:nvPr/>
            </p:nvSpPr>
            <p:spPr>
              <a:xfrm>
                <a:off x="285750" y="228600"/>
                <a:ext cx="4286400" cy="16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sensors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b="1" lang="en-US" sz="16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Event-Driven Updates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Enables real-time client sync when server capabilities, resources, or tool definitions change dynamically during an active session.</a:t>
                </a:r>
                <a:endParaRPr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sp>
        <p:nvSpPr>
          <p:cNvPr id="960" name="Google Shape;960;p23"/>
          <p:cNvSpPr/>
          <p:nvPr/>
        </p:nvSpPr>
        <p:spPr>
          <a:xfrm>
            <a:off x="0" y="944403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961" name="Google Shape;961;p23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24"/>
          <p:cNvSpPr txBox="1"/>
          <p:nvPr/>
        </p:nvSpPr>
        <p:spPr>
          <a:xfrm>
            <a:off x="952500" y="619125"/>
            <a:ext cx="1143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MCP Transport </a:t>
            </a:r>
            <a:r>
              <a:rPr b="1" lang="en-US" sz="38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Mechanisms</a:t>
            </a:r>
            <a:endParaRPr b="1" sz="38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Technical implementation of communication channels</a:t>
            </a:r>
            <a:endParaRPr b="0" sz="16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67" name="Google Shape;967;p24"/>
          <p:cNvGrpSpPr/>
          <p:nvPr/>
        </p:nvGrpSpPr>
        <p:grpSpPr>
          <a:xfrm>
            <a:off x="952500" y="1905000"/>
            <a:ext cx="7905900" cy="6953400"/>
            <a:chOff x="0" y="0"/>
            <a:chExt cx="7905900" cy="6953400"/>
          </a:xfrm>
        </p:grpSpPr>
        <p:sp>
          <p:nvSpPr>
            <p:cNvPr id="968" name="Google Shape;968;p24"/>
            <p:cNvSpPr/>
            <p:nvPr/>
          </p:nvSpPr>
          <p:spPr>
            <a:xfrm>
              <a:off x="0" y="0"/>
              <a:ext cx="7905900" cy="6953400"/>
            </a:xfrm>
            <a:prstGeom prst="roundRect">
              <a:avLst>
                <a:gd fmla="val 2191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0" y="0"/>
              <a:ext cx="7905900" cy="1238400"/>
            </a:xfrm>
            <a:custGeom>
              <a:rect b="b" l="l" r="r" t="t"/>
              <a:pathLst>
                <a:path extrusionOk="0" h="120000" w="120000">
                  <a:moveTo>
                    <a:pt x="0" y="14769"/>
                  </a:moveTo>
                  <a:cubicBezTo>
                    <a:pt x="0" y="6612"/>
                    <a:pt x="1036" y="0"/>
                    <a:pt x="2313" y="0"/>
                  </a:cubicBezTo>
                  <a:lnTo>
                    <a:pt x="117687" y="0"/>
                  </a:lnTo>
                  <a:cubicBezTo>
                    <a:pt x="118964" y="1"/>
                    <a:pt x="120000" y="6613"/>
                    <a:pt x="120000" y="14769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4"/>
            <p:cNvSpPr txBox="1"/>
            <p:nvPr/>
          </p:nvSpPr>
          <p:spPr>
            <a:xfrm>
              <a:off x="381000" y="228600"/>
              <a:ext cx="63819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LOCAL COMMUNICATION</a:t>
              </a:r>
              <a:endParaRPr b="1" sz="11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Stdio Transport</a:t>
              </a:r>
              <a:endParaRPr b="1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971" name="Google Shape;971;p24"/>
            <p:cNvSpPr txBox="1"/>
            <p:nvPr/>
          </p:nvSpPr>
          <p:spPr>
            <a:xfrm>
              <a:off x="6953250" y="380111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3200">
                <a:solidFill>
                  <a:srgbClr val="00AEE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72" name="Google Shape;972;p24"/>
            <p:cNvSpPr txBox="1"/>
            <p:nvPr/>
          </p:nvSpPr>
          <p:spPr>
            <a:xfrm>
              <a:off x="381000" y="1476375"/>
              <a:ext cx="7143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Client and Server run on the same machine via standard input/output streams.</a:t>
              </a:r>
              <a:endParaRPr sz="14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973" name="Google Shape;973;p24"/>
            <p:cNvGrpSpPr/>
            <p:nvPr/>
          </p:nvGrpSpPr>
          <p:grpSpPr>
            <a:xfrm>
              <a:off x="381000" y="2333625"/>
              <a:ext cx="7143900" cy="1809600"/>
              <a:chOff x="0" y="0"/>
              <a:chExt cx="7143900" cy="1809600"/>
            </a:xfrm>
          </p:grpSpPr>
          <p:sp>
            <p:nvSpPr>
              <p:cNvPr id="974" name="Google Shape;974;p24"/>
              <p:cNvSpPr/>
              <p:nvPr/>
            </p:nvSpPr>
            <p:spPr>
              <a:xfrm>
                <a:off x="0" y="0"/>
                <a:ext cx="7143900" cy="1809600"/>
              </a:xfrm>
              <a:prstGeom prst="roundRect">
                <a:avLst>
                  <a:gd fmla="val 6315" name="adj"/>
                </a:avLst>
              </a:prstGeom>
              <a:solidFill>
                <a:srgbClr val="F0F4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24"/>
              <p:cNvSpPr txBox="1"/>
              <p:nvPr/>
            </p:nvSpPr>
            <p:spPr>
              <a:xfrm>
                <a:off x="285750" y="209550"/>
                <a:ext cx="6572400" cy="13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settings_suggest </a:t>
                </a:r>
                <a:r>
                  <a:rPr b="1" lang="en-US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Implementation</a:t>
                </a:r>
                <a:endParaRPr b="1" sz="13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Server launched as subprocess by Host. Client writes to stdin and reads from stdout.</a:t>
                </a:r>
                <a:endParaRPr b="0" sz="14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976" name="Google Shape;976;p24"/>
            <p:cNvGrpSpPr/>
            <p:nvPr/>
          </p:nvGrpSpPr>
          <p:grpSpPr>
            <a:xfrm>
              <a:off x="381000" y="4429125"/>
              <a:ext cx="7143900" cy="2047800"/>
              <a:chOff x="0" y="0"/>
              <a:chExt cx="7143900" cy="2047800"/>
            </a:xfrm>
          </p:grpSpPr>
          <p:sp>
            <p:nvSpPr>
              <p:cNvPr id="977" name="Google Shape;977;p24"/>
              <p:cNvSpPr/>
              <p:nvPr/>
            </p:nvSpPr>
            <p:spPr>
              <a:xfrm>
                <a:off x="0" y="0"/>
                <a:ext cx="7143900" cy="2047800"/>
              </a:xfrm>
              <a:prstGeom prst="roundRect">
                <a:avLst>
                  <a:gd fmla="val 55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4"/>
              <p:cNvSpPr txBox="1"/>
              <p:nvPr/>
            </p:nvSpPr>
            <p:spPr>
              <a:xfrm>
                <a:off x="285750" y="209550"/>
                <a:ext cx="6572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speed </a:t>
                </a:r>
                <a:r>
                  <a:rPr b="1" lang="en-US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Technical Benefits</a:t>
                </a:r>
                <a:endParaRPr b="1" sz="13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No network config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Low latency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</p:grpSp>
      </p:grpSp>
      <p:grpSp>
        <p:nvGrpSpPr>
          <p:cNvPr id="979" name="Google Shape;979;p24"/>
          <p:cNvGrpSpPr/>
          <p:nvPr/>
        </p:nvGrpSpPr>
        <p:grpSpPr>
          <a:xfrm>
            <a:off x="9429750" y="1905000"/>
            <a:ext cx="7905900" cy="6953400"/>
            <a:chOff x="0" y="0"/>
            <a:chExt cx="7905900" cy="6953400"/>
          </a:xfrm>
        </p:grpSpPr>
        <p:sp>
          <p:nvSpPr>
            <p:cNvPr id="980" name="Google Shape;980;p24"/>
            <p:cNvSpPr/>
            <p:nvPr/>
          </p:nvSpPr>
          <p:spPr>
            <a:xfrm>
              <a:off x="0" y="0"/>
              <a:ext cx="7905900" cy="6953400"/>
            </a:xfrm>
            <a:prstGeom prst="roundRect">
              <a:avLst>
                <a:gd fmla="val 2191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0" y="0"/>
              <a:ext cx="7905900" cy="1238400"/>
            </a:xfrm>
            <a:custGeom>
              <a:rect b="b" l="l" r="r" t="t"/>
              <a:pathLst>
                <a:path extrusionOk="0" h="120000" w="120000">
                  <a:moveTo>
                    <a:pt x="0" y="14769"/>
                  </a:moveTo>
                  <a:cubicBezTo>
                    <a:pt x="0" y="6612"/>
                    <a:pt x="1036" y="0"/>
                    <a:pt x="2313" y="0"/>
                  </a:cubicBezTo>
                  <a:lnTo>
                    <a:pt x="117687" y="0"/>
                  </a:lnTo>
                  <a:cubicBezTo>
                    <a:pt x="118964" y="1"/>
                    <a:pt x="120000" y="6613"/>
                    <a:pt x="120000" y="14769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4"/>
            <p:cNvSpPr txBox="1"/>
            <p:nvPr/>
          </p:nvSpPr>
          <p:spPr>
            <a:xfrm>
              <a:off x="381000" y="228600"/>
              <a:ext cx="63819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REMOTE COMMUNICATION</a:t>
              </a:r>
              <a:endParaRPr b="1" sz="11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Streamable HTTP Transport</a:t>
              </a:r>
              <a:endParaRPr b="1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983" name="Google Shape;983;p24"/>
            <p:cNvSpPr txBox="1"/>
            <p:nvPr/>
          </p:nvSpPr>
          <p:spPr>
            <a:xfrm>
              <a:off x="6953250" y="380111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cloud_queue</a:t>
              </a:r>
              <a:endParaRPr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84" name="Google Shape;984;p24"/>
            <p:cNvSpPr txBox="1"/>
            <p:nvPr/>
          </p:nvSpPr>
          <p:spPr>
            <a:xfrm>
              <a:off x="381000" y="1476375"/>
              <a:ext cx="7143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Client and Server might be on different machines using HTTP POST with Server-Sent Events.</a:t>
              </a:r>
              <a:endParaRPr sz="14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985" name="Google Shape;985;p24"/>
            <p:cNvGrpSpPr/>
            <p:nvPr/>
          </p:nvGrpSpPr>
          <p:grpSpPr>
            <a:xfrm>
              <a:off x="381000" y="2333625"/>
              <a:ext cx="7143900" cy="1809600"/>
              <a:chOff x="0" y="0"/>
              <a:chExt cx="7143900" cy="1809600"/>
            </a:xfrm>
          </p:grpSpPr>
          <p:sp>
            <p:nvSpPr>
              <p:cNvPr id="986" name="Google Shape;986;p24"/>
              <p:cNvSpPr/>
              <p:nvPr/>
            </p:nvSpPr>
            <p:spPr>
              <a:xfrm>
                <a:off x="0" y="0"/>
                <a:ext cx="7143900" cy="1809600"/>
              </a:xfrm>
              <a:prstGeom prst="roundRect">
                <a:avLst>
                  <a:gd fmla="val 6315" name="adj"/>
                </a:avLst>
              </a:prstGeom>
              <a:solidFill>
                <a:srgbClr val="F0F4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4"/>
              <p:cNvSpPr txBox="1"/>
              <p:nvPr/>
            </p:nvSpPr>
            <p:spPr>
              <a:xfrm>
                <a:off x="285750" y="209550"/>
                <a:ext cx="6572400" cy="13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swap_horiz </a:t>
                </a:r>
                <a:r>
                  <a:rPr b="1" lang="en-US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Implementation</a:t>
                </a:r>
                <a:endParaRPr b="1" sz="13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Client sends requests via HTTP POST. Server uses SSE for streaming responses and notifications.</a:t>
                </a:r>
                <a:endParaRPr b="0" sz="14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988" name="Google Shape;988;p24"/>
            <p:cNvGrpSpPr/>
            <p:nvPr/>
          </p:nvGrpSpPr>
          <p:grpSpPr>
            <a:xfrm>
              <a:off x="381000" y="4429125"/>
              <a:ext cx="7143900" cy="2047800"/>
              <a:chOff x="0" y="0"/>
              <a:chExt cx="7143900" cy="2047800"/>
            </a:xfrm>
          </p:grpSpPr>
          <p:sp>
            <p:nvSpPr>
              <p:cNvPr id="989" name="Google Shape;989;p24"/>
              <p:cNvSpPr/>
              <p:nvPr/>
            </p:nvSpPr>
            <p:spPr>
              <a:xfrm>
                <a:off x="0" y="0"/>
                <a:ext cx="7143900" cy="2047800"/>
              </a:xfrm>
              <a:prstGeom prst="roundRect">
                <a:avLst>
                  <a:gd fmla="val 55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4"/>
              <p:cNvSpPr txBox="1"/>
              <p:nvPr/>
            </p:nvSpPr>
            <p:spPr>
              <a:xfrm>
                <a:off x="285750" y="209550"/>
                <a:ext cx="6572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verified_user </a:t>
                </a:r>
                <a:r>
                  <a:rPr b="1" lang="en-US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Authentication Methods</a:t>
                </a:r>
                <a:endParaRPr b="1" sz="13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Bearer tokens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  <a:p>
                <a:pPr indent="-3175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API keys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  <a:p>
                <a:pPr indent="-3175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OAuth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</p:grpSp>
      </p:grpSp>
      <p:sp>
        <p:nvSpPr>
          <p:cNvPr id="991" name="Google Shape;991;p24"/>
          <p:cNvSpPr/>
          <p:nvPr/>
        </p:nvSpPr>
        <p:spPr>
          <a:xfrm>
            <a:off x="0" y="9416186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992" name="Google Shape;992;p24"/>
          <p:cNvSpPr/>
          <p:nvPr/>
        </p:nvSpPr>
        <p:spPr>
          <a:xfrm>
            <a:off x="14444605" y="9544774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82" l="0" r="0" t="-982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997" name="Google Shape;997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8" name="Google Shape;998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5"/>
          <p:cNvSpPr txBox="1"/>
          <p:nvPr/>
        </p:nvSpPr>
        <p:spPr>
          <a:xfrm>
            <a:off x="952500" y="666750"/>
            <a:ext cx="1143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MCP Protocol </a:t>
            </a:r>
            <a:r>
              <a:rPr b="1" lang="en-US" sz="38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Lifecycle</a:t>
            </a: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20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(Phase 1 &amp; 2)</a:t>
            </a:r>
            <a:endParaRPr b="1" sz="38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Technical sequence of protocol interactions — Initialization &amp; Discovery</a:t>
            </a:r>
            <a:endParaRPr b="0" sz="160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00" name="Google Shape;1000;p25"/>
          <p:cNvGrpSpPr/>
          <p:nvPr/>
        </p:nvGrpSpPr>
        <p:grpSpPr>
          <a:xfrm>
            <a:off x="952500" y="2000250"/>
            <a:ext cx="16383000" cy="3238500"/>
            <a:chOff x="0" y="0"/>
            <a:chExt cx="16383000" cy="3238500"/>
          </a:xfrm>
        </p:grpSpPr>
        <p:sp>
          <p:nvSpPr>
            <p:cNvPr id="1001" name="Google Shape;1001;p25"/>
            <p:cNvSpPr/>
            <p:nvPr/>
          </p:nvSpPr>
          <p:spPr>
            <a:xfrm>
              <a:off x="0" y="0"/>
              <a:ext cx="16383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0" y="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5"/>
            <p:cNvSpPr/>
            <p:nvPr/>
          </p:nvSpPr>
          <p:spPr>
            <a:xfrm>
              <a:off x="2476500" y="0"/>
              <a:ext cx="190500" cy="323850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5"/>
            <p:cNvSpPr txBox="1"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FFFFFF"/>
                  </a:solidFill>
                  <a:latin typeface="Noto Sans ExtraBold"/>
                  <a:ea typeface="Noto Sans ExtraBold"/>
                  <a:cs typeface="Noto Sans ExtraBold"/>
                  <a:sym typeface="Noto Sans ExtraBold"/>
                </a:rPr>
                <a:t>01</a:t>
              </a:r>
              <a:endParaRPr b="0" sz="4800">
                <a:solidFill>
                  <a:srgbClr val="FFFFFF"/>
                </a:solidFill>
                <a:latin typeface="Noto Sans ExtraBold"/>
                <a:ea typeface="Noto Sans ExtraBold"/>
                <a:cs typeface="Noto Sans ExtraBold"/>
                <a:sym typeface="Noto Sans ExtraBol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Initialization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005" name="Google Shape;1005;p25"/>
            <p:cNvSpPr txBox="1"/>
            <p:nvPr/>
          </p:nvSpPr>
          <p:spPr>
            <a:xfrm>
              <a:off x="3048000" y="238125"/>
              <a:ext cx="1285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B2C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Client connects to Server and they exchange protocol versions and capabilities.</a:t>
              </a:r>
              <a:endParaRPr b="0" sz="1800">
                <a:solidFill>
                  <a:srgbClr val="0F1B2C"/>
                </a:solidFill>
                <a:latin typeface="Noto Sans SemiBold"/>
                <a:ea typeface="Noto Sans SemiBold"/>
                <a:cs typeface="Noto Sans SemiBold"/>
                <a:sym typeface="Noto Sans SemiBold"/>
              </a:endParaRPr>
            </a:p>
          </p:txBody>
        </p:sp>
        <p:grpSp>
          <p:nvGrpSpPr>
            <p:cNvPr id="1006" name="Google Shape;1006;p25"/>
            <p:cNvGrpSpPr/>
            <p:nvPr/>
          </p:nvGrpSpPr>
          <p:grpSpPr>
            <a:xfrm>
              <a:off x="3048000" y="809625"/>
              <a:ext cx="12858900" cy="2143200"/>
              <a:chOff x="0" y="0"/>
              <a:chExt cx="12858900" cy="2143200"/>
            </a:xfrm>
          </p:grpSpPr>
          <p:sp>
            <p:nvSpPr>
              <p:cNvPr id="1007" name="Google Shape;1007;p25"/>
              <p:cNvSpPr/>
              <p:nvPr/>
            </p:nvSpPr>
            <p:spPr>
              <a:xfrm>
                <a:off x="0" y="0"/>
                <a:ext cx="12858900" cy="2143200"/>
              </a:xfrm>
              <a:prstGeom prst="roundRect">
                <a:avLst>
                  <a:gd fmla="val 3555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5"/>
              <p:cNvSpPr txBox="1"/>
              <p:nvPr/>
            </p:nvSpPr>
            <p:spPr>
              <a:xfrm>
                <a:off x="238125" y="190500"/>
                <a:ext cx="12382500" cy="17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Client → Server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"initialize"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"params"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"protocolVersion"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"2025-06-18"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600"/>
                  </a:spcAft>
                  <a:buNone/>
                </a:pP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"capabilities"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"sampling"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{} } } }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009" name="Google Shape;1009;p25"/>
          <p:cNvGrpSpPr/>
          <p:nvPr/>
        </p:nvGrpSpPr>
        <p:grpSpPr>
          <a:xfrm>
            <a:off x="2209800" y="5238750"/>
            <a:ext cx="152400" cy="343050"/>
            <a:chOff x="19050" y="0"/>
            <a:chExt cx="152400" cy="343050"/>
          </a:xfrm>
        </p:grpSpPr>
        <p:sp>
          <p:nvSpPr>
            <p:cNvPr id="1010" name="Google Shape;1010;p25"/>
            <p:cNvSpPr/>
            <p:nvPr/>
          </p:nvSpPr>
          <p:spPr>
            <a:xfrm>
              <a:off x="76200" y="0"/>
              <a:ext cx="38100" cy="24780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5"/>
            <p:cNvSpPr/>
            <p:nvPr/>
          </p:nvSpPr>
          <p:spPr>
            <a:xfrm>
              <a:off x="19050" y="247650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6000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2" name="Google Shape;1012;p25"/>
          <p:cNvGrpSpPr/>
          <p:nvPr/>
        </p:nvGrpSpPr>
        <p:grpSpPr>
          <a:xfrm>
            <a:off x="952500" y="5667375"/>
            <a:ext cx="16383000" cy="3333900"/>
            <a:chOff x="0" y="0"/>
            <a:chExt cx="16383000" cy="3333900"/>
          </a:xfrm>
        </p:grpSpPr>
        <p:sp>
          <p:nvSpPr>
            <p:cNvPr id="1013" name="Google Shape;1013;p25"/>
            <p:cNvSpPr/>
            <p:nvPr/>
          </p:nvSpPr>
          <p:spPr>
            <a:xfrm>
              <a:off x="0" y="0"/>
              <a:ext cx="163830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5"/>
            <p:cNvSpPr/>
            <p:nvPr/>
          </p:nvSpPr>
          <p:spPr>
            <a:xfrm>
              <a:off x="0" y="0"/>
              <a:ext cx="2667000" cy="3333900"/>
            </a:xfrm>
            <a:prstGeom prst="roundRect">
              <a:avLst>
                <a:gd fmla="val 4285" name="adj"/>
              </a:avLst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5"/>
            <p:cNvSpPr/>
            <p:nvPr/>
          </p:nvSpPr>
          <p:spPr>
            <a:xfrm>
              <a:off x="2476500" y="0"/>
              <a:ext cx="190500" cy="3333900"/>
            </a:xfrm>
            <a:prstGeom prst="rect">
              <a:avLst/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5"/>
            <p:cNvSpPr txBox="1"/>
            <p:nvPr/>
          </p:nvSpPr>
          <p:spPr>
            <a:xfrm>
              <a:off x="0" y="0"/>
              <a:ext cx="2667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00AEEF"/>
                  </a:solidFill>
                  <a:latin typeface="Noto Sans ExtraBold"/>
                  <a:ea typeface="Noto Sans ExtraBold"/>
                  <a:cs typeface="Noto Sans ExtraBold"/>
                  <a:sym typeface="Noto Sans ExtraBold"/>
                </a:rPr>
                <a:t>02</a:t>
              </a:r>
              <a:endParaRPr b="0" sz="4800">
                <a:solidFill>
                  <a:srgbClr val="00AEEF"/>
                </a:solidFill>
                <a:latin typeface="Noto Sans ExtraBold"/>
                <a:ea typeface="Noto Sans ExtraBold"/>
                <a:cs typeface="Noto Sans ExtraBold"/>
                <a:sym typeface="Noto Sans ExtraBol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Discovery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017" name="Google Shape;1017;p25"/>
            <p:cNvSpPr txBox="1"/>
            <p:nvPr/>
          </p:nvSpPr>
          <p:spPr>
            <a:xfrm>
              <a:off x="3048000" y="238125"/>
              <a:ext cx="1285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B2C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Client requests information about available capabilities (tools, resources, prompts).</a:t>
              </a:r>
              <a:endParaRPr b="0" sz="1800">
                <a:solidFill>
                  <a:srgbClr val="0F1B2C"/>
                </a:solidFill>
                <a:latin typeface="Noto Sans SemiBold"/>
                <a:ea typeface="Noto Sans SemiBold"/>
                <a:cs typeface="Noto Sans SemiBold"/>
                <a:sym typeface="Noto Sans SemiBold"/>
              </a:endParaRPr>
            </a:p>
          </p:txBody>
        </p:sp>
        <p:grpSp>
          <p:nvGrpSpPr>
            <p:cNvPr id="1018" name="Google Shape;1018;p25"/>
            <p:cNvGrpSpPr/>
            <p:nvPr/>
          </p:nvGrpSpPr>
          <p:grpSpPr>
            <a:xfrm>
              <a:off x="3048000" y="809625"/>
              <a:ext cx="12858900" cy="2238300"/>
              <a:chOff x="0" y="0"/>
              <a:chExt cx="12858900" cy="2238300"/>
            </a:xfrm>
          </p:grpSpPr>
          <p:sp>
            <p:nvSpPr>
              <p:cNvPr id="1019" name="Google Shape;1019;p25"/>
              <p:cNvSpPr/>
              <p:nvPr/>
            </p:nvSpPr>
            <p:spPr>
              <a:xfrm>
                <a:off x="0" y="0"/>
                <a:ext cx="12858900" cy="2238300"/>
              </a:xfrm>
              <a:prstGeom prst="roundRect">
                <a:avLst>
                  <a:gd fmla="val 3404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5"/>
              <p:cNvSpPr txBox="1"/>
              <p:nvPr/>
            </p:nvSpPr>
            <p:spPr>
              <a:xfrm>
                <a:off x="238125" y="190500"/>
                <a:ext cx="123825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Client → Server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"tools/list"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}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1021" name="Google Shape;1021;p25"/>
          <p:cNvSpPr/>
          <p:nvPr/>
        </p:nvSpPr>
        <p:spPr>
          <a:xfrm>
            <a:off x="0" y="944403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1022" name="Google Shape;1022;p25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027" name="Google Shape;1027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8" name="Google Shape;1028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6"/>
          <p:cNvSpPr txBox="1"/>
          <p:nvPr/>
        </p:nvSpPr>
        <p:spPr>
          <a:xfrm>
            <a:off x="952500" y="666750"/>
            <a:ext cx="1143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MCP Protocol </a:t>
            </a:r>
            <a:r>
              <a:rPr b="1" lang="en-US" sz="38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Lifecycle</a:t>
            </a: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20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(continued)</a:t>
            </a:r>
            <a:endParaRPr b="1" sz="38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Technical sequence of protocol interactions — Phase 3 &amp; 4</a:t>
            </a:r>
            <a:endParaRPr b="0" sz="160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30" name="Google Shape;1030;p26"/>
          <p:cNvGrpSpPr/>
          <p:nvPr/>
        </p:nvGrpSpPr>
        <p:grpSpPr>
          <a:xfrm>
            <a:off x="952500" y="2000250"/>
            <a:ext cx="16383000" cy="3238500"/>
            <a:chOff x="0" y="0"/>
            <a:chExt cx="16383000" cy="3238500"/>
          </a:xfrm>
        </p:grpSpPr>
        <p:sp>
          <p:nvSpPr>
            <p:cNvPr id="1031" name="Google Shape;1031;p26"/>
            <p:cNvSpPr/>
            <p:nvPr/>
          </p:nvSpPr>
          <p:spPr>
            <a:xfrm>
              <a:off x="0" y="0"/>
              <a:ext cx="16383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6"/>
            <p:cNvSpPr/>
            <p:nvPr/>
          </p:nvSpPr>
          <p:spPr>
            <a:xfrm>
              <a:off x="0" y="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6"/>
            <p:cNvSpPr/>
            <p:nvPr/>
          </p:nvSpPr>
          <p:spPr>
            <a:xfrm>
              <a:off x="2476500" y="0"/>
              <a:ext cx="190500" cy="323850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6"/>
            <p:cNvSpPr txBox="1"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FFFFFF"/>
                  </a:solidFill>
                  <a:latin typeface="Noto Sans ExtraBold"/>
                  <a:ea typeface="Noto Sans ExtraBold"/>
                  <a:cs typeface="Noto Sans ExtraBold"/>
                  <a:sym typeface="Noto Sans ExtraBold"/>
                </a:rPr>
                <a:t>03</a:t>
              </a:r>
              <a:endParaRPr b="0" sz="4800">
                <a:solidFill>
                  <a:srgbClr val="FFFFFF"/>
                </a:solidFill>
                <a:latin typeface="Noto Sans ExtraBold"/>
                <a:ea typeface="Noto Sans ExtraBold"/>
                <a:cs typeface="Noto Sans ExtraBold"/>
                <a:sym typeface="Noto Sans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Execution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035" name="Google Shape;1035;p26"/>
            <p:cNvSpPr txBox="1"/>
            <p:nvPr/>
          </p:nvSpPr>
          <p:spPr>
            <a:xfrm>
              <a:off x="3048000" y="238125"/>
              <a:ext cx="1285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B2C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Client invokes capabilities based on the Host's needs.</a:t>
              </a:r>
              <a:endParaRPr b="0" sz="1800">
                <a:solidFill>
                  <a:srgbClr val="0F1B2C"/>
                </a:solidFill>
                <a:latin typeface="Noto Sans SemiBold"/>
                <a:ea typeface="Noto Sans SemiBold"/>
                <a:cs typeface="Noto Sans SemiBold"/>
                <a:sym typeface="Noto Sans SemiBold"/>
              </a:endParaRPr>
            </a:p>
          </p:txBody>
        </p:sp>
        <p:grpSp>
          <p:nvGrpSpPr>
            <p:cNvPr id="1036" name="Google Shape;1036;p26"/>
            <p:cNvGrpSpPr/>
            <p:nvPr/>
          </p:nvGrpSpPr>
          <p:grpSpPr>
            <a:xfrm>
              <a:off x="3048000" y="809625"/>
              <a:ext cx="12858900" cy="2143200"/>
              <a:chOff x="0" y="0"/>
              <a:chExt cx="12858900" cy="2143200"/>
            </a:xfrm>
          </p:grpSpPr>
          <p:sp>
            <p:nvSpPr>
              <p:cNvPr id="1037" name="Google Shape;1037;p26"/>
              <p:cNvSpPr/>
              <p:nvPr/>
            </p:nvSpPr>
            <p:spPr>
              <a:xfrm>
                <a:off x="0" y="0"/>
                <a:ext cx="12858900" cy="2143200"/>
              </a:xfrm>
              <a:prstGeom prst="roundRect">
                <a:avLst>
                  <a:gd fmla="val 3555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6"/>
              <p:cNvSpPr txBox="1"/>
              <p:nvPr/>
            </p:nvSpPr>
            <p:spPr>
              <a:xfrm>
                <a:off x="238125" y="190500"/>
                <a:ext cx="12382500" cy="17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Client → Server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"tools/call"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"params"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"name"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"weather"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"arguments"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"location"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"San Francisco"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} } }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1039" name="Google Shape;1039;p26"/>
          <p:cNvSpPr/>
          <p:nvPr/>
        </p:nvSpPr>
        <p:spPr>
          <a:xfrm>
            <a:off x="0" y="944403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grpSp>
        <p:nvGrpSpPr>
          <p:cNvPr id="1040" name="Google Shape;1040;p26"/>
          <p:cNvGrpSpPr/>
          <p:nvPr/>
        </p:nvGrpSpPr>
        <p:grpSpPr>
          <a:xfrm>
            <a:off x="2209800" y="5238750"/>
            <a:ext cx="152400" cy="362100"/>
            <a:chOff x="19050" y="0"/>
            <a:chExt cx="152400" cy="362100"/>
          </a:xfrm>
        </p:grpSpPr>
        <p:pic>
          <p:nvPicPr>
            <p:cNvPr id="1041" name="Google Shape;1041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0" y="0"/>
              <a:ext cx="381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2" name="Google Shape;1042;p26"/>
            <p:cNvSpPr/>
            <p:nvPr/>
          </p:nvSpPr>
          <p:spPr>
            <a:xfrm>
              <a:off x="19050" y="266700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6000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preencoded.png" id="1043" name="Google Shape;1043;p26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  <p:grpSp>
        <p:nvGrpSpPr>
          <p:cNvPr id="1044" name="Google Shape;1044;p26"/>
          <p:cNvGrpSpPr/>
          <p:nvPr/>
        </p:nvGrpSpPr>
        <p:grpSpPr>
          <a:xfrm>
            <a:off x="952500" y="5667375"/>
            <a:ext cx="16383000" cy="3333900"/>
            <a:chOff x="0" y="0"/>
            <a:chExt cx="16383000" cy="3333900"/>
          </a:xfrm>
        </p:grpSpPr>
        <p:sp>
          <p:nvSpPr>
            <p:cNvPr id="1045" name="Google Shape;1045;p26"/>
            <p:cNvSpPr/>
            <p:nvPr/>
          </p:nvSpPr>
          <p:spPr>
            <a:xfrm>
              <a:off x="0" y="0"/>
              <a:ext cx="163830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6"/>
            <p:cNvSpPr/>
            <p:nvPr/>
          </p:nvSpPr>
          <p:spPr>
            <a:xfrm>
              <a:off x="0" y="0"/>
              <a:ext cx="2667000" cy="3333900"/>
            </a:xfrm>
            <a:prstGeom prst="roundRect">
              <a:avLst>
                <a:gd fmla="val 4285" name="adj"/>
              </a:avLst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6"/>
            <p:cNvSpPr/>
            <p:nvPr/>
          </p:nvSpPr>
          <p:spPr>
            <a:xfrm>
              <a:off x="2476500" y="0"/>
              <a:ext cx="190500" cy="3333900"/>
            </a:xfrm>
            <a:prstGeom prst="rect">
              <a:avLst/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6"/>
            <p:cNvSpPr txBox="1"/>
            <p:nvPr/>
          </p:nvSpPr>
          <p:spPr>
            <a:xfrm>
              <a:off x="0" y="0"/>
              <a:ext cx="2667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00AEEF"/>
                  </a:solidFill>
                  <a:latin typeface="Noto Sans ExtraBold"/>
                  <a:ea typeface="Noto Sans ExtraBold"/>
                  <a:cs typeface="Noto Sans ExtraBold"/>
                  <a:sym typeface="Noto Sans ExtraBold"/>
                </a:rPr>
                <a:t>04</a:t>
              </a:r>
              <a:endParaRPr b="0" sz="4800">
                <a:solidFill>
                  <a:srgbClr val="00AEEF"/>
                </a:solidFill>
                <a:latin typeface="Noto Sans ExtraBold"/>
                <a:ea typeface="Noto Sans ExtraBold"/>
                <a:cs typeface="Noto Sans ExtraBold"/>
                <a:sym typeface="Noto Sans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Termination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049" name="Google Shape;1049;p26"/>
            <p:cNvSpPr txBox="1"/>
            <p:nvPr/>
          </p:nvSpPr>
          <p:spPr>
            <a:xfrm>
              <a:off x="3048000" y="238125"/>
              <a:ext cx="1285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B2C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Connection is gracefully closed when no longer needed.</a:t>
              </a:r>
              <a:endParaRPr b="0" sz="1800">
                <a:solidFill>
                  <a:srgbClr val="0F1B2C"/>
                </a:solidFill>
                <a:latin typeface="Noto Sans SemiBold"/>
                <a:ea typeface="Noto Sans SemiBold"/>
                <a:cs typeface="Noto Sans SemiBold"/>
                <a:sym typeface="Noto Sans SemiBold"/>
              </a:endParaRPr>
            </a:p>
          </p:txBody>
        </p:sp>
        <p:grpSp>
          <p:nvGrpSpPr>
            <p:cNvPr id="1050" name="Google Shape;1050;p26"/>
            <p:cNvGrpSpPr/>
            <p:nvPr/>
          </p:nvGrpSpPr>
          <p:grpSpPr>
            <a:xfrm>
              <a:off x="3048000" y="809625"/>
              <a:ext cx="12858900" cy="2238300"/>
              <a:chOff x="0" y="0"/>
              <a:chExt cx="12858900" cy="2238300"/>
            </a:xfrm>
          </p:grpSpPr>
          <p:sp>
            <p:nvSpPr>
              <p:cNvPr id="1051" name="Google Shape;1051;p26"/>
              <p:cNvSpPr/>
              <p:nvPr/>
            </p:nvSpPr>
            <p:spPr>
              <a:xfrm>
                <a:off x="0" y="0"/>
                <a:ext cx="12858900" cy="2238300"/>
              </a:xfrm>
              <a:prstGeom prst="roundRect">
                <a:avLst>
                  <a:gd fmla="val 3404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6"/>
              <p:cNvSpPr txBox="1"/>
              <p:nvPr/>
            </p:nvSpPr>
            <p:spPr>
              <a:xfrm>
                <a:off x="238125" y="171450"/>
                <a:ext cx="12382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Client → Server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4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"shutdown"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}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After response received: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"exit"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}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7"/>
          <p:cNvSpPr/>
          <p:nvPr/>
        </p:nvSpPr>
        <p:spPr>
          <a:xfrm>
            <a:off x="-3335100" y="-192698"/>
            <a:ext cx="21623100" cy="12224750"/>
          </a:xfrm>
          <a:custGeom>
            <a:rect b="b" l="l" r="r" t="t"/>
            <a:pathLst>
              <a:path extrusionOk="0" h="12224750" w="21623100">
                <a:moveTo>
                  <a:pt x="0" y="0"/>
                </a:moveTo>
                <a:lnTo>
                  <a:pt x="21623100" y="0"/>
                </a:lnTo>
                <a:lnTo>
                  <a:pt x="21623100" y="12224750"/>
                </a:lnTo>
                <a:lnTo>
                  <a:pt x="0" y="12224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8" name="Google Shape;1058;p27"/>
          <p:cNvSpPr/>
          <p:nvPr/>
        </p:nvSpPr>
        <p:spPr>
          <a:xfrm>
            <a:off x="3693467" y="4258685"/>
            <a:ext cx="12027607" cy="761673"/>
          </a:xfrm>
          <a:custGeom>
            <a:rect b="b" l="l" r="r" t="t"/>
            <a:pathLst>
              <a:path extrusionOk="0" h="761673" w="12027607">
                <a:moveTo>
                  <a:pt x="0" y="0"/>
                </a:moveTo>
                <a:lnTo>
                  <a:pt x="12027607" y="0"/>
                </a:lnTo>
                <a:lnTo>
                  <a:pt x="12027607" y="761672"/>
                </a:lnTo>
                <a:lnTo>
                  <a:pt x="0" y="761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BF3"/>
        </a:solidFill>
      </p:bgPr>
    </p:bg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8"/>
          <p:cNvSpPr/>
          <p:nvPr/>
        </p:nvSpPr>
        <p:spPr>
          <a:xfrm>
            <a:off x="816855" y="3429003"/>
            <a:ext cx="16255620" cy="3723815"/>
          </a:xfrm>
          <a:custGeom>
            <a:rect b="b" l="l" r="r" t="t"/>
            <a:pathLst>
              <a:path extrusionOk="0" h="3723815" w="16255620">
                <a:moveTo>
                  <a:pt x="0" y="0"/>
                </a:moveTo>
                <a:lnTo>
                  <a:pt x="16255620" y="0"/>
                </a:lnTo>
                <a:lnTo>
                  <a:pt x="16255620" y="3723815"/>
                </a:lnTo>
                <a:lnTo>
                  <a:pt x="0" y="37238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4" name="Google Shape;1064;p28"/>
          <p:cNvSpPr/>
          <p:nvPr/>
        </p:nvSpPr>
        <p:spPr>
          <a:xfrm>
            <a:off x="-197760" y="0"/>
            <a:ext cx="18485760" cy="1013098"/>
          </a:xfrm>
          <a:custGeom>
            <a:rect b="b" l="l" r="r" t="t"/>
            <a:pathLst>
              <a:path extrusionOk="0" h="1013098" w="18485760">
                <a:moveTo>
                  <a:pt x="0" y="0"/>
                </a:moveTo>
                <a:lnTo>
                  <a:pt x="18485760" y="0"/>
                </a:lnTo>
                <a:lnTo>
                  <a:pt x="18485760" y="1013098"/>
                </a:lnTo>
                <a:lnTo>
                  <a:pt x="0" y="1013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3668" l="0" r="0" t="-23668"/>
            </a:stretch>
          </a:blipFill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9"/>
          <p:cNvSpPr txBox="1"/>
          <p:nvPr/>
        </p:nvSpPr>
        <p:spPr>
          <a:xfrm>
            <a:off x="952500" y="714375"/>
            <a:ext cx="1638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TOOLS CAPABILITY — TECHNICAL IMPLEMENTATION</a:t>
            </a:r>
            <a:endParaRPr b="1" sz="14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Protocol Methods &amp; Examples</a:t>
            </a:r>
            <a:endParaRPr b="1" sz="3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70" name="Google Shape;1070;p29"/>
          <p:cNvGrpSpPr/>
          <p:nvPr/>
        </p:nvGrpSpPr>
        <p:grpSpPr>
          <a:xfrm>
            <a:off x="952500" y="2190750"/>
            <a:ext cx="6191400" cy="6953325"/>
            <a:chOff x="0" y="0"/>
            <a:chExt cx="6191400" cy="6953325"/>
          </a:xfrm>
        </p:grpSpPr>
        <p:sp>
          <p:nvSpPr>
            <p:cNvPr id="1071" name="Google Shape;1071;p29"/>
            <p:cNvSpPr txBox="1"/>
            <p:nvPr/>
          </p:nvSpPr>
          <p:spPr>
            <a:xfrm>
              <a:off x="0" y="0"/>
              <a:ext cx="619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Tools Protocol Methods</a:t>
              </a:r>
              <a:endParaRPr b="1" sz="1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0" y="523875"/>
              <a:ext cx="6191400" cy="1428900"/>
            </a:xfrm>
            <a:prstGeom prst="roundRect">
              <a:avLst>
                <a:gd fmla="val 8000" name="adj"/>
              </a:avLst>
            </a:prstGeom>
            <a:solidFill>
              <a:srgbClr val="162235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9"/>
            <p:cNvSpPr txBox="1"/>
            <p:nvPr/>
          </p:nvSpPr>
          <p:spPr>
            <a:xfrm>
              <a:off x="228600" y="714375"/>
              <a:ext cx="5734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AEEF"/>
                  </a:solidFill>
                  <a:latin typeface="Arial"/>
                  <a:ea typeface="Arial"/>
                  <a:cs typeface="Arial"/>
                  <a:sym typeface="Arial"/>
                </a:rPr>
                <a:t>tools/list</a:t>
              </a:r>
              <a:endParaRPr b="1" sz="2000">
                <a:solidFill>
                  <a:srgbClr val="00AEE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Get available tools from the server</a:t>
              </a:r>
              <a:endParaRPr sz="15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0" y="2190750"/>
              <a:ext cx="6191400" cy="1428900"/>
            </a:xfrm>
            <a:prstGeom prst="roundRect">
              <a:avLst>
                <a:gd fmla="val 8000" name="adj"/>
              </a:avLst>
            </a:prstGeom>
            <a:solidFill>
              <a:srgbClr val="162235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9"/>
            <p:cNvSpPr txBox="1"/>
            <p:nvPr/>
          </p:nvSpPr>
          <p:spPr>
            <a:xfrm>
              <a:off x="228600" y="2381250"/>
              <a:ext cx="5734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AEEF"/>
                  </a:solidFill>
                  <a:latin typeface="Arial"/>
                  <a:ea typeface="Arial"/>
                  <a:cs typeface="Arial"/>
                  <a:sym typeface="Arial"/>
                </a:rPr>
                <a:t>tools/call</a:t>
              </a:r>
              <a:endParaRPr b="1" sz="2000">
                <a:solidFill>
                  <a:srgbClr val="00AEE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Invoke a specific tool with arguments</a:t>
              </a:r>
              <a:endParaRPr sz="15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0" y="3857625"/>
              <a:ext cx="6191400" cy="3095700"/>
            </a:xfrm>
            <a:prstGeom prst="roundRect">
              <a:avLst>
                <a:gd fmla="val 3692" name="adj"/>
              </a:avLst>
            </a:prstGeom>
            <a:solidFill>
              <a:srgbClr val="111C2E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9"/>
            <p:cNvSpPr txBox="1"/>
            <p:nvPr/>
          </p:nvSpPr>
          <p:spPr>
            <a:xfrm>
              <a:off x="266700" y="4095750"/>
              <a:ext cx="56580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Key Execution Concepts</a:t>
              </a:r>
              <a:endParaRPr b="1" sz="16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Roboto"/>
                <a:buChar char="●"/>
              </a:pPr>
              <a:r>
                <a:rPr b="1" lang="en-US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Discovery:</a:t>
              </a:r>
              <a:r>
                <a:rPr lang="en-US" sz="13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Client calls tools/list to inspect parameters and schemas.</a:t>
              </a:r>
              <a:endParaRPr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Roboto"/>
                <a:buChar char="●"/>
              </a:pPr>
              <a:r>
                <a:rPr b="1" lang="en-US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Invocation:</a:t>
              </a:r>
              <a:r>
                <a:rPr lang="en-US" sz="13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Client submits structured arguments using tools/call.</a:t>
              </a:r>
              <a:endParaRPr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Roboto"/>
                <a:buChar char="●"/>
              </a:pPr>
              <a:r>
                <a:rPr b="1" lang="en-US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Validation:</a:t>
              </a:r>
              <a:r>
                <a:rPr lang="en-US" sz="13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Server validates inputs against defined JSON schema definitions before execution.</a:t>
              </a:r>
              <a:endParaRPr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78" name="Google Shape;1078;p29"/>
          <p:cNvGrpSpPr/>
          <p:nvPr/>
        </p:nvGrpSpPr>
        <p:grpSpPr>
          <a:xfrm>
            <a:off x="7620000" y="2190750"/>
            <a:ext cx="9715500" cy="7143900"/>
            <a:chOff x="0" y="0"/>
            <a:chExt cx="9715500" cy="7143900"/>
          </a:xfrm>
        </p:grpSpPr>
        <p:sp>
          <p:nvSpPr>
            <p:cNvPr id="1079" name="Google Shape;1079;p29"/>
            <p:cNvSpPr/>
            <p:nvPr/>
          </p:nvSpPr>
          <p:spPr>
            <a:xfrm>
              <a:off x="0" y="0"/>
              <a:ext cx="9715500" cy="7143900"/>
            </a:xfrm>
            <a:prstGeom prst="roundRect">
              <a:avLst>
                <a:gd fmla="val 1600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9"/>
            <p:cNvSpPr/>
            <p:nvPr/>
          </p:nvSpPr>
          <p:spPr>
            <a:xfrm>
              <a:off x="0" y="0"/>
              <a:ext cx="9715500" cy="476400"/>
            </a:xfrm>
            <a:custGeom>
              <a:rect b="b" l="l" r="r" t="t"/>
              <a:pathLst>
                <a:path extrusionOk="0" h="120000" w="120000">
                  <a:moveTo>
                    <a:pt x="0" y="28800"/>
                  </a:moveTo>
                  <a:cubicBezTo>
                    <a:pt x="0" y="21162"/>
                    <a:pt x="149" y="13836"/>
                    <a:pt x="413" y="8435"/>
                  </a:cubicBezTo>
                  <a:cubicBezTo>
                    <a:pt x="678" y="3034"/>
                    <a:pt x="1037" y="0"/>
                    <a:pt x="1412" y="0"/>
                  </a:cubicBezTo>
                  <a:lnTo>
                    <a:pt x="118588" y="0"/>
                  </a:lnTo>
                  <a:cubicBezTo>
                    <a:pt x="118962" y="-1"/>
                    <a:pt x="119322" y="3032"/>
                    <a:pt x="119586" y="8434"/>
                  </a:cubicBezTo>
                  <a:cubicBezTo>
                    <a:pt x="119851" y="13835"/>
                    <a:pt x="120000" y="21161"/>
                    <a:pt x="120000" y="288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9"/>
            <p:cNvSpPr/>
            <p:nvPr/>
          </p:nvSpPr>
          <p:spPr>
            <a:xfrm>
              <a:off x="228600" y="180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>
              <a:off x="419100" y="180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>
              <a:off x="609600" y="180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9"/>
            <p:cNvSpPr txBox="1"/>
            <p:nvPr/>
          </p:nvSpPr>
          <p:spPr>
            <a:xfrm>
              <a:off x="952500" y="11430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Tool Definition Example — schema.json</a:t>
              </a:r>
              <a:endPara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9"/>
            <p:cNvSpPr txBox="1"/>
            <p:nvPr/>
          </p:nvSpPr>
          <p:spPr>
            <a:xfrm>
              <a:off x="333375" y="714375"/>
              <a:ext cx="9048900" cy="60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"get_weather"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"description"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"Get current weather for a location"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"inputSchema"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"object"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"properties"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"location"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"string"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"description"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"City name"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"required"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"location"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0"/>
          <p:cNvSpPr txBox="1"/>
          <p:nvPr/>
        </p:nvSpPr>
        <p:spPr>
          <a:xfrm>
            <a:off x="952500" y="619125"/>
            <a:ext cx="16383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TOOLS CAPABILITY — TECHNICAL IMPLEMENTATION (CONTINUED)</a:t>
            </a:r>
            <a:endParaRPr b="1" sz="14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Tool Invocation Example</a:t>
            </a:r>
            <a:endParaRPr b="1" sz="3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91" name="Google Shape;1091;p30"/>
          <p:cNvGrpSpPr/>
          <p:nvPr/>
        </p:nvGrpSpPr>
        <p:grpSpPr>
          <a:xfrm>
            <a:off x="952500" y="1905000"/>
            <a:ext cx="7905900" cy="7429500"/>
            <a:chOff x="0" y="0"/>
            <a:chExt cx="7905900" cy="7429500"/>
          </a:xfrm>
        </p:grpSpPr>
        <p:sp>
          <p:nvSpPr>
            <p:cNvPr id="1092" name="Google Shape;1092;p30"/>
            <p:cNvSpPr/>
            <p:nvPr/>
          </p:nvSpPr>
          <p:spPr>
            <a:xfrm>
              <a:off x="0" y="0"/>
              <a:ext cx="7905900" cy="7429500"/>
            </a:xfrm>
            <a:prstGeom prst="roundRect">
              <a:avLst>
                <a:gd fmla="val 1538" name="adj"/>
              </a:avLst>
            </a:prstGeom>
            <a:solidFill>
              <a:srgbClr val="0F172A"/>
            </a:solidFill>
            <a:ln cap="flat" cmpd="sng" w="1905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0"/>
            <p:cNvSpPr/>
            <p:nvPr/>
          </p:nvSpPr>
          <p:spPr>
            <a:xfrm>
              <a:off x="0" y="0"/>
              <a:ext cx="7905900" cy="476400"/>
            </a:xfrm>
            <a:custGeom>
              <a:rect b="b" l="l" r="r" t="t"/>
              <a:pathLst>
                <a:path extrusionOk="0" h="120000" w="120000">
                  <a:moveTo>
                    <a:pt x="0" y="28800"/>
                  </a:moveTo>
                  <a:cubicBezTo>
                    <a:pt x="0" y="12888"/>
                    <a:pt x="776" y="0"/>
                    <a:pt x="1735" y="0"/>
                  </a:cubicBezTo>
                  <a:lnTo>
                    <a:pt x="118265" y="0"/>
                  </a:lnTo>
                  <a:cubicBezTo>
                    <a:pt x="119224" y="0"/>
                    <a:pt x="120000" y="12888"/>
                    <a:pt x="120000" y="288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0"/>
            <p:cNvSpPr/>
            <p:nvPr/>
          </p:nvSpPr>
          <p:spPr>
            <a:xfrm>
              <a:off x="209550" y="180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0"/>
            <p:cNvSpPr/>
            <p:nvPr/>
          </p:nvSpPr>
          <p:spPr>
            <a:xfrm>
              <a:off x="400050" y="180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>
              <a:off x="590550" y="180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0"/>
            <p:cNvSpPr txBox="1"/>
            <p:nvPr/>
          </p:nvSpPr>
          <p:spPr>
            <a:xfrm>
              <a:off x="952500" y="114300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JSON-RPC Request (tools/call)</a:t>
              </a:r>
              <a:endParaRPr b="1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8" name="Google Shape;1098;p30"/>
            <p:cNvSpPr txBox="1"/>
            <p:nvPr/>
          </p:nvSpPr>
          <p:spPr>
            <a:xfrm>
              <a:off x="333375" y="666750"/>
              <a:ext cx="72390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Request</a:t>
              </a:r>
              <a:endParaRPr b="0" sz="15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"method"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"tools/call"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"params"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"get_weather"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"arguments"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"location"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"San Francisco"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099" name="Google Shape;1099;p30"/>
          <p:cNvGrpSpPr/>
          <p:nvPr/>
        </p:nvGrpSpPr>
        <p:grpSpPr>
          <a:xfrm>
            <a:off x="9429750" y="1905000"/>
            <a:ext cx="7905900" cy="7429500"/>
            <a:chOff x="0" y="0"/>
            <a:chExt cx="7905900" cy="7429500"/>
          </a:xfrm>
        </p:grpSpPr>
        <p:sp>
          <p:nvSpPr>
            <p:cNvPr id="1100" name="Google Shape;1100;p30"/>
            <p:cNvSpPr/>
            <p:nvPr/>
          </p:nvSpPr>
          <p:spPr>
            <a:xfrm>
              <a:off x="0" y="0"/>
              <a:ext cx="7905900" cy="7429500"/>
            </a:xfrm>
            <a:prstGeom prst="roundRect">
              <a:avLst>
                <a:gd fmla="val 1538" name="adj"/>
              </a:avLst>
            </a:prstGeom>
            <a:solidFill>
              <a:srgbClr val="0F172A"/>
            </a:solidFill>
            <a:ln cap="flat" cmpd="sng" w="1905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0" y="0"/>
              <a:ext cx="7905900" cy="476400"/>
            </a:xfrm>
            <a:custGeom>
              <a:rect b="b" l="l" r="r" t="t"/>
              <a:pathLst>
                <a:path extrusionOk="0" h="120000" w="120000">
                  <a:moveTo>
                    <a:pt x="0" y="28800"/>
                  </a:moveTo>
                  <a:cubicBezTo>
                    <a:pt x="0" y="12888"/>
                    <a:pt x="776" y="0"/>
                    <a:pt x="1735" y="0"/>
                  </a:cubicBezTo>
                  <a:lnTo>
                    <a:pt x="118265" y="0"/>
                  </a:lnTo>
                  <a:cubicBezTo>
                    <a:pt x="119224" y="0"/>
                    <a:pt x="120000" y="12888"/>
                    <a:pt x="120000" y="288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209550" y="180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>
              <a:off x="400050" y="180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590550" y="180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0"/>
            <p:cNvSpPr txBox="1"/>
            <p:nvPr/>
          </p:nvSpPr>
          <p:spPr>
            <a:xfrm>
              <a:off x="952500" y="114300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JSON-RPC Response</a:t>
              </a:r>
              <a:endParaRPr b="1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6" name="Google Shape;1106;p30"/>
            <p:cNvSpPr txBox="1"/>
            <p:nvPr/>
          </p:nvSpPr>
          <p:spPr>
            <a:xfrm>
              <a:off x="333375" y="666750"/>
              <a:ext cx="72390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Response</a:t>
              </a:r>
              <a:endParaRPr b="0" sz="15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"result"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"content"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"Temperature: 62°F, Partly cloudy"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BF3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31"/>
          <p:cNvSpPr txBox="1"/>
          <p:nvPr/>
        </p:nvSpPr>
        <p:spPr>
          <a:xfrm>
            <a:off x="952500" y="619125"/>
            <a:ext cx="16383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TOOLS CAPABILITY — FASTMCP IMPLEMENTATION</a:t>
            </a:r>
            <a:endParaRPr b="1" sz="14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Tools — Model-Controlled Actions</a:t>
            </a:r>
            <a:endParaRPr b="1" sz="3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13" name="Google Shape;1113;p31"/>
          <p:cNvGrpSpPr/>
          <p:nvPr/>
        </p:nvGrpSpPr>
        <p:grpSpPr>
          <a:xfrm>
            <a:off x="952500" y="2000250"/>
            <a:ext cx="6477000" cy="7238925"/>
            <a:chOff x="0" y="0"/>
            <a:chExt cx="6477000" cy="7238925"/>
          </a:xfrm>
        </p:grpSpPr>
        <p:sp>
          <p:nvSpPr>
            <p:cNvPr id="1114" name="Google Shape;1114;p31"/>
            <p:cNvSpPr txBox="1"/>
            <p:nvPr/>
          </p:nvSpPr>
          <p:spPr>
            <a:xfrm>
              <a:off x="0" y="0"/>
              <a:ext cx="647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A FastMCP tool from the server you run today. The docstring </a:t>
              </a:r>
              <a:r>
                <a:rPr b="1" lang="en-US" sz="16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IS</a:t>
              </a:r>
              <a:r>
                <a:rPr b="0" lang="en-US" sz="16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the prompt engineering:</a:t>
              </a:r>
              <a:endParaRPr b="0" sz="16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0" y="809625"/>
              <a:ext cx="6477000" cy="4000500"/>
            </a:xfrm>
            <a:prstGeom prst="roundRect">
              <a:avLst>
                <a:gd fmla="val 2857" name="adj"/>
              </a:avLst>
            </a:prstGeom>
            <a:solidFill>
              <a:srgbClr val="162235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1"/>
            <p:cNvSpPr txBox="1"/>
            <p:nvPr/>
          </p:nvSpPr>
          <p:spPr>
            <a:xfrm>
              <a:off x="266700" y="1047750"/>
              <a:ext cx="5943600" cy="352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Automatic Schema &amp; Mapping</a:t>
              </a:r>
              <a:endParaRPr b="1" sz="16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Function name</a:t>
              </a:r>
              <a:r>
                <a:rPr b="1" lang="en-US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14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→ tool name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docstring</a:t>
              </a:r>
              <a:r>
                <a:rPr b="1" lang="en-US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14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→ description the LLM reads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type hints</a:t>
              </a:r>
              <a:r>
                <a:rPr b="1" lang="en-US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14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→ JSON Schema (generated)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0" y="5000625"/>
              <a:ext cx="6477000" cy="2238300"/>
            </a:xfrm>
            <a:prstGeom prst="roundRect">
              <a:avLst>
                <a:gd fmla="val 5106" name="adj"/>
              </a:avLst>
            </a:prstGeom>
            <a:solidFill>
              <a:srgbClr val="111C2E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1"/>
            <p:cNvSpPr txBox="1"/>
            <p:nvPr/>
          </p:nvSpPr>
          <p:spPr>
            <a:xfrm>
              <a:off x="266700" y="5238750"/>
              <a:ext cx="5943600" cy="17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Error Resilience</a:t>
              </a:r>
              <a:endParaRPr b="1" sz="15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Errors return as text results, never exceptions — so the model can read them and retry.</a:t>
              </a:r>
              <a:endParaRPr b="0" sz="13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9" name="Google Shape;1119;p31"/>
          <p:cNvGrpSpPr/>
          <p:nvPr/>
        </p:nvGrpSpPr>
        <p:grpSpPr>
          <a:xfrm>
            <a:off x="7810500" y="2000250"/>
            <a:ext cx="9525000" cy="7143900"/>
            <a:chOff x="0" y="0"/>
            <a:chExt cx="9525000" cy="7143900"/>
          </a:xfrm>
        </p:grpSpPr>
        <p:sp>
          <p:nvSpPr>
            <p:cNvPr id="1120" name="Google Shape;1120;p31"/>
            <p:cNvSpPr/>
            <p:nvPr/>
          </p:nvSpPr>
          <p:spPr>
            <a:xfrm>
              <a:off x="0" y="0"/>
              <a:ext cx="9525000" cy="7143900"/>
            </a:xfrm>
            <a:prstGeom prst="roundRect">
              <a:avLst>
                <a:gd fmla="val 1600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0" y="0"/>
              <a:ext cx="9525000" cy="476400"/>
            </a:xfrm>
            <a:custGeom>
              <a:rect b="b" l="l" r="r" t="t"/>
              <a:pathLst>
                <a:path extrusionOk="0" h="120000" w="120000">
                  <a:moveTo>
                    <a:pt x="0" y="28800"/>
                  </a:moveTo>
                  <a:cubicBezTo>
                    <a:pt x="0" y="12888"/>
                    <a:pt x="644" y="0"/>
                    <a:pt x="1440" y="0"/>
                  </a:cubicBezTo>
                  <a:lnTo>
                    <a:pt x="118560" y="0"/>
                  </a:lnTo>
                  <a:cubicBezTo>
                    <a:pt x="119356" y="0"/>
                    <a:pt x="120000" y="12888"/>
                    <a:pt x="120000" y="288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171450" y="180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361950" y="180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552450" y="180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1"/>
            <p:cNvSpPr txBox="1"/>
            <p:nvPr/>
          </p:nvSpPr>
          <p:spPr>
            <a:xfrm>
              <a:off x="952500" y="11430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FastMCP Tool Implementation — router_service.py</a:t>
              </a:r>
              <a:endPara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1"/>
            <p:cNvSpPr txBox="1"/>
            <p:nvPr/>
          </p:nvSpPr>
          <p:spPr>
            <a:xfrm>
              <a:off x="381000" y="762000"/>
              <a:ext cx="8763000" cy="600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@mcp.tool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annotations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types.ToolAnnotations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readOnlyHint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async def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get_interfaces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ctx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Context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-&gt;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"""</a:t>
              </a:r>
              <a:endParaRPr b="0" sz="1500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all router interfaces and their status (show ip interface brief).</a:t>
              </a:r>
              <a:endParaRPr b="0" sz="1500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"""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ctx.report_progress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"Connecting to Router1 over SSH..."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Google Shape;1131;p32"/>
          <p:cNvGrpSpPr/>
          <p:nvPr/>
        </p:nvGrpSpPr>
        <p:grpSpPr>
          <a:xfrm>
            <a:off x="0" y="0"/>
            <a:ext cx="5524500" cy="10287000"/>
            <a:chOff x="0" y="0"/>
            <a:chExt cx="5524500" cy="10287000"/>
          </a:xfrm>
        </p:grpSpPr>
        <p:sp>
          <p:nvSpPr>
            <p:cNvPr id="1132" name="Google Shape;1132;p32"/>
            <p:cNvSpPr/>
            <p:nvPr/>
          </p:nvSpPr>
          <p:spPr>
            <a:xfrm>
              <a:off x="0" y="0"/>
              <a:ext cx="5524500" cy="10287000"/>
            </a:xfrm>
            <a:prstGeom prst="rect">
              <a:avLst/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2"/>
            <p:cNvSpPr txBox="1"/>
            <p:nvPr/>
          </p:nvSpPr>
          <p:spPr>
            <a:xfrm>
              <a:off x="762000" y="3048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Resource</a:t>
              </a:r>
              <a:br>
                <a:rPr lang="en-US" sz="4200"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Capability</a:t>
              </a:r>
              <a:endParaRPr sz="4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Overview of available protocol endpoints and JSON definition schema for resource objects.</a:t>
              </a:r>
              <a:endParaRPr b="0" sz="14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34" name="Google Shape;1134;p32"/>
          <p:cNvSpPr txBox="1"/>
          <p:nvPr/>
        </p:nvSpPr>
        <p:spPr>
          <a:xfrm>
            <a:off x="6286500" y="619125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rPr>
              <a:t>Protocol Methods &amp; Examples</a:t>
            </a:r>
            <a:endParaRPr b="1" sz="3000">
              <a:solidFill>
                <a:srgbClr val="0F1B2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35" name="Google Shape;1135;p32"/>
          <p:cNvGrpSpPr/>
          <p:nvPr/>
        </p:nvGrpSpPr>
        <p:grpSpPr>
          <a:xfrm>
            <a:off x="6286500" y="1428750"/>
            <a:ext cx="11239650" cy="2238525"/>
            <a:chOff x="6286500" y="1428750"/>
            <a:chExt cx="11239650" cy="2238525"/>
          </a:xfrm>
        </p:grpSpPr>
        <p:sp>
          <p:nvSpPr>
            <p:cNvPr id="1136" name="Google Shape;1136;p32"/>
            <p:cNvSpPr txBox="1"/>
            <p:nvPr/>
          </p:nvSpPr>
          <p:spPr>
            <a:xfrm>
              <a:off x="6286500" y="1428750"/>
              <a:ext cx="1123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Resource Protocol Methods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137" name="Google Shape;1137;p32"/>
            <p:cNvGrpSpPr/>
            <p:nvPr/>
          </p:nvGrpSpPr>
          <p:grpSpPr>
            <a:xfrm>
              <a:off x="6286500" y="1809750"/>
              <a:ext cx="5429400" cy="857400"/>
              <a:chOff x="0" y="0"/>
              <a:chExt cx="5429400" cy="857400"/>
            </a:xfrm>
          </p:grpSpPr>
          <p:sp>
            <p:nvSpPr>
              <p:cNvPr id="1138" name="Google Shape;1138;p32"/>
              <p:cNvSpPr/>
              <p:nvPr/>
            </p:nvSpPr>
            <p:spPr>
              <a:xfrm>
                <a:off x="0" y="0"/>
                <a:ext cx="54294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0F4F8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32"/>
              <p:cNvSpPr txBox="1"/>
              <p:nvPr/>
            </p:nvSpPr>
            <p:spPr>
              <a:xfrm>
                <a:off x="0" y="0"/>
                <a:ext cx="5429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400" lIns="190500" spcFirstLastPara="1" rIns="190500" wrap="square" tIns="1524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resources/list</a:t>
                </a:r>
                <a:endParaRPr b="1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Roboto"/>
                    <a:ea typeface="Roboto"/>
                    <a:cs typeface="Roboto"/>
                    <a:sym typeface="Roboto"/>
                  </a:rPr>
                  <a:t>Get available resources from server</a:t>
                </a:r>
                <a:endParaRPr b="0" sz="11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40" name="Google Shape;1140;p32"/>
            <p:cNvGrpSpPr/>
            <p:nvPr/>
          </p:nvGrpSpPr>
          <p:grpSpPr>
            <a:xfrm>
              <a:off x="11906250" y="1809750"/>
              <a:ext cx="5619900" cy="857400"/>
              <a:chOff x="0" y="0"/>
              <a:chExt cx="5619900" cy="857400"/>
            </a:xfrm>
          </p:grpSpPr>
          <p:sp>
            <p:nvSpPr>
              <p:cNvPr id="1141" name="Google Shape;1141;p32"/>
              <p:cNvSpPr/>
              <p:nvPr/>
            </p:nvSpPr>
            <p:spPr>
              <a:xfrm>
                <a:off x="0" y="0"/>
                <a:ext cx="56199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0F4F8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2"/>
              <p:cNvSpPr txBox="1"/>
              <p:nvPr/>
            </p:nvSpPr>
            <p:spPr>
              <a:xfrm>
                <a:off x="0" y="0"/>
                <a:ext cx="56199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400" lIns="190500" spcFirstLastPara="1" rIns="190500" wrap="square" tIns="1524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resources/read</a:t>
                </a:r>
                <a:endParaRPr b="1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Roboto"/>
                    <a:ea typeface="Roboto"/>
                    <a:cs typeface="Roboto"/>
                    <a:sym typeface="Roboto"/>
                  </a:rPr>
                  <a:t>Read a specific resource's content</a:t>
                </a:r>
                <a:endParaRPr b="0" sz="11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43" name="Google Shape;1143;p32"/>
            <p:cNvGrpSpPr/>
            <p:nvPr/>
          </p:nvGrpSpPr>
          <p:grpSpPr>
            <a:xfrm>
              <a:off x="6286500" y="2809875"/>
              <a:ext cx="5429400" cy="857400"/>
              <a:chOff x="0" y="0"/>
              <a:chExt cx="5429400" cy="857400"/>
            </a:xfrm>
          </p:grpSpPr>
          <p:sp>
            <p:nvSpPr>
              <p:cNvPr id="1144" name="Google Shape;1144;p32"/>
              <p:cNvSpPr/>
              <p:nvPr/>
            </p:nvSpPr>
            <p:spPr>
              <a:xfrm>
                <a:off x="0" y="0"/>
                <a:ext cx="54294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0F4F8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2"/>
              <p:cNvSpPr txBox="1"/>
              <p:nvPr/>
            </p:nvSpPr>
            <p:spPr>
              <a:xfrm>
                <a:off x="0" y="0"/>
                <a:ext cx="5429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400" lIns="190500" spcFirstLastPara="1" rIns="190500" wrap="square" tIns="1524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resources/subscribe</a:t>
                </a:r>
                <a:endParaRPr b="1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Roboto"/>
                    <a:ea typeface="Roboto"/>
                    <a:cs typeface="Roboto"/>
                    <a:sym typeface="Roboto"/>
                  </a:rPr>
                  <a:t>Subscribe to resource updates</a:t>
                </a:r>
                <a:endParaRPr b="0" sz="11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46" name="Google Shape;1146;p32"/>
            <p:cNvGrpSpPr/>
            <p:nvPr/>
          </p:nvGrpSpPr>
          <p:grpSpPr>
            <a:xfrm>
              <a:off x="11906250" y="2809875"/>
              <a:ext cx="5619900" cy="857400"/>
              <a:chOff x="0" y="0"/>
              <a:chExt cx="5619900" cy="857400"/>
            </a:xfrm>
          </p:grpSpPr>
          <p:sp>
            <p:nvSpPr>
              <p:cNvPr id="1147" name="Google Shape;1147;p32"/>
              <p:cNvSpPr/>
              <p:nvPr/>
            </p:nvSpPr>
            <p:spPr>
              <a:xfrm>
                <a:off x="0" y="0"/>
                <a:ext cx="56199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0F4F8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32"/>
              <p:cNvSpPr txBox="1"/>
              <p:nvPr/>
            </p:nvSpPr>
            <p:spPr>
              <a:xfrm>
                <a:off x="0" y="0"/>
                <a:ext cx="56199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400" lIns="190500" spcFirstLastPara="1" rIns="190500" wrap="square" tIns="1524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resources/unsubscribe</a:t>
                </a:r>
                <a:endParaRPr b="1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Roboto"/>
                    <a:ea typeface="Roboto"/>
                    <a:cs typeface="Roboto"/>
                    <a:sym typeface="Roboto"/>
                  </a:rPr>
                  <a:t>Unsubscribe from updates</a:t>
                </a:r>
                <a:endParaRPr b="0" sz="11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149" name="Google Shape;1149;p32"/>
          <p:cNvGrpSpPr/>
          <p:nvPr/>
        </p:nvGrpSpPr>
        <p:grpSpPr>
          <a:xfrm>
            <a:off x="6286500" y="3952875"/>
            <a:ext cx="11239500" cy="5524500"/>
            <a:chOff x="6286500" y="3952875"/>
            <a:chExt cx="11239500" cy="5524500"/>
          </a:xfrm>
        </p:grpSpPr>
        <p:sp>
          <p:nvSpPr>
            <p:cNvPr id="1150" name="Google Shape;1150;p32"/>
            <p:cNvSpPr txBox="1"/>
            <p:nvPr/>
          </p:nvSpPr>
          <p:spPr>
            <a:xfrm>
              <a:off x="6286500" y="3952875"/>
              <a:ext cx="1123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Resource Definition Example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151" name="Google Shape;1151;p32"/>
            <p:cNvGrpSpPr/>
            <p:nvPr/>
          </p:nvGrpSpPr>
          <p:grpSpPr>
            <a:xfrm>
              <a:off x="6286500" y="4333875"/>
              <a:ext cx="11239500" cy="5143500"/>
              <a:chOff x="0" y="0"/>
              <a:chExt cx="11239500" cy="5143500"/>
            </a:xfrm>
          </p:grpSpPr>
          <p:sp>
            <p:nvSpPr>
              <p:cNvPr id="1152" name="Google Shape;1152;p32"/>
              <p:cNvSpPr/>
              <p:nvPr/>
            </p:nvSpPr>
            <p:spPr>
              <a:xfrm>
                <a:off x="0" y="0"/>
                <a:ext cx="11239500" cy="5143500"/>
              </a:xfrm>
              <a:prstGeom prst="roundRect">
                <a:avLst>
                  <a:gd fmla="val 2222" name="adj"/>
                </a:avLst>
              </a:prstGeom>
              <a:solidFill>
                <a:srgbClr val="0F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2"/>
              <p:cNvSpPr/>
              <p:nvPr/>
            </p:nvSpPr>
            <p:spPr>
              <a:xfrm>
                <a:off x="0" y="0"/>
                <a:ext cx="11239500" cy="400200"/>
              </a:xfrm>
              <a:custGeom>
                <a:rect b="b" l="l" r="r" t="t"/>
                <a:pathLst>
                  <a:path extrusionOk="0" h="120000" w="120000">
                    <a:moveTo>
                      <a:pt x="0" y="34286"/>
                    </a:moveTo>
                    <a:cubicBezTo>
                      <a:pt x="0" y="15343"/>
                      <a:pt x="546" y="0"/>
                      <a:pt x="1220" y="0"/>
                    </a:cubicBezTo>
                    <a:lnTo>
                      <a:pt x="118780" y="0"/>
                    </a:lnTo>
                    <a:cubicBezTo>
                      <a:pt x="119454" y="0"/>
                      <a:pt x="120000" y="15343"/>
                      <a:pt x="120000" y="34286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2"/>
              <p:cNvSpPr/>
              <p:nvPr/>
            </p:nvSpPr>
            <p:spPr>
              <a:xfrm>
                <a:off x="133350" y="142875"/>
                <a:ext cx="114300" cy="1143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2"/>
              <p:cNvSpPr/>
              <p:nvPr/>
            </p:nvSpPr>
            <p:spPr>
              <a:xfrm>
                <a:off x="323850" y="142875"/>
                <a:ext cx="114300" cy="114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32"/>
              <p:cNvSpPr/>
              <p:nvPr/>
            </p:nvSpPr>
            <p:spPr>
              <a:xfrm>
                <a:off x="514350" y="142875"/>
                <a:ext cx="114300" cy="1143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32"/>
              <p:cNvSpPr txBox="1"/>
              <p:nvPr/>
            </p:nvSpPr>
            <p:spPr>
              <a:xfrm>
                <a:off x="857250" y="0"/>
                <a:ext cx="4762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Arimo"/>
                    <a:ea typeface="Arimo"/>
                    <a:cs typeface="Arimo"/>
                    <a:sym typeface="Arimo"/>
                  </a:rPr>
                  <a:t>resource_definition.json</a:t>
                </a:r>
                <a:endParaRPr sz="110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58" name="Google Shape;1158;p32"/>
              <p:cNvSpPr txBox="1"/>
              <p:nvPr/>
            </p:nvSpPr>
            <p:spPr>
              <a:xfrm>
                <a:off x="285750" y="571500"/>
                <a:ext cx="10668000" cy="42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sz="14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"uri"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"file:///project/README.md"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400"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"name"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"Project README"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400"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"description"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"Main project documentation"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400"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"mimeType"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"text/markdown"</a:t>
                </a:r>
                <a:endParaRPr sz="1400"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4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3"/>
          <p:cNvSpPr/>
          <p:nvPr/>
        </p:nvSpPr>
        <p:spPr>
          <a:xfrm>
            <a:off x="0" y="0"/>
            <a:ext cx="5524500" cy="10287000"/>
          </a:xfrm>
          <a:prstGeom prst="rect">
            <a:avLst/>
          </a:prstGeom>
          <a:solidFill>
            <a:srgbClr val="0F1B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4" name="Google Shape;1164;p33"/>
          <p:cNvGrpSpPr/>
          <p:nvPr/>
        </p:nvGrpSpPr>
        <p:grpSpPr>
          <a:xfrm>
            <a:off x="762000" y="3048000"/>
            <a:ext cx="4191000" cy="4191000"/>
            <a:chOff x="0" y="0"/>
            <a:chExt cx="4191000" cy="4191000"/>
          </a:xfrm>
        </p:grpSpPr>
        <p:sp>
          <p:nvSpPr>
            <p:cNvPr id="1165" name="Google Shape;1165;p33"/>
            <p:cNvSpPr/>
            <p:nvPr/>
          </p:nvSpPr>
          <p:spPr>
            <a:xfrm>
              <a:off x="0" y="0"/>
              <a:ext cx="4191000" cy="419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3"/>
            <p:cNvSpPr txBox="1"/>
            <p:nvPr/>
          </p:nvSpPr>
          <p:spPr>
            <a:xfrm>
              <a:off x="0" y="0"/>
              <a:ext cx="4191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Resource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Capability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(continued)</a:t>
              </a:r>
              <a:endParaRPr b="0" sz="14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Overview of available protocol endpoints and JSON request/response schema for reading resource contents.</a:t>
              </a:r>
              <a:endParaRPr b="0" sz="13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7" name="Google Shape;1167;p33"/>
          <p:cNvGrpSpPr/>
          <p:nvPr/>
        </p:nvGrpSpPr>
        <p:grpSpPr>
          <a:xfrm>
            <a:off x="6096000" y="619125"/>
            <a:ext cx="11430000" cy="857400"/>
            <a:chOff x="0" y="0"/>
            <a:chExt cx="11430000" cy="857400"/>
          </a:xfrm>
        </p:grpSpPr>
        <p:sp>
          <p:nvSpPr>
            <p:cNvPr id="1168" name="Google Shape;1168;p33"/>
            <p:cNvSpPr/>
            <p:nvPr/>
          </p:nvSpPr>
          <p:spPr>
            <a:xfrm>
              <a:off x="0" y="0"/>
              <a:ext cx="1143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3"/>
            <p:cNvSpPr txBox="1"/>
            <p:nvPr/>
          </p:nvSpPr>
          <p:spPr>
            <a:xfrm>
              <a:off x="0" y="0"/>
              <a:ext cx="1143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Methods &amp; Examples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Resource Read Example</a:t>
              </a:r>
              <a:endParaRPr b="1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0" name="Google Shape;1170;p33"/>
          <p:cNvGrpSpPr/>
          <p:nvPr/>
        </p:nvGrpSpPr>
        <p:grpSpPr>
          <a:xfrm>
            <a:off x="6096000" y="1714500"/>
            <a:ext cx="11430000" cy="7620000"/>
            <a:chOff x="0" y="0"/>
            <a:chExt cx="11430000" cy="7620000"/>
          </a:xfrm>
        </p:grpSpPr>
        <p:sp>
          <p:nvSpPr>
            <p:cNvPr id="1171" name="Google Shape;1171;p33"/>
            <p:cNvSpPr/>
            <p:nvPr/>
          </p:nvSpPr>
          <p:spPr>
            <a:xfrm>
              <a:off x="0" y="0"/>
              <a:ext cx="11430000" cy="7620000"/>
            </a:xfrm>
            <a:prstGeom prst="roundRect">
              <a:avLst>
                <a:gd fmla="val 1500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0" y="0"/>
              <a:ext cx="11430000" cy="4572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425"/>
                    <a:pt x="537" y="0"/>
                    <a:pt x="1200" y="0"/>
                  </a:cubicBezTo>
                  <a:lnTo>
                    <a:pt x="118800" y="0"/>
                  </a:lnTo>
                  <a:cubicBezTo>
                    <a:pt x="119463" y="0"/>
                    <a:pt x="120000" y="13425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171450" y="1714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361950" y="1714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552450" y="1714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3"/>
            <p:cNvSpPr txBox="1"/>
            <p:nvPr/>
          </p:nvSpPr>
          <p:spPr>
            <a:xfrm>
              <a:off x="952500" y="0"/>
              <a:ext cx="952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resources_read_payload.json</a:t>
              </a:r>
              <a:endParaRPr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177" name="Google Shape;1177;p33"/>
            <p:cNvGrpSpPr/>
            <p:nvPr/>
          </p:nvGrpSpPr>
          <p:grpSpPr>
            <a:xfrm>
              <a:off x="304800" y="666750"/>
              <a:ext cx="5257800" cy="6648600"/>
              <a:chOff x="0" y="0"/>
              <a:chExt cx="5257800" cy="6648600"/>
            </a:xfrm>
          </p:grpSpPr>
          <p:sp>
            <p:nvSpPr>
              <p:cNvPr id="1178" name="Google Shape;1178;p33"/>
              <p:cNvSpPr/>
              <p:nvPr/>
            </p:nvSpPr>
            <p:spPr>
              <a:xfrm>
                <a:off x="0" y="0"/>
                <a:ext cx="5257800" cy="6648600"/>
              </a:xfrm>
              <a:prstGeom prst="roundRect">
                <a:avLst>
                  <a:gd fmla="val 1449" name="adj"/>
                </a:avLst>
              </a:prstGeom>
              <a:solidFill>
                <a:srgbClr val="162235"/>
              </a:solidFill>
              <a:ln cap="flat" cmpd="sng" w="9525">
                <a:solidFill>
                  <a:srgbClr val="1E2D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33"/>
              <p:cNvSpPr txBox="1"/>
              <p:nvPr/>
            </p:nvSpPr>
            <p:spPr>
              <a:xfrm>
                <a:off x="228600" y="228600"/>
                <a:ext cx="4800600" cy="61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Request</a:t>
                </a:r>
                <a:endParaRPr b="1" sz="13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"resources/read"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"params"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4572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"uri"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"file:///project/README.md"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80" name="Google Shape;1180;p33"/>
            <p:cNvGrpSpPr/>
            <p:nvPr/>
          </p:nvGrpSpPr>
          <p:grpSpPr>
            <a:xfrm>
              <a:off x="5867400" y="666750"/>
              <a:ext cx="5257800" cy="6648600"/>
              <a:chOff x="0" y="0"/>
              <a:chExt cx="5257800" cy="6648600"/>
            </a:xfrm>
          </p:grpSpPr>
          <p:sp>
            <p:nvSpPr>
              <p:cNvPr id="1181" name="Google Shape;1181;p33"/>
              <p:cNvSpPr/>
              <p:nvPr/>
            </p:nvSpPr>
            <p:spPr>
              <a:xfrm>
                <a:off x="0" y="0"/>
                <a:ext cx="5257800" cy="6648600"/>
              </a:xfrm>
              <a:prstGeom prst="roundRect">
                <a:avLst>
                  <a:gd fmla="val 1449" name="adj"/>
                </a:avLst>
              </a:prstGeom>
              <a:solidFill>
                <a:srgbClr val="162235"/>
              </a:solidFill>
              <a:ln cap="flat" cmpd="sng" w="9525">
                <a:solidFill>
                  <a:srgbClr val="1E2D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33"/>
              <p:cNvSpPr txBox="1"/>
              <p:nvPr/>
            </p:nvSpPr>
            <p:spPr>
              <a:xfrm>
                <a:off x="228600" y="228600"/>
                <a:ext cx="4800600" cy="61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Response</a:t>
                </a:r>
                <a:endParaRPr b="1" sz="13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"result"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4572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"contents"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[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6858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9144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"uri"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"file:///project/README.md"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9144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"mimeType"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"text/markdown"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9144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"text"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"# Project Overview..."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6858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4572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]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183" name="Google Shape;1183;p33"/>
          <p:cNvGrpSpPr/>
          <p:nvPr/>
        </p:nvGrpSpPr>
        <p:grpSpPr>
          <a:xfrm>
            <a:off x="0" y="9715500"/>
            <a:ext cx="18288000" cy="457350"/>
            <a:chOff x="0" y="0"/>
            <a:chExt cx="18288000" cy="457350"/>
          </a:xfrm>
        </p:grpSpPr>
        <p:cxnSp>
          <p:nvCxnSpPr>
            <p:cNvPr id="1184" name="Google Shape;1184;p33"/>
            <p:cNvCxnSpPr/>
            <p:nvPr/>
          </p:nvCxnSpPr>
          <p:spPr>
            <a:xfrm>
              <a:off x="0" y="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5" name="Google Shape;1185;p33"/>
            <p:cNvSpPr txBox="1"/>
            <p:nvPr/>
          </p:nvSpPr>
          <p:spPr>
            <a:xfrm>
              <a:off x="762000" y="1714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190" name="Google Shape;1190;p34"/>
          <p:cNvSpPr/>
          <p:nvPr/>
        </p:nvSpPr>
        <p:spPr>
          <a:xfrm>
            <a:off x="0" y="0"/>
            <a:ext cx="18288000" cy="10317290"/>
          </a:xfrm>
          <a:custGeom>
            <a:rect b="b" l="l" r="r" t="t"/>
            <a:pathLst>
              <a:path extrusionOk="0" h="13756387" w="24384000">
                <a:moveTo>
                  <a:pt x="0" y="0"/>
                </a:moveTo>
                <a:lnTo>
                  <a:pt x="24384000" y="0"/>
                </a:lnTo>
                <a:lnTo>
                  <a:pt x="24384000" y="13756387"/>
                </a:lnTo>
                <a:lnTo>
                  <a:pt x="0" y="137563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" l="0" r="0" t="-60"/>
            </a:stretch>
          </a:blipFill>
          <a:ln>
            <a:noFill/>
          </a:ln>
        </p:spPr>
      </p:sp>
      <p:sp>
        <p:nvSpPr>
          <p:cNvPr descr="preencoded.png" id="1191" name="Google Shape;1191;p34"/>
          <p:cNvSpPr/>
          <p:nvPr/>
        </p:nvSpPr>
        <p:spPr>
          <a:xfrm>
            <a:off x="7758112" y="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192" name="Google Shape;1192;p34"/>
          <p:cNvSpPr/>
          <p:nvPr/>
        </p:nvSpPr>
        <p:spPr>
          <a:xfrm>
            <a:off x="0" y="8431359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78" l="0" r="0" t="-378"/>
            </a:stretch>
          </a:blipFill>
          <a:ln>
            <a:noFill/>
          </a:ln>
        </p:spPr>
      </p:sp>
      <p:sp>
        <p:nvSpPr>
          <p:cNvPr descr="preencoded.png" id="1193" name="Google Shape;1193;p34"/>
          <p:cNvSpPr/>
          <p:nvPr/>
        </p:nvSpPr>
        <p:spPr>
          <a:xfrm>
            <a:off x="0" y="7431234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9" l="0" r="0" t="-299"/>
            </a:stretch>
          </a:blipFill>
          <a:ln>
            <a:noFill/>
          </a:ln>
        </p:spPr>
      </p:sp>
      <p:sp>
        <p:nvSpPr>
          <p:cNvPr descr="preencoded.png" id="1194" name="Google Shape;1194;p34"/>
          <p:cNvSpPr/>
          <p:nvPr/>
        </p:nvSpPr>
        <p:spPr>
          <a:xfrm>
            <a:off x="5143500" y="9017146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-549" l="0" r="0" t="-549"/>
            </a:stretch>
          </a:blipFill>
          <a:ln>
            <a:noFill/>
          </a:ln>
        </p:spPr>
      </p:sp>
      <p:sp>
        <p:nvSpPr>
          <p:cNvPr id="1195" name="Google Shape;1195;p34"/>
          <p:cNvSpPr/>
          <p:nvPr/>
        </p:nvSpPr>
        <p:spPr>
          <a:xfrm>
            <a:off x="0" y="9474346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1196" name="Google Shape;1196;p34"/>
          <p:cNvSpPr/>
          <p:nvPr/>
        </p:nvSpPr>
        <p:spPr>
          <a:xfrm>
            <a:off x="14444605" y="9602934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82" l="0" r="0" t="-982"/>
            </a:stretch>
          </a:blipFill>
          <a:ln>
            <a:noFill/>
          </a:ln>
        </p:spPr>
      </p:sp>
      <p:grpSp>
        <p:nvGrpSpPr>
          <p:cNvPr id="1197" name="Google Shape;1197;p34"/>
          <p:cNvGrpSpPr/>
          <p:nvPr/>
        </p:nvGrpSpPr>
        <p:grpSpPr>
          <a:xfrm>
            <a:off x="0" y="0"/>
            <a:ext cx="17526000" cy="10287000"/>
            <a:chOff x="0" y="0"/>
            <a:chExt cx="17526000" cy="10287000"/>
          </a:xfrm>
        </p:grpSpPr>
        <p:sp>
          <p:nvSpPr>
            <p:cNvPr id="1198" name="Google Shape;1198;p34"/>
            <p:cNvSpPr/>
            <p:nvPr/>
          </p:nvSpPr>
          <p:spPr>
            <a:xfrm>
              <a:off x="0" y="0"/>
              <a:ext cx="51435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9" name="Google Shape;1199;p34"/>
            <p:cNvCxnSpPr/>
            <p:nvPr/>
          </p:nvCxnSpPr>
          <p:spPr>
            <a:xfrm>
              <a:off x="51435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0" name="Google Shape;1200;p34"/>
            <p:cNvSpPr txBox="1"/>
            <p:nvPr/>
          </p:nvSpPr>
          <p:spPr>
            <a:xfrm>
              <a:off x="666750" y="3048000"/>
              <a:ext cx="3810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Prompts</a:t>
              </a:r>
              <a:b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Capability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Overview of available protocol endpoints and JSON definition schema for prompt templates.</a:t>
              </a:r>
              <a:endParaRPr b="0" sz="14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1" name="Google Shape;1201;p34"/>
            <p:cNvSpPr txBox="1"/>
            <p:nvPr/>
          </p:nvSpPr>
          <p:spPr>
            <a:xfrm>
              <a:off x="5905500" y="619125"/>
              <a:ext cx="1162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Protocol Methods &amp; Examples</a:t>
              </a:r>
              <a:endParaRPr b="1" sz="30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02" name="Google Shape;1202;p34"/>
            <p:cNvSpPr txBox="1"/>
            <p:nvPr/>
          </p:nvSpPr>
          <p:spPr>
            <a:xfrm>
              <a:off x="5905500" y="1381125"/>
              <a:ext cx="1162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Prompts Protocol Methods</a:t>
              </a:r>
              <a:endParaRPr b="1" sz="12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5905500" y="1762125"/>
              <a:ext cx="5524500" cy="1095300"/>
            </a:xfrm>
            <a:prstGeom prst="roundRect">
              <a:avLst>
                <a:gd fmla="val 869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5905500" y="1762125"/>
              <a:ext cx="57300" cy="1095300"/>
            </a:xfrm>
            <a:prstGeom prst="roundRect">
              <a:avLst>
                <a:gd fmla="val 50000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4"/>
            <p:cNvSpPr txBox="1"/>
            <p:nvPr/>
          </p:nvSpPr>
          <p:spPr>
            <a:xfrm>
              <a:off x="6153150" y="1762125"/>
              <a:ext cx="508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0" spcFirstLastPara="1" rIns="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AEEF"/>
                  </a:solidFill>
                  <a:latin typeface="Arimo"/>
                  <a:ea typeface="Arimo"/>
                  <a:cs typeface="Arimo"/>
                  <a:sym typeface="Arimo"/>
                </a:rPr>
                <a:t>prompts/list</a:t>
              </a:r>
              <a:endParaRPr b="1" sz="1500">
                <a:solidFill>
                  <a:srgbClr val="00AEE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Get available prompt templates from the server</a:t>
              </a:r>
              <a:endParaRPr b="0" sz="12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11620500" y="1762125"/>
              <a:ext cx="5905500" cy="1095300"/>
            </a:xfrm>
            <a:prstGeom prst="roundRect">
              <a:avLst>
                <a:gd fmla="val 869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11620500" y="1762125"/>
              <a:ext cx="57300" cy="1095300"/>
            </a:xfrm>
            <a:prstGeom prst="roundRect">
              <a:avLst>
                <a:gd fmla="val 50000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4"/>
            <p:cNvSpPr txBox="1"/>
            <p:nvPr/>
          </p:nvSpPr>
          <p:spPr>
            <a:xfrm>
              <a:off x="11868150" y="1762125"/>
              <a:ext cx="5467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0" spcFirstLastPara="1" rIns="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AEEF"/>
                  </a:solidFill>
                  <a:latin typeface="Arimo"/>
                  <a:ea typeface="Arimo"/>
                  <a:cs typeface="Arimo"/>
                  <a:sym typeface="Arimo"/>
                </a:rPr>
                <a:t>prompts/get</a:t>
              </a:r>
              <a:endParaRPr b="1" sz="1500">
                <a:solidFill>
                  <a:srgbClr val="00AEE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Retrieve a specific prompt template with arguments</a:t>
              </a:r>
              <a:endParaRPr b="0" sz="12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09" name="Google Shape;1209;p34"/>
            <p:cNvSpPr txBox="1"/>
            <p:nvPr/>
          </p:nvSpPr>
          <p:spPr>
            <a:xfrm>
              <a:off x="5905500" y="3190875"/>
              <a:ext cx="1162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Prompt Definition Example</a:t>
              </a:r>
              <a:endParaRPr b="1" sz="12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5905500" y="3571875"/>
              <a:ext cx="11620500" cy="5524500"/>
            </a:xfrm>
            <a:prstGeom prst="roundRect">
              <a:avLst>
                <a:gd fmla="val 2068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5905500" y="3571875"/>
              <a:ext cx="11620500" cy="438300"/>
            </a:xfrm>
            <a:prstGeom prst="roundRect">
              <a:avLst>
                <a:gd fmla="val 2608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5905500" y="3895725"/>
              <a:ext cx="11620500" cy="1143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6076950" y="37338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6267450" y="37338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6457950" y="37338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4"/>
            <p:cNvSpPr txBox="1"/>
            <p:nvPr/>
          </p:nvSpPr>
          <p:spPr>
            <a:xfrm>
              <a:off x="6762750" y="3571875"/>
              <a:ext cx="381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prompt_definition.json</a:t>
              </a:r>
              <a:endParaRPr sz="11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17" name="Google Shape;1217;p34"/>
            <p:cNvSpPr txBox="1"/>
            <p:nvPr/>
          </p:nvSpPr>
          <p:spPr>
            <a:xfrm>
              <a:off x="6191250" y="4238625"/>
              <a:ext cx="110490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"code_review"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"description"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"Review code for best practices"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"arguments"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[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"language"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"description"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"Programming language"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"required"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5"/>
          <p:cNvSpPr/>
          <p:nvPr/>
        </p:nvSpPr>
        <p:spPr>
          <a:xfrm>
            <a:off x="0" y="0"/>
            <a:ext cx="5334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5"/>
          <p:cNvSpPr txBox="1"/>
          <p:nvPr/>
        </p:nvSpPr>
        <p:spPr>
          <a:xfrm>
            <a:off x="666750" y="2857500"/>
            <a:ext cx="4000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TECHNICAL IMPLEMENTATION</a:t>
            </a:r>
            <a:endParaRPr b="1" sz="12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Prompts</a:t>
            </a:r>
            <a:endParaRPr b="1" sz="4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Capability</a:t>
            </a:r>
            <a:endParaRPr b="1" sz="42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(continued)</a:t>
            </a:r>
            <a:endParaRPr b="0" sz="14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Overview of JSON request and response schema for fetching and executing prompt templates.</a:t>
            </a:r>
            <a:endParaRPr b="0" sz="13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4" name="Google Shape;1224;p35"/>
          <p:cNvSpPr txBox="1"/>
          <p:nvPr/>
        </p:nvSpPr>
        <p:spPr>
          <a:xfrm>
            <a:off x="5905500" y="619125"/>
            <a:ext cx="11620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Protocol Methods &amp; Examples</a:t>
            </a:r>
            <a:endParaRPr b="1" sz="30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Prompt Usage Example</a:t>
            </a:r>
            <a:endParaRPr b="1" sz="14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25" name="Google Shape;1225;p35"/>
          <p:cNvGrpSpPr/>
          <p:nvPr/>
        </p:nvGrpSpPr>
        <p:grpSpPr>
          <a:xfrm>
            <a:off x="5905500" y="1619250"/>
            <a:ext cx="11620500" cy="7810500"/>
            <a:chOff x="0" y="0"/>
            <a:chExt cx="11620500" cy="7810500"/>
          </a:xfrm>
        </p:grpSpPr>
        <p:sp>
          <p:nvSpPr>
            <p:cNvPr id="1226" name="Google Shape;1226;p35"/>
            <p:cNvSpPr/>
            <p:nvPr/>
          </p:nvSpPr>
          <p:spPr>
            <a:xfrm>
              <a:off x="0" y="0"/>
              <a:ext cx="11620500" cy="7810500"/>
            </a:xfrm>
            <a:prstGeom prst="roundRect">
              <a:avLst>
                <a:gd fmla="val 1463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0" y="0"/>
              <a:ext cx="11620500" cy="4572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425"/>
                    <a:pt x="528" y="0"/>
                    <a:pt x="1180" y="0"/>
                  </a:cubicBezTo>
                  <a:lnTo>
                    <a:pt x="118820" y="0"/>
                  </a:lnTo>
                  <a:cubicBezTo>
                    <a:pt x="119472" y="0"/>
                    <a:pt x="120000" y="13425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171450" y="1714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361950" y="1714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552450" y="1714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5"/>
            <p:cNvSpPr txBox="1"/>
            <p:nvPr/>
          </p:nvSpPr>
          <p:spPr>
            <a:xfrm>
              <a:off x="952500" y="0"/>
              <a:ext cx="9715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prompt_usage_payload.json</a:t>
              </a:r>
              <a:endParaRPr b="0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304800" y="647700"/>
              <a:ext cx="5334000" cy="6953400"/>
            </a:xfrm>
            <a:prstGeom prst="roundRect">
              <a:avLst>
                <a:gd fmla="val 1428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5"/>
            <p:cNvSpPr txBox="1"/>
            <p:nvPr/>
          </p:nvSpPr>
          <p:spPr>
            <a:xfrm>
              <a:off x="533400" y="876300"/>
              <a:ext cx="48768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Request</a:t>
              </a:r>
              <a:endParaRPr b="1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"method"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"prompts/get"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"params"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"code_review"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"arguments"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 </a:t>
              </a: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"language"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"Python"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5981700" y="647700"/>
              <a:ext cx="5334000" cy="6953400"/>
            </a:xfrm>
            <a:prstGeom prst="roundRect">
              <a:avLst>
                <a:gd fmla="val 1428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5"/>
            <p:cNvSpPr txBox="1"/>
            <p:nvPr/>
          </p:nvSpPr>
          <p:spPr>
            <a:xfrm>
              <a:off x="6210300" y="876300"/>
              <a:ext cx="48768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Response</a:t>
              </a:r>
              <a:endParaRPr b="1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"result"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"messages"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[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914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"role"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"user"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914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"content"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1430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1430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"Review this Python code..."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914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36" name="Google Shape;1236;p35"/>
          <p:cNvGrpSpPr/>
          <p:nvPr/>
        </p:nvGrpSpPr>
        <p:grpSpPr>
          <a:xfrm>
            <a:off x="0" y="9715500"/>
            <a:ext cx="18288000" cy="457350"/>
            <a:chOff x="0" y="0"/>
            <a:chExt cx="18288000" cy="457350"/>
          </a:xfrm>
        </p:grpSpPr>
        <p:cxnSp>
          <p:nvCxnSpPr>
            <p:cNvPr id="1237" name="Google Shape;1237;p35"/>
            <p:cNvCxnSpPr/>
            <p:nvPr/>
          </p:nvCxnSpPr>
          <p:spPr>
            <a:xfrm>
              <a:off x="0" y="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8" name="Google Shape;1238;p35"/>
            <p:cNvSpPr txBox="1"/>
            <p:nvPr/>
          </p:nvSpPr>
          <p:spPr>
            <a:xfrm>
              <a:off x="666750" y="1714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b="0"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3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4" name="Google Shape;1244;p36"/>
          <p:cNvGrpSpPr/>
          <p:nvPr/>
        </p:nvGrpSpPr>
        <p:grpSpPr>
          <a:xfrm>
            <a:off x="0" y="0"/>
            <a:ext cx="5334000" cy="10287000"/>
            <a:chOff x="0" y="0"/>
            <a:chExt cx="5334000" cy="10287000"/>
          </a:xfrm>
        </p:grpSpPr>
        <p:sp>
          <p:nvSpPr>
            <p:cNvPr id="1245" name="Google Shape;1245;p36"/>
            <p:cNvSpPr/>
            <p:nvPr/>
          </p:nvSpPr>
          <p:spPr>
            <a:xfrm>
              <a:off x="0" y="0"/>
              <a:ext cx="5334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6" name="Google Shape;1246;p36"/>
            <p:cNvCxnSpPr/>
            <p:nvPr/>
          </p:nvCxnSpPr>
          <p:spPr>
            <a:xfrm>
              <a:off x="5334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7" name="Google Shape;1247;p36"/>
            <p:cNvSpPr txBox="1"/>
            <p:nvPr/>
          </p:nvSpPr>
          <p:spPr>
            <a:xfrm>
              <a:off x="666750" y="2857500"/>
              <a:ext cx="40005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Elicitation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Capability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Overview of client user input request protocol specifications and schemas.</a:t>
              </a:r>
              <a:endParaRPr b="0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48" name="Google Shape;1248;p36"/>
          <p:cNvSpPr txBox="1"/>
          <p:nvPr/>
        </p:nvSpPr>
        <p:spPr>
          <a:xfrm>
            <a:off x="5905500" y="571500"/>
            <a:ext cx="11620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Protocol Methods &amp; Examples</a:t>
            </a:r>
            <a:endParaRPr b="1" sz="30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rPr>
              <a:t>Elicitation Protocol Overview</a:t>
            </a:r>
            <a:endParaRPr b="1" sz="1300">
              <a:solidFill>
                <a:srgbClr val="00AEE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249" name="Google Shape;1249;p36"/>
          <p:cNvGrpSpPr/>
          <p:nvPr/>
        </p:nvGrpSpPr>
        <p:grpSpPr>
          <a:xfrm>
            <a:off x="5905500" y="1476375"/>
            <a:ext cx="11620500" cy="1047900"/>
            <a:chOff x="5905500" y="1476375"/>
            <a:chExt cx="11620500" cy="1047900"/>
          </a:xfrm>
        </p:grpSpPr>
        <p:sp>
          <p:nvSpPr>
            <p:cNvPr id="1250" name="Google Shape;1250;p36"/>
            <p:cNvSpPr/>
            <p:nvPr/>
          </p:nvSpPr>
          <p:spPr>
            <a:xfrm>
              <a:off x="5905500" y="1476375"/>
              <a:ext cx="11620500" cy="10479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6"/>
            <p:cNvSpPr/>
            <p:nvPr/>
          </p:nvSpPr>
          <p:spPr>
            <a:xfrm>
              <a:off x="5905500" y="1476375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6"/>
            <p:cNvSpPr txBox="1"/>
            <p:nvPr/>
          </p:nvSpPr>
          <p:spPr>
            <a:xfrm>
              <a:off x="6153150" y="1476375"/>
              <a:ext cx="1114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0" spcFirstLastPara="1" rIns="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Elicitation Protocol</a:t>
              </a:r>
              <a:endParaRPr b="1" sz="15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Allows servers to request user input through the client. The server specifies the type of input needed and the client prompts the user accordingly.</a:t>
              </a:r>
              <a:endParaRPr b="0" sz="12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253" name="Google Shape;1253;p36"/>
          <p:cNvGrpSpPr/>
          <p:nvPr/>
        </p:nvGrpSpPr>
        <p:grpSpPr>
          <a:xfrm>
            <a:off x="5905500" y="2714625"/>
            <a:ext cx="11620500" cy="1238400"/>
            <a:chOff x="5905500" y="2714625"/>
            <a:chExt cx="11620500" cy="1238400"/>
          </a:xfrm>
        </p:grpSpPr>
        <p:sp>
          <p:nvSpPr>
            <p:cNvPr id="1254" name="Google Shape;1254;p36"/>
            <p:cNvSpPr txBox="1"/>
            <p:nvPr/>
          </p:nvSpPr>
          <p:spPr>
            <a:xfrm>
              <a:off x="5905500" y="2714625"/>
              <a:ext cx="1162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Supported Input Types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55" name="Google Shape;1255;p36"/>
            <p:cNvSpPr/>
            <p:nvPr/>
          </p:nvSpPr>
          <p:spPr>
            <a:xfrm>
              <a:off x="5905500" y="3095625"/>
              <a:ext cx="27432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6"/>
            <p:cNvSpPr txBox="1"/>
            <p:nvPr/>
          </p:nvSpPr>
          <p:spPr>
            <a:xfrm>
              <a:off x="6048375" y="3095625"/>
              <a:ext cx="2457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text</a:t>
              </a:r>
              <a:endParaRPr b="1" sz="1300">
                <a:solidFill>
                  <a:srgbClr val="00AEE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Free-form text input</a:t>
              </a:r>
              <a:endParaRPr sz="11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57" name="Google Shape;1257;p36"/>
            <p:cNvSpPr/>
            <p:nvPr/>
          </p:nvSpPr>
          <p:spPr>
            <a:xfrm>
              <a:off x="8858250" y="3095625"/>
              <a:ext cx="27432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6"/>
            <p:cNvSpPr txBox="1"/>
            <p:nvPr/>
          </p:nvSpPr>
          <p:spPr>
            <a:xfrm>
              <a:off x="9001125" y="3095625"/>
              <a:ext cx="2457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number</a:t>
              </a:r>
              <a:endParaRPr b="1" sz="1300">
                <a:solidFill>
                  <a:srgbClr val="00AEE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Numeric input</a:t>
              </a:r>
              <a:endParaRPr sz="11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59" name="Google Shape;1259;p36"/>
            <p:cNvSpPr/>
            <p:nvPr/>
          </p:nvSpPr>
          <p:spPr>
            <a:xfrm>
              <a:off x="11811000" y="3095625"/>
              <a:ext cx="27432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6"/>
            <p:cNvSpPr txBox="1"/>
            <p:nvPr/>
          </p:nvSpPr>
          <p:spPr>
            <a:xfrm>
              <a:off x="11953875" y="3095625"/>
              <a:ext cx="2457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boolean</a:t>
              </a:r>
              <a:endParaRPr b="1" sz="1300">
                <a:solidFill>
                  <a:srgbClr val="00AEE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Yes/no or true/false</a:t>
              </a:r>
              <a:endParaRPr sz="11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61" name="Google Shape;1261;p36"/>
            <p:cNvSpPr/>
            <p:nvPr/>
          </p:nvSpPr>
          <p:spPr>
            <a:xfrm>
              <a:off x="14763750" y="3095625"/>
              <a:ext cx="27432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6"/>
            <p:cNvSpPr txBox="1"/>
            <p:nvPr/>
          </p:nvSpPr>
          <p:spPr>
            <a:xfrm>
              <a:off x="14906625" y="3095625"/>
              <a:ext cx="2457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endParaRPr b="1" sz="1300">
                <a:solidFill>
                  <a:srgbClr val="00AEE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Choice from predefined options</a:t>
              </a:r>
              <a:endParaRPr sz="11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263" name="Google Shape;1263;p36"/>
          <p:cNvGrpSpPr/>
          <p:nvPr/>
        </p:nvGrpSpPr>
        <p:grpSpPr>
          <a:xfrm>
            <a:off x="5905500" y="4191000"/>
            <a:ext cx="11620500" cy="5143500"/>
            <a:chOff x="5905500" y="4191000"/>
            <a:chExt cx="11620500" cy="5143500"/>
          </a:xfrm>
        </p:grpSpPr>
        <p:sp>
          <p:nvSpPr>
            <p:cNvPr id="1264" name="Google Shape;1264;p36"/>
            <p:cNvSpPr/>
            <p:nvPr/>
          </p:nvSpPr>
          <p:spPr>
            <a:xfrm>
              <a:off x="5905500" y="4191000"/>
              <a:ext cx="11620500" cy="5143500"/>
            </a:xfrm>
            <a:prstGeom prst="roundRect">
              <a:avLst>
                <a:gd fmla="val 2222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6"/>
            <p:cNvSpPr/>
            <p:nvPr/>
          </p:nvSpPr>
          <p:spPr>
            <a:xfrm>
              <a:off x="5905500" y="4191000"/>
              <a:ext cx="11620500" cy="438300"/>
            </a:xfrm>
            <a:custGeom>
              <a:rect b="b" l="l" r="r" t="t"/>
              <a:pathLst>
                <a:path extrusionOk="0" h="120000" w="120000">
                  <a:moveTo>
                    <a:pt x="0" y="31304"/>
                  </a:moveTo>
                  <a:cubicBezTo>
                    <a:pt x="0" y="14009"/>
                    <a:pt x="528" y="0"/>
                    <a:pt x="1180" y="0"/>
                  </a:cubicBezTo>
                  <a:lnTo>
                    <a:pt x="118820" y="0"/>
                  </a:lnTo>
                  <a:cubicBezTo>
                    <a:pt x="119472" y="0"/>
                    <a:pt x="120000" y="14009"/>
                    <a:pt x="120000" y="31304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6"/>
            <p:cNvSpPr/>
            <p:nvPr/>
          </p:nvSpPr>
          <p:spPr>
            <a:xfrm>
              <a:off x="6019800" y="4352925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6"/>
            <p:cNvSpPr/>
            <p:nvPr/>
          </p:nvSpPr>
          <p:spPr>
            <a:xfrm>
              <a:off x="6210300" y="4352925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6"/>
            <p:cNvSpPr/>
            <p:nvPr/>
          </p:nvSpPr>
          <p:spPr>
            <a:xfrm>
              <a:off x="6400800" y="4352925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6"/>
            <p:cNvSpPr txBox="1"/>
            <p:nvPr/>
          </p:nvSpPr>
          <p:spPr>
            <a:xfrm>
              <a:off x="6762750" y="4191000"/>
              <a:ext cx="9906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elicitation_payload.json</a:t>
              </a:r>
              <a:endParaRPr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70" name="Google Shape;1270;p36"/>
            <p:cNvSpPr/>
            <p:nvPr/>
          </p:nvSpPr>
          <p:spPr>
            <a:xfrm>
              <a:off x="6076950" y="4762500"/>
              <a:ext cx="5476800" cy="4429200"/>
            </a:xfrm>
            <a:prstGeom prst="roundRect">
              <a:avLst>
                <a:gd fmla="val 1720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6"/>
            <p:cNvSpPr txBox="1"/>
            <p:nvPr/>
          </p:nvSpPr>
          <p:spPr>
            <a:xfrm>
              <a:off x="6267450" y="4905375"/>
              <a:ext cx="5095800" cy="41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Request</a:t>
              </a:r>
              <a:endParaRPr b="1"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"method"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"elicitation/request"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"params"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429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"prompt"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"Enter API key"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429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"inputType"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72" name="Google Shape;1272;p36"/>
            <p:cNvSpPr/>
            <p:nvPr/>
          </p:nvSpPr>
          <p:spPr>
            <a:xfrm>
              <a:off x="11877675" y="4762500"/>
              <a:ext cx="5476800" cy="4429200"/>
            </a:xfrm>
            <a:prstGeom prst="roundRect">
              <a:avLst>
                <a:gd fmla="val 1720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6"/>
            <p:cNvSpPr txBox="1"/>
            <p:nvPr/>
          </p:nvSpPr>
          <p:spPr>
            <a:xfrm>
              <a:off x="12068175" y="4905375"/>
              <a:ext cx="5095800" cy="41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Response</a:t>
              </a:r>
              <a:endParaRPr b="1"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"result"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429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"input"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"sk-abc123..."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74" name="Google Shape;1274;p36"/>
          <p:cNvGrpSpPr/>
          <p:nvPr/>
        </p:nvGrpSpPr>
        <p:grpSpPr>
          <a:xfrm>
            <a:off x="0" y="9715500"/>
            <a:ext cx="18288000" cy="457350"/>
            <a:chOff x="0" y="9715500"/>
            <a:chExt cx="18288000" cy="457350"/>
          </a:xfrm>
        </p:grpSpPr>
        <p:cxnSp>
          <p:nvCxnSpPr>
            <p:cNvPr id="1275" name="Google Shape;1275;p36"/>
            <p:cNvCxnSpPr/>
            <p:nvPr/>
          </p:nvCxnSpPr>
          <p:spPr>
            <a:xfrm>
              <a:off x="0" y="971550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6" name="Google Shape;1276;p36"/>
            <p:cNvSpPr txBox="1"/>
            <p:nvPr/>
          </p:nvSpPr>
          <p:spPr>
            <a:xfrm>
              <a:off x="666750" y="98869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" name="Google Shape;1281;p37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282" name="Google Shape;1282;p37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3" name="Google Shape;1283;p37"/>
            <p:cNvGrpSpPr/>
            <p:nvPr/>
          </p:nvGrpSpPr>
          <p:grpSpPr>
            <a:xfrm>
              <a:off x="0" y="0"/>
              <a:ext cx="5334000" cy="10287000"/>
              <a:chOff x="0" y="0"/>
              <a:chExt cx="5334000" cy="10287000"/>
            </a:xfrm>
          </p:grpSpPr>
          <p:sp>
            <p:nvSpPr>
              <p:cNvPr id="1284" name="Google Shape;1284;p37"/>
              <p:cNvSpPr/>
              <p:nvPr/>
            </p:nvSpPr>
            <p:spPr>
              <a:xfrm>
                <a:off x="0" y="0"/>
                <a:ext cx="5334000" cy="102870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85" name="Google Shape;1285;p37"/>
              <p:cNvCxnSpPr/>
              <p:nvPr/>
            </p:nvCxnSpPr>
            <p:spPr>
              <a:xfrm>
                <a:off x="5334000" y="0"/>
                <a:ext cx="0" cy="10287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86" name="Google Shape;1286;p37"/>
              <p:cNvSpPr txBox="1"/>
              <p:nvPr/>
            </p:nvSpPr>
            <p:spPr>
              <a:xfrm>
                <a:off x="666750" y="2857500"/>
                <a:ext cx="4000500" cy="457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TECHNICAL IMPLEMENTATION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Notification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System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Overview of server-to-client one-way notification events, capability changes, resource updates, and progress tracking.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87" name="Google Shape;1287;p37"/>
            <p:cNvSpPr txBox="1"/>
            <p:nvPr/>
          </p:nvSpPr>
          <p:spPr>
            <a:xfrm>
              <a:off x="5905500" y="571500"/>
              <a:ext cx="1162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Methods &amp; Examples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Notification Types &amp; Implementation</a:t>
              </a:r>
              <a:endParaRPr b="1" sz="13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88" name="Google Shape;1288;p37"/>
            <p:cNvGrpSpPr/>
            <p:nvPr/>
          </p:nvGrpSpPr>
          <p:grpSpPr>
            <a:xfrm>
              <a:off x="5905500" y="1476375"/>
              <a:ext cx="11620500" cy="762000"/>
              <a:chOff x="0" y="0"/>
              <a:chExt cx="11620500" cy="762000"/>
            </a:xfrm>
          </p:grpSpPr>
          <p:sp>
            <p:nvSpPr>
              <p:cNvPr id="1289" name="Google Shape;1289;p37"/>
              <p:cNvSpPr/>
              <p:nvPr/>
            </p:nvSpPr>
            <p:spPr>
              <a:xfrm>
                <a:off x="0" y="0"/>
                <a:ext cx="116205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7"/>
              <p:cNvSpPr/>
              <p:nvPr/>
            </p:nvSpPr>
            <p:spPr>
              <a:xfrm>
                <a:off x="0" y="0"/>
                <a:ext cx="573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37"/>
              <p:cNvSpPr txBox="1"/>
              <p:nvPr/>
            </p:nvSpPr>
            <p:spPr>
              <a:xfrm>
                <a:off x="247650" y="0"/>
                <a:ext cx="11144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Notification Types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One-way messages sent from server to client without expecting a response.</a:t>
                </a:r>
                <a:endParaRPr b="1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292" name="Google Shape;1292;p37"/>
            <p:cNvGrpSpPr/>
            <p:nvPr/>
          </p:nvGrpSpPr>
          <p:grpSpPr>
            <a:xfrm>
              <a:off x="5905500" y="2428875"/>
              <a:ext cx="11620500" cy="2381400"/>
              <a:chOff x="5905500" y="2428875"/>
              <a:chExt cx="11620500" cy="2381400"/>
            </a:xfrm>
          </p:grpSpPr>
          <p:grpSp>
            <p:nvGrpSpPr>
              <p:cNvPr id="1293" name="Google Shape;1293;p37"/>
              <p:cNvGrpSpPr/>
              <p:nvPr/>
            </p:nvGrpSpPr>
            <p:grpSpPr>
              <a:xfrm>
                <a:off x="5905500" y="2428875"/>
                <a:ext cx="5676900" cy="2381400"/>
                <a:chOff x="0" y="0"/>
                <a:chExt cx="5676900" cy="2381400"/>
              </a:xfrm>
            </p:grpSpPr>
            <p:sp>
              <p:nvSpPr>
                <p:cNvPr id="1294" name="Google Shape;1294;p37"/>
                <p:cNvSpPr/>
                <p:nvPr/>
              </p:nvSpPr>
              <p:spPr>
                <a:xfrm>
                  <a:off x="0" y="0"/>
                  <a:ext cx="5676900" cy="2381400"/>
                </a:xfrm>
                <a:prstGeom prst="roundRect">
                  <a:avLst>
                    <a:gd fmla="val 4000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37"/>
                <p:cNvSpPr txBox="1"/>
                <p:nvPr/>
              </p:nvSpPr>
              <p:spPr>
                <a:xfrm>
                  <a:off x="228600" y="190500"/>
                  <a:ext cx="5219700" cy="20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0AEE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1. Capability Updates</a:t>
                  </a:r>
                  <a:endParaRPr b="1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12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1" lang="en-US" sz="110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notifications/initialized</a:t>
                  </a:r>
                  <a:br>
                    <a:rPr b="0" lang="en-US" sz="11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</a:b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Server ready after initialization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8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1" lang="en-US" sz="110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notifications/tools/list_changed</a:t>
                  </a:r>
                  <a:br>
                    <a:rPr b="0" lang="en-US" sz="11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</a:b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Available tools updated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8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1" lang="en-US" sz="110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notifications/resources/list_changed</a:t>
                  </a:r>
                  <a:br>
                    <a:rPr b="0" lang="en-US" sz="11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</a:b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Resource list changed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296" name="Google Shape;1296;p37"/>
              <p:cNvGrpSpPr/>
              <p:nvPr/>
            </p:nvGrpSpPr>
            <p:grpSpPr>
              <a:xfrm>
                <a:off x="11849100" y="2428875"/>
                <a:ext cx="5676900" cy="2381400"/>
                <a:chOff x="0" y="0"/>
                <a:chExt cx="5676900" cy="2381400"/>
              </a:xfrm>
            </p:grpSpPr>
            <p:sp>
              <p:nvSpPr>
                <p:cNvPr id="1297" name="Google Shape;1297;p37"/>
                <p:cNvSpPr/>
                <p:nvPr/>
              </p:nvSpPr>
              <p:spPr>
                <a:xfrm>
                  <a:off x="0" y="0"/>
                  <a:ext cx="5676900" cy="2381400"/>
                </a:xfrm>
                <a:prstGeom prst="roundRect">
                  <a:avLst>
                    <a:gd fmla="val 4000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8" name="Google Shape;1298;p37"/>
                <p:cNvSpPr txBox="1"/>
                <p:nvPr/>
              </p:nvSpPr>
              <p:spPr>
                <a:xfrm>
                  <a:off x="228600" y="190500"/>
                  <a:ext cx="5219700" cy="20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0AEE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2. Resource Updates</a:t>
                  </a:r>
                  <a:endParaRPr b="1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12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1" lang="en-US" sz="110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notifications/resources/updated</a:t>
                  </a:r>
                  <a:br>
                    <a:rPr b="0" lang="en-US" sz="11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</a:b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Specific resource content changed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10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Includes URI parameter to identify the updated resource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1299" name="Google Shape;1299;p37"/>
            <p:cNvGrpSpPr/>
            <p:nvPr/>
          </p:nvGrpSpPr>
          <p:grpSpPr>
            <a:xfrm>
              <a:off x="5905500" y="5000625"/>
              <a:ext cx="11620500" cy="4381500"/>
              <a:chOff x="0" y="0"/>
              <a:chExt cx="11620500" cy="4381500"/>
            </a:xfrm>
          </p:grpSpPr>
          <p:sp>
            <p:nvSpPr>
              <p:cNvPr id="1300" name="Google Shape;1300;p37"/>
              <p:cNvSpPr/>
              <p:nvPr/>
            </p:nvSpPr>
            <p:spPr>
              <a:xfrm>
                <a:off x="0" y="0"/>
                <a:ext cx="11620500" cy="4381500"/>
              </a:xfrm>
              <a:prstGeom prst="roundRect">
                <a:avLst>
                  <a:gd fmla="val 2608" name="adj"/>
                </a:avLst>
              </a:prstGeom>
              <a:solidFill>
                <a:srgbClr val="0F172A"/>
              </a:solidFill>
              <a:ln cap="flat" cmpd="sng" w="1430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37"/>
              <p:cNvSpPr/>
              <p:nvPr/>
            </p:nvSpPr>
            <p:spPr>
              <a:xfrm>
                <a:off x="0" y="0"/>
                <a:ext cx="116205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32727"/>
                    </a:moveTo>
                    <a:cubicBezTo>
                      <a:pt x="0" y="14645"/>
                      <a:pt x="528" y="0"/>
                      <a:pt x="1180" y="0"/>
                    </a:cubicBezTo>
                    <a:lnTo>
                      <a:pt x="118820" y="0"/>
                    </a:lnTo>
                    <a:cubicBezTo>
                      <a:pt x="119472" y="0"/>
                      <a:pt x="120000" y="14645"/>
                      <a:pt x="120000" y="32727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37"/>
              <p:cNvSpPr/>
              <p:nvPr/>
            </p:nvSpPr>
            <p:spPr>
              <a:xfrm>
                <a:off x="171450" y="152400"/>
                <a:ext cx="114300" cy="1143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361950" y="152400"/>
                <a:ext cx="114300" cy="114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37"/>
              <p:cNvSpPr/>
              <p:nvPr/>
            </p:nvSpPr>
            <p:spPr>
              <a:xfrm>
                <a:off x="552450" y="152400"/>
                <a:ext cx="114300" cy="1143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37"/>
              <p:cNvSpPr txBox="1"/>
              <p:nvPr/>
            </p:nvSpPr>
            <p:spPr>
              <a:xfrm>
                <a:off x="952500" y="0"/>
                <a:ext cx="9715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notifications_progress_payload.json</a:t>
                </a:r>
                <a:endParaRPr b="0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306" name="Google Shape;1306;p37"/>
              <p:cNvSpPr txBox="1"/>
              <p:nvPr/>
            </p:nvSpPr>
            <p:spPr>
              <a:xfrm>
                <a:off x="266700" y="647700"/>
                <a:ext cx="4953000" cy="346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3. Progress Updates</a:t>
                </a:r>
                <a:endParaRPr b="1" sz="15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94A3B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Track long-running operations with progress token, current value, and total.</a:t>
                </a:r>
                <a:endParaRPr b="0" sz="1200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38BDF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Key Parameters:</a:t>
                </a:r>
                <a:endParaRPr b="1" sz="1100">
                  <a:solidFill>
                    <a:srgbClr val="38BDF8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BD5E1"/>
                  </a:buClr>
                  <a:buSzPts val="1100"/>
                  <a:buFont typeface="Noto Sans"/>
                  <a:buChar char="●"/>
                </a:pPr>
                <a:r>
                  <a:rPr b="0" lang="en-US" sz="11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progressToken</a:t>
                </a:r>
                <a:r>
                  <a:rPr b="0" lang="en-US" sz="1100">
                    <a:solidFill>
                      <a:srgbClr val="CBD5E1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: Operation identifier</a:t>
                </a:r>
                <a:endParaRPr b="0" sz="1100">
                  <a:solidFill>
                    <a:srgbClr val="CBD5E1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BD5E1"/>
                  </a:buClr>
                  <a:buSzPts val="1100"/>
                  <a:buFont typeface="Noto Sans"/>
                  <a:buChar char="●"/>
                </a:pPr>
                <a:r>
                  <a:rPr b="0" lang="en-US" sz="11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progress</a:t>
                </a:r>
                <a:r>
                  <a:rPr b="0" lang="en-US" sz="1100">
                    <a:solidFill>
                      <a:srgbClr val="CBD5E1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: Current numerical step</a:t>
                </a:r>
                <a:endParaRPr b="0" sz="1100">
                  <a:solidFill>
                    <a:srgbClr val="CBD5E1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BD5E1"/>
                  </a:buClr>
                  <a:buSzPts val="1100"/>
                  <a:buFont typeface="Noto Sans"/>
                  <a:buChar char="●"/>
                </a:pPr>
                <a:r>
                  <a:rPr b="0" lang="en-US" sz="11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total</a:t>
                </a:r>
                <a:r>
                  <a:rPr b="0" lang="en-US" sz="1100">
                    <a:solidFill>
                      <a:srgbClr val="CBD5E1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: Target completion count</a:t>
                </a:r>
                <a:endParaRPr b="0" sz="1100">
                  <a:solidFill>
                    <a:srgbClr val="CBD5E1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1307" name="Google Shape;1307;p37"/>
              <p:cNvGrpSpPr/>
              <p:nvPr/>
            </p:nvGrpSpPr>
            <p:grpSpPr>
              <a:xfrm>
                <a:off x="5505450" y="609600"/>
                <a:ext cx="5848500" cy="3505200"/>
                <a:chOff x="0" y="0"/>
                <a:chExt cx="5848500" cy="3505200"/>
              </a:xfrm>
            </p:grpSpPr>
            <p:sp>
              <p:nvSpPr>
                <p:cNvPr id="1308" name="Google Shape;1308;p37"/>
                <p:cNvSpPr/>
                <p:nvPr/>
              </p:nvSpPr>
              <p:spPr>
                <a:xfrm>
                  <a:off x="0" y="0"/>
                  <a:ext cx="5848500" cy="3505200"/>
                </a:xfrm>
                <a:prstGeom prst="roundRect">
                  <a:avLst>
                    <a:gd fmla="val 2173" name="adj"/>
                  </a:avLst>
                </a:prstGeom>
                <a:solidFill>
                  <a:srgbClr val="162235"/>
                </a:solidFill>
                <a:ln cap="flat" cmpd="sng" w="9525">
                  <a:solidFill>
                    <a:srgbClr val="1E2D4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9" name="Google Shape;1309;p37"/>
                <p:cNvSpPr txBox="1"/>
                <p:nvPr/>
              </p:nvSpPr>
              <p:spPr>
                <a:xfrm>
                  <a:off x="228600" y="190500"/>
                  <a:ext cx="5391300" cy="3124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50">
                      <a:solidFill>
                        <a:srgbClr val="64748B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// JSON-RPC Notification Payload</a:t>
                  </a:r>
                  <a:endParaRPr b="1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0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{</a:t>
                  </a:r>
                  <a:endParaRPr b="0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2286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"jsonrpc"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"2.0"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2286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"method"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"notifications/progress"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2286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"params"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{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4572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"progressToken"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"task-123"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4572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"progress"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F472B6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50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4572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"total"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F472B6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100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2286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 b="0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 b="0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</p:grpSp>
        <p:grpSp>
          <p:nvGrpSpPr>
            <p:cNvPr id="1310" name="Google Shape;1310;p37"/>
            <p:cNvGrpSpPr/>
            <p:nvPr/>
          </p:nvGrpSpPr>
          <p:grpSpPr>
            <a:xfrm>
              <a:off x="0" y="9715500"/>
              <a:ext cx="18288000" cy="457350"/>
              <a:chOff x="0" y="9715500"/>
              <a:chExt cx="18288000" cy="457350"/>
            </a:xfrm>
          </p:grpSpPr>
          <p:cxnSp>
            <p:nvCxnSpPr>
              <p:cNvPr id="1311" name="Google Shape;1311;p37"/>
              <p:cNvCxnSpPr/>
              <p:nvPr/>
            </p:nvCxnSpPr>
            <p:spPr>
              <a:xfrm>
                <a:off x="0" y="9715500"/>
                <a:ext cx="1828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12" name="Google Shape;1312;p37"/>
              <p:cNvSpPr txBox="1"/>
              <p:nvPr/>
            </p:nvSpPr>
            <p:spPr>
              <a:xfrm>
                <a:off x="666750" y="98869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Criterion Proprietary &amp; Confidential</a:t>
                </a:r>
                <a:endParaRPr b="0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p38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318" name="Google Shape;1318;p38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19" name="Google Shape;1319;p38"/>
            <p:cNvGrpSpPr/>
            <p:nvPr/>
          </p:nvGrpSpPr>
          <p:grpSpPr>
            <a:xfrm>
              <a:off x="0" y="0"/>
              <a:ext cx="5334000" cy="10287000"/>
              <a:chOff x="0" y="0"/>
              <a:chExt cx="5334000" cy="10287000"/>
            </a:xfrm>
          </p:grpSpPr>
          <p:sp>
            <p:nvSpPr>
              <p:cNvPr id="1320" name="Google Shape;1320;p38"/>
              <p:cNvSpPr/>
              <p:nvPr/>
            </p:nvSpPr>
            <p:spPr>
              <a:xfrm>
                <a:off x="0" y="0"/>
                <a:ext cx="5334000" cy="102870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21" name="Google Shape;1321;p38"/>
              <p:cNvCxnSpPr/>
              <p:nvPr/>
            </p:nvCxnSpPr>
            <p:spPr>
              <a:xfrm>
                <a:off x="5334000" y="0"/>
                <a:ext cx="0" cy="10287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322" name="Google Shape;1322;p38"/>
              <p:cNvGrpSpPr/>
              <p:nvPr/>
            </p:nvGrpSpPr>
            <p:grpSpPr>
              <a:xfrm>
                <a:off x="666750" y="2857500"/>
                <a:ext cx="4000500" cy="4572000"/>
                <a:chOff x="0" y="0"/>
                <a:chExt cx="4000500" cy="4572000"/>
              </a:xfrm>
            </p:grpSpPr>
            <p:sp>
              <p:nvSpPr>
                <p:cNvPr id="1323" name="Google Shape;1323;p38"/>
                <p:cNvSpPr/>
                <p:nvPr/>
              </p:nvSpPr>
              <p:spPr>
                <a:xfrm>
                  <a:off x="0" y="0"/>
                  <a:ext cx="4000500" cy="45720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4" name="Google Shape;1324;p38"/>
                <p:cNvSpPr txBox="1"/>
                <p:nvPr/>
              </p:nvSpPr>
              <p:spPr>
                <a:xfrm>
                  <a:off x="0" y="0"/>
                  <a:ext cx="4000500" cy="457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00AEE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TECHNICAL IMPLEMENTATION</a:t>
                  </a:r>
                  <a:endParaRPr b="1" sz="1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lang="en-US" sz="42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Error Handling</a:t>
                  </a:r>
                  <a:endParaRPr b="1" sz="4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1" lang="en-US" sz="4200">
                      <a:solidFill>
                        <a:srgbClr val="00AEE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&amp; Status Codes</a:t>
                  </a:r>
                  <a:endParaRPr b="1" sz="4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160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>
                      <a:solidFill>
                        <a:srgbClr val="94A3B8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JSON-RPC 2.0 error specifications, standard &amp; MCP-specific error codes, and recovery mechanisms.</a:t>
                  </a:r>
                  <a:endParaRPr b="0" sz="1300">
                    <a:solidFill>
                      <a:srgbClr val="94A3B8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sp>
          <p:nvSpPr>
            <p:cNvPr id="1325" name="Google Shape;1325;p38"/>
            <p:cNvSpPr txBox="1"/>
            <p:nvPr/>
          </p:nvSpPr>
          <p:spPr>
            <a:xfrm>
              <a:off x="5905500" y="476250"/>
              <a:ext cx="1162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Methods &amp; Examples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Error Response Format &amp; Recovery Strategies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326" name="Google Shape;1326;p38"/>
            <p:cNvGrpSpPr/>
            <p:nvPr/>
          </p:nvGrpSpPr>
          <p:grpSpPr>
            <a:xfrm>
              <a:off x="5905500" y="1333500"/>
              <a:ext cx="11620500" cy="3619500"/>
              <a:chOff x="5905500" y="1333500"/>
              <a:chExt cx="11620500" cy="3619500"/>
            </a:xfrm>
          </p:grpSpPr>
          <p:grpSp>
            <p:nvGrpSpPr>
              <p:cNvPr id="1327" name="Google Shape;1327;p38"/>
              <p:cNvGrpSpPr/>
              <p:nvPr/>
            </p:nvGrpSpPr>
            <p:grpSpPr>
              <a:xfrm>
                <a:off x="5905500" y="1333500"/>
                <a:ext cx="5524500" cy="3619500"/>
                <a:chOff x="0" y="0"/>
                <a:chExt cx="5524500" cy="3619500"/>
              </a:xfrm>
            </p:grpSpPr>
            <p:sp>
              <p:nvSpPr>
                <p:cNvPr id="1328" name="Google Shape;1328;p38"/>
                <p:cNvSpPr/>
                <p:nvPr/>
              </p:nvSpPr>
              <p:spPr>
                <a:xfrm>
                  <a:off x="0" y="0"/>
                  <a:ext cx="5524500" cy="3619500"/>
                </a:xfrm>
                <a:prstGeom prst="roundRect">
                  <a:avLst>
                    <a:gd fmla="val 2631" name="adj"/>
                  </a:avLst>
                </a:prstGeom>
                <a:solidFill>
                  <a:srgbClr val="0F172A"/>
                </a:solidFill>
                <a:ln cap="flat" cmpd="sng" w="14300">
                  <a:solidFill>
                    <a:srgbClr val="1E293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9" name="Google Shape;1329;p38"/>
                <p:cNvSpPr/>
                <p:nvPr/>
              </p:nvSpPr>
              <p:spPr>
                <a:xfrm>
                  <a:off x="0" y="0"/>
                  <a:ext cx="5524500" cy="3429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33333"/>
                      </a:moveTo>
                      <a:cubicBezTo>
                        <a:pt x="0" y="14923"/>
                        <a:pt x="926" y="0"/>
                        <a:pt x="2069" y="0"/>
                      </a:cubicBezTo>
                      <a:lnTo>
                        <a:pt x="117931" y="0"/>
                      </a:lnTo>
                      <a:cubicBezTo>
                        <a:pt x="119074" y="0"/>
                        <a:pt x="120000" y="14923"/>
                        <a:pt x="120000" y="33333"/>
                      </a:cubicBez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1E293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0" name="Google Shape;1330;p38"/>
                <p:cNvSpPr/>
                <p:nvPr/>
              </p:nvSpPr>
              <p:spPr>
                <a:xfrm>
                  <a:off x="123825" y="123825"/>
                  <a:ext cx="95400" cy="95400"/>
                </a:xfrm>
                <a:prstGeom prst="ellipse">
                  <a:avLst/>
                </a:prstGeom>
                <a:solidFill>
                  <a:srgbClr val="EF444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1" name="Google Shape;1331;p38"/>
                <p:cNvSpPr/>
                <p:nvPr/>
              </p:nvSpPr>
              <p:spPr>
                <a:xfrm>
                  <a:off x="295275" y="123825"/>
                  <a:ext cx="95400" cy="95400"/>
                </a:xfrm>
                <a:prstGeom prst="ellipse">
                  <a:avLst/>
                </a:prstGeom>
                <a:solidFill>
                  <a:srgbClr val="F59E0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2" name="Google Shape;1332;p38"/>
                <p:cNvSpPr/>
                <p:nvPr/>
              </p:nvSpPr>
              <p:spPr>
                <a:xfrm>
                  <a:off x="466725" y="123825"/>
                  <a:ext cx="95400" cy="95400"/>
                </a:xfrm>
                <a:prstGeom prst="ellipse">
                  <a:avLst/>
                </a:prstGeom>
                <a:solidFill>
                  <a:srgbClr val="10B98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38"/>
                <p:cNvSpPr txBox="1"/>
                <p:nvPr/>
              </p:nvSpPr>
              <p:spPr>
                <a:xfrm>
                  <a:off x="762000" y="0"/>
                  <a:ext cx="40005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94A3B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error_response.json</a:t>
                  </a:r>
                  <a:endParaRPr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334" name="Google Shape;1334;p38"/>
                <p:cNvSpPr/>
                <p:nvPr/>
              </p:nvSpPr>
              <p:spPr>
                <a:xfrm>
                  <a:off x="152400" y="457200"/>
                  <a:ext cx="5219700" cy="3048000"/>
                </a:xfrm>
                <a:prstGeom prst="roundRect">
                  <a:avLst>
                    <a:gd fmla="val 1875" name="adj"/>
                  </a:avLst>
                </a:prstGeom>
                <a:solidFill>
                  <a:srgbClr val="162235"/>
                </a:solidFill>
                <a:ln cap="flat" cmpd="sng" w="9525">
                  <a:solidFill>
                    <a:srgbClr val="1E2D4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38"/>
                <p:cNvSpPr txBox="1"/>
                <p:nvPr/>
              </p:nvSpPr>
              <p:spPr>
                <a:xfrm>
                  <a:off x="304800" y="523875"/>
                  <a:ext cx="4914900" cy="29052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64748B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// JSON-RPC 2.0 Error Response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{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1778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"jsonrpc"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"2.0"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1778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"id"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F472B6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1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1778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"error"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{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3556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"code"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F472B6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-32601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3556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"message"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"Method not found"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3556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"data"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{ </a:t>
                  </a: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"method"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"unknown/method"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 }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1778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1336" name="Google Shape;1336;p38"/>
              <p:cNvGrpSpPr/>
              <p:nvPr/>
            </p:nvGrpSpPr>
            <p:grpSpPr>
              <a:xfrm>
                <a:off x="11620500" y="1333500"/>
                <a:ext cx="5905500" cy="3619500"/>
                <a:chOff x="0" y="0"/>
                <a:chExt cx="5905500" cy="3619500"/>
              </a:xfrm>
            </p:grpSpPr>
            <p:sp>
              <p:nvSpPr>
                <p:cNvPr id="1337" name="Google Shape;1337;p38"/>
                <p:cNvSpPr/>
                <p:nvPr/>
              </p:nvSpPr>
              <p:spPr>
                <a:xfrm>
                  <a:off x="0" y="0"/>
                  <a:ext cx="5905500" cy="3619500"/>
                </a:xfrm>
                <a:prstGeom prst="roundRect">
                  <a:avLst>
                    <a:gd fmla="val 2631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38"/>
                <p:cNvSpPr/>
                <p:nvPr/>
              </p:nvSpPr>
              <p:spPr>
                <a:xfrm>
                  <a:off x="0" y="0"/>
                  <a:ext cx="5905500" cy="4191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27273"/>
                      </a:moveTo>
                      <a:cubicBezTo>
                        <a:pt x="0" y="12210"/>
                        <a:pt x="867" y="0"/>
                        <a:pt x="1935" y="0"/>
                      </a:cubicBezTo>
                      <a:lnTo>
                        <a:pt x="118065" y="0"/>
                      </a:lnTo>
                      <a:cubicBezTo>
                        <a:pt x="119133" y="0"/>
                        <a:pt x="120000" y="12210"/>
                        <a:pt x="120000" y="27273"/>
                      </a:cubicBez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00AEE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9" name="Google Shape;1339;p38"/>
                <p:cNvSpPr txBox="1"/>
                <p:nvPr/>
              </p:nvSpPr>
              <p:spPr>
                <a:xfrm>
                  <a:off x="228600" y="0"/>
                  <a:ext cx="54483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FFFFF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Common Error Scenarios &amp; Recovery Mechanisms</a:t>
                  </a:r>
                  <a:endParaRPr b="1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  <p:sp>
              <p:nvSpPr>
                <p:cNvPr id="1340" name="Google Shape;1340;p38"/>
                <p:cNvSpPr txBox="1"/>
                <p:nvPr/>
              </p:nvSpPr>
              <p:spPr>
                <a:xfrm>
                  <a:off x="228600" y="552450"/>
                  <a:ext cx="5448300" cy="29148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Exponential Backoff: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Implement exponential backoff for transient retryable errors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Payload Validation: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Validate requests prior to dispatch to prevent -32602 errors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Capability Caching: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Cache capability discovery results to avoid repeated -32005 failures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User Prompt Guidance: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Present clear prompts on -32004 sampling denials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Contextual Logging: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Capture complete error context to streamline post-mortem debugging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1341" name="Google Shape;1341;p38"/>
            <p:cNvGrpSpPr/>
            <p:nvPr/>
          </p:nvGrpSpPr>
          <p:grpSpPr>
            <a:xfrm>
              <a:off x="5905500" y="5143500"/>
              <a:ext cx="11620500" cy="4286400"/>
              <a:chOff x="5905500" y="5143500"/>
              <a:chExt cx="11620500" cy="4286400"/>
            </a:xfrm>
          </p:grpSpPr>
          <p:grpSp>
            <p:nvGrpSpPr>
              <p:cNvPr id="1342" name="Google Shape;1342;p38"/>
              <p:cNvGrpSpPr/>
              <p:nvPr/>
            </p:nvGrpSpPr>
            <p:grpSpPr>
              <a:xfrm>
                <a:off x="5905500" y="5143500"/>
                <a:ext cx="5524500" cy="4286400"/>
                <a:chOff x="0" y="0"/>
                <a:chExt cx="5524500" cy="4286400"/>
              </a:xfrm>
            </p:grpSpPr>
            <p:sp>
              <p:nvSpPr>
                <p:cNvPr id="1343" name="Google Shape;1343;p38"/>
                <p:cNvSpPr/>
                <p:nvPr/>
              </p:nvSpPr>
              <p:spPr>
                <a:xfrm>
                  <a:off x="0" y="0"/>
                  <a:ext cx="5524500" cy="4286400"/>
                </a:xfrm>
                <a:prstGeom prst="roundRect">
                  <a:avLst>
                    <a:gd fmla="val 2222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p38"/>
                <p:cNvSpPr/>
                <p:nvPr/>
              </p:nvSpPr>
              <p:spPr>
                <a:xfrm>
                  <a:off x="0" y="0"/>
                  <a:ext cx="5524500" cy="4191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27273"/>
                      </a:moveTo>
                      <a:cubicBezTo>
                        <a:pt x="0" y="12210"/>
                        <a:pt x="926" y="0"/>
                        <a:pt x="2069" y="0"/>
                      </a:cubicBezTo>
                      <a:lnTo>
                        <a:pt x="117931" y="0"/>
                      </a:lnTo>
                      <a:cubicBezTo>
                        <a:pt x="119074" y="0"/>
                        <a:pt x="120000" y="12210"/>
                        <a:pt x="120000" y="27273"/>
                      </a:cubicBez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00AEE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p38"/>
                <p:cNvSpPr txBox="1"/>
                <p:nvPr/>
              </p:nvSpPr>
              <p:spPr>
                <a:xfrm>
                  <a:off x="228600" y="0"/>
                  <a:ext cx="50673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FFFFF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Standard JSON-RPC Error Codes</a:t>
                  </a:r>
                  <a:endParaRPr b="1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  <p:sp>
              <p:nvSpPr>
                <p:cNvPr id="1346" name="Google Shape;1346;p38"/>
                <p:cNvSpPr txBox="1"/>
                <p:nvPr/>
              </p:nvSpPr>
              <p:spPr>
                <a:xfrm>
                  <a:off x="228600" y="552450"/>
                  <a:ext cx="5067300" cy="3581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95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-32700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Parse error (Invalid JSON received)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2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-32600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Invalid Request (JSON-RPC request malformed)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2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-32601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Method not found (Requested method does not exist)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2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-32602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Invalid params (Invalid method parameters)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2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-32603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Internal error (Server-side processing error)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1347" name="Google Shape;1347;p38"/>
              <p:cNvGrpSpPr/>
              <p:nvPr/>
            </p:nvGrpSpPr>
            <p:grpSpPr>
              <a:xfrm>
                <a:off x="11620500" y="5143500"/>
                <a:ext cx="5905500" cy="4286400"/>
                <a:chOff x="0" y="0"/>
                <a:chExt cx="5905500" cy="4286400"/>
              </a:xfrm>
            </p:grpSpPr>
            <p:sp>
              <p:nvSpPr>
                <p:cNvPr id="1348" name="Google Shape;1348;p38"/>
                <p:cNvSpPr/>
                <p:nvPr/>
              </p:nvSpPr>
              <p:spPr>
                <a:xfrm>
                  <a:off x="0" y="0"/>
                  <a:ext cx="5905500" cy="4286400"/>
                </a:xfrm>
                <a:prstGeom prst="roundRect">
                  <a:avLst>
                    <a:gd fmla="val 2222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8"/>
                <p:cNvSpPr/>
                <p:nvPr/>
              </p:nvSpPr>
              <p:spPr>
                <a:xfrm>
                  <a:off x="0" y="0"/>
                  <a:ext cx="5905500" cy="4191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27273"/>
                      </a:moveTo>
                      <a:cubicBezTo>
                        <a:pt x="0" y="12210"/>
                        <a:pt x="867" y="0"/>
                        <a:pt x="1935" y="0"/>
                      </a:cubicBezTo>
                      <a:lnTo>
                        <a:pt x="118065" y="0"/>
                      </a:lnTo>
                      <a:cubicBezTo>
                        <a:pt x="119133" y="0"/>
                        <a:pt x="120000" y="12210"/>
                        <a:pt x="120000" y="27273"/>
                      </a:cubicBez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00AEE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p38"/>
                <p:cNvSpPr txBox="1"/>
                <p:nvPr/>
              </p:nvSpPr>
              <p:spPr>
                <a:xfrm>
                  <a:off x="228600" y="0"/>
                  <a:ext cx="54483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FFFFF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MCP-Specific Error Codes</a:t>
                  </a:r>
                  <a:endParaRPr b="1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  <p:sp>
              <p:nvSpPr>
                <p:cNvPr id="1351" name="Google Shape;1351;p38"/>
                <p:cNvSpPr txBox="1"/>
                <p:nvPr/>
              </p:nvSpPr>
              <p:spPr>
                <a:xfrm>
                  <a:off x="228600" y="552450"/>
                  <a:ext cx="5448300" cy="3581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95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-32001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Resource not found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-32002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Tool execution failed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-32003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Prompt not found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-32004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Sampling denied by user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-32005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Capability not supported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-32006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Connection timeout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</p:grpSp>
        <p:grpSp>
          <p:nvGrpSpPr>
            <p:cNvPr id="1352" name="Google Shape;1352;p38"/>
            <p:cNvGrpSpPr/>
            <p:nvPr/>
          </p:nvGrpSpPr>
          <p:grpSpPr>
            <a:xfrm>
              <a:off x="0" y="9715500"/>
              <a:ext cx="18288000" cy="457350"/>
              <a:chOff x="0" y="0"/>
              <a:chExt cx="18288000" cy="457350"/>
            </a:xfrm>
          </p:grpSpPr>
          <p:cxnSp>
            <p:nvCxnSpPr>
              <p:cNvPr id="1353" name="Google Shape;1353;p38"/>
              <p:cNvCxnSpPr/>
              <p:nvPr/>
            </p:nvCxnSpPr>
            <p:spPr>
              <a:xfrm>
                <a:off x="0" y="0"/>
                <a:ext cx="1828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54" name="Google Shape;1354;p38"/>
              <p:cNvSpPr txBox="1"/>
              <p:nvPr/>
            </p:nvSpPr>
            <p:spPr>
              <a:xfrm>
                <a:off x="666750" y="1714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Criterion Proprietary &amp; Confidential</a:t>
                </a:r>
                <a:endParaRPr b="0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9" name="Google Shape;1359;p39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360" name="Google Shape;1360;p39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1" name="Google Shape;1361;p39"/>
            <p:cNvGrpSpPr/>
            <p:nvPr/>
          </p:nvGrpSpPr>
          <p:grpSpPr>
            <a:xfrm>
              <a:off x="0" y="0"/>
              <a:ext cx="5334000" cy="10287000"/>
              <a:chOff x="0" y="0"/>
              <a:chExt cx="5334000" cy="10287000"/>
            </a:xfrm>
          </p:grpSpPr>
          <p:sp>
            <p:nvSpPr>
              <p:cNvPr id="1362" name="Google Shape;1362;p39"/>
              <p:cNvSpPr/>
              <p:nvPr/>
            </p:nvSpPr>
            <p:spPr>
              <a:xfrm>
                <a:off x="0" y="0"/>
                <a:ext cx="5334000" cy="102870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63" name="Google Shape;1363;p39"/>
              <p:cNvCxnSpPr/>
              <p:nvPr/>
            </p:nvCxnSpPr>
            <p:spPr>
              <a:xfrm>
                <a:off x="5334000" y="0"/>
                <a:ext cx="0" cy="10287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64" name="Google Shape;1364;p39"/>
              <p:cNvSpPr txBox="1"/>
              <p:nvPr/>
            </p:nvSpPr>
            <p:spPr>
              <a:xfrm>
                <a:off x="666750" y="2667000"/>
                <a:ext cx="4000500" cy="47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TECHNICAL IMPLEMENTATION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Security</a:t>
                </a:r>
                <a:endParaRPr b="1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Implementation</a:t>
                </a:r>
                <a:endParaRPr b="1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Overview of transport encryption, authentication &amp; authorization, content validation, human controls, and security best practices.</a:t>
                </a:r>
                <a:endParaRPr b="0" sz="13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65" name="Google Shape;1365;p39"/>
            <p:cNvSpPr txBox="1"/>
            <p:nvPr/>
          </p:nvSpPr>
          <p:spPr>
            <a:xfrm>
              <a:off x="5905500" y="476250"/>
              <a:ext cx="1162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Security Controls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Security Architecture &amp; Safeguards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366" name="Google Shape;1366;p39"/>
            <p:cNvGrpSpPr/>
            <p:nvPr/>
          </p:nvGrpSpPr>
          <p:grpSpPr>
            <a:xfrm>
              <a:off x="5905500" y="1428750"/>
              <a:ext cx="5676900" cy="2333700"/>
              <a:chOff x="0" y="0"/>
              <a:chExt cx="5676900" cy="2333700"/>
            </a:xfrm>
          </p:grpSpPr>
          <p:sp>
            <p:nvSpPr>
              <p:cNvPr id="1367" name="Google Shape;1367;p39"/>
              <p:cNvSpPr/>
              <p:nvPr/>
            </p:nvSpPr>
            <p:spPr>
              <a:xfrm>
                <a:off x="0" y="0"/>
                <a:ext cx="56769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9"/>
              <p:cNvSpPr txBox="1"/>
              <p:nvPr/>
            </p:nvSpPr>
            <p:spPr>
              <a:xfrm>
                <a:off x="228600" y="190500"/>
                <a:ext cx="52197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1. Transport Security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TLS 1.3+ for encrypted communication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Certificate validation and mutual TLS support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69" name="Google Shape;1369;p39"/>
            <p:cNvGrpSpPr/>
            <p:nvPr/>
          </p:nvGrpSpPr>
          <p:grpSpPr>
            <a:xfrm>
              <a:off x="11849100" y="1428750"/>
              <a:ext cx="5676900" cy="2333700"/>
              <a:chOff x="0" y="0"/>
              <a:chExt cx="5676900" cy="2333700"/>
            </a:xfrm>
          </p:grpSpPr>
          <p:sp>
            <p:nvSpPr>
              <p:cNvPr id="1370" name="Google Shape;1370;p39"/>
              <p:cNvSpPr/>
              <p:nvPr/>
            </p:nvSpPr>
            <p:spPr>
              <a:xfrm>
                <a:off x="0" y="0"/>
                <a:ext cx="56769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9"/>
              <p:cNvSpPr txBox="1"/>
              <p:nvPr/>
            </p:nvSpPr>
            <p:spPr>
              <a:xfrm>
                <a:off x="228600" y="190500"/>
                <a:ext cx="52197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2. Authentication &amp; Authorization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OAuth 2.0 / JWT token-based authentication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Role-based access control (RBAC)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Capability-based permissions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72" name="Google Shape;1372;p39"/>
            <p:cNvGrpSpPr/>
            <p:nvPr/>
          </p:nvGrpSpPr>
          <p:grpSpPr>
            <a:xfrm>
              <a:off x="5905500" y="3952875"/>
              <a:ext cx="5676900" cy="2333700"/>
              <a:chOff x="0" y="0"/>
              <a:chExt cx="5676900" cy="2333700"/>
            </a:xfrm>
          </p:grpSpPr>
          <p:sp>
            <p:nvSpPr>
              <p:cNvPr id="1373" name="Google Shape;1373;p39"/>
              <p:cNvSpPr/>
              <p:nvPr/>
            </p:nvSpPr>
            <p:spPr>
              <a:xfrm>
                <a:off x="0" y="0"/>
                <a:ext cx="56769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39"/>
              <p:cNvSpPr txBox="1"/>
              <p:nvPr/>
            </p:nvSpPr>
            <p:spPr>
              <a:xfrm>
                <a:off x="228600" y="190500"/>
                <a:ext cx="52197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3. Content Validation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Input sanitization and validation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Output filtering and escaping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Schema validation for all messages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75" name="Google Shape;1375;p39"/>
            <p:cNvGrpSpPr/>
            <p:nvPr/>
          </p:nvGrpSpPr>
          <p:grpSpPr>
            <a:xfrm>
              <a:off x="11849100" y="3952875"/>
              <a:ext cx="5676900" cy="2333700"/>
              <a:chOff x="0" y="0"/>
              <a:chExt cx="5676900" cy="2333700"/>
            </a:xfrm>
          </p:grpSpPr>
          <p:sp>
            <p:nvSpPr>
              <p:cNvPr id="1376" name="Google Shape;1376;p39"/>
              <p:cNvSpPr/>
              <p:nvPr/>
            </p:nvSpPr>
            <p:spPr>
              <a:xfrm>
                <a:off x="0" y="0"/>
                <a:ext cx="56769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39"/>
              <p:cNvSpPr txBox="1"/>
              <p:nvPr/>
            </p:nvSpPr>
            <p:spPr>
              <a:xfrm>
                <a:off x="228600" y="190500"/>
                <a:ext cx="52197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4. Human-in-the-Loop Controls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User approval for sensitive operations (sampling, tool execution)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Audit logging and monitoring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Rate limiting and quota management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78" name="Google Shape;1378;p39"/>
            <p:cNvGrpSpPr/>
            <p:nvPr/>
          </p:nvGrpSpPr>
          <p:grpSpPr>
            <a:xfrm>
              <a:off x="5905500" y="6477000"/>
              <a:ext cx="11620500" cy="2952900"/>
              <a:chOff x="0" y="0"/>
              <a:chExt cx="11620500" cy="2952900"/>
            </a:xfrm>
          </p:grpSpPr>
          <p:sp>
            <p:nvSpPr>
              <p:cNvPr id="1379" name="Google Shape;1379;p39"/>
              <p:cNvSpPr/>
              <p:nvPr/>
            </p:nvSpPr>
            <p:spPr>
              <a:xfrm>
                <a:off x="0" y="0"/>
                <a:ext cx="116205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39"/>
              <p:cNvSpPr/>
              <p:nvPr/>
            </p:nvSpPr>
            <p:spPr>
              <a:xfrm>
                <a:off x="0" y="0"/>
                <a:ext cx="116205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27273"/>
                    </a:moveTo>
                    <a:cubicBezTo>
                      <a:pt x="0" y="12210"/>
                      <a:pt x="440" y="0"/>
                      <a:pt x="984" y="0"/>
                    </a:cubicBezTo>
                    <a:lnTo>
                      <a:pt x="119016" y="0"/>
                    </a:lnTo>
                    <a:cubicBezTo>
                      <a:pt x="119560" y="0"/>
                      <a:pt x="120000" y="12210"/>
                      <a:pt x="120000" y="2727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39"/>
              <p:cNvSpPr txBox="1"/>
              <p:nvPr/>
            </p:nvSpPr>
            <p:spPr>
              <a:xfrm>
                <a:off x="228600" y="0"/>
                <a:ext cx="11163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Implementation Recommendations</a:t>
                </a:r>
                <a:endParaRPr b="1" sz="1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382" name="Google Shape;1382;p39"/>
              <p:cNvSpPr txBox="1"/>
              <p:nvPr/>
            </p:nvSpPr>
            <p:spPr>
              <a:xfrm>
                <a:off x="228600" y="571500"/>
                <a:ext cx="53340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3048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Zero Trust Inputs: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Never trust client-provided data without validation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0480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Defense-in-Depth: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Implement layered security controls across all vectors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04800" lvl="0" marL="457200" rtl="0" algn="l">
                  <a:spcBef>
                    <a:spcPts val="1200"/>
                  </a:spcBef>
                  <a:spcAft>
                    <a:spcPts val="120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Least Privilege: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Restrict all capabilities to minimum needed access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383" name="Google Shape;1383;p39"/>
              <p:cNvSpPr txBox="1"/>
              <p:nvPr/>
            </p:nvSpPr>
            <p:spPr>
              <a:xfrm>
                <a:off x="5943600" y="571500"/>
                <a:ext cx="53340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3048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Credential Hygiene: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Regularly audit and rotate access credentials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04800" lvl="0" marL="457200" rtl="0" algn="l">
                  <a:spcBef>
                    <a:spcPts val="1200"/>
                  </a:spcBef>
                  <a:spcAft>
                    <a:spcPts val="120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Continuous Monitoring: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Monitor for anomalous behavior patterns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84" name="Google Shape;1384;p39"/>
            <p:cNvGrpSpPr/>
            <p:nvPr/>
          </p:nvGrpSpPr>
          <p:grpSpPr>
            <a:xfrm>
              <a:off x="0" y="9715500"/>
              <a:ext cx="18288000" cy="457350"/>
              <a:chOff x="0" y="0"/>
              <a:chExt cx="18288000" cy="457350"/>
            </a:xfrm>
          </p:grpSpPr>
          <p:cxnSp>
            <p:nvCxnSpPr>
              <p:cNvPr id="1385" name="Google Shape;1385;p39"/>
              <p:cNvCxnSpPr/>
              <p:nvPr/>
            </p:nvCxnSpPr>
            <p:spPr>
              <a:xfrm>
                <a:off x="0" y="0"/>
                <a:ext cx="1828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86" name="Google Shape;1386;p39"/>
              <p:cNvSpPr txBox="1"/>
              <p:nvPr/>
            </p:nvSpPr>
            <p:spPr>
              <a:xfrm>
                <a:off x="666750" y="1714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Criterion Proprietary &amp; Confidential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40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392" name="Google Shape;1392;p40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0"/>
            <p:cNvSpPr/>
            <p:nvPr/>
          </p:nvSpPr>
          <p:spPr>
            <a:xfrm>
              <a:off x="0" y="0"/>
              <a:ext cx="5334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4" name="Google Shape;1394;p40"/>
            <p:cNvCxnSpPr/>
            <p:nvPr/>
          </p:nvCxnSpPr>
          <p:spPr>
            <a:xfrm>
              <a:off x="5334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5" name="Google Shape;1395;p40"/>
            <p:cNvSpPr txBox="1"/>
            <p:nvPr/>
          </p:nvSpPr>
          <p:spPr>
            <a:xfrm>
              <a:off x="666750" y="2667000"/>
              <a:ext cx="40005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SDK Architecture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&amp; Examples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Official SDKs for multiple languages and complete FastMCP Python server-side implementation.</a:t>
              </a:r>
              <a:endParaRPr b="0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6" name="Google Shape;1396;p40"/>
            <p:cNvSpPr txBox="1"/>
            <p:nvPr/>
          </p:nvSpPr>
          <p:spPr>
            <a:xfrm>
              <a:off x="5905500" y="476250"/>
              <a:ext cx="1162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SDK Architecture &amp; Code Examples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Supported Language Implementations &amp; FastMCP Server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397" name="Google Shape;1397;p40"/>
            <p:cNvGrpSpPr/>
            <p:nvPr/>
          </p:nvGrpSpPr>
          <p:grpSpPr>
            <a:xfrm>
              <a:off x="5905500" y="1333500"/>
              <a:ext cx="5334000" cy="8001000"/>
              <a:chOff x="0" y="0"/>
              <a:chExt cx="5334000" cy="8001000"/>
            </a:xfrm>
          </p:grpSpPr>
          <p:sp>
            <p:nvSpPr>
              <p:cNvPr id="1398" name="Google Shape;1398;p40"/>
              <p:cNvSpPr/>
              <p:nvPr/>
            </p:nvSpPr>
            <p:spPr>
              <a:xfrm>
                <a:off x="0" y="0"/>
                <a:ext cx="5334000" cy="8001000"/>
              </a:xfrm>
              <a:prstGeom prst="roundRect">
                <a:avLst>
                  <a:gd fmla="val 178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40"/>
              <p:cNvSpPr/>
              <p:nvPr/>
            </p:nvSpPr>
            <p:spPr>
              <a:xfrm>
                <a:off x="0" y="0"/>
                <a:ext cx="53340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27273"/>
                    </a:moveTo>
                    <a:cubicBezTo>
                      <a:pt x="0" y="12210"/>
                      <a:pt x="959" y="0"/>
                      <a:pt x="2143" y="0"/>
                    </a:cubicBezTo>
                    <a:lnTo>
                      <a:pt x="117857" y="0"/>
                    </a:lnTo>
                    <a:cubicBezTo>
                      <a:pt x="119041" y="0"/>
                      <a:pt x="120000" y="12210"/>
                      <a:pt x="120000" y="2727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40"/>
              <p:cNvSpPr txBox="1"/>
              <p:nvPr/>
            </p:nvSpPr>
            <p:spPr>
              <a:xfrm>
                <a:off x="228600" y="0"/>
                <a:ext cx="4876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Supported Language SDKs</a:t>
                </a:r>
                <a:endParaRPr b="1" sz="1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1401" name="Google Shape;1401;p40"/>
              <p:cNvGrpSpPr/>
              <p:nvPr/>
            </p:nvGrpSpPr>
            <p:grpSpPr>
              <a:xfrm>
                <a:off x="228600" y="571500"/>
                <a:ext cx="4876800" cy="1000200"/>
                <a:chOff x="0" y="0"/>
                <a:chExt cx="4876800" cy="1000200"/>
              </a:xfrm>
            </p:grpSpPr>
            <p:sp>
              <p:nvSpPr>
                <p:cNvPr id="1402" name="Google Shape;1402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TypeScript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Official reference implementation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04" name="Google Shape;1404;p40"/>
              <p:cNvGrpSpPr/>
              <p:nvPr/>
            </p:nvGrpSpPr>
            <p:grpSpPr>
              <a:xfrm>
                <a:off x="228600" y="1714500"/>
                <a:ext cx="4876800" cy="1000200"/>
                <a:chOff x="0" y="0"/>
                <a:chExt cx="4876800" cy="1000200"/>
              </a:xfrm>
            </p:grpSpPr>
            <p:sp>
              <p:nvSpPr>
                <p:cNvPr id="1405" name="Google Shape;1405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Python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Full-featured client &amp; server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07" name="Google Shape;1407;p40"/>
              <p:cNvGrpSpPr/>
              <p:nvPr/>
            </p:nvGrpSpPr>
            <p:grpSpPr>
              <a:xfrm>
                <a:off x="228600" y="2857500"/>
                <a:ext cx="4876800" cy="1000200"/>
                <a:chOff x="0" y="0"/>
                <a:chExt cx="4876800" cy="1000200"/>
              </a:xfrm>
            </p:grpSpPr>
            <p:sp>
              <p:nvSpPr>
                <p:cNvPr id="1408" name="Google Shape;1408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9" name="Google Shape;1409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Rust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High-performance implementation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10" name="Google Shape;1410;p40"/>
              <p:cNvGrpSpPr/>
              <p:nvPr/>
            </p:nvGrpSpPr>
            <p:grpSpPr>
              <a:xfrm>
                <a:off x="228600" y="4000500"/>
                <a:ext cx="4876800" cy="1000200"/>
                <a:chOff x="0" y="0"/>
                <a:chExt cx="4876800" cy="1000200"/>
              </a:xfrm>
            </p:grpSpPr>
            <p:sp>
              <p:nvSpPr>
                <p:cNvPr id="1411" name="Google Shape;1411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Go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Lightweight and efficient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13" name="Google Shape;1413;p40"/>
              <p:cNvGrpSpPr/>
              <p:nvPr/>
            </p:nvGrpSpPr>
            <p:grpSpPr>
              <a:xfrm>
                <a:off x="228600" y="5143500"/>
                <a:ext cx="4876800" cy="1000200"/>
                <a:chOff x="0" y="0"/>
                <a:chExt cx="4876800" cy="1000200"/>
              </a:xfrm>
            </p:grpSpPr>
            <p:sp>
              <p:nvSpPr>
                <p:cNvPr id="1414" name="Google Shape;1414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Java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Enterprise-ready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16" name="Google Shape;1416;p40"/>
              <p:cNvGrpSpPr/>
              <p:nvPr/>
            </p:nvGrpSpPr>
            <p:grpSpPr>
              <a:xfrm>
                <a:off x="228600" y="6286500"/>
                <a:ext cx="4876800" cy="1000200"/>
                <a:chOff x="0" y="0"/>
                <a:chExt cx="4876800" cy="1000200"/>
              </a:xfrm>
            </p:grpSpPr>
            <p:sp>
              <p:nvSpPr>
                <p:cNvPr id="1417" name="Google Shape;1417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8" name="Google Shape;1418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C#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.NET integration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1419" name="Google Shape;1419;p40"/>
            <p:cNvGrpSpPr/>
            <p:nvPr/>
          </p:nvGrpSpPr>
          <p:grpSpPr>
            <a:xfrm>
              <a:off x="11525250" y="1333500"/>
              <a:ext cx="6191400" cy="8001000"/>
              <a:chOff x="0" y="0"/>
              <a:chExt cx="6191400" cy="8001000"/>
            </a:xfrm>
          </p:grpSpPr>
          <p:sp>
            <p:nvSpPr>
              <p:cNvPr id="1420" name="Google Shape;1420;p40"/>
              <p:cNvSpPr/>
              <p:nvPr/>
            </p:nvSpPr>
            <p:spPr>
              <a:xfrm>
                <a:off x="0" y="0"/>
                <a:ext cx="6191400" cy="8001000"/>
              </a:xfrm>
              <a:prstGeom prst="roundRect">
                <a:avLst>
                  <a:gd fmla="val 1538" name="adj"/>
                </a:avLst>
              </a:prstGeom>
              <a:solidFill>
                <a:srgbClr val="0F172A"/>
              </a:solidFill>
              <a:ln cap="flat" cmpd="sng" w="1430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40"/>
              <p:cNvSpPr/>
              <p:nvPr/>
            </p:nvSpPr>
            <p:spPr>
              <a:xfrm>
                <a:off x="0" y="0"/>
                <a:ext cx="6191400" cy="342900"/>
              </a:xfrm>
              <a:custGeom>
                <a:rect b="b" l="l" r="r" t="t"/>
                <a:pathLst>
                  <a:path extrusionOk="0" h="120000" w="120000">
                    <a:moveTo>
                      <a:pt x="0" y="33333"/>
                    </a:moveTo>
                    <a:cubicBezTo>
                      <a:pt x="0" y="14923"/>
                      <a:pt x="827" y="0"/>
                      <a:pt x="1846" y="0"/>
                    </a:cubicBezTo>
                    <a:lnTo>
                      <a:pt x="118154" y="0"/>
                    </a:lnTo>
                    <a:cubicBezTo>
                      <a:pt x="119173" y="0"/>
                      <a:pt x="120000" y="14923"/>
                      <a:pt x="120000" y="3333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40"/>
              <p:cNvSpPr/>
              <p:nvPr/>
            </p:nvSpPr>
            <p:spPr>
              <a:xfrm>
                <a:off x="142875" y="123825"/>
                <a:ext cx="95400" cy="954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40"/>
              <p:cNvSpPr/>
              <p:nvPr/>
            </p:nvSpPr>
            <p:spPr>
              <a:xfrm>
                <a:off x="295275" y="123825"/>
                <a:ext cx="95400" cy="954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40"/>
              <p:cNvSpPr/>
              <p:nvPr/>
            </p:nvSpPr>
            <p:spPr>
              <a:xfrm>
                <a:off x="447675" y="123825"/>
                <a:ext cx="95400" cy="954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40"/>
              <p:cNvSpPr txBox="1"/>
              <p:nvPr/>
            </p:nvSpPr>
            <p:spPr>
              <a:xfrm>
                <a:off x="762000" y="0"/>
                <a:ext cx="4667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server_example.py</a:t>
                </a:r>
                <a:endParaRPr b="0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426" name="Google Shape;1426;p40"/>
              <p:cNvSpPr/>
              <p:nvPr/>
            </p:nvSpPr>
            <p:spPr>
              <a:xfrm>
                <a:off x="152400" y="495300"/>
                <a:ext cx="5886600" cy="7353300"/>
              </a:xfrm>
              <a:prstGeom prst="roundRect">
                <a:avLst>
                  <a:gd fmla="val 970" name="adj"/>
                </a:avLst>
              </a:prstGeom>
              <a:solidFill>
                <a:srgbClr val="162235"/>
              </a:solidFill>
              <a:ln cap="flat" cmpd="sng" w="9525">
                <a:solidFill>
                  <a:srgbClr val="1E2D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40"/>
              <p:cNvSpPr txBox="1"/>
              <p:nvPr/>
            </p:nvSpPr>
            <p:spPr>
              <a:xfrm>
                <a:off x="304800" y="647700"/>
                <a:ext cx="5581800" cy="7048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Server SDK Example (Python)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from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fastmcp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import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FastMCP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mcp =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FastMCP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"MyServer"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@mcp.tool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def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multiply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(a: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float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b: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float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 -&gt;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float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"""Multiplies two numbers together."""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 * b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@mcp.resource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"data://config"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def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get_config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() -&gt;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dict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"theme"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"dark"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"version"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"1.0"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@mcp.prompt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def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analyze_data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(data_points: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list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float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]) -&gt;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formatted_data =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", 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.join(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(point)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point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data_points)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f"Please analyze these data points: {formatted_data}"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__name__ ==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"__main__"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mcp.run(transport=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"http"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host=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"127.0.0.1"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port=</a:t>
                </a:r>
                <a:r>
                  <a:rPr b="1" i="0" lang="en-US" sz="1250" u="none" strike="noStrike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9000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428" name="Google Shape;1428;p40"/>
            <p:cNvGrpSpPr/>
            <p:nvPr/>
          </p:nvGrpSpPr>
          <p:grpSpPr>
            <a:xfrm>
              <a:off x="0" y="9715500"/>
              <a:ext cx="18288000" cy="457350"/>
              <a:chOff x="0" y="0"/>
              <a:chExt cx="18288000" cy="457350"/>
            </a:xfrm>
          </p:grpSpPr>
          <p:cxnSp>
            <p:nvCxnSpPr>
              <p:cNvPr id="1429" name="Google Shape;1429;p40"/>
              <p:cNvCxnSpPr/>
              <p:nvPr/>
            </p:nvCxnSpPr>
            <p:spPr>
              <a:xfrm>
                <a:off x="0" y="0"/>
                <a:ext cx="1828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30" name="Google Shape;1430;p40"/>
              <p:cNvSpPr txBox="1"/>
              <p:nvPr/>
            </p:nvSpPr>
            <p:spPr>
              <a:xfrm>
                <a:off x="666750" y="1714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Criterion Proprietary &amp; Confidential</a:t>
                </a:r>
                <a:endParaRPr b="0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435" name="Google Shape;1435;p41"/>
          <p:cNvSpPr/>
          <p:nvPr/>
        </p:nvSpPr>
        <p:spPr>
          <a:xfrm>
            <a:off x="0" y="0"/>
            <a:ext cx="18288000" cy="10275739"/>
          </a:xfrm>
          <a:custGeom>
            <a:rect b="b" l="l" r="r" t="t"/>
            <a:pathLst>
              <a:path extrusionOk="0" h="14222476" w="24384000">
                <a:moveTo>
                  <a:pt x="0" y="0"/>
                </a:moveTo>
                <a:lnTo>
                  <a:pt x="24384000" y="0"/>
                </a:lnTo>
                <a:lnTo>
                  <a:pt x="24384000" y="14222476"/>
                </a:lnTo>
                <a:lnTo>
                  <a:pt x="0" y="142224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436" name="Google Shape;1436;p41"/>
          <p:cNvGrpSpPr/>
          <p:nvPr/>
        </p:nvGrpSpPr>
        <p:grpSpPr>
          <a:xfrm>
            <a:off x="0" y="0"/>
            <a:ext cx="5334000" cy="10287000"/>
            <a:chOff x="0" y="0"/>
            <a:chExt cx="5334000" cy="10287000"/>
          </a:xfrm>
        </p:grpSpPr>
        <p:sp>
          <p:nvSpPr>
            <p:cNvPr id="1437" name="Google Shape;1437;p41"/>
            <p:cNvSpPr/>
            <p:nvPr/>
          </p:nvSpPr>
          <p:spPr>
            <a:xfrm>
              <a:off x="0" y="0"/>
              <a:ext cx="5334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8" name="Google Shape;1438;p41"/>
            <p:cNvCxnSpPr/>
            <p:nvPr/>
          </p:nvCxnSpPr>
          <p:spPr>
            <a:xfrm>
              <a:off x="5334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9" name="Google Shape;1439;p41"/>
            <p:cNvSpPr txBox="1"/>
            <p:nvPr/>
          </p:nvSpPr>
          <p:spPr>
            <a:xfrm>
              <a:off x="666750" y="2667000"/>
              <a:ext cx="40005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SDK Architecture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&amp; Examples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Official SDKs for multiple languages and complete client &amp; server Python implementations.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40" name="Google Shape;1440;p41"/>
          <p:cNvSpPr txBox="1"/>
          <p:nvPr/>
        </p:nvSpPr>
        <p:spPr>
          <a:xfrm>
            <a:off x="5905500" y="476250"/>
            <a:ext cx="11620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SDK Architecture &amp; Code Examples</a:t>
            </a:r>
            <a:endParaRPr b="1" sz="30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rPr>
              <a:t>Supported Language Implementations &amp; FastMCP Client Example</a:t>
            </a:r>
            <a:endParaRPr b="1" sz="13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41" name="Google Shape;1441;p41"/>
          <p:cNvGrpSpPr/>
          <p:nvPr/>
        </p:nvGrpSpPr>
        <p:grpSpPr>
          <a:xfrm>
            <a:off x="5905500" y="1333500"/>
            <a:ext cx="5334000" cy="8001000"/>
            <a:chOff x="0" y="0"/>
            <a:chExt cx="5334000" cy="8001000"/>
          </a:xfrm>
        </p:grpSpPr>
        <p:sp>
          <p:nvSpPr>
            <p:cNvPr id="1442" name="Google Shape;1442;p41"/>
            <p:cNvSpPr/>
            <p:nvPr/>
          </p:nvSpPr>
          <p:spPr>
            <a:xfrm>
              <a:off x="0" y="0"/>
              <a:ext cx="5334000" cy="8001000"/>
            </a:xfrm>
            <a:prstGeom prst="roundRect">
              <a:avLst>
                <a:gd fmla="val 178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0" y="0"/>
              <a:ext cx="5334000" cy="419100"/>
            </a:xfrm>
            <a:custGeom>
              <a:rect b="b" l="l" r="r" t="t"/>
              <a:pathLst>
                <a:path extrusionOk="0" h="120000" w="120000">
                  <a:moveTo>
                    <a:pt x="0" y="27273"/>
                  </a:moveTo>
                  <a:cubicBezTo>
                    <a:pt x="0" y="12218"/>
                    <a:pt x="960" y="0"/>
                    <a:pt x="2143" y="0"/>
                  </a:cubicBezTo>
                  <a:lnTo>
                    <a:pt x="117857" y="0"/>
                  </a:lnTo>
                  <a:cubicBezTo>
                    <a:pt x="119040" y="0"/>
                    <a:pt x="120000" y="12218"/>
                    <a:pt x="120000" y="2727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1"/>
            <p:cNvSpPr txBox="1"/>
            <p:nvPr/>
          </p:nvSpPr>
          <p:spPr>
            <a:xfrm>
              <a:off x="228600" y="0"/>
              <a:ext cx="4876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Supported Language SDKs</a:t>
              </a:r>
              <a:endParaRPr b="1" sz="1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445" name="Google Shape;1445;p41"/>
            <p:cNvGrpSpPr/>
            <p:nvPr/>
          </p:nvGrpSpPr>
          <p:grpSpPr>
            <a:xfrm>
              <a:off x="228600" y="571500"/>
              <a:ext cx="4876800" cy="1000200"/>
              <a:chOff x="0" y="0"/>
              <a:chExt cx="4876800" cy="1000200"/>
            </a:xfrm>
          </p:grpSpPr>
          <p:sp>
            <p:nvSpPr>
              <p:cNvPr id="1446" name="Google Shape;1446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TypeScript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Official reference implementation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48" name="Google Shape;1448;p41"/>
            <p:cNvGrpSpPr/>
            <p:nvPr/>
          </p:nvGrpSpPr>
          <p:grpSpPr>
            <a:xfrm>
              <a:off x="228600" y="1714500"/>
              <a:ext cx="4876800" cy="1000200"/>
              <a:chOff x="0" y="0"/>
              <a:chExt cx="4876800" cy="1000200"/>
            </a:xfrm>
          </p:grpSpPr>
          <p:sp>
            <p:nvSpPr>
              <p:cNvPr id="1449" name="Google Shape;1449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Python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Full-featured client &amp; server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51" name="Google Shape;1451;p41"/>
            <p:cNvGrpSpPr/>
            <p:nvPr/>
          </p:nvGrpSpPr>
          <p:grpSpPr>
            <a:xfrm>
              <a:off x="228600" y="2857500"/>
              <a:ext cx="4876800" cy="1000200"/>
              <a:chOff x="0" y="0"/>
              <a:chExt cx="4876800" cy="1000200"/>
            </a:xfrm>
          </p:grpSpPr>
          <p:sp>
            <p:nvSpPr>
              <p:cNvPr id="1452" name="Google Shape;1452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Rust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High-performance implementation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54" name="Google Shape;1454;p41"/>
            <p:cNvGrpSpPr/>
            <p:nvPr/>
          </p:nvGrpSpPr>
          <p:grpSpPr>
            <a:xfrm>
              <a:off x="228600" y="4000500"/>
              <a:ext cx="4876800" cy="1000200"/>
              <a:chOff x="0" y="0"/>
              <a:chExt cx="4876800" cy="1000200"/>
            </a:xfrm>
          </p:grpSpPr>
          <p:sp>
            <p:nvSpPr>
              <p:cNvPr id="1455" name="Google Shape;1455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Go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Lightweight and efficient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57" name="Google Shape;1457;p41"/>
            <p:cNvGrpSpPr/>
            <p:nvPr/>
          </p:nvGrpSpPr>
          <p:grpSpPr>
            <a:xfrm>
              <a:off x="228600" y="5143500"/>
              <a:ext cx="4876800" cy="1000200"/>
              <a:chOff x="0" y="0"/>
              <a:chExt cx="4876800" cy="1000200"/>
            </a:xfrm>
          </p:grpSpPr>
          <p:sp>
            <p:nvSpPr>
              <p:cNvPr id="1458" name="Google Shape;1458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Java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Enterprise-ready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60" name="Google Shape;1460;p41"/>
            <p:cNvGrpSpPr/>
            <p:nvPr/>
          </p:nvGrpSpPr>
          <p:grpSpPr>
            <a:xfrm>
              <a:off x="228600" y="6286500"/>
              <a:ext cx="4876800" cy="1000200"/>
              <a:chOff x="0" y="0"/>
              <a:chExt cx="4876800" cy="1000200"/>
            </a:xfrm>
          </p:grpSpPr>
          <p:sp>
            <p:nvSpPr>
              <p:cNvPr id="1461" name="Google Shape;1461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C#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.NET integration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grpSp>
        <p:nvGrpSpPr>
          <p:cNvPr id="1463" name="Google Shape;1463;p41"/>
          <p:cNvGrpSpPr/>
          <p:nvPr/>
        </p:nvGrpSpPr>
        <p:grpSpPr>
          <a:xfrm>
            <a:off x="11525250" y="1333500"/>
            <a:ext cx="6191400" cy="8001000"/>
            <a:chOff x="0" y="0"/>
            <a:chExt cx="6191400" cy="8001000"/>
          </a:xfrm>
        </p:grpSpPr>
        <p:sp>
          <p:nvSpPr>
            <p:cNvPr id="1464" name="Google Shape;1464;p41"/>
            <p:cNvSpPr/>
            <p:nvPr/>
          </p:nvSpPr>
          <p:spPr>
            <a:xfrm>
              <a:off x="0" y="0"/>
              <a:ext cx="6191400" cy="8001000"/>
            </a:xfrm>
            <a:prstGeom prst="roundRect">
              <a:avLst>
                <a:gd fmla="val 1538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0" y="0"/>
              <a:ext cx="6191400" cy="342900"/>
            </a:xfrm>
            <a:custGeom>
              <a:rect b="b" l="l" r="r" t="t"/>
              <a:pathLst>
                <a:path extrusionOk="0" h="120000" w="120000">
                  <a:moveTo>
                    <a:pt x="0" y="33333"/>
                  </a:moveTo>
                  <a:cubicBezTo>
                    <a:pt x="0" y="14933"/>
                    <a:pt x="827" y="0"/>
                    <a:pt x="1846" y="0"/>
                  </a:cubicBezTo>
                  <a:lnTo>
                    <a:pt x="118154" y="0"/>
                  </a:lnTo>
                  <a:cubicBezTo>
                    <a:pt x="119173" y="0"/>
                    <a:pt x="120000" y="14933"/>
                    <a:pt x="120000" y="33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142875" y="12382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295275" y="12382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447675" y="12382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1"/>
            <p:cNvSpPr txBox="1"/>
            <p:nvPr/>
          </p:nvSpPr>
          <p:spPr>
            <a:xfrm>
              <a:off x="762000" y="0"/>
              <a:ext cx="4667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client_example.py</a:t>
              </a:r>
              <a:endParaRPr b="0"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152400" y="495300"/>
              <a:ext cx="5886600" cy="7353300"/>
            </a:xfrm>
            <a:prstGeom prst="roundRect">
              <a:avLst>
                <a:gd fmla="val 970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1"/>
            <p:cNvSpPr txBox="1"/>
            <p:nvPr/>
          </p:nvSpPr>
          <p:spPr>
            <a:xfrm>
              <a:off x="304800" y="647700"/>
              <a:ext cx="5581800" cy="70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Client SDK Example (Python)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In-memory server (ideal for testing)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server =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FastMCP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"TestServer"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 =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(server)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HTTP server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 =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"[link removed]"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Local Python script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 =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"my_mcp_server.py"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async def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():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32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async with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client: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List available operations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tools = </a:t>
              </a: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client.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list_tools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resources = </a:t>
              </a: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client.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list_resources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prompts = </a:t>
              </a: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client.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list_prompts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Execute operations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result = </a:t>
              </a: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client.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call_tool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"example_tool"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{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"param"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"value"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(result)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72" name="Google Shape;1472;p41"/>
          <p:cNvGrpSpPr/>
          <p:nvPr/>
        </p:nvGrpSpPr>
        <p:grpSpPr>
          <a:xfrm>
            <a:off x="0" y="9715500"/>
            <a:ext cx="18288000" cy="457350"/>
            <a:chOff x="0" y="0"/>
            <a:chExt cx="18288000" cy="457350"/>
          </a:xfrm>
        </p:grpSpPr>
        <p:cxnSp>
          <p:nvCxnSpPr>
            <p:cNvPr id="1473" name="Google Shape;1473;p41"/>
            <p:cNvCxnSpPr/>
            <p:nvPr/>
          </p:nvCxnSpPr>
          <p:spPr>
            <a:xfrm>
              <a:off x="0" y="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4" name="Google Shape;1474;p41"/>
            <p:cNvSpPr txBox="1"/>
            <p:nvPr/>
          </p:nvSpPr>
          <p:spPr>
            <a:xfrm>
              <a:off x="666750" y="1714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b="0"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4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480" name="Google Shape;1480;p42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2"/>
            <p:cNvSpPr/>
            <p:nvPr/>
          </p:nvSpPr>
          <p:spPr>
            <a:xfrm>
              <a:off x="0" y="0"/>
              <a:ext cx="4953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2" name="Google Shape;1482;p42"/>
            <p:cNvCxnSpPr/>
            <p:nvPr/>
          </p:nvCxnSpPr>
          <p:spPr>
            <a:xfrm>
              <a:off x="4953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3" name="Google Shape;1483;p42"/>
            <p:cNvSpPr txBox="1"/>
            <p:nvPr/>
          </p:nvSpPr>
          <p:spPr>
            <a:xfrm>
              <a:off x="571500" y="2476500"/>
              <a:ext cx="3810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PROTOCOL ROADMAP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Protocol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Extensions &amp;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Future Roadmap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Extensible architecture built for modular capabilities, custom vendor features, and seamless backward compatibility.</a:t>
              </a:r>
              <a:endParaRPr b="0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4" name="Google Shape;1484;p42"/>
            <p:cNvSpPr txBox="1"/>
            <p:nvPr/>
          </p:nvSpPr>
          <p:spPr>
            <a:xfrm>
              <a:off x="5524500" y="428625"/>
              <a:ext cx="1219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Extensions &amp; Future Roadmap</a:t>
              </a:r>
              <a:endParaRPr b="1" sz="2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Extensibility Architecture &amp; Planned Features</a:t>
              </a:r>
              <a:endParaRPr b="1" sz="13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85" name="Google Shape;1485;p42"/>
            <p:cNvGrpSpPr/>
            <p:nvPr/>
          </p:nvGrpSpPr>
          <p:grpSpPr>
            <a:xfrm>
              <a:off x="5524500" y="1333500"/>
              <a:ext cx="12192000" cy="2952900"/>
              <a:chOff x="0" y="0"/>
              <a:chExt cx="12192000" cy="2952900"/>
            </a:xfrm>
          </p:grpSpPr>
          <p:sp>
            <p:nvSpPr>
              <p:cNvPr id="1486" name="Google Shape;1486;p42"/>
              <p:cNvSpPr/>
              <p:nvPr/>
            </p:nvSpPr>
            <p:spPr>
              <a:xfrm>
                <a:off x="0" y="0"/>
                <a:ext cx="121920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42"/>
              <p:cNvSpPr/>
              <p:nvPr/>
            </p:nvSpPr>
            <p:spPr>
              <a:xfrm>
                <a:off x="0" y="0"/>
                <a:ext cx="121920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27273"/>
                    </a:moveTo>
                    <a:cubicBezTo>
                      <a:pt x="0" y="12273"/>
                      <a:pt x="422" y="0"/>
                      <a:pt x="938" y="0"/>
                    </a:cubicBezTo>
                    <a:lnTo>
                      <a:pt x="119063" y="0"/>
                    </a:lnTo>
                    <a:cubicBezTo>
                      <a:pt x="119578" y="0"/>
                      <a:pt x="120000" y="12273"/>
                      <a:pt x="120000" y="2727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42"/>
              <p:cNvSpPr txBox="1"/>
              <p:nvPr/>
            </p:nvSpPr>
            <p:spPr>
              <a:xfrm>
                <a:off x="228600" y="0"/>
                <a:ext cx="11734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Extension Mechanisms</a:t>
                </a:r>
                <a:endParaRPr b="1" sz="13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1489" name="Google Shape;1489;p42"/>
              <p:cNvGrpSpPr/>
              <p:nvPr/>
            </p:nvGrpSpPr>
            <p:grpSpPr>
              <a:xfrm>
                <a:off x="228600" y="571500"/>
                <a:ext cx="3733800" cy="2143200"/>
                <a:chOff x="0" y="0"/>
                <a:chExt cx="3733800" cy="2143200"/>
              </a:xfrm>
            </p:grpSpPr>
            <p:sp>
              <p:nvSpPr>
                <p:cNvPr id="1490" name="Google Shape;1490;p42"/>
                <p:cNvSpPr/>
                <p:nvPr/>
              </p:nvSpPr>
              <p:spPr>
                <a:xfrm>
                  <a:off x="0" y="0"/>
                  <a:ext cx="3733800" cy="2143200"/>
                </a:xfrm>
                <a:prstGeom prst="roundRect">
                  <a:avLst>
                    <a:gd fmla="val 3555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1" name="Google Shape;1491;p42"/>
                <p:cNvSpPr txBox="1"/>
                <p:nvPr/>
              </p:nvSpPr>
              <p:spPr>
                <a:xfrm>
                  <a:off x="190500" y="190500"/>
                  <a:ext cx="3352800" cy="17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Capability Discovery</a:t>
                  </a:r>
                  <a:endParaRPr b="1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800"/>
                    </a:spcBef>
                    <a:spcAft>
                      <a:spcPts val="0"/>
                    </a:spcAft>
                    <a:buNone/>
                  </a:pPr>
                  <a:r>
                    <a:rPr b="0" lang="en-US" sz="11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Clients can query server capabilities dynamically to discover supported features.</a:t>
                  </a:r>
                  <a:endParaRPr b="0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92" name="Google Shape;1492;p42"/>
              <p:cNvGrpSpPr/>
              <p:nvPr/>
            </p:nvGrpSpPr>
            <p:grpSpPr>
              <a:xfrm>
                <a:off x="4229100" y="571500"/>
                <a:ext cx="3733800" cy="2143200"/>
                <a:chOff x="0" y="0"/>
                <a:chExt cx="3733800" cy="2143200"/>
              </a:xfrm>
            </p:grpSpPr>
            <p:sp>
              <p:nvSpPr>
                <p:cNvPr id="1493" name="Google Shape;1493;p42"/>
                <p:cNvSpPr/>
                <p:nvPr/>
              </p:nvSpPr>
              <p:spPr>
                <a:xfrm>
                  <a:off x="0" y="0"/>
                  <a:ext cx="3733800" cy="2143200"/>
                </a:xfrm>
                <a:prstGeom prst="roundRect">
                  <a:avLst>
                    <a:gd fmla="val 3555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4" name="Google Shape;1494;p42"/>
                <p:cNvSpPr txBox="1"/>
                <p:nvPr/>
              </p:nvSpPr>
              <p:spPr>
                <a:xfrm>
                  <a:off x="190500" y="190500"/>
                  <a:ext cx="3352800" cy="17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Custom Methods</a:t>
                  </a:r>
                  <a:endParaRPr b="1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800"/>
                    </a:spcBef>
                    <a:spcAft>
                      <a:spcPts val="0"/>
                    </a:spcAft>
                    <a:buNone/>
                  </a:pPr>
                  <a:r>
                    <a:rPr b="0" lang="en-US" sz="11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Servers can implement vendor-specific extensions using custom method namespaces.</a:t>
                  </a:r>
                  <a:endParaRPr b="0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95" name="Google Shape;1495;p42"/>
              <p:cNvGrpSpPr/>
              <p:nvPr/>
            </p:nvGrpSpPr>
            <p:grpSpPr>
              <a:xfrm>
                <a:off x="8229600" y="571500"/>
                <a:ext cx="3733800" cy="2143200"/>
                <a:chOff x="0" y="0"/>
                <a:chExt cx="3733800" cy="2143200"/>
              </a:xfrm>
            </p:grpSpPr>
            <p:sp>
              <p:nvSpPr>
                <p:cNvPr id="1496" name="Google Shape;1496;p42"/>
                <p:cNvSpPr/>
                <p:nvPr/>
              </p:nvSpPr>
              <p:spPr>
                <a:xfrm>
                  <a:off x="0" y="0"/>
                  <a:ext cx="3733800" cy="2143200"/>
                </a:xfrm>
                <a:prstGeom prst="roundRect">
                  <a:avLst>
                    <a:gd fmla="val 3555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7" name="Google Shape;1497;p42"/>
                <p:cNvSpPr txBox="1"/>
                <p:nvPr/>
              </p:nvSpPr>
              <p:spPr>
                <a:xfrm>
                  <a:off x="190500" y="190500"/>
                  <a:ext cx="3352800" cy="17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Protocol Versioning</a:t>
                  </a:r>
                  <a:endParaRPr b="1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800"/>
                    </a:spcBef>
                    <a:spcAft>
                      <a:spcPts val="0"/>
                    </a:spcAft>
                    <a:buNone/>
                  </a:pPr>
                  <a:r>
                    <a:rPr b="0" lang="en-US" sz="11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Backward-compatible version negotiation ensures interoperability across versions.</a:t>
                  </a:r>
                  <a:endParaRPr b="0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1498" name="Google Shape;1498;p42"/>
            <p:cNvGrpSpPr/>
            <p:nvPr/>
          </p:nvGrpSpPr>
          <p:grpSpPr>
            <a:xfrm>
              <a:off x="5524500" y="4524375"/>
              <a:ext cx="12192000" cy="4572000"/>
              <a:chOff x="0" y="0"/>
              <a:chExt cx="12192000" cy="4572000"/>
            </a:xfrm>
          </p:grpSpPr>
          <p:sp>
            <p:nvSpPr>
              <p:cNvPr id="1499" name="Google Shape;1499;p42"/>
              <p:cNvSpPr/>
              <p:nvPr/>
            </p:nvSpPr>
            <p:spPr>
              <a:xfrm>
                <a:off x="0" y="0"/>
                <a:ext cx="12192000" cy="4572000"/>
              </a:xfrm>
              <a:prstGeom prst="roundRect">
                <a:avLst>
                  <a:gd fmla="val 2083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42"/>
              <p:cNvSpPr/>
              <p:nvPr/>
            </p:nvSpPr>
            <p:spPr>
              <a:xfrm>
                <a:off x="0" y="0"/>
                <a:ext cx="121920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27273"/>
                    </a:moveTo>
                    <a:cubicBezTo>
                      <a:pt x="0" y="12273"/>
                      <a:pt x="422" y="0"/>
                      <a:pt x="938" y="0"/>
                    </a:cubicBezTo>
                    <a:lnTo>
                      <a:pt x="119063" y="0"/>
                    </a:lnTo>
                    <a:cubicBezTo>
                      <a:pt x="119578" y="0"/>
                      <a:pt x="120000" y="12273"/>
                      <a:pt x="120000" y="2727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42"/>
              <p:cNvSpPr txBox="1"/>
              <p:nvPr/>
            </p:nvSpPr>
            <p:spPr>
              <a:xfrm>
                <a:off x="228600" y="0"/>
                <a:ext cx="11734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Upcoming Features</a:t>
                </a:r>
                <a:endParaRPr b="1" sz="13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1502" name="Google Shape;1502;p42"/>
              <p:cNvGrpSpPr/>
              <p:nvPr/>
            </p:nvGrpSpPr>
            <p:grpSpPr>
              <a:xfrm>
                <a:off x="228600" y="571500"/>
                <a:ext cx="5753100" cy="1143000"/>
                <a:chOff x="0" y="0"/>
                <a:chExt cx="5753100" cy="1143000"/>
              </a:xfrm>
            </p:grpSpPr>
            <p:sp>
              <p:nvSpPr>
                <p:cNvPr id="1503" name="Google Shape;1503;p42"/>
                <p:cNvSpPr/>
                <p:nvPr/>
              </p:nvSpPr>
              <p:spPr>
                <a:xfrm>
                  <a:off x="0" y="0"/>
                  <a:ext cx="57531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4" name="Google Shape;1504;p42"/>
                <p:cNvSpPr txBox="1"/>
                <p:nvPr/>
              </p:nvSpPr>
              <p:spPr>
                <a:xfrm>
                  <a:off x="190500" y="152400"/>
                  <a:ext cx="53721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Streaming Support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For large data transfers and real-time updates.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505" name="Google Shape;1505;p42"/>
              <p:cNvGrpSpPr/>
              <p:nvPr/>
            </p:nvGrpSpPr>
            <p:grpSpPr>
              <a:xfrm>
                <a:off x="6210300" y="571500"/>
                <a:ext cx="5753100" cy="1143000"/>
                <a:chOff x="0" y="0"/>
                <a:chExt cx="5753100" cy="1143000"/>
              </a:xfrm>
            </p:grpSpPr>
            <p:sp>
              <p:nvSpPr>
                <p:cNvPr id="1506" name="Google Shape;1506;p42"/>
                <p:cNvSpPr/>
                <p:nvPr/>
              </p:nvSpPr>
              <p:spPr>
                <a:xfrm>
                  <a:off x="0" y="0"/>
                  <a:ext cx="57531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7" name="Google Shape;1507;p42"/>
                <p:cNvSpPr txBox="1"/>
                <p:nvPr/>
              </p:nvSpPr>
              <p:spPr>
                <a:xfrm>
                  <a:off x="190500" y="152400"/>
                  <a:ext cx="53721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Enhanced Security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With fine-grained permissions and access controls.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508" name="Google Shape;1508;p42"/>
              <p:cNvGrpSpPr/>
              <p:nvPr/>
            </p:nvGrpSpPr>
            <p:grpSpPr>
              <a:xfrm>
                <a:off x="228600" y="1857375"/>
                <a:ext cx="5753100" cy="1143000"/>
                <a:chOff x="0" y="0"/>
                <a:chExt cx="5753100" cy="1143000"/>
              </a:xfrm>
            </p:grpSpPr>
            <p:sp>
              <p:nvSpPr>
                <p:cNvPr id="1509" name="Google Shape;1509;p42"/>
                <p:cNvSpPr/>
                <p:nvPr/>
              </p:nvSpPr>
              <p:spPr>
                <a:xfrm>
                  <a:off x="0" y="0"/>
                  <a:ext cx="57531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0" name="Google Shape;1510;p42"/>
                <p:cNvSpPr txBox="1"/>
                <p:nvPr/>
              </p:nvSpPr>
              <p:spPr>
                <a:xfrm>
                  <a:off x="190500" y="152400"/>
                  <a:ext cx="53721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Multi-Server Orchestration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Capabilities for complex workflows.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511" name="Google Shape;1511;p42"/>
              <p:cNvGrpSpPr/>
              <p:nvPr/>
            </p:nvGrpSpPr>
            <p:grpSpPr>
              <a:xfrm>
                <a:off x="6210300" y="1857375"/>
                <a:ext cx="5753100" cy="1143000"/>
                <a:chOff x="0" y="0"/>
                <a:chExt cx="5753100" cy="1143000"/>
              </a:xfrm>
            </p:grpSpPr>
            <p:sp>
              <p:nvSpPr>
                <p:cNvPr id="1512" name="Google Shape;1512;p42"/>
                <p:cNvSpPr/>
                <p:nvPr/>
              </p:nvSpPr>
              <p:spPr>
                <a:xfrm>
                  <a:off x="0" y="0"/>
                  <a:ext cx="57531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3" name="Google Shape;1513;p42"/>
                <p:cNvSpPr txBox="1"/>
                <p:nvPr/>
              </p:nvSpPr>
              <p:spPr>
                <a:xfrm>
                  <a:off x="190500" y="152400"/>
                  <a:ext cx="53721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Improved Developer Tooling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And debugging support.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514" name="Google Shape;1514;p42"/>
              <p:cNvGrpSpPr/>
              <p:nvPr/>
            </p:nvGrpSpPr>
            <p:grpSpPr>
              <a:xfrm>
                <a:off x="228600" y="3143250"/>
                <a:ext cx="11734800" cy="1143000"/>
                <a:chOff x="0" y="0"/>
                <a:chExt cx="11734800" cy="1143000"/>
              </a:xfrm>
            </p:grpSpPr>
            <p:sp>
              <p:nvSpPr>
                <p:cNvPr id="1515" name="Google Shape;1515;p42"/>
                <p:cNvSpPr/>
                <p:nvPr/>
              </p:nvSpPr>
              <p:spPr>
                <a:xfrm>
                  <a:off x="0" y="0"/>
                  <a:ext cx="117348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6" name="Google Shape;1516;p42"/>
                <p:cNvSpPr txBox="1"/>
                <p:nvPr/>
              </p:nvSpPr>
              <p:spPr>
                <a:xfrm>
                  <a:off x="190500" y="152400"/>
                  <a:ext cx="113538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Community-Driven Protocol Extensions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Through standardized extension mechanisms.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sp>
          <p:nvSpPr>
            <p:cNvPr id="1517" name="Google Shape;1517;p42"/>
            <p:cNvSpPr txBox="1"/>
            <p:nvPr/>
          </p:nvSpPr>
          <p:spPr>
            <a:xfrm>
              <a:off x="5524500" y="9286875"/>
              <a:ext cx="1219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5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MCP is designed for extensibility while maintaining backward compatibility</a:t>
              </a:r>
              <a:endParaRPr i="1" sz="115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cxnSp>
          <p:nvCxnSpPr>
            <p:cNvPr id="1518" name="Google Shape;1518;p42"/>
            <p:cNvCxnSpPr/>
            <p:nvPr/>
          </p:nvCxnSpPr>
          <p:spPr>
            <a:xfrm>
              <a:off x="0" y="971550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9" name="Google Shape;1519;p42"/>
            <p:cNvSpPr txBox="1"/>
            <p:nvPr/>
          </p:nvSpPr>
          <p:spPr>
            <a:xfrm>
              <a:off x="571500" y="98583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524" name="Google Shape;1524;p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5" name="Google Shape;1525;p43"/>
          <p:cNvSpPr/>
          <p:nvPr/>
        </p:nvSpPr>
        <p:spPr>
          <a:xfrm>
            <a:off x="7758112" y="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6" name="Google Shape;1526;p43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7" name="Google Shape;1527;p43"/>
          <p:cNvSpPr/>
          <p:nvPr/>
        </p:nvSpPr>
        <p:spPr>
          <a:xfrm>
            <a:off x="0" y="7400925"/>
            <a:ext cx="4443412" cy="2386012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8" name="Google Shape;1528;p43"/>
          <p:cNvSpPr/>
          <p:nvPr/>
        </p:nvSpPr>
        <p:spPr>
          <a:xfrm>
            <a:off x="11315700" y="257175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9" name="Google Shape;1529;p43"/>
          <p:cNvSpPr/>
          <p:nvPr/>
        </p:nvSpPr>
        <p:spPr>
          <a:xfrm>
            <a:off x="5143500" y="8986838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0" name="Google Shape;1530;p43"/>
          <p:cNvSpPr/>
          <p:nvPr/>
        </p:nvSpPr>
        <p:spPr>
          <a:xfrm>
            <a:off x="0" y="471487"/>
            <a:ext cx="7680960" cy="8786812"/>
          </a:xfrm>
          <a:custGeom>
            <a:rect b="b" l="l" r="r" t="t"/>
            <a:pathLst>
              <a:path extrusionOk="0" h="11715750" w="10241280">
                <a:moveTo>
                  <a:pt x="0" y="0"/>
                </a:moveTo>
                <a:lnTo>
                  <a:pt x="10241280" y="0"/>
                </a:lnTo>
                <a:lnTo>
                  <a:pt x="10241280" y="11715750"/>
                </a:lnTo>
                <a:lnTo>
                  <a:pt x="0" y="1171575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1531" name="Google Shape;1531;p43"/>
          <p:cNvGrpSpPr/>
          <p:nvPr/>
        </p:nvGrpSpPr>
        <p:grpSpPr>
          <a:xfrm>
            <a:off x="1214979" y="3478395"/>
            <a:ext cx="1255110" cy="855464"/>
            <a:chOff x="0" y="0"/>
            <a:chExt cx="1446390" cy="985838"/>
          </a:xfrm>
        </p:grpSpPr>
        <p:sp>
          <p:nvSpPr>
            <p:cNvPr id="1532" name="Google Shape;1532;p43"/>
            <p:cNvSpPr/>
            <p:nvPr/>
          </p:nvSpPr>
          <p:spPr>
            <a:xfrm>
              <a:off x="0" y="0"/>
              <a:ext cx="1446387" cy="985837"/>
            </a:xfrm>
            <a:custGeom>
              <a:rect b="b" l="l" r="r" t="t"/>
              <a:pathLst>
                <a:path extrusionOk="0" h="985837" w="1446387">
                  <a:moveTo>
                    <a:pt x="0" y="0"/>
                  </a:moveTo>
                  <a:lnTo>
                    <a:pt x="1446387" y="0"/>
                  </a:lnTo>
                  <a:lnTo>
                    <a:pt x="1446387" y="985837"/>
                  </a:lnTo>
                  <a:lnTo>
                    <a:pt x="0" y="9858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0" l="-37449" r="-37449" t="0"/>
              </a:stretch>
            </a:blipFill>
            <a:ln>
              <a:noFill/>
            </a:ln>
          </p:spPr>
        </p:sp>
        <p:sp>
          <p:nvSpPr>
            <p:cNvPr id="1533" name="Google Shape;1533;p43"/>
            <p:cNvSpPr txBox="1"/>
            <p:nvPr/>
          </p:nvSpPr>
          <p:spPr>
            <a:xfrm>
              <a:off x="0" y="0"/>
              <a:ext cx="1446390" cy="985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75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The </a:t>
              </a:r>
              <a:endParaRPr/>
            </a:p>
          </p:txBody>
        </p:sp>
      </p:grpSp>
      <p:grpSp>
        <p:nvGrpSpPr>
          <p:cNvPr id="1534" name="Google Shape;1534;p43"/>
          <p:cNvGrpSpPr/>
          <p:nvPr/>
        </p:nvGrpSpPr>
        <p:grpSpPr>
          <a:xfrm>
            <a:off x="2470090" y="3478395"/>
            <a:ext cx="2351442" cy="844185"/>
            <a:chOff x="0" y="0"/>
            <a:chExt cx="3135255" cy="1125580"/>
          </a:xfrm>
        </p:grpSpPr>
        <p:sp>
          <p:nvSpPr>
            <p:cNvPr id="1535" name="Google Shape;1535;p43"/>
            <p:cNvSpPr/>
            <p:nvPr/>
          </p:nvSpPr>
          <p:spPr>
            <a:xfrm>
              <a:off x="0" y="0"/>
              <a:ext cx="3135255" cy="1125580"/>
            </a:xfrm>
            <a:custGeom>
              <a:rect b="b" l="l" r="r" t="t"/>
              <a:pathLst>
                <a:path extrusionOk="0" h="1125580" w="3135255">
                  <a:moveTo>
                    <a:pt x="0" y="0"/>
                  </a:moveTo>
                  <a:lnTo>
                    <a:pt x="3135255" y="0"/>
                  </a:lnTo>
                  <a:lnTo>
                    <a:pt x="3135255" y="1125580"/>
                  </a:lnTo>
                  <a:lnTo>
                    <a:pt x="0" y="112558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12415" l="-1991" r="21305" t="0"/>
              </a:stretch>
            </a:blipFill>
            <a:ln>
              <a:noFill/>
            </a:ln>
          </p:spPr>
        </p:sp>
        <p:sp>
          <p:nvSpPr>
            <p:cNvPr id="1536" name="Google Shape;1536;p43"/>
            <p:cNvSpPr txBox="1"/>
            <p:nvPr/>
          </p:nvSpPr>
          <p:spPr>
            <a:xfrm>
              <a:off x="0" y="0"/>
              <a:ext cx="3135249" cy="1125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75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Future</a:t>
              </a:r>
              <a:endParaRPr/>
            </a:p>
          </p:txBody>
        </p:sp>
      </p:grpSp>
      <p:grpSp>
        <p:nvGrpSpPr>
          <p:cNvPr id="1537" name="Google Shape;1537;p43"/>
          <p:cNvGrpSpPr/>
          <p:nvPr/>
        </p:nvGrpSpPr>
        <p:grpSpPr>
          <a:xfrm>
            <a:off x="4342648" y="3478395"/>
            <a:ext cx="1699979" cy="844185"/>
            <a:chOff x="0" y="0"/>
            <a:chExt cx="2266638" cy="1125580"/>
          </a:xfrm>
        </p:grpSpPr>
        <p:sp>
          <p:nvSpPr>
            <p:cNvPr id="1538" name="Google Shape;1538;p43"/>
            <p:cNvSpPr/>
            <p:nvPr/>
          </p:nvSpPr>
          <p:spPr>
            <a:xfrm>
              <a:off x="0" y="0"/>
              <a:ext cx="2266638" cy="1125580"/>
            </a:xfrm>
            <a:custGeom>
              <a:rect b="b" l="l" r="r" t="t"/>
              <a:pathLst>
                <a:path extrusionOk="0" h="1125580" w="2266638">
                  <a:moveTo>
                    <a:pt x="0" y="0"/>
                  </a:moveTo>
                  <a:lnTo>
                    <a:pt x="2266638" y="0"/>
                  </a:lnTo>
                  <a:lnTo>
                    <a:pt x="2266638" y="1125580"/>
                  </a:lnTo>
                  <a:lnTo>
                    <a:pt x="0" y="112558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12415" l="-16726" r="5120" t="0"/>
              </a:stretch>
            </a:blipFill>
            <a:ln>
              <a:noFill/>
            </a:ln>
          </p:spPr>
        </p:sp>
        <p:sp>
          <p:nvSpPr>
            <p:cNvPr id="1539" name="Google Shape;1539;p43"/>
            <p:cNvSpPr txBox="1"/>
            <p:nvPr/>
          </p:nvSpPr>
          <p:spPr>
            <a:xfrm>
              <a:off x="0" y="0"/>
              <a:ext cx="2266632" cy="1125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75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of AI </a:t>
              </a:r>
              <a:endParaRPr/>
            </a:p>
          </p:txBody>
        </p:sp>
      </p:grpSp>
      <p:grpSp>
        <p:nvGrpSpPr>
          <p:cNvPr id="1540" name="Google Shape;1540;p43"/>
          <p:cNvGrpSpPr/>
          <p:nvPr/>
        </p:nvGrpSpPr>
        <p:grpSpPr>
          <a:xfrm>
            <a:off x="752551" y="4495205"/>
            <a:ext cx="4254381" cy="739378"/>
            <a:chOff x="0" y="0"/>
            <a:chExt cx="5672509" cy="985838"/>
          </a:xfrm>
        </p:grpSpPr>
        <p:sp>
          <p:nvSpPr>
            <p:cNvPr id="1541" name="Google Shape;1541;p43"/>
            <p:cNvSpPr/>
            <p:nvPr/>
          </p:nvSpPr>
          <p:spPr>
            <a:xfrm>
              <a:off x="0" y="0"/>
              <a:ext cx="5672509" cy="985837"/>
            </a:xfrm>
            <a:custGeom>
              <a:rect b="b" l="l" r="r" t="t"/>
              <a:pathLst>
                <a:path extrusionOk="0" h="985837" w="5672509">
                  <a:moveTo>
                    <a:pt x="0" y="0"/>
                  </a:moveTo>
                  <a:lnTo>
                    <a:pt x="5672509" y="0"/>
                  </a:lnTo>
                  <a:lnTo>
                    <a:pt x="5672509" y="985837"/>
                  </a:lnTo>
                  <a:lnTo>
                    <a:pt x="0" y="9858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62118" l="0" r="0" t="-62118"/>
              </a:stretch>
            </a:blipFill>
            <a:ln>
              <a:noFill/>
            </a:ln>
          </p:spPr>
        </p:sp>
        <p:sp>
          <p:nvSpPr>
            <p:cNvPr id="1542" name="Google Shape;1542;p43"/>
            <p:cNvSpPr txBox="1"/>
            <p:nvPr/>
          </p:nvSpPr>
          <p:spPr>
            <a:xfrm>
              <a:off x="0" y="0"/>
              <a:ext cx="5672506" cy="985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75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Integration with </a:t>
              </a:r>
              <a:endParaRPr/>
            </a:p>
          </p:txBody>
        </p:sp>
      </p:grpSp>
      <p:grpSp>
        <p:nvGrpSpPr>
          <p:cNvPr id="1543" name="Google Shape;1543;p43"/>
          <p:cNvGrpSpPr/>
          <p:nvPr/>
        </p:nvGrpSpPr>
        <p:grpSpPr>
          <a:xfrm>
            <a:off x="5006931" y="4449945"/>
            <a:ext cx="1365219" cy="844185"/>
            <a:chOff x="0" y="0"/>
            <a:chExt cx="1820292" cy="1125580"/>
          </a:xfrm>
        </p:grpSpPr>
        <p:sp>
          <p:nvSpPr>
            <p:cNvPr id="1544" name="Google Shape;1544;p43"/>
            <p:cNvSpPr/>
            <p:nvPr/>
          </p:nvSpPr>
          <p:spPr>
            <a:xfrm>
              <a:off x="0" y="0"/>
              <a:ext cx="1820292" cy="1125580"/>
            </a:xfrm>
            <a:custGeom>
              <a:rect b="b" l="l" r="r" t="t"/>
              <a:pathLst>
                <a:path extrusionOk="0" h="1125580" w="1820292">
                  <a:moveTo>
                    <a:pt x="0" y="0"/>
                  </a:moveTo>
                  <a:lnTo>
                    <a:pt x="1820292" y="0"/>
                  </a:lnTo>
                  <a:lnTo>
                    <a:pt x="1820292" y="1125580"/>
                  </a:lnTo>
                  <a:lnTo>
                    <a:pt x="0" y="112558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12415" l="-25581" r="-13391" t="0"/>
              </a:stretch>
            </a:blipFill>
            <a:ln>
              <a:noFill/>
            </a:ln>
          </p:spPr>
        </p:sp>
        <p:sp>
          <p:nvSpPr>
            <p:cNvPr id="1545" name="Google Shape;1545;p43"/>
            <p:cNvSpPr txBox="1"/>
            <p:nvPr/>
          </p:nvSpPr>
          <p:spPr>
            <a:xfrm>
              <a:off x="0" y="0"/>
              <a:ext cx="1820288" cy="1125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75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MCP</a:t>
              </a:r>
              <a:endParaRPr/>
            </a:p>
          </p:txBody>
        </p:sp>
      </p:grpSp>
      <p:sp>
        <p:nvSpPr>
          <p:cNvPr id="1546" name="Google Shape;1546;p43"/>
          <p:cNvSpPr/>
          <p:nvPr/>
        </p:nvSpPr>
        <p:spPr>
          <a:xfrm>
            <a:off x="7680922" y="257175"/>
            <a:ext cx="10607040" cy="8786812"/>
          </a:xfrm>
          <a:custGeom>
            <a:rect b="b" l="l" r="r" t="t"/>
            <a:pathLst>
              <a:path extrusionOk="0" h="11715750" w="14142720">
                <a:moveTo>
                  <a:pt x="0" y="0"/>
                </a:moveTo>
                <a:lnTo>
                  <a:pt x="14142720" y="0"/>
                </a:lnTo>
                <a:lnTo>
                  <a:pt x="14142720" y="11715750"/>
                </a:lnTo>
                <a:lnTo>
                  <a:pt x="0" y="117157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47" name="Google Shape;1547;p43"/>
          <p:cNvSpPr/>
          <p:nvPr/>
        </p:nvSpPr>
        <p:spPr>
          <a:xfrm>
            <a:off x="8572443" y="885825"/>
            <a:ext cx="1828800" cy="1828800"/>
          </a:xfrm>
          <a:custGeom>
            <a:rect b="b" l="l" r="r" t="t"/>
            <a:pathLst>
              <a:path extrusionOk="0" h="2438400" w="2438400">
                <a:moveTo>
                  <a:pt x="0" y="0"/>
                </a:moveTo>
                <a:lnTo>
                  <a:pt x="2438400" y="0"/>
                </a:lnTo>
                <a:lnTo>
                  <a:pt x="243840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1548" name="Google Shape;1548;p43"/>
          <p:cNvGrpSpPr/>
          <p:nvPr/>
        </p:nvGrpSpPr>
        <p:grpSpPr>
          <a:xfrm>
            <a:off x="8743893" y="1507331"/>
            <a:ext cx="1485900" cy="578644"/>
            <a:chOff x="0" y="-9525"/>
            <a:chExt cx="1981200" cy="771525"/>
          </a:xfrm>
        </p:grpSpPr>
        <p:sp>
          <p:nvSpPr>
            <p:cNvPr id="1549" name="Google Shape;1549;p43"/>
            <p:cNvSpPr/>
            <p:nvPr/>
          </p:nvSpPr>
          <p:spPr>
            <a:xfrm>
              <a:off x="0" y="0"/>
              <a:ext cx="1981200" cy="762000"/>
            </a:xfrm>
            <a:custGeom>
              <a:rect b="b" l="l" r="r" t="t"/>
              <a:pathLst>
                <a:path extrusionOk="0" h="762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661" l="0" r="0" t="-661"/>
              </a:stretch>
            </a:blipFill>
            <a:ln>
              <a:noFill/>
            </a:ln>
          </p:spPr>
        </p:sp>
        <p:sp>
          <p:nvSpPr>
            <p:cNvPr id="1550" name="Google Shape;1550;p43"/>
            <p:cNvSpPr txBox="1"/>
            <p:nvPr/>
          </p:nvSpPr>
          <p:spPr>
            <a:xfrm>
              <a:off x="0" y="-9525"/>
              <a:ext cx="19812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Universal AI Connectivity</a:t>
              </a:r>
              <a:endParaRPr/>
            </a:p>
          </p:txBody>
        </p:sp>
      </p:grpSp>
      <p:sp>
        <p:nvSpPr>
          <p:cNvPr id="1551" name="Google Shape;1551;p43"/>
          <p:cNvSpPr/>
          <p:nvPr/>
        </p:nvSpPr>
        <p:spPr>
          <a:xfrm>
            <a:off x="11292621" y="885625"/>
            <a:ext cx="6709791" cy="2343531"/>
          </a:xfrm>
          <a:custGeom>
            <a:rect b="b" l="l" r="r" t="t"/>
            <a:pathLst>
              <a:path extrusionOk="0" h="3124708" w="8946388">
                <a:moveTo>
                  <a:pt x="0" y="0"/>
                </a:moveTo>
                <a:lnTo>
                  <a:pt x="8946388" y="0"/>
                </a:lnTo>
                <a:lnTo>
                  <a:pt x="8946388" y="3124708"/>
                </a:lnTo>
                <a:lnTo>
                  <a:pt x="0" y="31247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552" name="Google Shape;1552;p43"/>
          <p:cNvGrpSpPr/>
          <p:nvPr/>
        </p:nvGrpSpPr>
        <p:grpSpPr>
          <a:xfrm>
            <a:off x="11864321" y="1107281"/>
            <a:ext cx="5852182" cy="435769"/>
            <a:chOff x="0" y="-9525"/>
            <a:chExt cx="7802909" cy="581026"/>
          </a:xfrm>
        </p:grpSpPr>
        <p:sp>
          <p:nvSpPr>
            <p:cNvPr id="1553" name="Google Shape;1553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54" name="Google Shape;1554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Connect any AI to any data source</a:t>
              </a:r>
              <a:endParaRPr/>
            </a:p>
          </p:txBody>
        </p:sp>
      </p:grpSp>
      <p:grpSp>
        <p:nvGrpSpPr>
          <p:cNvPr id="1555" name="Google Shape;1555;p43"/>
          <p:cNvGrpSpPr/>
          <p:nvPr/>
        </p:nvGrpSpPr>
        <p:grpSpPr>
          <a:xfrm>
            <a:off x="11864321" y="1593056"/>
            <a:ext cx="5852182" cy="435769"/>
            <a:chOff x="0" y="-9525"/>
            <a:chExt cx="7802909" cy="581026"/>
          </a:xfrm>
        </p:grpSpPr>
        <p:sp>
          <p:nvSpPr>
            <p:cNvPr id="1556" name="Google Shape;1556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57" name="Google Shape;1557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Eliminate vendor lock-in</a:t>
              </a:r>
              <a:endParaRPr/>
            </a:p>
          </p:txBody>
        </p:sp>
      </p:grpSp>
      <p:grpSp>
        <p:nvGrpSpPr>
          <p:cNvPr id="1558" name="Google Shape;1558;p43"/>
          <p:cNvGrpSpPr/>
          <p:nvPr/>
        </p:nvGrpSpPr>
        <p:grpSpPr>
          <a:xfrm>
            <a:off x="11864321" y="2078831"/>
            <a:ext cx="5852182" cy="864394"/>
            <a:chOff x="0" y="-9525"/>
            <a:chExt cx="7802909" cy="1152525"/>
          </a:xfrm>
        </p:grpSpPr>
        <p:sp>
          <p:nvSpPr>
            <p:cNvPr id="1559" name="Google Shape;1559;p43"/>
            <p:cNvSpPr/>
            <p:nvPr/>
          </p:nvSpPr>
          <p:spPr>
            <a:xfrm>
              <a:off x="0" y="0"/>
              <a:ext cx="7802909" cy="1143000"/>
            </a:xfrm>
            <a:custGeom>
              <a:rect b="b" l="l" r="r" t="t"/>
              <a:pathLst>
                <a:path extrusionOk="0" h="1143000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1143000"/>
                  </a:lnTo>
                  <a:lnTo>
                    <a:pt x="0" y="11430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83021" l="0" r="0" t="-83021"/>
              </a:stretch>
            </a:blipFill>
            <a:ln>
              <a:noFill/>
            </a:ln>
          </p:spPr>
        </p:sp>
        <p:sp>
          <p:nvSpPr>
            <p:cNvPr id="1560" name="Google Shape;1560;p43"/>
            <p:cNvSpPr txBox="1"/>
            <p:nvPr/>
          </p:nvSpPr>
          <p:spPr>
            <a:xfrm>
              <a:off x="0" y="-9525"/>
              <a:ext cx="7802905" cy="1152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Standardized protocol across platforms</a:t>
              </a:r>
              <a:endParaRPr/>
            </a:p>
          </p:txBody>
        </p:sp>
      </p:grpSp>
      <p:sp>
        <p:nvSpPr>
          <p:cNvPr id="1561" name="Google Shape;1561;p43"/>
          <p:cNvSpPr/>
          <p:nvPr/>
        </p:nvSpPr>
        <p:spPr>
          <a:xfrm>
            <a:off x="8572443" y="3457575"/>
            <a:ext cx="1828800" cy="1828800"/>
          </a:xfrm>
          <a:custGeom>
            <a:rect b="b" l="l" r="r" t="t"/>
            <a:pathLst>
              <a:path extrusionOk="0" h="2438400" w="2438400">
                <a:moveTo>
                  <a:pt x="0" y="0"/>
                </a:moveTo>
                <a:lnTo>
                  <a:pt x="2438400" y="0"/>
                </a:lnTo>
                <a:lnTo>
                  <a:pt x="243840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1562" name="Google Shape;1562;p43"/>
          <p:cNvGrpSpPr/>
          <p:nvPr/>
        </p:nvGrpSpPr>
        <p:grpSpPr>
          <a:xfrm>
            <a:off x="8743893" y="4079081"/>
            <a:ext cx="1485900" cy="578644"/>
            <a:chOff x="0" y="-9525"/>
            <a:chExt cx="1981200" cy="771525"/>
          </a:xfrm>
        </p:grpSpPr>
        <p:sp>
          <p:nvSpPr>
            <p:cNvPr id="1563" name="Google Shape;1563;p43"/>
            <p:cNvSpPr/>
            <p:nvPr/>
          </p:nvSpPr>
          <p:spPr>
            <a:xfrm>
              <a:off x="0" y="0"/>
              <a:ext cx="1981200" cy="762000"/>
            </a:xfrm>
            <a:custGeom>
              <a:rect b="b" l="l" r="r" t="t"/>
              <a:pathLst>
                <a:path extrusionOk="0" h="762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661" l="0" r="0" t="-661"/>
              </a:stretch>
            </a:blipFill>
            <a:ln>
              <a:noFill/>
            </a:ln>
          </p:spPr>
        </p:sp>
        <p:sp>
          <p:nvSpPr>
            <p:cNvPr id="1564" name="Google Shape;1564;p43"/>
            <p:cNvSpPr txBox="1"/>
            <p:nvPr/>
          </p:nvSpPr>
          <p:spPr>
            <a:xfrm>
              <a:off x="0" y="-9525"/>
              <a:ext cx="19812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Composable Intelligence</a:t>
              </a:r>
              <a:endParaRPr/>
            </a:p>
          </p:txBody>
        </p:sp>
      </p:grpSp>
      <p:sp>
        <p:nvSpPr>
          <p:cNvPr id="1565" name="Google Shape;1565;p43"/>
          <p:cNvSpPr/>
          <p:nvPr/>
        </p:nvSpPr>
        <p:spPr>
          <a:xfrm>
            <a:off x="11292621" y="3457375"/>
            <a:ext cx="6709791" cy="1914906"/>
          </a:xfrm>
          <a:custGeom>
            <a:rect b="b" l="l" r="r" t="t"/>
            <a:pathLst>
              <a:path extrusionOk="0" h="2553208" w="8946388">
                <a:moveTo>
                  <a:pt x="0" y="0"/>
                </a:moveTo>
                <a:lnTo>
                  <a:pt x="8946388" y="0"/>
                </a:lnTo>
                <a:lnTo>
                  <a:pt x="8946388" y="2553208"/>
                </a:lnTo>
                <a:lnTo>
                  <a:pt x="0" y="25532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566" name="Google Shape;1566;p43"/>
          <p:cNvGrpSpPr/>
          <p:nvPr/>
        </p:nvGrpSpPr>
        <p:grpSpPr>
          <a:xfrm>
            <a:off x="11864321" y="3679031"/>
            <a:ext cx="5852182" cy="435769"/>
            <a:chOff x="0" y="-9525"/>
            <a:chExt cx="7802909" cy="581026"/>
          </a:xfrm>
        </p:grpSpPr>
        <p:sp>
          <p:nvSpPr>
            <p:cNvPr id="1567" name="Google Shape;1567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68" name="Google Shape;1568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Mix and match AI capabilities</a:t>
              </a:r>
              <a:endParaRPr/>
            </a:p>
          </p:txBody>
        </p:sp>
      </p:grpSp>
      <p:grpSp>
        <p:nvGrpSpPr>
          <p:cNvPr id="1569" name="Google Shape;1569;p43"/>
          <p:cNvGrpSpPr/>
          <p:nvPr/>
        </p:nvGrpSpPr>
        <p:grpSpPr>
          <a:xfrm>
            <a:off x="11864321" y="4164806"/>
            <a:ext cx="5852182" cy="435769"/>
            <a:chOff x="0" y="-9525"/>
            <a:chExt cx="7802909" cy="581026"/>
          </a:xfrm>
        </p:grpSpPr>
        <p:sp>
          <p:nvSpPr>
            <p:cNvPr id="1570" name="Google Shape;1570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71" name="Google Shape;1571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Build custom workflows</a:t>
              </a:r>
              <a:endParaRPr/>
            </a:p>
          </p:txBody>
        </p:sp>
      </p:grpSp>
      <p:grpSp>
        <p:nvGrpSpPr>
          <p:cNvPr id="1572" name="Google Shape;1572;p43"/>
          <p:cNvGrpSpPr/>
          <p:nvPr/>
        </p:nvGrpSpPr>
        <p:grpSpPr>
          <a:xfrm>
            <a:off x="11864321" y="4650581"/>
            <a:ext cx="5852182" cy="435769"/>
            <a:chOff x="0" y="-9525"/>
            <a:chExt cx="7802909" cy="581026"/>
          </a:xfrm>
        </p:grpSpPr>
        <p:sp>
          <p:nvSpPr>
            <p:cNvPr id="1573" name="Google Shape;1573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74" name="Google Shape;1574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Reusable components and tools</a:t>
              </a:r>
              <a:endParaRPr/>
            </a:p>
          </p:txBody>
        </p:sp>
      </p:grpSp>
      <p:sp>
        <p:nvSpPr>
          <p:cNvPr id="1575" name="Google Shape;1575;p43"/>
          <p:cNvSpPr/>
          <p:nvPr/>
        </p:nvSpPr>
        <p:spPr>
          <a:xfrm>
            <a:off x="8572443" y="5600700"/>
            <a:ext cx="1828800" cy="1828800"/>
          </a:xfrm>
          <a:custGeom>
            <a:rect b="b" l="l" r="r" t="t"/>
            <a:pathLst>
              <a:path extrusionOk="0" h="2438400" w="2438400">
                <a:moveTo>
                  <a:pt x="0" y="0"/>
                </a:moveTo>
                <a:lnTo>
                  <a:pt x="2438400" y="0"/>
                </a:lnTo>
                <a:lnTo>
                  <a:pt x="243840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1576" name="Google Shape;1576;p43"/>
          <p:cNvGrpSpPr/>
          <p:nvPr/>
        </p:nvGrpSpPr>
        <p:grpSpPr>
          <a:xfrm>
            <a:off x="8739769" y="6222206"/>
            <a:ext cx="1494159" cy="578644"/>
            <a:chOff x="0" y="-9525"/>
            <a:chExt cx="1992213" cy="771525"/>
          </a:xfrm>
        </p:grpSpPr>
        <p:sp>
          <p:nvSpPr>
            <p:cNvPr id="1577" name="Google Shape;1577;p43"/>
            <p:cNvSpPr/>
            <p:nvPr/>
          </p:nvSpPr>
          <p:spPr>
            <a:xfrm>
              <a:off x="0" y="0"/>
              <a:ext cx="1992213" cy="762000"/>
            </a:xfrm>
            <a:custGeom>
              <a:rect b="b" l="l" r="r" t="t"/>
              <a:pathLst>
                <a:path extrusionOk="0" h="762000" w="1992213">
                  <a:moveTo>
                    <a:pt x="0" y="0"/>
                  </a:moveTo>
                  <a:lnTo>
                    <a:pt x="1992213" y="0"/>
                  </a:lnTo>
                  <a:lnTo>
                    <a:pt x="1992213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942" l="0" r="0" t="-942"/>
              </a:stretch>
            </a:blipFill>
            <a:ln>
              <a:noFill/>
            </a:ln>
          </p:spPr>
        </p:sp>
        <p:sp>
          <p:nvSpPr>
            <p:cNvPr id="1578" name="Google Shape;1578;p43"/>
            <p:cNvSpPr txBox="1"/>
            <p:nvPr/>
          </p:nvSpPr>
          <p:spPr>
            <a:xfrm>
              <a:off x="0" y="-9525"/>
              <a:ext cx="1992211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Democratized AI Access</a:t>
              </a:r>
              <a:endParaRPr/>
            </a:p>
          </p:txBody>
        </p:sp>
      </p:grpSp>
      <p:sp>
        <p:nvSpPr>
          <p:cNvPr id="1579" name="Google Shape;1579;p43"/>
          <p:cNvSpPr/>
          <p:nvPr/>
        </p:nvSpPr>
        <p:spPr>
          <a:xfrm>
            <a:off x="11292621" y="5600500"/>
            <a:ext cx="6709791" cy="2343531"/>
          </a:xfrm>
          <a:custGeom>
            <a:rect b="b" l="l" r="r" t="t"/>
            <a:pathLst>
              <a:path extrusionOk="0" h="3124708" w="8946388">
                <a:moveTo>
                  <a:pt x="0" y="0"/>
                </a:moveTo>
                <a:lnTo>
                  <a:pt x="8946388" y="0"/>
                </a:lnTo>
                <a:lnTo>
                  <a:pt x="8946388" y="3124708"/>
                </a:lnTo>
                <a:lnTo>
                  <a:pt x="0" y="31247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580" name="Google Shape;1580;p43"/>
          <p:cNvGrpSpPr/>
          <p:nvPr/>
        </p:nvGrpSpPr>
        <p:grpSpPr>
          <a:xfrm>
            <a:off x="11864321" y="5822156"/>
            <a:ext cx="5852182" cy="435769"/>
            <a:chOff x="0" y="-9525"/>
            <a:chExt cx="7802909" cy="581026"/>
          </a:xfrm>
        </p:grpSpPr>
        <p:sp>
          <p:nvSpPr>
            <p:cNvPr id="1581" name="Google Shape;1581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82" name="Google Shape;1582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Lower barriers to AI adoption</a:t>
              </a:r>
              <a:endParaRPr/>
            </a:p>
          </p:txBody>
        </p:sp>
      </p:grpSp>
      <p:grpSp>
        <p:nvGrpSpPr>
          <p:cNvPr id="1583" name="Google Shape;1583;p43"/>
          <p:cNvGrpSpPr/>
          <p:nvPr/>
        </p:nvGrpSpPr>
        <p:grpSpPr>
          <a:xfrm>
            <a:off x="11864321" y="6307931"/>
            <a:ext cx="5852182" cy="435770"/>
            <a:chOff x="0" y="-9525"/>
            <a:chExt cx="7802909" cy="581026"/>
          </a:xfrm>
        </p:grpSpPr>
        <p:sp>
          <p:nvSpPr>
            <p:cNvPr id="1584" name="Google Shape;1584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85" name="Google Shape;1585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Open-source and community-driven</a:t>
              </a:r>
              <a:endParaRPr/>
            </a:p>
          </p:txBody>
        </p:sp>
      </p:grpSp>
      <p:grpSp>
        <p:nvGrpSpPr>
          <p:cNvPr id="1586" name="Google Shape;1586;p43"/>
          <p:cNvGrpSpPr/>
          <p:nvPr/>
        </p:nvGrpSpPr>
        <p:grpSpPr>
          <a:xfrm>
            <a:off x="11864321" y="6793706"/>
            <a:ext cx="5852182" cy="435770"/>
            <a:chOff x="0" y="-9525"/>
            <a:chExt cx="7802909" cy="581026"/>
          </a:xfrm>
        </p:grpSpPr>
        <p:sp>
          <p:nvSpPr>
            <p:cNvPr id="1587" name="Google Shape;1587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88" name="Google Shape;1588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Accessible to developers of all levels</a:t>
              </a:r>
              <a:endParaRPr/>
            </a:p>
          </p:txBody>
        </p:sp>
      </p:grpSp>
      <p:sp>
        <p:nvSpPr>
          <p:cNvPr id="1589" name="Google Shape;1589;p43"/>
          <p:cNvSpPr/>
          <p:nvPr/>
        </p:nvSpPr>
        <p:spPr>
          <a:xfrm>
            <a:off x="0" y="950118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1590" name="Google Shape;1590;p43"/>
          <p:cNvSpPr/>
          <p:nvPr/>
        </p:nvSpPr>
        <p:spPr>
          <a:xfrm>
            <a:off x="14444605" y="9601200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6" name="Google Shape;1596;p44"/>
          <p:cNvGrpSpPr/>
          <p:nvPr/>
        </p:nvGrpSpPr>
        <p:grpSpPr>
          <a:xfrm>
            <a:off x="0" y="0"/>
            <a:ext cx="4953000" cy="10287000"/>
            <a:chOff x="0" y="0"/>
            <a:chExt cx="4953000" cy="10287000"/>
          </a:xfrm>
        </p:grpSpPr>
        <p:sp>
          <p:nvSpPr>
            <p:cNvPr id="1597" name="Google Shape;1597;p44"/>
            <p:cNvSpPr/>
            <p:nvPr/>
          </p:nvSpPr>
          <p:spPr>
            <a:xfrm>
              <a:off x="0" y="0"/>
              <a:ext cx="4953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8" name="Google Shape;1598;p44"/>
            <p:cNvCxnSpPr/>
            <p:nvPr/>
          </p:nvCxnSpPr>
          <p:spPr>
            <a:xfrm>
              <a:off x="4953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9" name="Google Shape;1599;p44"/>
            <p:cNvSpPr txBox="1"/>
            <p:nvPr/>
          </p:nvSpPr>
          <p:spPr>
            <a:xfrm>
              <a:off x="571500" y="2476500"/>
              <a:ext cx="3810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INDUSTRY PERSPECTIVE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Future</a:t>
              </a:r>
              <a:endParaRPr b="1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of AI Integration</a:t>
              </a:r>
              <a:endParaRPr b="1" sz="40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with MCP</a:t>
              </a:r>
              <a:endParaRPr b="1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Key takeaways and industry recognition on Model Context Protocol as the new open standard.</a:t>
              </a:r>
              <a:endParaRPr b="0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0" name="Google Shape;1600;p44"/>
          <p:cNvSpPr txBox="1"/>
          <p:nvPr/>
        </p:nvSpPr>
        <p:spPr>
          <a:xfrm>
            <a:off x="5524500" y="523875"/>
            <a:ext cx="1200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Industry Vision &amp; Impact</a:t>
            </a:r>
            <a:endParaRPr b="1" sz="30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Defining the Standard for AI Connectivity</a:t>
            </a:r>
            <a:endParaRPr b="1" sz="13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01" name="Google Shape;1601;p44"/>
          <p:cNvGrpSpPr/>
          <p:nvPr/>
        </p:nvGrpSpPr>
        <p:grpSpPr>
          <a:xfrm>
            <a:off x="5524500" y="1524000"/>
            <a:ext cx="12001500" cy="4572000"/>
            <a:chOff x="0" y="0"/>
            <a:chExt cx="12001500" cy="4572000"/>
          </a:xfrm>
        </p:grpSpPr>
        <p:sp>
          <p:nvSpPr>
            <p:cNvPr id="1602" name="Google Shape;1602;p44"/>
            <p:cNvSpPr/>
            <p:nvPr/>
          </p:nvSpPr>
          <p:spPr>
            <a:xfrm>
              <a:off x="0" y="0"/>
              <a:ext cx="12001500" cy="4572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4"/>
            <p:cNvSpPr/>
            <p:nvPr/>
          </p:nvSpPr>
          <p:spPr>
            <a:xfrm>
              <a:off x="0" y="0"/>
              <a:ext cx="12001500" cy="4572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430"/>
                    <a:pt x="512" y="0"/>
                    <a:pt x="1143" y="0"/>
                  </a:cubicBezTo>
                  <a:lnTo>
                    <a:pt x="118857" y="0"/>
                  </a:lnTo>
                  <a:cubicBezTo>
                    <a:pt x="119488" y="0"/>
                    <a:pt x="120000" y="13430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4"/>
            <p:cNvSpPr txBox="1"/>
            <p:nvPr/>
          </p:nvSpPr>
          <p:spPr>
            <a:xfrm>
              <a:off x="228600" y="0"/>
              <a:ext cx="1154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Featured Insight</a:t>
              </a:r>
              <a:endParaRPr b="1" sz="13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605" name="Google Shape;1605;p44"/>
            <p:cNvSpPr/>
            <p:nvPr/>
          </p:nvSpPr>
          <p:spPr>
            <a:xfrm>
              <a:off x="228600" y="647700"/>
              <a:ext cx="11544300" cy="3695700"/>
            </a:xfrm>
            <a:prstGeom prst="roundRect">
              <a:avLst>
                <a:gd fmla="val 206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4"/>
            <p:cNvSpPr txBox="1"/>
            <p:nvPr/>
          </p:nvSpPr>
          <p:spPr>
            <a:xfrm>
              <a:off x="571500" y="857250"/>
              <a:ext cx="95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format_quote</a:t>
              </a:r>
              <a:endParaRPr sz="7200">
                <a:solidFill>
                  <a:srgbClr val="00AEE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07" name="Google Shape;1607;p44"/>
            <p:cNvSpPr txBox="1"/>
            <p:nvPr/>
          </p:nvSpPr>
          <p:spPr>
            <a:xfrm>
              <a:off x="571500" y="1619250"/>
              <a:ext cx="10858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6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"MCP represents a fundamental shift in how AI systems integrate with the world"</a:t>
              </a:r>
              <a:endParaRPr b="0" i="1" sz="26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08" name="Google Shape;1608;p44"/>
            <p:cNvCxnSpPr/>
            <p:nvPr/>
          </p:nvCxnSpPr>
          <p:spPr>
            <a:xfrm>
              <a:off x="571500" y="3429000"/>
              <a:ext cx="10858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9" name="Google Shape;1609;p44"/>
            <p:cNvSpPr/>
            <p:nvPr/>
          </p:nvSpPr>
          <p:spPr>
            <a:xfrm>
              <a:off x="571500" y="3667125"/>
              <a:ext cx="1714500" cy="3429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4"/>
            <p:cNvSpPr txBox="1"/>
            <p:nvPr/>
          </p:nvSpPr>
          <p:spPr>
            <a:xfrm>
              <a:off x="571500" y="3667125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ANTHROPIC</a:t>
              </a:r>
              <a:endParaRPr b="1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611" name="Google Shape;1611;p44"/>
            <p:cNvSpPr txBox="1"/>
            <p:nvPr/>
          </p:nvSpPr>
          <p:spPr>
            <a:xfrm>
              <a:off x="2428875" y="3667125"/>
              <a:ext cx="3810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Official Announcement, 2024</a:t>
              </a:r>
              <a:endParaRPr b="1" sz="12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612" name="Google Shape;1612;p44"/>
          <p:cNvGrpSpPr/>
          <p:nvPr/>
        </p:nvGrpSpPr>
        <p:grpSpPr>
          <a:xfrm>
            <a:off x="5524500" y="6381750"/>
            <a:ext cx="12001425" cy="2762400"/>
            <a:chOff x="0" y="0"/>
            <a:chExt cx="12001425" cy="2762400"/>
          </a:xfrm>
        </p:grpSpPr>
        <p:grpSp>
          <p:nvGrpSpPr>
            <p:cNvPr id="1613" name="Google Shape;1613;p44"/>
            <p:cNvGrpSpPr/>
            <p:nvPr/>
          </p:nvGrpSpPr>
          <p:grpSpPr>
            <a:xfrm>
              <a:off x="0" y="0"/>
              <a:ext cx="3762300" cy="2762400"/>
              <a:chOff x="0" y="0"/>
              <a:chExt cx="3762300" cy="2762400"/>
            </a:xfrm>
          </p:grpSpPr>
          <p:sp>
            <p:nvSpPr>
              <p:cNvPr id="1614" name="Google Shape;1614;p44"/>
              <p:cNvSpPr/>
              <p:nvPr/>
            </p:nvSpPr>
            <p:spPr>
              <a:xfrm>
                <a:off x="0" y="0"/>
                <a:ext cx="3762300" cy="2762400"/>
              </a:xfrm>
              <a:prstGeom prst="roundRect">
                <a:avLst>
                  <a:gd fmla="val 3448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44"/>
              <p:cNvSpPr/>
              <p:nvPr/>
            </p:nvSpPr>
            <p:spPr>
              <a:xfrm>
                <a:off x="0" y="0"/>
                <a:ext cx="3762300" cy="381000"/>
              </a:xfrm>
              <a:prstGeom prst="roundRect">
                <a:avLst>
                  <a:gd fmla="val 2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44"/>
              <p:cNvSpPr/>
              <p:nvPr/>
            </p:nvSpPr>
            <p:spPr>
              <a:xfrm>
                <a:off x="0" y="190500"/>
                <a:ext cx="3762300" cy="1905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44"/>
              <p:cNvSpPr txBox="1"/>
              <p:nvPr/>
            </p:nvSpPr>
            <p:spPr>
              <a:xfrm>
                <a:off x="190500" y="0"/>
                <a:ext cx="3381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01 / OPEN STANDARD</a:t>
                </a:r>
                <a:endParaRPr b="1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618" name="Google Shape;1618;p44"/>
              <p:cNvSpPr txBox="1"/>
              <p:nvPr/>
            </p:nvSpPr>
            <p:spPr>
              <a:xfrm>
                <a:off x="190500" y="523875"/>
                <a:ext cx="3381300" cy="20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Universal Connectivity</a:t>
                </a:r>
                <a:endParaRPr b="1" sz="15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Replaces fragmented custom connectors with a single, open protocol across data sources and AI models.</a:t>
                </a:r>
                <a:endParaRPr b="0" sz="11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619" name="Google Shape;1619;p44"/>
            <p:cNvGrpSpPr/>
            <p:nvPr/>
          </p:nvGrpSpPr>
          <p:grpSpPr>
            <a:xfrm>
              <a:off x="4114800" y="0"/>
              <a:ext cx="3762300" cy="2762400"/>
              <a:chOff x="0" y="0"/>
              <a:chExt cx="3762300" cy="2762400"/>
            </a:xfrm>
          </p:grpSpPr>
          <p:sp>
            <p:nvSpPr>
              <p:cNvPr id="1620" name="Google Shape;1620;p44"/>
              <p:cNvSpPr/>
              <p:nvPr/>
            </p:nvSpPr>
            <p:spPr>
              <a:xfrm>
                <a:off x="0" y="0"/>
                <a:ext cx="3762300" cy="2762400"/>
              </a:xfrm>
              <a:prstGeom prst="roundRect">
                <a:avLst>
                  <a:gd fmla="val 3448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44"/>
              <p:cNvSpPr/>
              <p:nvPr/>
            </p:nvSpPr>
            <p:spPr>
              <a:xfrm>
                <a:off x="0" y="0"/>
                <a:ext cx="3762300" cy="381000"/>
              </a:xfrm>
              <a:prstGeom prst="roundRect">
                <a:avLst>
                  <a:gd fmla="val 2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44"/>
              <p:cNvSpPr/>
              <p:nvPr/>
            </p:nvSpPr>
            <p:spPr>
              <a:xfrm>
                <a:off x="0" y="190500"/>
                <a:ext cx="3762300" cy="1905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44"/>
              <p:cNvSpPr txBox="1"/>
              <p:nvPr/>
            </p:nvSpPr>
            <p:spPr>
              <a:xfrm>
                <a:off x="190500" y="0"/>
                <a:ext cx="3381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02 / ARCHITECTURE</a:t>
                </a:r>
                <a:endParaRPr b="1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624" name="Google Shape;1624;p44"/>
              <p:cNvSpPr txBox="1"/>
              <p:nvPr/>
            </p:nvSpPr>
            <p:spPr>
              <a:xfrm>
                <a:off x="190500" y="523875"/>
                <a:ext cx="3381300" cy="20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Composable Systems</a:t>
                </a:r>
                <a:endParaRPr b="1" sz="15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Enables modular architecture where tools, prompts, and resources can be dynamically exposed and discovered.</a:t>
                </a:r>
                <a:endParaRPr b="0" sz="11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625" name="Google Shape;1625;p44"/>
            <p:cNvGrpSpPr/>
            <p:nvPr/>
          </p:nvGrpSpPr>
          <p:grpSpPr>
            <a:xfrm>
              <a:off x="8239125" y="0"/>
              <a:ext cx="3762300" cy="2762400"/>
              <a:chOff x="0" y="0"/>
              <a:chExt cx="3762300" cy="2762400"/>
            </a:xfrm>
          </p:grpSpPr>
          <p:sp>
            <p:nvSpPr>
              <p:cNvPr id="1626" name="Google Shape;1626;p44"/>
              <p:cNvSpPr/>
              <p:nvPr/>
            </p:nvSpPr>
            <p:spPr>
              <a:xfrm>
                <a:off x="0" y="0"/>
                <a:ext cx="3762300" cy="2762400"/>
              </a:xfrm>
              <a:prstGeom prst="roundRect">
                <a:avLst>
                  <a:gd fmla="val 3448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44"/>
              <p:cNvSpPr/>
              <p:nvPr/>
            </p:nvSpPr>
            <p:spPr>
              <a:xfrm>
                <a:off x="0" y="0"/>
                <a:ext cx="3762300" cy="381000"/>
              </a:xfrm>
              <a:prstGeom prst="roundRect">
                <a:avLst>
                  <a:gd fmla="val 2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44"/>
              <p:cNvSpPr/>
              <p:nvPr/>
            </p:nvSpPr>
            <p:spPr>
              <a:xfrm>
                <a:off x="0" y="190500"/>
                <a:ext cx="3762300" cy="1905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44"/>
              <p:cNvSpPr txBox="1"/>
              <p:nvPr/>
            </p:nvSpPr>
            <p:spPr>
              <a:xfrm>
                <a:off x="190500" y="0"/>
                <a:ext cx="3381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03 / ECOSYSTEM</a:t>
                </a:r>
                <a:endParaRPr b="1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630" name="Google Shape;1630;p44"/>
              <p:cNvSpPr txBox="1"/>
              <p:nvPr/>
            </p:nvSpPr>
            <p:spPr>
              <a:xfrm>
                <a:off x="190500" y="523875"/>
                <a:ext cx="3381300" cy="20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Rapid Adoption</a:t>
                </a:r>
                <a:endParaRPr b="1" sz="15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Empowers developers with official SDKs and community extensions to build future-proof AI integrations.</a:t>
                </a:r>
                <a:endParaRPr b="0" sz="11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grpSp>
        <p:nvGrpSpPr>
          <p:cNvPr id="1631" name="Google Shape;1631;p44"/>
          <p:cNvGrpSpPr/>
          <p:nvPr/>
        </p:nvGrpSpPr>
        <p:grpSpPr>
          <a:xfrm>
            <a:off x="0" y="9715500"/>
            <a:ext cx="18288000" cy="457350"/>
            <a:chOff x="0" y="0"/>
            <a:chExt cx="18288000" cy="457350"/>
          </a:xfrm>
        </p:grpSpPr>
        <p:cxnSp>
          <p:nvCxnSpPr>
            <p:cNvPr id="1632" name="Google Shape;1632;p44"/>
            <p:cNvCxnSpPr/>
            <p:nvPr/>
          </p:nvCxnSpPr>
          <p:spPr>
            <a:xfrm>
              <a:off x="0" y="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3" name="Google Shape;1633;p44"/>
            <p:cNvSpPr txBox="1"/>
            <p:nvPr/>
          </p:nvSpPr>
          <p:spPr>
            <a:xfrm>
              <a:off x="571500" y="1714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638" name="Google Shape;1638;p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39" name="Google Shape;1639;p45"/>
          <p:cNvSpPr/>
          <p:nvPr/>
        </p:nvSpPr>
        <p:spPr>
          <a:xfrm>
            <a:off x="7758112" y="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40" name="Google Shape;1640;p45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41" name="Google Shape;1641;p45"/>
          <p:cNvSpPr/>
          <p:nvPr/>
        </p:nvSpPr>
        <p:spPr>
          <a:xfrm>
            <a:off x="0" y="7400925"/>
            <a:ext cx="4443412" cy="2386012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42" name="Google Shape;1642;p45"/>
          <p:cNvSpPr/>
          <p:nvPr/>
        </p:nvSpPr>
        <p:spPr>
          <a:xfrm>
            <a:off x="11315700" y="257175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43" name="Google Shape;1643;p45"/>
          <p:cNvSpPr/>
          <p:nvPr/>
        </p:nvSpPr>
        <p:spPr>
          <a:xfrm>
            <a:off x="5143500" y="8986838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4" name="Google Shape;1644;p45"/>
          <p:cNvSpPr/>
          <p:nvPr/>
        </p:nvSpPr>
        <p:spPr>
          <a:xfrm>
            <a:off x="0" y="1000125"/>
            <a:ext cx="17398079" cy="8443912"/>
          </a:xfrm>
          <a:custGeom>
            <a:rect b="b" l="l" r="r" t="t"/>
            <a:pathLst>
              <a:path extrusionOk="0" h="11258550" w="23197438">
                <a:moveTo>
                  <a:pt x="0" y="0"/>
                </a:moveTo>
                <a:lnTo>
                  <a:pt x="23197438" y="0"/>
                </a:lnTo>
                <a:lnTo>
                  <a:pt x="23197438" y="11258550"/>
                </a:lnTo>
                <a:lnTo>
                  <a:pt x="0" y="1125855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1645" name="Google Shape;1645;p45"/>
          <p:cNvGrpSpPr/>
          <p:nvPr/>
        </p:nvGrpSpPr>
        <p:grpSpPr>
          <a:xfrm>
            <a:off x="1815055" y="4053688"/>
            <a:ext cx="3860035" cy="1557862"/>
            <a:chOff x="0" y="0"/>
            <a:chExt cx="5146713" cy="2077149"/>
          </a:xfrm>
        </p:grpSpPr>
        <p:sp>
          <p:nvSpPr>
            <p:cNvPr id="1646" name="Google Shape;1646;p45"/>
            <p:cNvSpPr/>
            <p:nvPr/>
          </p:nvSpPr>
          <p:spPr>
            <a:xfrm>
              <a:off x="0" y="0"/>
              <a:ext cx="5146709" cy="2077149"/>
            </a:xfrm>
            <a:custGeom>
              <a:rect b="b" l="l" r="r" t="t"/>
              <a:pathLst>
                <a:path extrusionOk="0" h="2077149" w="5146709">
                  <a:moveTo>
                    <a:pt x="0" y="0"/>
                  </a:moveTo>
                  <a:lnTo>
                    <a:pt x="5146709" y="0"/>
                  </a:lnTo>
                  <a:lnTo>
                    <a:pt x="5146709" y="2077149"/>
                  </a:lnTo>
                  <a:lnTo>
                    <a:pt x="0" y="2077149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0" l="-1781" r="-1781" t="0"/>
              </a:stretch>
            </a:blipFill>
            <a:ln>
              <a:noFill/>
            </a:ln>
          </p:spPr>
        </p:sp>
        <p:sp>
          <p:nvSpPr>
            <p:cNvPr id="1647" name="Google Shape;1647;p45"/>
            <p:cNvSpPr txBox="1"/>
            <p:nvPr/>
          </p:nvSpPr>
          <p:spPr>
            <a:xfrm>
              <a:off x="0" y="0"/>
              <a:ext cx="5146713" cy="2077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THANK YOU</a:t>
              </a:r>
              <a:endParaRPr/>
            </a:p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5061" u="none" cap="none" strike="noStrike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648" name="Google Shape;1648;p45"/>
          <p:cNvSpPr/>
          <p:nvPr/>
        </p:nvSpPr>
        <p:spPr>
          <a:xfrm>
            <a:off x="7680922" y="1000125"/>
            <a:ext cx="10607040" cy="8443912"/>
          </a:xfrm>
          <a:custGeom>
            <a:rect b="b" l="l" r="r" t="t"/>
            <a:pathLst>
              <a:path extrusionOk="0" h="11258550" w="14142720">
                <a:moveTo>
                  <a:pt x="0" y="0"/>
                </a:moveTo>
                <a:lnTo>
                  <a:pt x="14142720" y="0"/>
                </a:lnTo>
                <a:lnTo>
                  <a:pt x="14142720" y="11258550"/>
                </a:lnTo>
                <a:lnTo>
                  <a:pt x="0" y="11258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49" name="Google Shape;1649;p45"/>
          <p:cNvSpPr/>
          <p:nvPr/>
        </p:nvSpPr>
        <p:spPr>
          <a:xfrm>
            <a:off x="0" y="944403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1650" name="Google Shape;1650;p45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